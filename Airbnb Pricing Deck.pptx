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Lst>
  <p:sldSz cx="12192000" cy="6858000"/>
  <p:notesSz cx="6858000" cy="12192000"/>
  <p:embeddedFontLst>
    <p:embeddedFont>
      <p:font typeface="Poppins" panose="00000500000000000000" pitchFamily="2"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8.png"/><Relationship Id="rId7" Type="http://schemas.openxmlformats.org/officeDocument/2006/relationships/image" Target="../media/image33.png"/><Relationship Id="rId8" Type="http://schemas.openxmlformats.org/officeDocument/2006/relationships/image" Target="../media/image15.png"/><Relationship Id="rId9" Type="http://schemas.openxmlformats.org/officeDocument/2006/relationships/image" Target="../media/image27.png"/><Relationship Id="rId10"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dirty="0">
                <a:solidFill>
                  <a:srgbClr val="FFFFFF"/>
                </a:solidFill>
                <a:latin typeface="Poppins" pitchFamily="34" charset="0"/>
                <a:ea typeface="Poppins" pitchFamily="34" charset="-122"/>
                <a:cs typeface="Poppins" pitchFamily="34" charset="-120"/>
              </a:rPr>
              <a:t>BANA 5160 CAPSTONE  ·  CORNELL UNIVERSITY  ·  TEAM 6</a:t>
            </a:r>
            <a:endParaRPr lang="en-US" sz="1200" dirty="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Airbnb Pricing</a:t>
            </a:r>
            <a:endParaRPr lang="en-US" sz="5600" dirty="0"/>
          </a:p>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Intelligence</a:t>
            </a:r>
            <a:endParaRPr lang="en-US" sz="5600" dirty="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dirty="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dirty="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Brendan Meara </a:t>
            </a:r>
            <a:r>
              <a:rPr lang="en-US" sz="1250" dirty="0">
                <a:solidFill>
                  <a:srgbClr val="FFFFFF">
                    <a:alpha val="78000"/>
                  </a:srgbClr>
                </a:solidFill>
                <a:latin typeface="Poppins" pitchFamily="34" charset="0"/>
                <a:ea typeface="Poppins" pitchFamily="34" charset="-122"/>
                <a:cs typeface="Poppins" pitchFamily="34" charset="-120"/>
              </a:rPr>
              <a:t>(PM)     </a:t>
            </a:r>
            <a:r>
              <a:rPr lang="en-US" sz="1250" b="1" dirty="0">
                <a:solidFill>
                  <a:srgbClr val="FFFFFF"/>
                </a:solidFill>
                <a:latin typeface="Poppins" pitchFamily="34" charset="0"/>
                <a:ea typeface="Poppins" pitchFamily="34" charset="-122"/>
                <a:cs typeface="Poppins" pitchFamily="34" charset="-120"/>
              </a:rPr>
              <a:t>Jai Manikandan </a:t>
            </a:r>
            <a:r>
              <a:rPr lang="en-US" sz="1250" dirty="0">
                <a:solidFill>
                  <a:srgbClr val="FFFFFF">
                    <a:alpha val="78000"/>
                  </a:srgbClr>
                </a:solidFill>
                <a:latin typeface="Poppins" pitchFamily="34" charset="0"/>
                <a:ea typeface="Poppins" pitchFamily="34" charset="-122"/>
                <a:cs typeface="Poppins" pitchFamily="34" charset="-120"/>
              </a:rPr>
              <a:t>(Data)     </a:t>
            </a:r>
            <a:r>
              <a:rPr lang="en-US" sz="1250" b="1" dirty="0">
                <a:solidFill>
                  <a:srgbClr val="FFFFFF"/>
                </a:solidFill>
                <a:latin typeface="Poppins" pitchFamily="34" charset="0"/>
                <a:ea typeface="Poppins" pitchFamily="34" charset="-122"/>
                <a:cs typeface="Poppins" pitchFamily="34" charset="-120"/>
              </a:rPr>
              <a:t>Manas Manu </a:t>
            </a:r>
            <a:r>
              <a:rPr lang="en-US" sz="1250" dirty="0">
                <a:solidFill>
                  <a:srgbClr val="FFFFFF">
                    <a:alpha val="78000"/>
                  </a:srgbClr>
                </a:solidFill>
                <a:latin typeface="Poppins" pitchFamily="34" charset="0"/>
                <a:ea typeface="Poppins" pitchFamily="34" charset="-122"/>
                <a:cs typeface="Poppins" pitchFamily="34" charset="-120"/>
              </a:rPr>
              <a:t>(Modeling)     </a:t>
            </a:r>
            <a:r>
              <a:rPr lang="en-US" sz="1250" b="1" dirty="0">
                <a:solidFill>
                  <a:srgbClr val="FFFFFF"/>
                </a:solidFill>
                <a:latin typeface="Poppins" pitchFamily="34" charset="0"/>
                <a:ea typeface="Poppins" pitchFamily="34" charset="-122"/>
                <a:cs typeface="Poppins" pitchFamily="34" charset="-120"/>
              </a:rPr>
              <a:t>Rachael Chin </a:t>
            </a:r>
            <a:r>
              <a:rPr lang="en-US" sz="1250" dirty="0">
                <a:solidFill>
                  <a:srgbClr val="FFFFFF">
                    <a:alpha val="78000"/>
                  </a:srgbClr>
                </a:solidFill>
                <a:latin typeface="Poppins" pitchFamily="34" charset="0"/>
                <a:ea typeface="Poppins" pitchFamily="34" charset="-122"/>
                <a:cs typeface="Poppins" pitchFamily="34" charset="-120"/>
              </a:rPr>
              <a:t>(Visualization)</a:t>
            </a:r>
            <a:endParaRPr lang="en-US" sz="1250" dirty="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Francois Miaule </a:t>
            </a:r>
            <a:r>
              <a:rPr lang="en-US" sz="1250" dirty="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dirty="0">
                <a:solidFill>
                  <a:srgbClr val="FFFFFF"/>
                </a:solidFill>
                <a:latin typeface="Poppins" pitchFamily="34" charset="0"/>
                <a:ea typeface="Poppins" pitchFamily="34" charset="-122"/>
                <a:cs typeface="Poppins" pitchFamily="34" charset="-120"/>
              </a:rPr>
              <a:t>Stan</a:t>
            </a:r>
            <a:endParaRPr lang="en-US" sz="1250" dirty="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dirty="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dirty="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dirty="0">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01 · EXECUTIVE SUMMARY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The pricing problem — and our answer</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Hosts want to maximize revenue, but pricing is hard and today's help is a black box.</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Brendan</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a:t>
            </a:r>
            <a:endParaRPr lang="en-US" sz="900" dirty="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60320"/>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922081" y="2705161"/>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problem</a:t>
            </a:r>
            <a:endParaRPr lang="en-US" sz="1500" dirty="0"/>
          </a:p>
        </p:txBody>
      </p:sp>
      <p:sp>
        <p:nvSpPr>
          <p:cNvPr id="16" name="Text 11"/>
          <p:cNvSpPr/>
          <p:nvPr/>
        </p:nvSpPr>
        <p:spPr>
          <a:xfrm>
            <a:off x="777240" y="3108960"/>
            <a:ext cx="4965192" cy="685800"/>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Smart Pricing hands hosts a number with no “why” — no comparable listings, no drivers, no room to explore. So hosts either ignore it or follow it blindly.</a:t>
            </a:r>
            <a:endParaRPr lang="en-US" sz="1200" dirty="0"/>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92240" y="2560320"/>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637081" y="2705161"/>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Our answer</a:t>
            </a:r>
            <a:endParaRPr lang="en-US" sz="1500" dirty="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A platform that pairs a machine-learning fair price with comparable listings and an interactive dashboard — so hosts understand and trust the recommendation, not just receive it.</a:t>
            </a:r>
            <a:endParaRPr lang="en-US" sz="1200" dirty="0"/>
          </a:p>
        </p:txBody>
      </p:sp>
      <p:sp>
        <p:nvSpPr>
          <p:cNvPr id="22" name="Shape 16"/>
          <p:cNvSpPr/>
          <p:nvPr/>
        </p:nvSpPr>
        <p:spPr>
          <a:xfrm>
            <a:off x="50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34840"/>
            <a:ext cx="548640" cy="548640"/>
          </a:xfrm>
          <a:prstGeom prst="ellipse">
            <a:avLst/>
          </a:prstGeom>
          <a:solidFill>
            <a:srgbClr val="FFEEF2"/>
          </a:solidFill>
          <a:ln/>
        </p:spPr>
        <p:txBody>
          <a:bodyPr/>
          <a:lstStyle/>
          <a:p>
            <a:endParaRPr lang="en-US"/>
          </a:p>
        </p:txBody>
      </p:sp>
      <p:pic>
        <p:nvPicPr>
          <p:cNvPr id="24" name="Image 4" descr="/sessions/dreamy-trusting-noether/mnt/outputs/build/assets/cpu_coral.png"/>
          <p:cNvPicPr>
            <a:picLocks noChangeAspect="1"/>
          </p:cNvPicPr>
          <p:nvPr/>
        </p:nvPicPr>
        <p:blipFill>
          <a:blip r:embed="rId7"/>
          <a:stretch>
            <a:fillRect/>
          </a:stretch>
        </p:blipFill>
        <p:spPr>
          <a:xfrm>
            <a:off x="872338" y="4566514"/>
            <a:ext cx="285293" cy="285293"/>
          </a:xfrm>
          <a:prstGeom prst="rect">
            <a:avLst/>
          </a:prstGeom>
        </p:spPr>
      </p:pic>
      <p:sp>
        <p:nvSpPr>
          <p:cNvPr id="25" name="Text 18"/>
          <p:cNvSpPr/>
          <p:nvPr/>
        </p:nvSpPr>
        <p:spPr>
          <a:xfrm>
            <a:off x="139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Predict</a:t>
            </a:r>
            <a:endParaRPr lang="en-US" sz="1500" dirty="0"/>
          </a:p>
        </p:txBody>
      </p:sp>
      <p:sp>
        <p:nvSpPr>
          <p:cNvPr id="26" name="Text 19"/>
          <p:cNvSpPr/>
          <p:nvPr/>
        </p:nvSpPr>
        <p:spPr>
          <a:xfrm>
            <a:off x="75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calibrated fair nightly price from a gradient-boosting model.</a:t>
            </a:r>
            <a:endParaRPr lang="en-US" sz="1100" dirty="0"/>
          </a:p>
        </p:txBody>
      </p:sp>
      <p:sp>
        <p:nvSpPr>
          <p:cNvPr id="27" name="Shape 20"/>
          <p:cNvSpPr/>
          <p:nvPr/>
        </p:nvSpPr>
        <p:spPr>
          <a:xfrm>
            <a:off x="431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550664" y="4434840"/>
            <a:ext cx="548640" cy="548640"/>
          </a:xfrm>
          <a:prstGeom prst="ellipse">
            <a:avLst/>
          </a:prstGeom>
          <a:solidFill>
            <a:srgbClr val="E6F6F4"/>
          </a:solidFill>
          <a:ln/>
        </p:spPr>
        <p:txBody>
          <a:bodyPr/>
          <a:lstStyle/>
          <a:p>
            <a:endParaRPr lang="en-US"/>
          </a:p>
        </p:txBody>
      </p:sp>
      <p:pic>
        <p:nvPicPr>
          <p:cNvPr id="29" name="Image 5" descr="/sessions/dreamy-trusting-noether/mnt/outputs/build/assets/search_teal.png"/>
          <p:cNvPicPr>
            <a:picLocks noChangeAspect="1"/>
          </p:cNvPicPr>
          <p:nvPr/>
        </p:nvPicPr>
        <p:blipFill>
          <a:blip r:embed="rId8"/>
          <a:stretch>
            <a:fillRect/>
          </a:stretch>
        </p:blipFill>
        <p:spPr>
          <a:xfrm>
            <a:off x="4682338" y="4566514"/>
            <a:ext cx="285293" cy="285293"/>
          </a:xfrm>
          <a:prstGeom prst="rect">
            <a:avLst/>
          </a:prstGeom>
        </p:spPr>
      </p:pic>
      <p:sp>
        <p:nvSpPr>
          <p:cNvPr id="30" name="Text 22"/>
          <p:cNvSpPr/>
          <p:nvPr/>
        </p:nvSpPr>
        <p:spPr>
          <a:xfrm>
            <a:off x="5209032" y="4489704"/>
            <a:ext cx="2557272" cy="365760"/>
          </a:xfrm>
          <a:prstGeom prst="rect">
            <a:avLst/>
          </a:prstGeom>
          <a:noFill/>
          <a:ln/>
        </p:spPr>
        <p:txBody>
          <a:bodyPr wrap="square" lIns="0" tIns="0" rIns="0" bIns="0" rtlCol="0" anchor="ctr"/>
          <a:lstStyle/>
          <a:p>
            <a:pPr marL="0" indent="0">
              <a:buNone/>
            </a:pPr>
            <a:r>
              <a:rPr lang="en-US" sz="1500" b="1" dirty="0">
                <a:solidFill>
                  <a:srgbClr val="007A73"/>
                </a:solidFill>
                <a:latin typeface="Poppins" pitchFamily="34" charset="0"/>
                <a:ea typeface="Poppins" pitchFamily="34" charset="-122"/>
                <a:cs typeface="Poppins" pitchFamily="34" charset="-120"/>
              </a:rPr>
              <a:t>Explain</a:t>
            </a:r>
            <a:endParaRPr lang="en-US" sz="1500" dirty="0"/>
          </a:p>
        </p:txBody>
      </p:sp>
      <p:sp>
        <p:nvSpPr>
          <p:cNvPr id="31" name="Text 23"/>
          <p:cNvSpPr/>
          <p:nvPr/>
        </p:nvSpPr>
        <p:spPr>
          <a:xfrm>
            <a:off x="456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comparable listings and features behind that number.</a:t>
            </a:r>
            <a:endParaRPr lang="en-US" sz="1100" dirty="0"/>
          </a:p>
        </p:txBody>
      </p:sp>
      <p:sp>
        <p:nvSpPr>
          <p:cNvPr id="32" name="Shape 24"/>
          <p:cNvSpPr/>
          <p:nvPr/>
        </p:nvSpPr>
        <p:spPr>
          <a:xfrm>
            <a:off x="812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360664" y="4434840"/>
            <a:ext cx="548640" cy="548640"/>
          </a:xfrm>
          <a:prstGeom prst="ellipse">
            <a:avLst/>
          </a:prstGeom>
          <a:solidFill>
            <a:srgbClr val="FFEEF2"/>
          </a:solidFill>
          <a:ln/>
        </p:spPr>
        <p:txBody>
          <a:bodyPr/>
          <a:lstStyle/>
          <a:p>
            <a:endParaRPr lang="en-US"/>
          </a:p>
        </p:txBody>
      </p:sp>
      <p:pic>
        <p:nvPicPr>
          <p:cNvPr id="34" name="Image 6" descr="/sessions/dreamy-trusting-noether/mnt/outputs/build/assets/trend_coral.png"/>
          <p:cNvPicPr>
            <a:picLocks noChangeAspect="1"/>
          </p:cNvPicPr>
          <p:nvPr/>
        </p:nvPicPr>
        <p:blipFill>
          <a:blip r:embed="rId9"/>
          <a:stretch>
            <a:fillRect/>
          </a:stretch>
        </p:blipFill>
        <p:spPr>
          <a:xfrm>
            <a:off x="8492338" y="4566514"/>
            <a:ext cx="285293" cy="285293"/>
          </a:xfrm>
          <a:prstGeom prst="rect">
            <a:avLst/>
          </a:prstGeom>
        </p:spPr>
      </p:pic>
      <p:sp>
        <p:nvSpPr>
          <p:cNvPr id="35" name="Text 26"/>
          <p:cNvSpPr/>
          <p:nvPr/>
        </p:nvSpPr>
        <p:spPr>
          <a:xfrm>
            <a:off x="901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Act</a:t>
            </a:r>
            <a:endParaRPr lang="en-US" sz="1500" dirty="0"/>
          </a:p>
        </p:txBody>
      </p:sp>
      <p:sp>
        <p:nvSpPr>
          <p:cNvPr id="36" name="Text 27"/>
          <p:cNvSpPr/>
          <p:nvPr/>
        </p:nvSpPr>
        <p:spPr>
          <a:xfrm>
            <a:off x="837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what-if view of how price changes affect projected revenue.</a:t>
            </a:r>
            <a:endParaRPr lang="en-US" sz="1100" dirty="0"/>
          </a:p>
        </p:txBody>
      </p:sp>
      <p:sp>
        <p:nvSpPr>
          <p:cNvPr id="37" name="Text 28"/>
          <p:cNvSpPr/>
          <p:nvPr/>
        </p:nvSpPr>
        <p:spPr>
          <a:xfrm>
            <a:off x="502920" y="5779008"/>
            <a:ext cx="11183112" cy="320040"/>
          </a:xfrm>
          <a:prstGeom prst="rect">
            <a:avLst/>
          </a:prstGeom>
          <a:noFill/>
          <a:ln/>
        </p:spPr>
        <p:txBody>
          <a:bodyPr wrap="square" lIns="0" tIns="0" rIns="0" bIns="0" rtlCol="0" anchor="ctr"/>
          <a:lstStyle/>
          <a:p>
            <a:pPr marL="0" indent="0" algn="ctr">
              <a:buNone/>
            </a:pPr>
            <a:r>
              <a:rPr lang="en-US" sz="1250" b="1" i="1" dirty="0">
                <a:solidFill>
                  <a:srgbClr val="FF385C"/>
                </a:solidFill>
                <a:latin typeface="Poppins" pitchFamily="34" charset="0"/>
                <a:ea typeface="Poppins" pitchFamily="34" charset="-122"/>
                <a:cs typeface="Poppins" pitchFamily="34" charset="-120"/>
              </a:rPr>
              <a:t>Our goal isn't to replace Smart Pricing — it's to make pricing recommendations transparent and easy to act 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02 · CONTEXT &amp; PROBLEM</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A huge marketplace with a transparency gap</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Airbnb connects millions of hosts and guests — and pricing moves both sides of the market.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3</a:t>
            </a:r>
            <a:endParaRPr lang="en-US" sz="900" dirty="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704088" y="2414016"/>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$12.2B</a:t>
            </a:r>
            <a:endParaRPr lang="en-US" sz="3000" dirty="0"/>
          </a:p>
        </p:txBody>
      </p:sp>
      <p:sp>
        <p:nvSpPr>
          <p:cNvPr id="15" name="Text 10"/>
          <p:cNvSpPr/>
          <p:nvPr/>
        </p:nvSpPr>
        <p:spPr>
          <a:xfrm>
            <a:off x="685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2025 revenue (+10% YoY)</a:t>
            </a:r>
            <a:endParaRPr lang="en-US" sz="1150" dirty="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561588" y="2414016"/>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dirty="0">
                <a:solidFill>
                  <a:srgbClr val="00A699"/>
                </a:solidFill>
                <a:latin typeface="Poppins" pitchFamily="34" charset="0"/>
                <a:ea typeface="Poppins" pitchFamily="34" charset="-122"/>
                <a:cs typeface="Poppins" pitchFamily="34" charset="-120"/>
              </a:rPr>
              <a:t>8M+</a:t>
            </a:r>
            <a:endParaRPr lang="en-US" sz="3000" dirty="0"/>
          </a:p>
        </p:txBody>
      </p:sp>
      <p:sp>
        <p:nvSpPr>
          <p:cNvPr id="19" name="Text 13"/>
          <p:cNvSpPr/>
          <p:nvPr/>
        </p:nvSpPr>
        <p:spPr>
          <a:xfrm>
            <a:off x="3543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active listings worldwide</a:t>
            </a:r>
            <a:endParaRPr lang="en-US" sz="1150" dirty="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419088" y="2414016"/>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5M+</a:t>
            </a:r>
            <a:endParaRPr lang="en-US" sz="3000" dirty="0"/>
          </a:p>
        </p:txBody>
      </p:sp>
      <p:sp>
        <p:nvSpPr>
          <p:cNvPr id="23" name="Text 16"/>
          <p:cNvSpPr/>
          <p:nvPr/>
        </p:nvSpPr>
        <p:spPr>
          <a:xfrm>
            <a:off x="6400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hosts on the platform</a:t>
            </a:r>
            <a:endParaRPr lang="en-US" sz="1150" dirty="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276588" y="2414016"/>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dirty="0">
                <a:solidFill>
                  <a:srgbClr val="FC642D"/>
                </a:solidFill>
                <a:latin typeface="Poppins" pitchFamily="34" charset="0"/>
                <a:ea typeface="Poppins" pitchFamily="34" charset="-122"/>
                <a:cs typeface="Poppins" pitchFamily="34" charset="-120"/>
              </a:rPr>
              <a:t>15.5%</a:t>
            </a:r>
            <a:endParaRPr lang="en-US" sz="3000" dirty="0"/>
          </a:p>
        </p:txBody>
      </p:sp>
      <p:sp>
        <p:nvSpPr>
          <p:cNvPr id="27" name="Text 19"/>
          <p:cNvSpPr/>
          <p:nvPr/>
        </p:nvSpPr>
        <p:spPr>
          <a:xfrm>
            <a:off x="9258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host-only service fee</a:t>
            </a:r>
            <a:endParaRPr lang="en-US" sz="1150" dirty="0"/>
          </a:p>
        </p:txBody>
      </p:sp>
      <p:sp>
        <p:nvSpPr>
          <p:cNvPr id="28" name="Shape 20"/>
          <p:cNvSpPr/>
          <p:nvPr/>
        </p:nvSpPr>
        <p:spPr>
          <a:xfrm>
            <a:off x="502920" y="3931920"/>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missing piece for hosts</a:t>
            </a:r>
            <a:endParaRPr lang="en-US" sz="1500" dirty="0"/>
          </a:p>
        </p:txBody>
      </p:sp>
      <p:sp>
        <p:nvSpPr>
          <p:cNvPr id="32" name="Text 23"/>
          <p:cNvSpPr/>
          <p:nvPr/>
        </p:nvSpPr>
        <p:spPr>
          <a:xfrm>
            <a:off x="777240" y="4828032"/>
            <a:ext cx="4937760" cy="1005840"/>
          </a:xfrm>
          <a:prstGeom prst="rect">
            <a:avLst/>
          </a:prstGeom>
          <a:noFill/>
          <a:ln/>
        </p:spPr>
        <p:txBody>
          <a:bodyPr wrap="square" lIns="0" tIns="0" rIns="0" bIns="0" rtlCol="0" anchor="t"/>
          <a:lstStyle/>
          <a:p>
            <a:pPr marL="0" indent="0">
              <a:lnSpc>
                <a:spcPct val="108000"/>
              </a:lnSpc>
              <a:buNone/>
            </a:pPr>
            <a:r>
              <a:rPr lang="en-US" sz="1250" dirty="0">
                <a:solidFill>
                  <a:srgbClr val="4A4A4A"/>
                </a:solidFill>
                <a:latin typeface="Poppins" pitchFamily="34" charset="0"/>
                <a:ea typeface="Poppins" pitchFamily="34" charset="-122"/>
                <a:cs typeface="Poppins" pitchFamily="34" charset="-120"/>
              </a:rPr>
              <a:t>You get a recommended price, but not where it came from. With little transparency, some hosts ignore it entirely and others follow it without knowing if it's right for their listing.</a:t>
            </a:r>
            <a:endParaRPr lang="en-US" sz="1250" dirty="0"/>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So we reframed the question</a:t>
            </a:r>
            <a:endParaRPr lang="en-US" sz="1500" dirty="0"/>
          </a:p>
        </p:txBody>
      </p:sp>
      <p:sp>
        <p:nvSpPr>
          <p:cNvPr id="37" name="Text 27"/>
          <p:cNvSpPr/>
          <p:nvPr/>
        </p:nvSpPr>
        <p:spPr>
          <a:xfrm>
            <a:off x="6492240" y="4828032"/>
            <a:ext cx="4937760" cy="1051560"/>
          </a:xfrm>
          <a:prstGeom prst="rect">
            <a:avLst/>
          </a:prstGeom>
          <a:noFill/>
          <a:ln/>
        </p:spPr>
        <p:txBody>
          <a:bodyPr wrap="square" lIns="0" tIns="0" rIns="0" bIns="0" rtlCol="0" anchor="t"/>
          <a:lstStyle/>
          <a:p>
            <a:pPr marL="0" indent="0">
              <a:lnSpc>
                <a:spcPct val="108000"/>
              </a:lnSpc>
              <a:buNone/>
            </a:pPr>
            <a:r>
              <a:rPr lang="en-US" sz="1250" i="1" dirty="0">
                <a:solidFill>
                  <a:srgbClr val="222222"/>
                </a:solidFill>
                <a:latin typeface="Poppins" pitchFamily="34" charset="0"/>
                <a:ea typeface="Poppins" pitchFamily="34" charset="-122"/>
                <a:cs typeface="Poppins" pitchFamily="34" charset="-120"/>
              </a:rPr>
              <a:t>Not “can we build another pricing model?” but “can we help hosts make better pricing decisions by combining accurate recommendations with clear explanations and real market comparisons?”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03 · THE DATASET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done properly: New York City</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Inside Airbnb — public, open-source data. We chose one market to build, test and evaluate.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4</a:t>
            </a:r>
            <a:endParaRPr lang="en-US" sz="900" dirty="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dirty="0">
                <a:solidFill>
                  <a:srgbClr val="9AA0A6"/>
                </a:solidFill>
                <a:latin typeface="Poppins" pitchFamily="34" charset="0"/>
                <a:ea typeface="Poppins" pitchFamily="34" charset="-122"/>
                <a:cs typeface="Poppins" pitchFamily="34" charset="-120"/>
              </a:rPr>
              <a:t>30,259</a:t>
            </a:r>
            <a:endParaRPr lang="en-US" sz="3700" dirty="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raw listings scraped</a:t>
            </a:r>
            <a:endParaRPr lang="en-US" sz="1200" dirty="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dirty="0">
                <a:solidFill>
                  <a:srgbClr val="FF385C"/>
                </a:solidFill>
                <a:latin typeface="Poppins" pitchFamily="34" charset="0"/>
                <a:ea typeface="Poppins" pitchFamily="34" charset="-122"/>
                <a:cs typeface="Poppins" pitchFamily="34" charset="-120"/>
              </a:rPr>
              <a:t>9,752</a:t>
            </a:r>
            <a:endParaRPr lang="en-US" sz="3700" dirty="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active listings (≈9,800)</a:t>
            </a:r>
            <a:endParaRPr lang="en-US" sz="1200" dirty="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dirty="0">
                <a:solidFill>
                  <a:srgbClr val="007A73"/>
                </a:solidFill>
                <a:latin typeface="Poppins" pitchFamily="34" charset="0"/>
                <a:ea typeface="Poppins" pitchFamily="34" charset="-122"/>
                <a:cs typeface="Poppins" pitchFamily="34" charset="-120"/>
              </a:rPr>
              <a:t>80</a:t>
            </a:r>
            <a:endParaRPr lang="en-US" sz="3700" dirty="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engineered features</a:t>
            </a:r>
            <a:endParaRPr lang="en-US" sz="1200" dirty="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dirty="0">
                <a:solidFill>
                  <a:srgbClr val="222222"/>
                </a:solidFill>
                <a:latin typeface="Poppins" pitchFamily="34" charset="0"/>
                <a:ea typeface="Poppins" pitchFamily="34" charset="-122"/>
                <a:cs typeface="Poppins" pitchFamily="34" charset="-120"/>
              </a:rPr>
              <a:t>For each listing:  </a:t>
            </a:r>
            <a:r>
              <a:rPr lang="en-US" sz="1250" dirty="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Clean &amp; prepare</a:t>
            </a:r>
            <a:endParaRPr lang="en-US" sz="1350" dirty="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dirty="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Understand first</a:t>
            </a:r>
            <a:endParaRPr lang="en-US" sz="1350" dirty="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Then model</a:t>
            </a:r>
            <a:endParaRPr lang="en-US" sz="1350" dirty="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Only once we understood the data did we move to machine learning — starting with EDA.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04 · KEY VARIABLES (EDA)</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or two?</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dataset splits almost evenly — and the two halves behave nothing alike.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5</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this decides everything</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 monthly renter commits to one property and barely shops on nightly rate. A weekend guest compares five listings in an hour.</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So we model them separately. </a:t>
            </a:r>
            <a:r>
              <a:rPr lang="en-US" sz="1250" dirty="0">
                <a:solidFill>
                  <a:srgbClr val="4A4A4A"/>
                </a:solidFill>
                <a:latin typeface="Poppins" pitchFamily="34" charset="0"/>
                <a:ea typeface="Poppins" pitchFamily="34" charset="-122"/>
                <a:cs typeface="Poppins" pitchFamily="34" charset="-120"/>
              </a:rPr>
              <a:t>Two engines, two sets of comparables, two elasticities. Every number that follows is segment-aware.</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price elasticity — 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05 · A KEY RELATIONSHIP</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Pricing isn't the only thing driving demand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Reputation and quality move occupancy too — so we shouldn't treat price as the only lever.</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6</a:t>
            </a:r>
            <a:endParaRPr lang="en-US" sz="900" dirty="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Occupancy rises with a host's track record</a:t>
            </a:r>
            <a:endParaRPr lang="en-US" sz="1350" dirty="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34%</a:t>
            </a:r>
            <a:endParaRPr lang="en-US" sz="1200" dirty="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0–10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37%</a:t>
            </a:r>
            <a:endParaRPr lang="en-US" sz="1200" dirty="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11–50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42%</a:t>
            </a:r>
            <a:endParaRPr lang="en-US" sz="1200" dirty="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51+</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dirty="0">
                <a:solidFill>
                  <a:srgbClr val="717171"/>
                </a:solidFill>
                <a:latin typeface="Poppins" pitchFamily="34" charset="0"/>
                <a:ea typeface="Poppins" pitchFamily="34" charset="-122"/>
                <a:cs typeface="Poppins" pitchFamily="34" charset="-120"/>
              </a:rPr>
              <a:t>Superhosts average 39% occupancy vs 36% for regular hosts.</a:t>
            </a:r>
            <a:endParaRPr lang="en-US" sz="1050" dirty="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Which raises the real question</a:t>
            </a:r>
            <a:endParaRPr lang="en-US" sz="1500" dirty="0"/>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dirty="0">
                <a:solidFill>
                  <a:srgbClr val="4A4A4A"/>
                </a:solidFill>
                <a:latin typeface="Poppins" pitchFamily="34" charset="0"/>
                <a:ea typeface="Poppins" pitchFamily="34" charset="-122"/>
                <a:cs typeface="Poppins" pitchFamily="34" charset="-120"/>
              </a:rPr>
              <a:t>Reviews, reputation and listing quality all shape whether guests book — not just price. And when we looked at the market, some listings sat close to what we'd expect while others were clearly above or below similar properties.</a:t>
            </a:r>
            <a:endParaRPr lang="en-US" sz="1250" dirty="0"/>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marL="0" indent="0">
              <a:lnSpc>
                <a:spcPct val="105000"/>
              </a:lnSpc>
              <a:buNone/>
            </a:pPr>
            <a:r>
              <a:rPr lang="en-US" sz="1250" b="1" i="1" dirty="0">
                <a:solidFill>
                  <a:srgbClr val="007A73"/>
                </a:solidFill>
                <a:latin typeface="Poppins" pitchFamily="34" charset="0"/>
                <a:ea typeface="Poppins" pitchFamily="34" charset="-122"/>
                <a:cs typeface="Poppins" pitchFamily="34" charset="-120"/>
              </a:rPr>
              <a:t>So instead of asking “is this listing expensive or cheap?”, we asked: “what should a fair market price actually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06 · THE SOLUTION</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Not another calculator — an explanation</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7</a:t>
            </a:r>
            <a:endParaRPr lang="en-US" sz="900" dirty="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recommended fair value</a:t>
            </a:r>
            <a:endParaRPr lang="en-US" sz="1300" dirty="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One clear number, calibrated to the listing.</a:t>
            </a:r>
            <a:endParaRPr lang="en-US" sz="1100" dirty="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Comparable listings</a:t>
            </a:r>
            <a:endParaRPr lang="en-US" sz="1300" dirty="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real, similar properties that support it.</a:t>
            </a:r>
            <a:endParaRPr lang="en-US" sz="1100" dirty="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Amenity differences</a:t>
            </a:r>
            <a:endParaRPr lang="en-US" sz="1300" dirty="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What comparable high performers offer that you don't.</a:t>
            </a:r>
            <a:endParaRPr lang="en-US" sz="1100" dirty="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revenue what-if</a:t>
            </a:r>
            <a:endParaRPr lang="en-US" sz="1300" dirty="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Explore how changing price could affect revenue.</a:t>
            </a:r>
            <a:endParaRPr lang="en-US" sz="1100" dirty="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dirty="0">
                <a:solidFill>
                  <a:srgbClr val="222222"/>
                </a:solidFill>
                <a:latin typeface="Poppins" pitchFamily="34" charset="0"/>
                <a:ea typeface="Poppins" pitchFamily="34" charset="-122"/>
                <a:cs typeface="Poppins" pitchFamily="34" charset="-120"/>
              </a:rPr>
              <a:t>“Commander's Intent”</a:t>
            </a:r>
            <a:endParaRPr lang="en-US" sz="1450" dirty="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An idea from our coach: people make better decisions when they understand the reasoning — not when they're simply told what to do.</a:t>
            </a:r>
            <a:endParaRPr lang="en-US" sz="1250" dirty="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dirty="0">
                <a:solidFill>
                  <a:srgbClr val="FF385C"/>
                </a:solidFill>
                <a:latin typeface="Poppins" pitchFamily="34" charset="0"/>
                <a:ea typeface="Poppins" pitchFamily="34" charset="-122"/>
                <a:cs typeface="Poppins" pitchFamily="34" charset="-120"/>
              </a:rPr>
              <a:t>Hosts trust and act on a recommendation when they understand where it came from. So this is about pricing with confidence — not just predicting a price.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07 · MODEL &amp; INSIGHTS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A price you can trust, and the reason behind it</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8</a:t>
            </a:r>
            <a:endParaRPr lang="en-US" sz="900" dirty="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GBM</a:t>
            </a:r>
            <a:endParaRPr lang="en-US" sz="1100" dirty="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Fair market value</a:t>
            </a:r>
            <a:endParaRPr lang="en-US" sz="1500" dirty="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 and returns a fair price with a confidence interval.</a:t>
            </a:r>
            <a:endParaRPr lang="en-US" sz="1150" dirty="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KNN</a:t>
            </a:r>
            <a:endParaRPr lang="en-US" sz="1100" dirty="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Comparable listings</a:t>
            </a:r>
            <a:endParaRPr lang="en-US" sz="1500" dirty="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So the price isn't a black box: nearest-neighbors surfaces the similar listings — and their amenities — that stand behind each recommendation.</a:t>
            </a:r>
            <a:endParaRPr lang="en-US" sz="1150" dirty="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dirty="0">
                <a:solidFill>
                  <a:srgbClr val="FF385C"/>
                </a:solidFill>
                <a:latin typeface="Poppins" pitchFamily="34" charset="0"/>
                <a:ea typeface="Poppins" pitchFamily="34" charset="-122"/>
                <a:cs typeface="Poppins" pitchFamily="34" charset="-120"/>
              </a:rPr>
              <a:t>19.2%</a:t>
            </a:r>
            <a:endParaRPr lang="en-US" sz="3400" dirty="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dirty="0">
                <a:solidFill>
                  <a:srgbClr val="717171"/>
                </a:solidFill>
                <a:latin typeface="Poppins" pitchFamily="34" charset="0"/>
                <a:ea typeface="Poppins" pitchFamily="34" charset="-122"/>
                <a:cs typeface="Poppins" pitchFamily="34" charset="-120"/>
              </a:rPr>
              <a:t>median error — roughly half the error of a plain regression</a:t>
            </a:r>
            <a:endParaRPr lang="en-US" sz="1050" dirty="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dirty="0">
                <a:solidFill>
                  <a:srgbClr val="222222"/>
                </a:solidFill>
                <a:latin typeface="Poppins" pitchFamily="34" charset="0"/>
                <a:ea typeface="Poppins" pitchFamily="34" charset="-122"/>
                <a:cs typeface="Poppins" pitchFamily="34" charset="-120"/>
              </a:rPr>
              <a:t>Two halves, and both pay off — differently.  </a:t>
            </a:r>
            <a:r>
              <a:rPr lang="en-US" sz="1150" dirty="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 it fills nights that were sitting empty. Our number counts both.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08 · PRODUCT WALKTHROUGH</a:t>
            </a:r>
            <a:endParaRPr lang="en-US" sz="1200" dirty="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The dashboard, in three clicks</a:t>
            </a:r>
            <a:endParaRPr lang="en-US" sz="3000" dirty="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Airbnb Pricing Intelligence</a:t>
            </a:r>
            <a:endParaRPr lang="en-US" sz="1300" dirty="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dirty="0">
                <a:solidFill>
                  <a:srgbClr val="FFFFFF"/>
                </a:solidFill>
                <a:latin typeface="Poppins" pitchFamily="34" charset="0"/>
                <a:ea typeface="Poppins" pitchFamily="34" charset="-122"/>
                <a:cs typeface="Poppins" pitchFamily="34" charset="-120"/>
              </a:rPr>
              <a:t>Greenpoint Place · Entire home · Brooklyn</a:t>
            </a:r>
            <a:endParaRPr lang="en-US" sz="1050" dirty="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RECOMMENDED FAIR VALUE</a:t>
            </a:r>
            <a:endParaRPr lang="en-US" sz="1000" dirty="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dirty="0">
                <a:solidFill>
                  <a:srgbClr val="222222"/>
                </a:solidFill>
                <a:latin typeface="Poppins" pitchFamily="34" charset="0"/>
                <a:ea typeface="Poppins" pitchFamily="34" charset="-122"/>
                <a:cs typeface="Poppins" pitchFamily="34" charset="-120"/>
              </a:rPr>
              <a:t>$222</a:t>
            </a:r>
            <a:r>
              <a:rPr lang="en-US" sz="1400" dirty="0">
                <a:solidFill>
                  <a:srgbClr val="717171"/>
                </a:solidFill>
                <a:latin typeface="Poppins" pitchFamily="34" charset="0"/>
                <a:ea typeface="Poppins" pitchFamily="34" charset="-122"/>
                <a:cs typeface="Poppins" pitchFamily="34" charset="-120"/>
              </a:rPr>
              <a:t>  /night</a:t>
            </a:r>
            <a:endParaRPr lang="en-US" sz="4400" dirty="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dirty="0">
                <a:solidFill>
                  <a:srgbClr val="717171"/>
                </a:solidFill>
                <a:latin typeface="Poppins" pitchFamily="34" charset="0"/>
                <a:ea typeface="Poppins" pitchFamily="34" charset="-122"/>
                <a:cs typeface="Poppins" pitchFamily="34" charset="-120"/>
              </a:rPr>
              <a:t>Confidence range $188 – $256</a:t>
            </a:r>
            <a:endParaRPr lang="en-US" sz="1100" dirty="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YOUR PRICE $138</a:t>
            </a:r>
            <a:endParaRPr lang="en-US" sz="1100" dirty="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dirty="0">
                <a:solidFill>
                  <a:srgbClr val="FF385C"/>
                </a:solidFill>
                <a:latin typeface="Poppins" pitchFamily="34" charset="0"/>
                <a:ea typeface="Poppins" pitchFamily="34" charset="-122"/>
                <a:cs typeface="Poppins" pitchFamily="34" charset="-120"/>
              </a:rPr>
              <a:t>38% below fair value</a:t>
            </a:r>
            <a:endParaRPr lang="en-US" sz="1600" dirty="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PROJECTED REVENUE — DRAG TO EXPLORE</a:t>
            </a:r>
            <a:endParaRPr lang="en-US" sz="1000" dirty="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$138</a:t>
            </a:r>
            <a:endParaRPr lang="en-US" sz="900" dirty="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$222 (fair)</a:t>
            </a:r>
            <a:endParaRPr lang="en-US" sz="900" dirty="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$256 (max)</a:t>
            </a:r>
            <a:endParaRPr lang="en-US" sz="900" dirty="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dirty="0">
                <a:solidFill>
                  <a:srgbClr val="9AA0A6"/>
                </a:solidFill>
                <a:latin typeface="Poppins" pitchFamily="34" charset="0"/>
                <a:ea typeface="Poppins" pitchFamily="34" charset="-122"/>
                <a:cs typeface="Poppins" pitchFamily="34" charset="-120"/>
              </a:rPr>
              <a:t>COMPARABLE LISTINGS</a:t>
            </a:r>
            <a:endParaRPr lang="en-US" sz="1050" dirty="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Sunny Greenpoint 1BR</a:t>
            </a:r>
            <a:endParaRPr lang="en-US" sz="1100" dirty="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$229</a:t>
            </a:r>
            <a:endParaRPr lang="en-US" sz="1300" dirty="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Self check-in</a:t>
            </a:r>
            <a:endParaRPr lang="en-US" sz="950" dirty="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Bright Williamsburg flat</a:t>
            </a:r>
            <a:endParaRPr lang="en-US" sz="1100" dirty="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$241</a:t>
            </a:r>
            <a:endParaRPr lang="en-US" sz="1300" dirty="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Dedicated workspace</a:t>
            </a:r>
            <a:endParaRPr lang="en-US" sz="950" dirty="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Modern McCarren loft</a:t>
            </a:r>
            <a:endParaRPr lang="en-US" sz="1100" dirty="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$208</a:t>
            </a:r>
            <a:endParaRPr lang="en-US" sz="1300" dirty="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Air conditioning</a:t>
            </a:r>
            <a:endParaRPr lang="en-US" sz="950" dirty="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dirty="0">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dirty="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09 · FROM PRICE TO REVENUE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Does moving the price actually make money?</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10</a:t>
            </a:r>
            <a:endParaRPr lang="en-US" sz="900" dirty="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dirty="0">
                <a:solidFill>
                  <a:srgbClr val="007A73"/>
                </a:solidFill>
                <a:latin typeface="Poppins" pitchFamily="34" charset="0"/>
                <a:ea typeface="Poppins" pitchFamily="34" charset="-122"/>
                <a:cs typeface="Poppins" pitchFamily="34" charset="-120"/>
              </a:rPr>
              <a:t>THE MEASUREMENT</a:t>
            </a:r>
            <a:endParaRPr lang="en-US" sz="1050" dirty="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dirty="0">
                <a:solidFill>
                  <a:srgbClr val="007A73"/>
                </a:solidFill>
                <a:latin typeface="Poppins" pitchFamily="34" charset="0"/>
                <a:ea typeface="Poppins" pitchFamily="34" charset="-122"/>
                <a:cs typeface="Poppins" pitchFamily="34" charset="-120"/>
              </a:rPr>
              <a:t>β = −0.92</a:t>
            </a:r>
            <a:r>
              <a:rPr lang="en-US" sz="1150" dirty="0">
                <a:solidFill>
                  <a:srgbClr val="4A4A4A"/>
                </a:solidFill>
                <a:latin typeface="Poppins" pitchFamily="34" charset="0"/>
                <a:ea typeface="Poppins" pitchFamily="34" charset="-122"/>
                <a:cs typeface="Poppins" pitchFamily="34" charset="-120"/>
              </a:rPr>
              <a:t>    95% CI  −1.30 to −0.54</a:t>
            </a:r>
            <a:endParaRPr lang="en-US" sz="2900" dirty="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dirty="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dirty="0">
                <a:solidFill>
                  <a:srgbClr val="FF385C"/>
                </a:solidFill>
                <a:latin typeface="Poppins" pitchFamily="34" charset="0"/>
                <a:ea typeface="Poppins" pitchFamily="34" charset="-122"/>
                <a:cs typeface="Poppins" pitchFamily="34" charset="-120"/>
              </a:rPr>
              <a:t>WHAT IT MEANS FOR REVENUE</a:t>
            </a:r>
            <a:endParaRPr lang="en-US" sz="1050" dirty="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dirty="0">
                <a:solidFill>
                  <a:srgbClr val="FF385C"/>
                </a:solidFill>
                <a:latin typeface="Poppins" pitchFamily="34" charset="0"/>
                <a:ea typeface="Poppins" pitchFamily="34" charset="-122"/>
                <a:cs typeface="Poppins" pitchFamily="34" charset="-120"/>
              </a:rPr>
              <a:t>revenue elasticity = 1 + β ≈ 0.08</a:t>
            </a:r>
            <a:endParaRPr lang="en-US" sz="2000" dirty="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dirty="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dirty="0">
                <a:solidFill>
                  <a:srgbClr val="222222"/>
                </a:solidFill>
                <a:latin typeface="Poppins" pitchFamily="34" charset="0"/>
                <a:ea typeface="Poppins" pitchFamily="34" charset="-122"/>
                <a:cs typeface="Poppins" pitchFamily="34" charset="-120"/>
              </a:rPr>
              <a:t>Where our estimate sits on the elasticity line</a:t>
            </a:r>
            <a:endParaRPr lang="en-US" sz="1200" dirty="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dirty="0">
                <a:solidFill>
                  <a:srgbClr val="222222"/>
                </a:solidFill>
                <a:latin typeface="Poppins" pitchFamily="34" charset="0"/>
                <a:ea typeface="Poppins" pitchFamily="34" charset="-122"/>
                <a:cs typeface="Poppins" pitchFamily="34" charset="-120"/>
              </a:rPr>
              <a:t>breakeven −1.0</a:t>
            </a:r>
            <a:endParaRPr lang="en-US" sz="950" dirty="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dirty="0">
                <a:solidFill>
                  <a:srgbClr val="FF385C"/>
                </a:solidFill>
                <a:latin typeface="Poppins" pitchFamily="34" charset="0"/>
                <a:ea typeface="Poppins" pitchFamily="34" charset="-122"/>
                <a:cs typeface="Poppins" pitchFamily="34" charset="-120"/>
              </a:rPr>
              <a:t>our estimate  β = −0.92</a:t>
            </a:r>
            <a:endParaRPr lang="en-US" sz="950" dirty="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dirty="0">
                <a:solidFill>
                  <a:srgbClr val="007A73"/>
                </a:solidFill>
                <a:latin typeface="Poppins" pitchFamily="34" charset="0"/>
                <a:ea typeface="Poppins" pitchFamily="34" charset="-122"/>
                <a:cs typeface="Poppins" pitchFamily="34" charset="-120"/>
              </a:rPr>
              <a:t>ELASTIC  ·  cutting price adds revenue</a:t>
            </a:r>
            <a:endParaRPr lang="en-US" sz="900" dirty="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dirty="0">
                <a:solidFill>
                  <a:srgbClr val="FF385C"/>
                </a:solidFill>
                <a:latin typeface="Poppins" pitchFamily="34" charset="0"/>
                <a:ea typeface="Poppins" pitchFamily="34" charset="-122"/>
                <a:cs typeface="Poppins" pitchFamily="34" charset="-120"/>
              </a:rPr>
              <a:t>INELASTIC  ·  raising price adds revenue</a:t>
            </a:r>
            <a:endParaRPr lang="en-US" sz="900" dirty="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dirty="0">
                <a:solidFill>
                  <a:srgbClr val="9AA0A6"/>
                </a:solidFill>
                <a:latin typeface="Poppins" pitchFamily="34" charset="0"/>
                <a:ea typeface="Poppins" pitchFamily="34" charset="-122"/>
                <a:cs typeface="Poppins" pitchFamily="34" charset="-120"/>
              </a:rPr>
              <a:t>−2</a:t>
            </a:r>
            <a:endParaRPr lang="en-US" sz="900" dirty="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dirty="0">
                <a:solidFill>
                  <a:srgbClr val="9AA0A6"/>
                </a:solidFill>
                <a:latin typeface="Poppins" pitchFamily="34" charset="0"/>
                <a:ea typeface="Poppins" pitchFamily="34" charset="-122"/>
                <a:cs typeface="Poppins" pitchFamily="34" charset="-120"/>
              </a:rPr>
              <a:t>10</a:t>
            </a:r>
            <a:endParaRPr lang="en-US" sz="900" dirty="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dirty="0">
                <a:solidFill>
                  <a:srgbClr val="717171"/>
                </a:solidFill>
                <a:latin typeface="Poppins" pitchFamily="34" charset="0"/>
                <a:ea typeface="Poppins" pitchFamily="34" charset="-122"/>
                <a:cs typeface="Poppins" pitchFamily="34" charset="-120"/>
              </a:rPr>
              <a:t>Honest caveat:  </a:t>
            </a:r>
            <a:r>
              <a:rPr lang="en-US" sz="950" i="1" dirty="0">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10 · THE FINANCIAL CASE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What it is worth, and what it costs</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11</a:t>
            </a:r>
            <a:endParaRPr lang="en-US" sz="900" dirty="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dirty="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dirty="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dirty="0">
                <a:solidFill>
                  <a:srgbClr val="222222"/>
                </a:solidFill>
                <a:latin typeface="Poppins" pitchFamily="34" charset="0"/>
                <a:ea typeface="Poppins" pitchFamily="34" charset="-122"/>
                <a:cs typeface="Poppins" pitchFamily="34" charset="-120"/>
              </a:rPr>
              <a:t>~$7.6M</a:t>
            </a:r>
            <a:r>
              <a:rPr lang="en-US" sz="1300" dirty="0">
                <a:solidFill>
                  <a:srgbClr val="4A4A4A"/>
                </a:solidFill>
                <a:latin typeface="Poppins" pitchFamily="34" charset="0"/>
                <a:ea typeface="Poppins" pitchFamily="34" charset="-122"/>
                <a:cs typeface="Poppins" pitchFamily="34" charset="-120"/>
              </a:rPr>
              <a:t> host GBV</a:t>
            </a:r>
            <a:r>
              <a:rPr lang="en-US" sz="1250" dirty="0">
                <a:solidFill>
                  <a:srgbClr val="9AA0A6"/>
                </a:solidFill>
                <a:latin typeface="Poppins" pitchFamily="34" charset="0"/>
                <a:ea typeface="Poppins" pitchFamily="34" charset="-122"/>
                <a:cs typeface="Poppins" pitchFamily="34" charset="-120"/>
              </a:rPr>
              <a:t>      ×15.5%  →      </a:t>
            </a:r>
            <a:r>
              <a:rPr lang="en-US" sz="2900" b="1" dirty="0">
                <a:solidFill>
                  <a:srgbClr val="FF385C"/>
                </a:solidFill>
                <a:latin typeface="Poppins" pitchFamily="34" charset="0"/>
                <a:ea typeface="Poppins" pitchFamily="34" charset="-122"/>
                <a:cs typeface="Poppins" pitchFamily="34" charset="-120"/>
              </a:rPr>
              <a:t>$1.17M</a:t>
            </a:r>
            <a:r>
              <a:rPr lang="en-US" sz="1300" dirty="0">
                <a:solidFill>
                  <a:srgbClr val="4A4A4A"/>
                </a:solidFill>
                <a:latin typeface="Poppins" pitchFamily="34" charset="0"/>
                <a:ea typeface="Poppins" pitchFamily="34" charset="-122"/>
                <a:cs typeface="Poppins" pitchFamily="34" charset="-120"/>
              </a:rPr>
              <a:t> / yr Airbnb fee</a:t>
            </a:r>
            <a:endParaRPr lang="en-US" sz="2900" dirty="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dirty="0">
                <a:solidFill>
                  <a:srgbClr val="222222"/>
                </a:solidFill>
                <a:latin typeface="Poppins" pitchFamily="34" charset="0"/>
                <a:ea typeface="Poppins" pitchFamily="34" charset="-122"/>
                <a:cs typeface="Poppins" pitchFamily="34" charset="-120"/>
              </a:rPr>
              <a:t>Ceiling (upside): </a:t>
            </a:r>
            <a:r>
              <a:rPr lang="en-US" sz="1050" dirty="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dirty="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$65K</a:t>
            </a:r>
            <a:endParaRPr lang="en-US" sz="2500" dirty="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dirty="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dirty="0">
                <a:solidFill>
                  <a:srgbClr val="FF385C"/>
                </a:solidFill>
                <a:latin typeface="Poppins" pitchFamily="34" charset="0"/>
                <a:ea typeface="Poppins" pitchFamily="34" charset="-122"/>
                <a:cs typeface="Poppins" pitchFamily="34" charset="-120"/>
              </a:rPr>
              <a:t>$30K / yr</a:t>
            </a:r>
            <a:endParaRPr lang="en-US" sz="2500" dirty="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 run (retraining, monitoring, ~$3K infra)</a:t>
            </a:r>
            <a:endParaRPr lang="en-US" sz="1000" dirty="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~$215K</a:t>
            </a:r>
            <a:endParaRPr lang="en-US" sz="2500" dirty="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total 5-year cost of ownership</a:t>
            </a:r>
            <a:endParaRPr lang="en-US" sz="1000" dirty="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dirty="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dirty="0">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11 · ROI &amp; FINANCIAL TIMELINE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Payback in months, not years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Adoption sensitivity on the $1.17M floor and the incremental cost. Even 15% adoption clears 300% ROI.</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Adoption</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Airbnb fee / yr</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Payback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5-yr ROI</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15%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$176K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~6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308%</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25%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$292K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580%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35%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$410K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~3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852%</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50%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$585K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1,260%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75%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$878K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1,941%</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dirty="0">
                <a:solidFill>
                  <a:srgbClr val="9AA0A6"/>
                </a:solidFill>
                <a:latin typeface="Poppins" pitchFamily="34" charset="0"/>
                <a:ea typeface="Poppins" pitchFamily="34" charset="-122"/>
                <a:cs typeface="Poppins" pitchFamily="34" charset="-120"/>
              </a:rPr>
              <a:t>We headline the 25% and 35% rows: the conservative and expected cases.</a:t>
            </a:r>
            <a:endParaRPr lang="en-US" sz="1050" dirty="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Honest about time value</a:t>
            </a:r>
            <a:endParaRPr lang="en-US" sz="1400" dirty="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dirty="0">
                <a:solidFill>
                  <a:srgbClr val="FF385C"/>
                </a:solidFill>
                <a:latin typeface="Poppins" pitchFamily="34" charset="0"/>
                <a:ea typeface="Poppins" pitchFamily="34" charset="-122"/>
                <a:cs typeface="Poppins" pitchFamily="34" charset="-120"/>
              </a:rPr>
              <a:t>Net-positive in Year 1</a:t>
            </a:r>
            <a:r>
              <a:rPr lang="en-US" sz="1150" dirty="0">
                <a:solidFill>
                  <a:srgbClr val="4A4A4A"/>
                </a:solidFill>
                <a:latin typeface="Poppins" pitchFamily="34" charset="0"/>
                <a:ea typeface="Poppins" pitchFamily="34" charset="-122"/>
                <a:cs typeface="Poppins" pitchFamily="34" charset="-120"/>
              </a:rPr>
              <a:t>, even at 10% first-year adoption.
5-year net: </a:t>
            </a:r>
            <a:r>
              <a:rPr lang="en-US" sz="1150" b="1" dirty="0">
                <a:solidFill>
                  <a:srgbClr val="222222"/>
                </a:solidFill>
                <a:latin typeface="Poppins" pitchFamily="34" charset="0"/>
                <a:ea typeface="Poppins" pitchFamily="34" charset="-122"/>
                <a:cs typeface="Poppins" pitchFamily="34" charset="-120"/>
              </a:rPr>
              <a:t>$5.63M nominal → $4.26M NPV</a:t>
            </a:r>
            <a:r>
              <a:rPr lang="en-US" sz="1150" dirty="0">
                <a:solidFill>
                  <a:srgbClr val="4A4A4A"/>
                </a:solidFill>
                <a:latin typeface="Poppins" pitchFamily="34" charset="0"/>
                <a:ea typeface="Poppins" pitchFamily="34" charset="-122"/>
                <a:cs typeface="Poppins" pitchFamily="34" charset="-120"/>
              </a:rPr>
              <a:t> at a 10% discount (~24% haircut).
</a:t>
            </a:r>
            <a:r>
              <a:rPr lang="en-US" sz="1150" dirty="0">
                <a:solidFill>
                  <a:srgbClr val="717171"/>
                </a:solidFill>
                <a:latin typeface="Poppins" pitchFamily="34" charset="0"/>
                <a:ea typeface="Poppins" pitchFamily="34" charset="-122"/>
                <a:cs typeface="Poppins" pitchFamily="34" charset="-120"/>
              </a:rPr>
              <a:t>We discount at 10% and show both, rather than present nominal sums under an NPV banner.</a:t>
            </a:r>
            <a:endParaRPr lang="en-US" sz="1150" dirty="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dirty="0">
                <a:solidFill>
                  <a:srgbClr val="222222"/>
                </a:solidFill>
                <a:latin typeface="Poppins" pitchFamily="34" charset="0"/>
                <a:ea typeface="Poppins" pitchFamily="34" charset="-122"/>
                <a:cs typeface="Poppins" pitchFamily="34" charset="-120"/>
              </a:rPr>
              <a:t>And on the overpriced side: </a:t>
            </a:r>
            <a:r>
              <a:rPr lang="en-US" sz="1050" dirty="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12 · WHAT WE'D DO WITH MORE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The number is a floor. Here is what lifts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13</a:t>
            </a:r>
            <a:endParaRPr lang="en-US" sz="900" dirty="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Give us the full elasticity panel</a:t>
            </a:r>
            <a:endParaRPr lang="en-US" sz="1400" dirty="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 and likely raises the number, since newer listings are more price-sensitive.</a:t>
            </a:r>
            <a:endParaRPr lang="en-US" sz="1180" dirty="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Let us measure the monthly segment</a:t>
            </a:r>
            <a:endParaRPr lang="en-US" sz="1400" dirty="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dirty="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Open the booking-flow data</a:t>
            </a:r>
            <a:endParaRPr lang="en-US" sz="1400" dirty="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dirty="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Then take it beyond New York</a:t>
            </a:r>
            <a:endParaRPr lang="en-US" sz="1400" dirty="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Coefficients need re-fitting per market — tourism, regulation and seasonality all differ. The method transfers; these particular numbers are New York's.</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13 · RECOMMENDATIONS &amp; CLOSING</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Build on Smart Pricing — don't replace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14</a:t>
            </a:r>
            <a:endParaRPr lang="en-US" sz="900" dirty="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Enhance, don't replace</a:t>
            </a:r>
            <a:endParaRPr lang="en-US" sz="1350" dirty="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dirty="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Pilot in one market</a:t>
            </a:r>
            <a:endParaRPr lang="en-US" sz="1350" dirty="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dirty="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3</a:t>
            </a:r>
            <a:endParaRPr lang="en-US" sz="2000" dirty="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Learn, then scale</a:t>
            </a:r>
            <a:endParaRPr lang="en-US" sz="1350" dirty="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dirty="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The bigger lesson</a:t>
            </a:r>
            <a:endParaRPr lang="en-US" sz="1400" dirty="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dirty="0">
                <a:solidFill>
                  <a:srgbClr val="4A4A4A"/>
                </a:solidFill>
                <a:latin typeface="Poppins" pitchFamily="34" charset="0"/>
                <a:ea typeface="Poppins" pitchFamily="34" charset="-122"/>
                <a:cs typeface="Poppins" pitchFamily="34" charset="-120"/>
              </a:rPr>
              <a:t>Good analytics isn't only accurate models — it's solving the right business problem and presenting insight people will actually use. This project brought together machine learning, product thinking, business strategy and data storytelling in one solution — skills that carry directly into our careers.</a:t>
            </a:r>
            <a:endParaRPr lang="en-US" sz="1180" dirty="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Poppins" pitchFamily="34" charset="0"/>
                <a:ea typeface="Poppins" pitchFamily="34" charset="-122"/>
                <a:cs typeface="Poppins" pitchFamily="34" charset="-120"/>
              </a:rPr>
              <a:t>Thank you</a:t>
            </a:r>
            <a:endParaRPr lang="en-US" sz="2600" dirty="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dirty="0">
                <a:solidFill>
                  <a:srgbClr val="FFFFFF"/>
                </a:solidFill>
                <a:latin typeface="Poppins" pitchFamily="34" charset="0"/>
                <a:ea typeface="Poppins" pitchFamily="34" charset="-122"/>
                <a:cs typeface="Poppins" pitchFamily="34" charset="-120"/>
              </a:rPr>
              <a:t>We'd be happy to answer any questions.</a:t>
            </a:r>
            <a:endParaRPr lang="en-US" sz="1250" dirty="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dirty="0">
                <a:solidFill>
                  <a:srgbClr val="FFFFFF"/>
                </a:solidFill>
                <a:latin typeface="Poppins" pitchFamily="34" charset="0"/>
                <a:ea typeface="Poppins" pitchFamily="34" charset="-122"/>
                <a:cs typeface="Poppins" pitchFamily="34" charset="-120"/>
              </a:rPr>
              <a:t>GitHub: mkdn007/Cornell-Airbnb-Capstone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dirty="0">
                <a:solidFill>
                  <a:srgbClr val="FFFFFF"/>
                </a:solidFill>
                <a:latin typeface="Poppins" pitchFamily="34" charset="0"/>
                <a:ea typeface="Poppins" pitchFamily="34" charset="-122"/>
                <a:cs typeface="Poppins" pitchFamily="34" charset="-120"/>
              </a:rPr>
              <a:t>BACKUP</a:t>
            </a:r>
            <a:endParaRPr lang="en-US" sz="6000" dirty="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dirty="0">
                <a:solidFill>
                  <a:srgbClr val="FFFFFF">
                    <a:alpha val="92000"/>
                  </a:srgbClr>
                </a:solidFill>
                <a:latin typeface="Poppins" pitchFamily="34" charset="0"/>
                <a:ea typeface="Poppins" pitchFamily="34" charset="-122"/>
                <a:cs typeface="Poppins" pitchFamily="34" charset="-120"/>
              </a:rPr>
              <a:t>Not presented — held in reserve to answer questions. The full technical write-up lives in the appendix document.</a:t>
            </a:r>
            <a:endParaRPr lang="en-US" sz="1700" dirty="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B1  Model bake-off</a:t>
            </a:r>
            <a:endParaRPr lang="en-US" sz="1100" dirty="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B2  How the $7.6M is built</a:t>
            </a:r>
            <a:endParaRPr lang="en-US" sz="1100" dirty="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B3  Why we split at 142 reviews</a:t>
            </a:r>
            <a:endParaRPr lang="en-US" sz="1100" dirty="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B4  Revenue by confidence</a:t>
            </a:r>
            <a:endParaRPr lang="en-US" sz="1100" dirty="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B5  Validation &amp; methodology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B1 · MODEL BAKE-OFF</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Models tested, held-out performance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Model</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Median APE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MAE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(log)</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Log-linear OLS (baseline)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39.2%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$113.22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0.243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0.486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29.3%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$92.94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0.506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0.619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OLS (expanded features)</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$81.20</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Ridge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$81.03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20.8%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$75.07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0.574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0.782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short-stay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$102.81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0.528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0.714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monthly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$39.92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0.777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dirty="0">
                <a:solidFill>
                  <a:srgbClr val="222222"/>
                </a:solidFill>
                <a:latin typeface="Poppins" pitchFamily="34" charset="0"/>
                <a:ea typeface="Poppins" pitchFamily="34" charset="-122"/>
                <a:cs typeface="Poppins" pitchFamily="34" charset="-120"/>
              </a:rPr>
              <a:t>How to read it.  </a:t>
            </a:r>
            <a:r>
              <a:rPr lang="en-US" sz="1100" dirty="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 V2 Ridge scored 25.1% on short-stay alone and 20.9% on monthly. Two distinct stages of gain: richer features took pooled error from 39.2% to 23.7%, then the segment-split GBM took short-stay to 19.2% and monthly to 15.2%.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B2 · HOW THE $7.6M IS BUILT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we built the business case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17</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Revenue floor</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Ceiling (upside)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Incremental cost</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ROI &amp; payback</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On the $1.17M floor: 25% adoption → ~4 mo payback, 580% 5-yr ROI; 35% → ~3 mo, 852%. Even 15% pays back in ~6 mo and clears 300%.</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NPV-honest</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Discounted at 10% (CFI standard). 5-yr net $5.63M nominal → $4.26M NPV (~24% haircut), still net-positive in Year 1. We show both.</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Floor of the floor</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 overpriced upside — we book its loss, not its potential gain. No hotel win-back nights, no churn / LTV, no cross-market scaling. Every input rounds against us, so the real return is higher.</a:t>
            </a:r>
            <a:endParaRPr lang="en-US" sz="10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B3 · WHY WE SPLIT AT 142 REVIEWS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We apply the coefficient only where we measured it</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β = −0.92 came from established hosts. Most listings are not.</a:t>
            </a:r>
            <a:endParaRPr lang="en-US" sz="14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18</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we refuse to extrapolate</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At −1.0 the answer is zero by algebra. </a:t>
            </a:r>
            <a:r>
              <a:rPr lang="en-US" sz="1250" dirty="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 we claim nothing.</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measured elasticity — 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 — 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breakeven assumed — 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 — 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B4 · REVENUE BY MODEL CONFIDENCE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much rests on a confident call</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19</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raise price</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449 listings — the model puts their price entirely below its calibrated band. Worth +$2.79M in host GBV.</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lower price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Uncertain</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3,192 listings whose current price sits inside the band. Worth +$5.21M — 69% of the total.</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The confident subset alone</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It still funds itself</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What “Uncertain” means</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 and the model-noise discount already haircuts it.</a:t>
            </a:r>
            <a:endParaRPr lang="en-US" sz="1080" dirty="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B5 · VALIDATION &amp; METHODOLOGY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Why we trust the number</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statistical guardrails behind the recommendation.</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20</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80/20 + 5-fold out-of-fold</a:t>
            </a:r>
            <a:endParaRPr lang="en-US" sz="1250" dirty="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Every listing scored by a model that never trained on it — genuinely out-of-sample.</a:t>
            </a:r>
            <a:endParaRPr lang="en-US" sz="1050" dirty="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Duan smearing correction</a:t>
            </a:r>
            <a:endParaRPr lang="en-US" sz="1250" dirty="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dirty="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HC3 robust standard errors</a:t>
            </a:r>
            <a:endParaRPr lang="en-US" sz="1250" dirty="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Heteroskedasticity-consistent errors on every coefficient.</a:t>
            </a:r>
            <a:endParaRPr lang="en-US" sz="1050" dirty="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Ridge multicollinearity check</a:t>
            </a:r>
            <a:endParaRPr lang="en-US" sz="1250" dirty="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dirty="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Segment split</a:t>
            </a:r>
            <a:endParaRPr lang="en-US" sz="1250" dirty="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Short-stay ($376.82 mean) vs monthly ($162.73) modeled separately.</a:t>
            </a:r>
            <a:endParaRPr lang="en-US" sz="1050" dirty="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Known limit</a:t>
            </a:r>
            <a:endParaRPr lang="en-US" sz="1250" dirty="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0</TotalTime>
  <Words>5968</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Poppins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2</cp:revision>
  <dcterms:created xsi:type="dcterms:W3CDTF">2026-07-29T22:50:08Z</dcterms:created>
  <dcterms:modified xsi:type="dcterms:W3CDTF">2026-08-01T13:11:41Z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