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4" r:id="rId18"/>
    <p:sldId id="277" r:id="rId19"/>
    <p:sldId id="278" r:id="rId20"/>
    <p:sldId id="276" r:id="rId21"/>
  </p:sldIdLst>
  <p:sldSz cx="12192000" cy="6858000"/>
  <p:notesSz cx="6858000" cy="12192000"/>
  <p:embeddedFontLst>
    <p:embeddedFont>
      <p:font typeface="Poppins" panose="00000500000000000000" pitchFamily="2" charset="0"/>
      <p:regular r:id="rId23"/>
      <p:bold r:id="rId24"/>
      <p:italic r:id="rId25"/>
      <p:boldItalic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font" Target="fonts/font3.fntdata"/><Relationship Id="rId26" Type="http://schemas.openxmlformats.org/officeDocument/2006/relationships/font" Target="fonts/font4.fntdata"/><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(~45s).
"Good afternoon everyone, and thank you for being here. We're Team 6, and today we'll present our capstone project, Airbnb Pricing Intelligence. Over the past few months we've looked at one question that sounds simple but is genuinely hard: how do you know if an Airbnb listing is priced correctly? The deeper we dug, the clearer it got that this isn't only a machine-learning problem — it's a business problem and a trust problem. Today we'll walk you through what we found, how we approached it, the product we built, and the impact it could have for Airbnb and its hosts."
TRANSITION: "So let's start with the problem we set out to solve." [Brendan continues to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(~1.5 min).
"Most Airbnb hosts want to maximize revenue, but pricing isn't easy. Some price on experience, some copy nearby listings, some use Airbnb's Smart Pricing. The catch: Smart Pricing gives a recommendation but doesn't really explain why — you're expected to trust a number without knowing which comparable listings were used, what features drove it, or whether you have room to charge more. So we asked: could we build a pricing tool that not only predicts a fair price, but helps hosts understand and trust it? Our answer combines machine learning with comparable listings, pricing insights, and an interactive dashboard. The goal isn't to replace Smart Pricing — it's to make it transparent and easy to act on."
TRANSITION: "Before we show how we built it, let's look at why this problem exists. I'll hand to Jai." [Hand to Jai]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piece — 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 min).
"We intentionally focused on New York City. Rather than model Airbnb's entire global marketplace, we wanted one market where we could build, test and evaluate. We used the public Inside Airbnb dataset — nearly 9,800 active listings with nightly price, availability, reviews, amenities, location and host characteristics. We cleaned the data, handled missing values, engineered features, and prepared it for analysis. Then, importantly, we didn't jump straight into machine learning — 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"One of the most interesting relationships was between host quality and occupancy. More experienced, highly reviewed hosts maintain noticeably higher occupancy — listings with 51+ reviews average about 42% occupancy versus 34% for those with under ten, and superhosts run higher than regular hosts. That tells us pricing isn't the only thing driving demand — reviews, reputation and listing quality matter too, so we shouldn't treat price as the only lever. We also saw that some listings were priced close to what we'd expect while others were clearly above or below similar properties. That raised the real question: instead of asking whether a listing is expensive or cheap, could we estimate what a fair market price should be? Answering that became the focus of our model."
TRANSITION: "So we moved from exploration to building the product itself. Over to Manas." [Hand to Manas]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(~1.5 min).
"Our goal wasn't to build another pricing calculator — Airbnb already has one. It was to help hosts understand the recommendation they're given. If someone tells you to change your price, your first question is usually 'why?' Our product answers that: instead of a single number, it gives a recommended fair value, shows comparable listings that support it, highlights amenity differences, and lets the host explore how changing price could affect revenue. One idea from our coach really shaped this — Commander's Intent: people make better decisions when they understand the reasoning, not when they're just told what to do. That applies perfectly here. So the product isn't only about predicting a price — it's about helping hosts price with confidence."
TRANSITION: "Of course, that only works if the recommendation is accurate — 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(~2 min).
"To estimate fair market value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important nuance on the split: about half of listings read underpriced and about half overpriced, but the two halves are NOT symmetric. Because demand is close to unit-elastic, cutting price on the overpriced side is actually revenue-negative for the host, so we treat that half as a fairness and peer-benchmarking signal, not a second revenue lever. The real revenue opportunity is the underpriced side, and Jai will show the elasticity work that proves it."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then team fields Q&amp;A.
"Our recommendation isn't to replace Smart Pricing — it's to build on it. The opportunity isn't simply another price recommendation; it's helping hosts understand, trust and act on it. As a next step we'd launch this as a pilot in a single market, measuring how hosts interact with the platform, how often they adopt the recommendations, and how pricing changes influence occupancy and revenue. Those real-world results would let Airbnb keep improving the model before expanding to more cities. Looking back, the biggest lesson is that successful analytics isn't just about accurate models — it's about solving the right business problem and presenting insights people are willing to use. For us this project combined machine learning, product thinking, business strategy and data storytelling. Thank you for your time — we'd be happy to take questions."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2.png"/><Relationship Id="rId6" Type="http://schemas.openxmlformats.org/officeDocument/2006/relationships/image" Target="../media/image18.png"/><Relationship Id="rId7" Type="http://schemas.openxmlformats.org/officeDocument/2006/relationships/image" Target="../media/image33.png"/><Relationship Id="rId8" Type="http://schemas.openxmlformats.org/officeDocument/2006/relationships/image" Target="../media/image15.png"/><Relationship Id="rId9" Type="http://schemas.openxmlformats.org/officeDocument/2006/relationships/image" Target="../media/image27.png"/><Relationship Id="rId10"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dirty="0">
                <a:solidFill>
                  <a:srgbClr val="FFFFFF"/>
                </a:solidFill>
                <a:latin typeface="Poppins" pitchFamily="34" charset="0"/>
                <a:ea typeface="Poppins" pitchFamily="34" charset="-122"/>
                <a:cs typeface="Poppins" pitchFamily="34" charset="-120"/>
              </a:rPr>
              <a:t>BANA 5160 CAPSTONE  ·  CORNELL UNIVERSITY  ·  TEAM 6</a:t>
            </a:r>
            <a:endParaRPr lang="en-US" sz="1200" dirty="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dirty="0">
                <a:solidFill>
                  <a:srgbClr val="FFFFFF"/>
                </a:solidFill>
                <a:latin typeface="Poppins" pitchFamily="34" charset="0"/>
                <a:ea typeface="Poppins" pitchFamily="34" charset="-122"/>
                <a:cs typeface="Poppins" pitchFamily="34" charset="-120"/>
              </a:rPr>
              <a:t>Airbnb Pricing</a:t>
            </a:r>
            <a:endParaRPr lang="en-US" sz="5600" dirty="0"/>
          </a:p>
          <a:p>
            <a:pPr marL="0" indent="0">
              <a:lnSpc>
                <a:spcPct val="98000"/>
              </a:lnSpc>
              <a:buNone/>
            </a:pPr>
            <a:r>
              <a:rPr lang="en-US" sz="5600" b="1" dirty="0">
                <a:solidFill>
                  <a:srgbClr val="FFFFFF"/>
                </a:solidFill>
                <a:latin typeface="Poppins" pitchFamily="34" charset="0"/>
                <a:ea typeface="Poppins" pitchFamily="34" charset="-122"/>
                <a:cs typeface="Poppins" pitchFamily="34" charset="-120"/>
              </a:rPr>
              <a:t>Intelligence</a:t>
            </a:r>
            <a:endParaRPr lang="en-US" sz="5600" dirty="0"/>
          </a:p>
        </p:txBody>
      </p:sp>
      <p:sp>
        <p:nvSpPr>
          <p:cNvPr id="9" name="Text 4"/>
          <p:cNvSpPr/>
          <p:nvPr/>
        </p:nvSpPr>
        <p:spPr>
          <a:xfrm>
            <a:off x="777240" y="3767328"/>
            <a:ext cx="8046720" cy="457200"/>
          </a:xfrm>
          <a:prstGeom prst="rect">
            <a:avLst/>
          </a:prstGeom>
          <a:noFill/>
          <a:ln/>
        </p:spPr>
        <p:txBody>
          <a:bodyPr wrap="square" lIns="0" tIns="0" rIns="0" bIns="0" rtlCol="0" anchor="ctr"/>
          <a:lstStyle/>
          <a:p>
            <a:pPr marL="0" indent="0">
              <a:buNone/>
            </a:pPr>
            <a:r>
              <a:rPr lang="en-US" sz="1800" dirty="0">
                <a:solidFill>
                  <a:srgbClr val="FFFFFF">
                    <a:alpha val="94000"/>
                  </a:srgbClr>
                </a:solidFill>
                <a:latin typeface="Poppins" pitchFamily="34" charset="0"/>
                <a:ea typeface="Poppins" pitchFamily="34" charset="-122"/>
                <a:cs typeface="Poppins" pitchFamily="34" charset="-120"/>
              </a:rPr>
              <a:t>A fair-price tool hosts can actually understand and trust.</a:t>
            </a:r>
            <a:endParaRPr lang="en-US" sz="1800" dirty="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dirty="0">
                <a:solidFill>
                  <a:srgbClr val="FFFFFF"/>
                </a:solidFill>
                <a:latin typeface="Poppins" pitchFamily="34" charset="0"/>
                <a:ea typeface="Poppins" pitchFamily="34" charset="-122"/>
                <a:cs typeface="Poppins" pitchFamily="34" charset="-120"/>
              </a:rPr>
              <a:t>Brendan Meara </a:t>
            </a:r>
            <a:r>
              <a:rPr lang="en-US" sz="1250" dirty="0">
                <a:solidFill>
                  <a:srgbClr val="FFFFFF">
                    <a:alpha val="78000"/>
                  </a:srgbClr>
                </a:solidFill>
                <a:latin typeface="Poppins" pitchFamily="34" charset="0"/>
                <a:ea typeface="Poppins" pitchFamily="34" charset="-122"/>
                <a:cs typeface="Poppins" pitchFamily="34" charset="-120"/>
              </a:rPr>
              <a:t>(PM)     </a:t>
            </a:r>
            <a:r>
              <a:rPr lang="en-US" sz="1250" b="1" dirty="0">
                <a:solidFill>
                  <a:srgbClr val="FFFFFF"/>
                </a:solidFill>
                <a:latin typeface="Poppins" pitchFamily="34" charset="0"/>
                <a:ea typeface="Poppins" pitchFamily="34" charset="-122"/>
                <a:cs typeface="Poppins" pitchFamily="34" charset="-120"/>
              </a:rPr>
              <a:t>Jai Manikandan </a:t>
            </a:r>
            <a:r>
              <a:rPr lang="en-US" sz="1250" dirty="0">
                <a:solidFill>
                  <a:srgbClr val="FFFFFF">
                    <a:alpha val="78000"/>
                  </a:srgbClr>
                </a:solidFill>
                <a:latin typeface="Poppins" pitchFamily="34" charset="0"/>
                <a:ea typeface="Poppins" pitchFamily="34" charset="-122"/>
                <a:cs typeface="Poppins" pitchFamily="34" charset="-120"/>
              </a:rPr>
              <a:t>(Data)     </a:t>
            </a:r>
            <a:r>
              <a:rPr lang="en-US" sz="1250" b="1" dirty="0">
                <a:solidFill>
                  <a:srgbClr val="FFFFFF"/>
                </a:solidFill>
                <a:latin typeface="Poppins" pitchFamily="34" charset="0"/>
                <a:ea typeface="Poppins" pitchFamily="34" charset="-122"/>
                <a:cs typeface="Poppins" pitchFamily="34" charset="-120"/>
              </a:rPr>
              <a:t>Manas Manu </a:t>
            </a:r>
            <a:r>
              <a:rPr lang="en-US" sz="1250" dirty="0">
                <a:solidFill>
                  <a:srgbClr val="FFFFFF">
                    <a:alpha val="78000"/>
                  </a:srgbClr>
                </a:solidFill>
                <a:latin typeface="Poppins" pitchFamily="34" charset="0"/>
                <a:ea typeface="Poppins" pitchFamily="34" charset="-122"/>
                <a:cs typeface="Poppins" pitchFamily="34" charset="-120"/>
              </a:rPr>
              <a:t>(Modeling)     </a:t>
            </a:r>
            <a:r>
              <a:rPr lang="en-US" sz="1250" b="1" dirty="0">
                <a:solidFill>
                  <a:srgbClr val="FFFFFF"/>
                </a:solidFill>
                <a:latin typeface="Poppins" pitchFamily="34" charset="0"/>
                <a:ea typeface="Poppins" pitchFamily="34" charset="-122"/>
                <a:cs typeface="Poppins" pitchFamily="34" charset="-120"/>
              </a:rPr>
              <a:t>Rachael Chin </a:t>
            </a:r>
            <a:r>
              <a:rPr lang="en-US" sz="1250" dirty="0">
                <a:solidFill>
                  <a:srgbClr val="FFFFFF">
                    <a:alpha val="78000"/>
                  </a:srgbClr>
                </a:solidFill>
                <a:latin typeface="Poppins" pitchFamily="34" charset="0"/>
                <a:ea typeface="Poppins" pitchFamily="34" charset="-122"/>
                <a:cs typeface="Poppins" pitchFamily="34" charset="-120"/>
              </a:rPr>
              <a:t>(Visualization)</a:t>
            </a:r>
            <a:endParaRPr lang="en-US" sz="1250" dirty="0"/>
          </a:p>
        </p:txBody>
      </p:sp>
      <p:sp>
        <p:nvSpPr>
          <p:cNvPr id="11" name="Text 6"/>
          <p:cNvSpPr/>
          <p:nvPr/>
        </p:nvSpPr>
        <p:spPr>
          <a:xfrm>
            <a:off x="777240" y="5138928"/>
            <a:ext cx="10607040" cy="320040"/>
          </a:xfrm>
          <a:prstGeom prst="rect">
            <a:avLst/>
          </a:prstGeom>
          <a:noFill/>
          <a:ln/>
        </p:spPr>
        <p:txBody>
          <a:bodyPr wrap="square" lIns="0" tIns="0" rIns="0" bIns="0" rtlCol="0" anchor="ctr"/>
          <a:lstStyle/>
          <a:p>
            <a:pPr marL="0" indent="0">
              <a:buNone/>
            </a:pPr>
            <a:r>
              <a:rPr lang="en-US" sz="1250" b="1" dirty="0">
                <a:solidFill>
                  <a:srgbClr val="FFFFFF"/>
                </a:solidFill>
                <a:latin typeface="Poppins" pitchFamily="34" charset="0"/>
                <a:ea typeface="Poppins" pitchFamily="34" charset="-122"/>
                <a:cs typeface="Poppins" pitchFamily="34" charset="-120"/>
              </a:rPr>
              <a:t>Francois Miaule </a:t>
            </a:r>
            <a:r>
              <a:rPr lang="en-US" sz="1250" dirty="0">
                <a:solidFill>
                  <a:srgbClr val="FFFFFF">
                    <a:alpha val="78000"/>
                  </a:srgbClr>
                </a:solidFill>
                <a:latin typeface="Poppins" pitchFamily="34" charset="0"/>
                <a:ea typeface="Poppins" pitchFamily="34" charset="-122"/>
                <a:cs typeface="Poppins" pitchFamily="34" charset="-120"/>
              </a:rPr>
              <a:t>(Insights &amp; Presentation)      Industry Coach: </a:t>
            </a:r>
            <a:r>
              <a:rPr lang="en-US" sz="1250" b="1" dirty="0">
                <a:solidFill>
                  <a:srgbClr val="FFFFFF"/>
                </a:solidFill>
                <a:latin typeface="Poppins" pitchFamily="34" charset="0"/>
                <a:ea typeface="Poppins" pitchFamily="34" charset="-122"/>
                <a:cs typeface="Poppins" pitchFamily="34" charset="-120"/>
              </a:rPr>
              <a:t>Stan</a:t>
            </a:r>
            <a:endParaRPr lang="en-US" sz="1250" dirty="0"/>
          </a:p>
        </p:txBody>
      </p:sp>
      <p:sp>
        <p:nvSpPr>
          <p:cNvPr id="12" name="Text 7"/>
          <p:cNvSpPr/>
          <p:nvPr/>
        </p:nvSpPr>
        <p:spPr>
          <a:xfrm>
            <a:off x="777240" y="5650992"/>
            <a:ext cx="10607040" cy="274320"/>
          </a:xfrm>
          <a:prstGeom prst="rect">
            <a:avLst/>
          </a:prstGeom>
          <a:noFill/>
          <a:ln/>
        </p:spPr>
        <p:txBody>
          <a:bodyPr wrap="square" lIns="0" tIns="0" rIns="0" bIns="0" rtlCol="0" anchor="ctr"/>
          <a:lstStyle/>
          <a:p>
            <a:pPr marL="0" indent="0">
              <a:buNone/>
            </a:pPr>
            <a:r>
              <a:rPr lang="en-US" sz="1150" dirty="0">
                <a:solidFill>
                  <a:srgbClr val="FFFFFF">
                    <a:alpha val="88000"/>
                  </a:srgbClr>
                </a:solidFill>
                <a:latin typeface="Poppins" pitchFamily="34" charset="0"/>
                <a:ea typeface="Poppins" pitchFamily="34" charset="-122"/>
                <a:cs typeface="Poppins" pitchFamily="34" charset="-120"/>
              </a:rPr>
              <a:t>Dataset: Inside Airbnb NYC  ·  9,752 active listings  ·  snapshot Jun 14, 2026</a:t>
            </a:r>
            <a:endParaRPr lang="en-US" sz="1150" dirty="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dirty="0">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01 · EXECUTIVE SUMMARY</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The pricing problem — and our answer</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Hosts want to maximize revenue, but pricing is hard and today's help is a black box.</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Brendan</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2</a:t>
            </a:r>
            <a:endParaRPr lang="en-US" sz="900" dirty="0"/>
          </a:p>
        </p:txBody>
      </p:sp>
      <p:sp>
        <p:nvSpPr>
          <p:cNvPr id="12" name="Shape 8"/>
          <p:cNvSpPr/>
          <p:nvPr/>
        </p:nvSpPr>
        <p:spPr>
          <a:xfrm>
            <a:off x="502920" y="2286000"/>
            <a:ext cx="5468112" cy="1600200"/>
          </a:xfrm>
          <a:prstGeom prst="roundRect">
            <a:avLst>
              <a:gd name="adj" fmla="val 8000"/>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60320"/>
            <a:ext cx="603504" cy="603504"/>
          </a:xfrm>
          <a:prstGeom prst="ellipse">
            <a:avLst/>
          </a:prstGeom>
          <a:solidFill>
            <a:srgbClr val="FFEEF2"/>
          </a:solidFill>
          <a:ln/>
        </p:spPr>
        <p:txBody>
          <a:bodyPr/>
          <a:lstStyle/>
          <a:p>
            <a:endParaRPr lang="en-US"/>
          </a:p>
        </p:txBody>
      </p:sp>
      <p:pic>
        <p:nvPicPr>
          <p:cNvPr id="14" name="Image 2" descr="/sessions/dreamy-trusting-noether/mnt/outputs/build/assets/zap_coral.png"/>
          <p:cNvPicPr>
            <a:picLocks noChangeAspect="1"/>
          </p:cNvPicPr>
          <p:nvPr/>
        </p:nvPicPr>
        <p:blipFill>
          <a:blip r:embed="rId5"/>
          <a:stretch>
            <a:fillRect/>
          </a:stretch>
        </p:blipFill>
        <p:spPr>
          <a:xfrm>
            <a:off x="922081" y="2705161"/>
            <a:ext cx="313822" cy="313822"/>
          </a:xfrm>
          <a:prstGeom prst="rect">
            <a:avLst/>
          </a:prstGeom>
        </p:spPr>
      </p:pic>
      <p:sp>
        <p:nvSpPr>
          <p:cNvPr id="15" name="Text 10"/>
          <p:cNvSpPr/>
          <p:nvPr/>
        </p:nvSpPr>
        <p:spPr>
          <a:xfrm>
            <a:off x="1517904" y="2560320"/>
            <a:ext cx="363931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The problem</a:t>
            </a:r>
            <a:endParaRPr lang="en-US" sz="1500" dirty="0"/>
          </a:p>
        </p:txBody>
      </p:sp>
      <p:sp>
        <p:nvSpPr>
          <p:cNvPr id="16" name="Text 11"/>
          <p:cNvSpPr/>
          <p:nvPr/>
        </p:nvSpPr>
        <p:spPr>
          <a:xfrm>
            <a:off x="777240" y="3108960"/>
            <a:ext cx="4965192" cy="685800"/>
          </a:xfrm>
          <a:prstGeom prst="rect">
            <a:avLst/>
          </a:prstGeom>
          <a:noFill/>
          <a:ln/>
        </p:spPr>
        <p:txBody>
          <a:bodyPr wrap="square" lIns="0" tIns="0" rIns="0" bIns="0" rtlCol="0" anchor="t"/>
          <a:lstStyle/>
          <a:p>
            <a:pPr marL="0" indent="0">
              <a:lnSpc>
                <a:spcPct val="105000"/>
              </a:lnSpc>
              <a:buNone/>
            </a:pPr>
            <a:r>
              <a:rPr lang="en-US" sz="1200" dirty="0">
                <a:solidFill>
                  <a:srgbClr val="4A4A4A"/>
                </a:solidFill>
                <a:latin typeface="Poppins" pitchFamily="34" charset="0"/>
                <a:ea typeface="Poppins" pitchFamily="34" charset="-122"/>
                <a:cs typeface="Poppins" pitchFamily="34" charset="-120"/>
              </a:rPr>
              <a:t>Smart Pricing hands hosts a number with no “why” — no comparable listings, no drivers, no room to explore. So hosts either ignore it or follow it blindly.</a:t>
            </a:r>
            <a:endParaRPr lang="en-US" sz="1200" dirty="0"/>
          </a:p>
        </p:txBody>
      </p:sp>
      <p:sp>
        <p:nvSpPr>
          <p:cNvPr id="17" name="Shape 12"/>
          <p:cNvSpPr/>
          <p:nvPr/>
        </p:nvSpPr>
        <p:spPr>
          <a:xfrm>
            <a:off x="6217920" y="2286000"/>
            <a:ext cx="5468112" cy="1600200"/>
          </a:xfrm>
          <a:prstGeom prst="roundRect">
            <a:avLst>
              <a:gd name="adj" fmla="val 80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92240" y="2560320"/>
            <a:ext cx="603504" cy="603504"/>
          </a:xfrm>
          <a:prstGeom prst="ellipse">
            <a:avLst/>
          </a:prstGeom>
          <a:solidFill>
            <a:srgbClr val="FFFFFF"/>
          </a:solidFill>
          <a:ln/>
        </p:spPr>
        <p:txBody>
          <a:bodyPr/>
          <a:lstStyle/>
          <a:p>
            <a:endParaRPr lang="en-US"/>
          </a:p>
        </p:txBody>
      </p:sp>
      <p:pic>
        <p:nvPicPr>
          <p:cNvPr id="19" name="Image 3" descr="/sessions/dreamy-trusting-noether/mnt/outputs/build/assets/bulb_coral.png"/>
          <p:cNvPicPr>
            <a:picLocks noChangeAspect="1"/>
          </p:cNvPicPr>
          <p:nvPr/>
        </p:nvPicPr>
        <p:blipFill>
          <a:blip r:embed="rId6"/>
          <a:stretch>
            <a:fillRect/>
          </a:stretch>
        </p:blipFill>
        <p:spPr>
          <a:xfrm>
            <a:off x="6637081" y="2705161"/>
            <a:ext cx="313822" cy="313822"/>
          </a:xfrm>
          <a:prstGeom prst="rect">
            <a:avLst/>
          </a:prstGeom>
        </p:spPr>
      </p:pic>
      <p:sp>
        <p:nvSpPr>
          <p:cNvPr id="20" name="Text 14"/>
          <p:cNvSpPr/>
          <p:nvPr/>
        </p:nvSpPr>
        <p:spPr>
          <a:xfrm>
            <a:off x="7232904" y="2560320"/>
            <a:ext cx="363931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Our answer</a:t>
            </a:r>
            <a:endParaRPr lang="en-US" sz="1500" dirty="0"/>
          </a:p>
        </p:txBody>
      </p:sp>
      <p:sp>
        <p:nvSpPr>
          <p:cNvPr id="21" name="Text 15"/>
          <p:cNvSpPr/>
          <p:nvPr/>
        </p:nvSpPr>
        <p:spPr>
          <a:xfrm>
            <a:off x="6492240" y="3108960"/>
            <a:ext cx="4965192" cy="713232"/>
          </a:xfrm>
          <a:prstGeom prst="rect">
            <a:avLst/>
          </a:prstGeom>
          <a:noFill/>
          <a:ln/>
        </p:spPr>
        <p:txBody>
          <a:bodyPr wrap="square" lIns="0" tIns="0" rIns="0" bIns="0" rtlCol="0" anchor="t"/>
          <a:lstStyle/>
          <a:p>
            <a:pPr marL="0" indent="0">
              <a:lnSpc>
                <a:spcPct val="105000"/>
              </a:lnSpc>
              <a:buNone/>
            </a:pPr>
            <a:r>
              <a:rPr lang="en-US" sz="1200" dirty="0">
                <a:solidFill>
                  <a:srgbClr val="4A4A4A"/>
                </a:solidFill>
                <a:latin typeface="Poppins" pitchFamily="34" charset="0"/>
                <a:ea typeface="Poppins" pitchFamily="34" charset="-122"/>
                <a:cs typeface="Poppins" pitchFamily="34" charset="-120"/>
              </a:rPr>
              <a:t>A platform that pairs a machine-learning fair price with comparable listings and an interactive dashboard — so hosts understand and trust the recommendation, not just receive it.</a:t>
            </a:r>
            <a:endParaRPr lang="en-US" sz="1200" dirty="0"/>
          </a:p>
        </p:txBody>
      </p:sp>
      <p:sp>
        <p:nvSpPr>
          <p:cNvPr id="22" name="Shape 16"/>
          <p:cNvSpPr/>
          <p:nvPr/>
        </p:nvSpPr>
        <p:spPr>
          <a:xfrm>
            <a:off x="50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34840"/>
            <a:ext cx="548640" cy="548640"/>
          </a:xfrm>
          <a:prstGeom prst="ellipse">
            <a:avLst/>
          </a:prstGeom>
          <a:solidFill>
            <a:srgbClr val="FFEEF2"/>
          </a:solidFill>
          <a:ln/>
        </p:spPr>
        <p:txBody>
          <a:bodyPr/>
          <a:lstStyle/>
          <a:p>
            <a:endParaRPr lang="en-US"/>
          </a:p>
        </p:txBody>
      </p:sp>
      <p:pic>
        <p:nvPicPr>
          <p:cNvPr id="24" name="Image 4" descr="/sessions/dreamy-trusting-noether/mnt/outputs/build/assets/cpu_coral.png"/>
          <p:cNvPicPr>
            <a:picLocks noChangeAspect="1"/>
          </p:cNvPicPr>
          <p:nvPr/>
        </p:nvPicPr>
        <p:blipFill>
          <a:blip r:embed="rId7"/>
          <a:stretch>
            <a:fillRect/>
          </a:stretch>
        </p:blipFill>
        <p:spPr>
          <a:xfrm>
            <a:off x="872338" y="4566514"/>
            <a:ext cx="285293" cy="285293"/>
          </a:xfrm>
          <a:prstGeom prst="rect">
            <a:avLst/>
          </a:prstGeom>
        </p:spPr>
      </p:pic>
      <p:sp>
        <p:nvSpPr>
          <p:cNvPr id="25" name="Text 18"/>
          <p:cNvSpPr/>
          <p:nvPr/>
        </p:nvSpPr>
        <p:spPr>
          <a:xfrm>
            <a:off x="1399032" y="4489704"/>
            <a:ext cx="2557272" cy="365760"/>
          </a:xfrm>
          <a:prstGeom prst="rect">
            <a:avLst/>
          </a:prstGeom>
          <a:noFill/>
          <a:ln/>
        </p:spPr>
        <p:txBody>
          <a:bodyPr wrap="square" lIns="0" tIns="0" rIns="0" bIns="0" rtlCol="0" anchor="ctr"/>
          <a:lstStyle/>
          <a:p>
            <a:pPr marL="0" indent="0">
              <a:buNone/>
            </a:pPr>
            <a:r>
              <a:rPr lang="en-US" sz="1500" b="1" dirty="0">
                <a:solidFill>
                  <a:srgbClr val="FF385C"/>
                </a:solidFill>
                <a:latin typeface="Poppins" pitchFamily="34" charset="0"/>
                <a:ea typeface="Poppins" pitchFamily="34" charset="-122"/>
                <a:cs typeface="Poppins" pitchFamily="34" charset="-120"/>
              </a:rPr>
              <a:t>Predict</a:t>
            </a:r>
            <a:endParaRPr lang="en-US" sz="1500" dirty="0"/>
          </a:p>
        </p:txBody>
      </p:sp>
      <p:sp>
        <p:nvSpPr>
          <p:cNvPr id="26" name="Text 19"/>
          <p:cNvSpPr/>
          <p:nvPr/>
        </p:nvSpPr>
        <p:spPr>
          <a:xfrm>
            <a:off x="758952" y="5038344"/>
            <a:ext cx="3051048" cy="50292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A calibrated fair nightly price from a gradient-boosting model.</a:t>
            </a:r>
            <a:endParaRPr lang="en-US" sz="1100" dirty="0"/>
          </a:p>
        </p:txBody>
      </p:sp>
      <p:sp>
        <p:nvSpPr>
          <p:cNvPr id="27" name="Shape 20"/>
          <p:cNvSpPr/>
          <p:nvPr/>
        </p:nvSpPr>
        <p:spPr>
          <a:xfrm>
            <a:off x="431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550664" y="4434840"/>
            <a:ext cx="548640" cy="548640"/>
          </a:xfrm>
          <a:prstGeom prst="ellipse">
            <a:avLst/>
          </a:prstGeom>
          <a:solidFill>
            <a:srgbClr val="E6F6F4"/>
          </a:solidFill>
          <a:ln/>
        </p:spPr>
        <p:txBody>
          <a:bodyPr/>
          <a:lstStyle/>
          <a:p>
            <a:endParaRPr lang="en-US"/>
          </a:p>
        </p:txBody>
      </p:sp>
      <p:pic>
        <p:nvPicPr>
          <p:cNvPr id="29" name="Image 5" descr="/sessions/dreamy-trusting-noether/mnt/outputs/build/assets/search_teal.png"/>
          <p:cNvPicPr>
            <a:picLocks noChangeAspect="1"/>
          </p:cNvPicPr>
          <p:nvPr/>
        </p:nvPicPr>
        <p:blipFill>
          <a:blip r:embed="rId8"/>
          <a:stretch>
            <a:fillRect/>
          </a:stretch>
        </p:blipFill>
        <p:spPr>
          <a:xfrm>
            <a:off x="4682338" y="4566514"/>
            <a:ext cx="285293" cy="285293"/>
          </a:xfrm>
          <a:prstGeom prst="rect">
            <a:avLst/>
          </a:prstGeom>
        </p:spPr>
      </p:pic>
      <p:sp>
        <p:nvSpPr>
          <p:cNvPr id="30" name="Text 22"/>
          <p:cNvSpPr/>
          <p:nvPr/>
        </p:nvSpPr>
        <p:spPr>
          <a:xfrm>
            <a:off x="5209032" y="4489704"/>
            <a:ext cx="2557272" cy="365760"/>
          </a:xfrm>
          <a:prstGeom prst="rect">
            <a:avLst/>
          </a:prstGeom>
          <a:noFill/>
          <a:ln/>
        </p:spPr>
        <p:txBody>
          <a:bodyPr wrap="square" lIns="0" tIns="0" rIns="0" bIns="0" rtlCol="0" anchor="ctr"/>
          <a:lstStyle/>
          <a:p>
            <a:pPr marL="0" indent="0">
              <a:buNone/>
            </a:pPr>
            <a:r>
              <a:rPr lang="en-US" sz="1500" b="1" dirty="0">
                <a:solidFill>
                  <a:srgbClr val="007A73"/>
                </a:solidFill>
                <a:latin typeface="Poppins" pitchFamily="34" charset="0"/>
                <a:ea typeface="Poppins" pitchFamily="34" charset="-122"/>
                <a:cs typeface="Poppins" pitchFamily="34" charset="-120"/>
              </a:rPr>
              <a:t>Explain</a:t>
            </a:r>
            <a:endParaRPr lang="en-US" sz="1500" dirty="0"/>
          </a:p>
        </p:txBody>
      </p:sp>
      <p:sp>
        <p:nvSpPr>
          <p:cNvPr id="31" name="Text 23"/>
          <p:cNvSpPr/>
          <p:nvPr/>
        </p:nvSpPr>
        <p:spPr>
          <a:xfrm>
            <a:off x="4568952" y="5038344"/>
            <a:ext cx="3051048" cy="50292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The comparable listings and features behind that number.</a:t>
            </a:r>
            <a:endParaRPr lang="en-US" sz="1100" dirty="0"/>
          </a:p>
        </p:txBody>
      </p:sp>
      <p:sp>
        <p:nvSpPr>
          <p:cNvPr id="32" name="Shape 24"/>
          <p:cNvSpPr/>
          <p:nvPr/>
        </p:nvSpPr>
        <p:spPr>
          <a:xfrm>
            <a:off x="812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360664" y="4434840"/>
            <a:ext cx="548640" cy="548640"/>
          </a:xfrm>
          <a:prstGeom prst="ellipse">
            <a:avLst/>
          </a:prstGeom>
          <a:solidFill>
            <a:srgbClr val="FFEEF2"/>
          </a:solidFill>
          <a:ln/>
        </p:spPr>
        <p:txBody>
          <a:bodyPr/>
          <a:lstStyle/>
          <a:p>
            <a:endParaRPr lang="en-US"/>
          </a:p>
        </p:txBody>
      </p:sp>
      <p:pic>
        <p:nvPicPr>
          <p:cNvPr id="34" name="Image 6" descr="/sessions/dreamy-trusting-noether/mnt/outputs/build/assets/trend_coral.png"/>
          <p:cNvPicPr>
            <a:picLocks noChangeAspect="1"/>
          </p:cNvPicPr>
          <p:nvPr/>
        </p:nvPicPr>
        <p:blipFill>
          <a:blip r:embed="rId9"/>
          <a:stretch>
            <a:fillRect/>
          </a:stretch>
        </p:blipFill>
        <p:spPr>
          <a:xfrm>
            <a:off x="8492338" y="4566514"/>
            <a:ext cx="285293" cy="285293"/>
          </a:xfrm>
          <a:prstGeom prst="rect">
            <a:avLst/>
          </a:prstGeom>
        </p:spPr>
      </p:pic>
      <p:sp>
        <p:nvSpPr>
          <p:cNvPr id="35" name="Text 26"/>
          <p:cNvSpPr/>
          <p:nvPr/>
        </p:nvSpPr>
        <p:spPr>
          <a:xfrm>
            <a:off x="9019032" y="4489704"/>
            <a:ext cx="2557272" cy="365760"/>
          </a:xfrm>
          <a:prstGeom prst="rect">
            <a:avLst/>
          </a:prstGeom>
          <a:noFill/>
          <a:ln/>
        </p:spPr>
        <p:txBody>
          <a:bodyPr wrap="square" lIns="0" tIns="0" rIns="0" bIns="0" rtlCol="0" anchor="ctr"/>
          <a:lstStyle/>
          <a:p>
            <a:pPr marL="0" indent="0">
              <a:buNone/>
            </a:pPr>
            <a:r>
              <a:rPr lang="en-US" sz="1500" b="1" dirty="0">
                <a:solidFill>
                  <a:srgbClr val="FF385C"/>
                </a:solidFill>
                <a:latin typeface="Poppins" pitchFamily="34" charset="0"/>
                <a:ea typeface="Poppins" pitchFamily="34" charset="-122"/>
                <a:cs typeface="Poppins" pitchFamily="34" charset="-120"/>
              </a:rPr>
              <a:t>Act</a:t>
            </a:r>
            <a:endParaRPr lang="en-US" sz="1500" dirty="0"/>
          </a:p>
        </p:txBody>
      </p:sp>
      <p:sp>
        <p:nvSpPr>
          <p:cNvPr id="36" name="Text 27"/>
          <p:cNvSpPr/>
          <p:nvPr/>
        </p:nvSpPr>
        <p:spPr>
          <a:xfrm>
            <a:off x="8378952" y="5038344"/>
            <a:ext cx="3051048" cy="50292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A what-if view of how price changes affect projected revenue.</a:t>
            </a:r>
            <a:endParaRPr lang="en-US" sz="1100" dirty="0"/>
          </a:p>
        </p:txBody>
      </p:sp>
      <p:sp>
        <p:nvSpPr>
          <p:cNvPr id="37" name="Text 28"/>
          <p:cNvSpPr/>
          <p:nvPr/>
        </p:nvSpPr>
        <p:spPr>
          <a:xfrm>
            <a:off x="502920" y="5779008"/>
            <a:ext cx="11183112" cy="320040"/>
          </a:xfrm>
          <a:prstGeom prst="rect">
            <a:avLst/>
          </a:prstGeom>
          <a:noFill/>
          <a:ln/>
        </p:spPr>
        <p:txBody>
          <a:bodyPr wrap="square" lIns="0" tIns="0" rIns="0" bIns="0" rtlCol="0" anchor="ctr"/>
          <a:lstStyle/>
          <a:p>
            <a:pPr marL="0" indent="0" algn="ctr">
              <a:buNone/>
            </a:pPr>
            <a:r>
              <a:rPr lang="en-US" sz="1250" b="1" i="1" dirty="0">
                <a:solidFill>
                  <a:srgbClr val="FF385C"/>
                </a:solidFill>
                <a:latin typeface="Poppins" pitchFamily="34" charset="0"/>
                <a:ea typeface="Poppins" pitchFamily="34" charset="-122"/>
                <a:cs typeface="Poppins" pitchFamily="34" charset="-120"/>
              </a:rPr>
              <a:t>Our goal isn't to replace Smart Pricing — it's to make pricing recommendations transparent and easy to act 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02 · CONTEXT &amp; PROBLEM</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A huge marketplace with a transparency gap</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Airbnb connects millions of hosts and guests — and pricing moves both sides of the market.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3</a:t>
            </a:r>
            <a:endParaRPr lang="en-US" sz="900" dirty="0"/>
          </a:p>
        </p:txBody>
      </p:sp>
      <p:sp>
        <p:nvSpPr>
          <p:cNvPr id="12" name="Shape 8"/>
          <p:cNvSpPr/>
          <p:nvPr/>
        </p:nvSpPr>
        <p:spPr>
          <a:xfrm>
            <a:off x="502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3" name="Image 2" descr="/sessions/dreamy-trusting-noether/mnt/outputs/build/assets/dollar_coral.png"/>
          <p:cNvPicPr>
            <a:picLocks noChangeAspect="1"/>
          </p:cNvPicPr>
          <p:nvPr/>
        </p:nvPicPr>
        <p:blipFill>
          <a:blip r:embed="rId5"/>
          <a:stretch>
            <a:fillRect/>
          </a:stretch>
        </p:blipFill>
        <p:spPr>
          <a:xfrm>
            <a:off x="704088" y="2414016"/>
            <a:ext cx="384048" cy="384048"/>
          </a:xfrm>
          <a:prstGeom prst="rect">
            <a:avLst/>
          </a:prstGeom>
        </p:spPr>
      </p:pic>
      <p:sp>
        <p:nvSpPr>
          <p:cNvPr id="14" name="Text 9"/>
          <p:cNvSpPr/>
          <p:nvPr/>
        </p:nvSpPr>
        <p:spPr>
          <a:xfrm>
            <a:off x="667512" y="2638044"/>
            <a:ext cx="2281428" cy="566928"/>
          </a:xfrm>
          <a:prstGeom prst="rect">
            <a:avLst/>
          </a:prstGeom>
          <a:noFill/>
          <a:ln/>
        </p:spPr>
        <p:txBody>
          <a:bodyPr wrap="square" lIns="0" tIns="0" rIns="0" bIns="0" rtlCol="0" anchor="ctr"/>
          <a:lstStyle/>
          <a:p>
            <a:pPr marL="0" indent="0" algn="l">
              <a:buNone/>
            </a:pPr>
            <a:r>
              <a:rPr lang="en-US" sz="3000" b="1" dirty="0">
                <a:solidFill>
                  <a:srgbClr val="FF385C"/>
                </a:solidFill>
                <a:latin typeface="Poppins" pitchFamily="34" charset="0"/>
                <a:ea typeface="Poppins" pitchFamily="34" charset="-122"/>
                <a:cs typeface="Poppins" pitchFamily="34" charset="-120"/>
              </a:rPr>
              <a:t>$12.2B</a:t>
            </a:r>
            <a:endParaRPr lang="en-US" sz="3000" dirty="0"/>
          </a:p>
        </p:txBody>
      </p:sp>
      <p:sp>
        <p:nvSpPr>
          <p:cNvPr id="15" name="Text 10"/>
          <p:cNvSpPr/>
          <p:nvPr/>
        </p:nvSpPr>
        <p:spPr>
          <a:xfrm>
            <a:off x="6858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2025 revenue (+10% YoY)</a:t>
            </a:r>
            <a:endParaRPr lang="en-US" sz="1150" dirty="0"/>
          </a:p>
        </p:txBody>
      </p:sp>
      <p:sp>
        <p:nvSpPr>
          <p:cNvPr id="16" name="Shape 11"/>
          <p:cNvSpPr/>
          <p:nvPr/>
        </p:nvSpPr>
        <p:spPr>
          <a:xfrm>
            <a:off x="3360420" y="2212848"/>
            <a:ext cx="2610612" cy="1417320"/>
          </a:xfrm>
          <a:prstGeom prst="roundRect">
            <a:avLst>
              <a:gd name="adj" fmla="val 9032"/>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7" name="Image 3" descr="/sessions/dreamy-trusting-noether/mnt/outputs/build/assets/home_teal.png"/>
          <p:cNvPicPr>
            <a:picLocks noChangeAspect="1"/>
          </p:cNvPicPr>
          <p:nvPr/>
        </p:nvPicPr>
        <p:blipFill>
          <a:blip r:embed="rId6"/>
          <a:stretch>
            <a:fillRect/>
          </a:stretch>
        </p:blipFill>
        <p:spPr>
          <a:xfrm>
            <a:off x="3561588" y="2414016"/>
            <a:ext cx="384048" cy="384048"/>
          </a:xfrm>
          <a:prstGeom prst="rect">
            <a:avLst/>
          </a:prstGeom>
        </p:spPr>
      </p:pic>
      <p:sp>
        <p:nvSpPr>
          <p:cNvPr id="18" name="Text 12"/>
          <p:cNvSpPr/>
          <p:nvPr/>
        </p:nvSpPr>
        <p:spPr>
          <a:xfrm>
            <a:off x="3525012" y="2638044"/>
            <a:ext cx="2281428" cy="566928"/>
          </a:xfrm>
          <a:prstGeom prst="rect">
            <a:avLst/>
          </a:prstGeom>
          <a:noFill/>
          <a:ln/>
        </p:spPr>
        <p:txBody>
          <a:bodyPr wrap="square" lIns="0" tIns="0" rIns="0" bIns="0" rtlCol="0" anchor="ctr"/>
          <a:lstStyle/>
          <a:p>
            <a:pPr marL="0" indent="0" algn="l">
              <a:buNone/>
            </a:pPr>
            <a:r>
              <a:rPr lang="en-US" sz="3000" b="1" dirty="0">
                <a:solidFill>
                  <a:srgbClr val="00A699"/>
                </a:solidFill>
                <a:latin typeface="Poppins" pitchFamily="34" charset="0"/>
                <a:ea typeface="Poppins" pitchFamily="34" charset="-122"/>
                <a:cs typeface="Poppins" pitchFamily="34" charset="-120"/>
              </a:rPr>
              <a:t>8M+</a:t>
            </a:r>
            <a:endParaRPr lang="en-US" sz="3000" dirty="0"/>
          </a:p>
        </p:txBody>
      </p:sp>
      <p:sp>
        <p:nvSpPr>
          <p:cNvPr id="19" name="Text 13"/>
          <p:cNvSpPr/>
          <p:nvPr/>
        </p:nvSpPr>
        <p:spPr>
          <a:xfrm>
            <a:off x="35433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active listings worldwide</a:t>
            </a:r>
            <a:endParaRPr lang="en-US" sz="1150" dirty="0"/>
          </a:p>
        </p:txBody>
      </p:sp>
      <p:sp>
        <p:nvSpPr>
          <p:cNvPr id="20" name="Shape 14"/>
          <p:cNvSpPr/>
          <p:nvPr/>
        </p:nvSpPr>
        <p:spPr>
          <a:xfrm>
            <a:off x="6217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1" name="Image 4" descr="/sessions/dreamy-trusting-noether/mnt/outputs/build/assets/users_coral.png"/>
          <p:cNvPicPr>
            <a:picLocks noChangeAspect="1"/>
          </p:cNvPicPr>
          <p:nvPr/>
        </p:nvPicPr>
        <p:blipFill>
          <a:blip r:embed="rId7"/>
          <a:stretch>
            <a:fillRect/>
          </a:stretch>
        </p:blipFill>
        <p:spPr>
          <a:xfrm>
            <a:off x="6419088" y="2414016"/>
            <a:ext cx="384048" cy="384048"/>
          </a:xfrm>
          <a:prstGeom prst="rect">
            <a:avLst/>
          </a:prstGeom>
        </p:spPr>
      </p:pic>
      <p:sp>
        <p:nvSpPr>
          <p:cNvPr id="22" name="Text 15"/>
          <p:cNvSpPr/>
          <p:nvPr/>
        </p:nvSpPr>
        <p:spPr>
          <a:xfrm>
            <a:off x="6382512" y="2638044"/>
            <a:ext cx="2281428" cy="566928"/>
          </a:xfrm>
          <a:prstGeom prst="rect">
            <a:avLst/>
          </a:prstGeom>
          <a:noFill/>
          <a:ln/>
        </p:spPr>
        <p:txBody>
          <a:bodyPr wrap="square" lIns="0" tIns="0" rIns="0" bIns="0" rtlCol="0" anchor="ctr"/>
          <a:lstStyle/>
          <a:p>
            <a:pPr marL="0" indent="0" algn="l">
              <a:buNone/>
            </a:pPr>
            <a:r>
              <a:rPr lang="en-US" sz="3000" b="1" dirty="0">
                <a:solidFill>
                  <a:srgbClr val="FF385C"/>
                </a:solidFill>
                <a:latin typeface="Poppins" pitchFamily="34" charset="0"/>
                <a:ea typeface="Poppins" pitchFamily="34" charset="-122"/>
                <a:cs typeface="Poppins" pitchFamily="34" charset="-120"/>
              </a:rPr>
              <a:t>5M+</a:t>
            </a:r>
            <a:endParaRPr lang="en-US" sz="3000" dirty="0"/>
          </a:p>
        </p:txBody>
      </p:sp>
      <p:sp>
        <p:nvSpPr>
          <p:cNvPr id="23" name="Text 16"/>
          <p:cNvSpPr/>
          <p:nvPr/>
        </p:nvSpPr>
        <p:spPr>
          <a:xfrm>
            <a:off x="64008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hosts on the platform</a:t>
            </a:r>
            <a:endParaRPr lang="en-US" sz="1150" dirty="0"/>
          </a:p>
        </p:txBody>
      </p:sp>
      <p:sp>
        <p:nvSpPr>
          <p:cNvPr id="24" name="Shape 17"/>
          <p:cNvSpPr/>
          <p:nvPr/>
        </p:nvSpPr>
        <p:spPr>
          <a:xfrm>
            <a:off x="9075420" y="2212848"/>
            <a:ext cx="2610612" cy="1417320"/>
          </a:xfrm>
          <a:prstGeom prst="roundRect">
            <a:avLst>
              <a:gd name="adj" fmla="val 9032"/>
            </a:avLst>
          </a:prstGeom>
          <a:solidFill>
            <a:srgbClr val="FFF1E9"/>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5" name="Image 5" descr="/sessions/dreamy-trusting-noether/mnt/outputs/build/assets/zap_orange.png"/>
          <p:cNvPicPr>
            <a:picLocks noChangeAspect="1"/>
          </p:cNvPicPr>
          <p:nvPr/>
        </p:nvPicPr>
        <p:blipFill>
          <a:blip r:embed="rId8"/>
          <a:stretch>
            <a:fillRect/>
          </a:stretch>
        </p:blipFill>
        <p:spPr>
          <a:xfrm>
            <a:off x="9276588" y="2414016"/>
            <a:ext cx="384048" cy="384048"/>
          </a:xfrm>
          <a:prstGeom prst="rect">
            <a:avLst/>
          </a:prstGeom>
        </p:spPr>
      </p:pic>
      <p:sp>
        <p:nvSpPr>
          <p:cNvPr id="26" name="Text 18"/>
          <p:cNvSpPr/>
          <p:nvPr/>
        </p:nvSpPr>
        <p:spPr>
          <a:xfrm>
            <a:off x="9240012" y="2638044"/>
            <a:ext cx="2281428" cy="566928"/>
          </a:xfrm>
          <a:prstGeom prst="rect">
            <a:avLst/>
          </a:prstGeom>
          <a:noFill/>
          <a:ln/>
        </p:spPr>
        <p:txBody>
          <a:bodyPr wrap="square" lIns="0" tIns="0" rIns="0" bIns="0" rtlCol="0" anchor="ctr"/>
          <a:lstStyle/>
          <a:p>
            <a:pPr marL="0" indent="0" algn="l">
              <a:buNone/>
            </a:pPr>
            <a:r>
              <a:rPr lang="en-US" sz="3000" b="1" dirty="0">
                <a:solidFill>
                  <a:srgbClr val="FC642D"/>
                </a:solidFill>
                <a:latin typeface="Poppins" pitchFamily="34" charset="0"/>
                <a:ea typeface="Poppins" pitchFamily="34" charset="-122"/>
                <a:cs typeface="Poppins" pitchFamily="34" charset="-120"/>
              </a:rPr>
              <a:t>15.5%</a:t>
            </a:r>
            <a:endParaRPr lang="en-US" sz="3000" dirty="0"/>
          </a:p>
        </p:txBody>
      </p:sp>
      <p:sp>
        <p:nvSpPr>
          <p:cNvPr id="27" name="Text 19"/>
          <p:cNvSpPr/>
          <p:nvPr/>
        </p:nvSpPr>
        <p:spPr>
          <a:xfrm>
            <a:off x="92583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host-only service fee</a:t>
            </a:r>
            <a:endParaRPr lang="en-US" sz="1150" dirty="0"/>
          </a:p>
        </p:txBody>
      </p:sp>
      <p:sp>
        <p:nvSpPr>
          <p:cNvPr id="28" name="Shape 20"/>
          <p:cNvSpPr/>
          <p:nvPr/>
        </p:nvSpPr>
        <p:spPr>
          <a:xfrm>
            <a:off x="502920" y="3931920"/>
            <a:ext cx="5468112" cy="2103120"/>
          </a:xfrm>
          <a:prstGeom prst="roundRect">
            <a:avLst>
              <a:gd name="adj" fmla="val 608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9" name="Shape 21"/>
          <p:cNvSpPr/>
          <p:nvPr/>
        </p:nvSpPr>
        <p:spPr>
          <a:xfrm>
            <a:off x="777240" y="4206240"/>
            <a:ext cx="603504" cy="603504"/>
          </a:xfrm>
          <a:prstGeom prst="ellipse">
            <a:avLst/>
          </a:prstGeom>
          <a:solidFill>
            <a:srgbClr val="FFEEF2"/>
          </a:solidFill>
          <a:ln/>
        </p:spPr>
        <p:txBody>
          <a:bodyPr/>
          <a:lstStyle/>
          <a:p>
            <a:endParaRPr lang="en-US"/>
          </a:p>
        </p:txBody>
      </p:sp>
      <p:pic>
        <p:nvPicPr>
          <p:cNvPr id="30" name="Image 6" descr="/sessions/dreamy-trusting-noether/mnt/outputs/build/assets/alert_coral.png"/>
          <p:cNvPicPr>
            <a:picLocks noChangeAspect="1"/>
          </p:cNvPicPr>
          <p:nvPr/>
        </p:nvPicPr>
        <p:blipFill>
          <a:blip r:embed="rId9"/>
          <a:stretch>
            <a:fillRect/>
          </a:stretch>
        </p:blipFill>
        <p:spPr>
          <a:xfrm>
            <a:off x="922081" y="4351081"/>
            <a:ext cx="313822" cy="313822"/>
          </a:xfrm>
          <a:prstGeom prst="rect">
            <a:avLst/>
          </a:prstGeom>
        </p:spPr>
      </p:pic>
      <p:sp>
        <p:nvSpPr>
          <p:cNvPr id="31" name="Text 22"/>
          <p:cNvSpPr/>
          <p:nvPr/>
        </p:nvSpPr>
        <p:spPr>
          <a:xfrm>
            <a:off x="1517904" y="4224528"/>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The missing piece for hosts</a:t>
            </a:r>
            <a:endParaRPr lang="en-US" sz="1500" dirty="0"/>
          </a:p>
        </p:txBody>
      </p:sp>
      <p:sp>
        <p:nvSpPr>
          <p:cNvPr id="32" name="Text 23"/>
          <p:cNvSpPr/>
          <p:nvPr/>
        </p:nvSpPr>
        <p:spPr>
          <a:xfrm>
            <a:off x="777240" y="4828032"/>
            <a:ext cx="4937760" cy="1005840"/>
          </a:xfrm>
          <a:prstGeom prst="rect">
            <a:avLst/>
          </a:prstGeom>
          <a:noFill/>
          <a:ln/>
        </p:spPr>
        <p:txBody>
          <a:bodyPr wrap="square" lIns="0" tIns="0" rIns="0" bIns="0" rtlCol="0" anchor="t"/>
          <a:lstStyle/>
          <a:p>
            <a:pPr marL="0" indent="0">
              <a:lnSpc>
                <a:spcPct val="108000"/>
              </a:lnSpc>
              <a:buNone/>
            </a:pPr>
            <a:r>
              <a:rPr lang="en-US" sz="1250" dirty="0">
                <a:solidFill>
                  <a:srgbClr val="4A4A4A"/>
                </a:solidFill>
                <a:latin typeface="Poppins" pitchFamily="34" charset="0"/>
                <a:ea typeface="Poppins" pitchFamily="34" charset="-122"/>
                <a:cs typeface="Poppins" pitchFamily="34" charset="-120"/>
              </a:rPr>
              <a:t>You get a recommended price, but not where it came from. With little transparency, some hosts ignore it entirely and others follow it without knowing if it's right for their listing.</a:t>
            </a:r>
            <a:endParaRPr lang="en-US" sz="1250" dirty="0"/>
          </a:p>
        </p:txBody>
      </p:sp>
      <p:sp>
        <p:nvSpPr>
          <p:cNvPr id="33" name="Shape 24"/>
          <p:cNvSpPr/>
          <p:nvPr/>
        </p:nvSpPr>
        <p:spPr>
          <a:xfrm>
            <a:off x="6217920" y="3931920"/>
            <a:ext cx="5468112" cy="2103120"/>
          </a:xfrm>
          <a:prstGeom prst="roundRect">
            <a:avLst>
              <a:gd name="adj" fmla="val 6087"/>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4" name="Shape 25"/>
          <p:cNvSpPr/>
          <p:nvPr/>
        </p:nvSpPr>
        <p:spPr>
          <a:xfrm>
            <a:off x="6492240" y="4206240"/>
            <a:ext cx="603504" cy="603504"/>
          </a:xfrm>
          <a:prstGeom prst="ellipse">
            <a:avLst/>
          </a:prstGeom>
          <a:solidFill>
            <a:srgbClr val="FFFFFF"/>
          </a:solidFill>
          <a:ln/>
        </p:spPr>
        <p:txBody>
          <a:bodyPr/>
          <a:lstStyle/>
          <a:p>
            <a:endParaRPr lang="en-US"/>
          </a:p>
        </p:txBody>
      </p:sp>
      <p:pic>
        <p:nvPicPr>
          <p:cNvPr id="35" name="Image 7" descr="/sessions/dreamy-trusting-noether/mnt/outputs/build/assets/target_coral.png"/>
          <p:cNvPicPr>
            <a:picLocks noChangeAspect="1"/>
          </p:cNvPicPr>
          <p:nvPr/>
        </p:nvPicPr>
        <p:blipFill>
          <a:blip r:embed="rId10"/>
          <a:stretch>
            <a:fillRect/>
          </a:stretch>
        </p:blipFill>
        <p:spPr>
          <a:xfrm>
            <a:off x="6637081" y="4351081"/>
            <a:ext cx="313822" cy="313822"/>
          </a:xfrm>
          <a:prstGeom prst="rect">
            <a:avLst/>
          </a:prstGeom>
        </p:spPr>
      </p:pic>
      <p:sp>
        <p:nvSpPr>
          <p:cNvPr id="36" name="Text 26"/>
          <p:cNvSpPr/>
          <p:nvPr/>
        </p:nvSpPr>
        <p:spPr>
          <a:xfrm>
            <a:off x="7232904" y="4224528"/>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So we reframed the question</a:t>
            </a:r>
            <a:endParaRPr lang="en-US" sz="1500" dirty="0"/>
          </a:p>
        </p:txBody>
      </p:sp>
      <p:sp>
        <p:nvSpPr>
          <p:cNvPr id="37" name="Text 27"/>
          <p:cNvSpPr/>
          <p:nvPr/>
        </p:nvSpPr>
        <p:spPr>
          <a:xfrm>
            <a:off x="6492240" y="4828032"/>
            <a:ext cx="4937760" cy="1051560"/>
          </a:xfrm>
          <a:prstGeom prst="rect">
            <a:avLst/>
          </a:prstGeom>
          <a:noFill/>
          <a:ln/>
        </p:spPr>
        <p:txBody>
          <a:bodyPr wrap="square" lIns="0" tIns="0" rIns="0" bIns="0" rtlCol="0" anchor="t"/>
          <a:lstStyle/>
          <a:p>
            <a:pPr marL="0" indent="0">
              <a:lnSpc>
                <a:spcPct val="108000"/>
              </a:lnSpc>
              <a:buNone/>
            </a:pPr>
            <a:r>
              <a:rPr lang="en-US" sz="1250" i="1" dirty="0">
                <a:solidFill>
                  <a:srgbClr val="222222"/>
                </a:solidFill>
                <a:latin typeface="Poppins" pitchFamily="34" charset="0"/>
                <a:ea typeface="Poppins" pitchFamily="34" charset="-122"/>
                <a:cs typeface="Poppins" pitchFamily="34" charset="-120"/>
              </a:rPr>
              <a:t>Not “can we build another pricing model?” but “can we help hosts make better pricing decisions by combining accurate recommendations with clear explanations and real market comparisons?”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03 · THE DATASET</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One market, done properly: New York City</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Inside Airbnb — public, open-source data. We chose one market to build, test and evaluate.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4</a:t>
            </a:r>
            <a:endParaRPr lang="en-US" sz="900" dirty="0"/>
          </a:p>
        </p:txBody>
      </p:sp>
      <p:sp>
        <p:nvSpPr>
          <p:cNvPr id="12" name="Shape 8"/>
          <p:cNvSpPr/>
          <p:nvPr/>
        </p:nvSpPr>
        <p:spPr>
          <a:xfrm>
            <a:off x="5029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594360" y="2523744"/>
            <a:ext cx="2697480" cy="685800"/>
          </a:xfrm>
          <a:prstGeom prst="rect">
            <a:avLst/>
          </a:prstGeom>
          <a:noFill/>
          <a:ln/>
        </p:spPr>
        <p:txBody>
          <a:bodyPr wrap="square" lIns="0" tIns="0" rIns="0" bIns="0" rtlCol="0" anchor="ctr"/>
          <a:lstStyle/>
          <a:p>
            <a:pPr marL="0" indent="0" algn="ctr">
              <a:buNone/>
            </a:pPr>
            <a:r>
              <a:rPr lang="en-US" sz="3700" b="1" dirty="0">
                <a:solidFill>
                  <a:srgbClr val="9AA0A6"/>
                </a:solidFill>
                <a:latin typeface="Poppins" pitchFamily="34" charset="0"/>
                <a:ea typeface="Poppins" pitchFamily="34" charset="-122"/>
                <a:cs typeface="Poppins" pitchFamily="34" charset="-120"/>
              </a:rPr>
              <a:t>30,259</a:t>
            </a:r>
            <a:endParaRPr lang="en-US" sz="3700" dirty="0"/>
          </a:p>
        </p:txBody>
      </p:sp>
      <p:sp>
        <p:nvSpPr>
          <p:cNvPr id="14" name="Text 10"/>
          <p:cNvSpPr/>
          <p:nvPr/>
        </p:nvSpPr>
        <p:spPr>
          <a:xfrm>
            <a:off x="594360"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raw listings scraped</a:t>
            </a:r>
            <a:endParaRPr lang="en-US" sz="1200" dirty="0"/>
          </a:p>
        </p:txBody>
      </p:sp>
      <p:sp>
        <p:nvSpPr>
          <p:cNvPr id="15" name="Text 11"/>
          <p:cNvSpPr/>
          <p:nvPr/>
        </p:nvSpPr>
        <p:spPr>
          <a:xfrm>
            <a:off x="3401568" y="2286000"/>
            <a:ext cx="530352" cy="1371600"/>
          </a:xfrm>
          <a:prstGeom prst="rect">
            <a:avLst/>
          </a:prstGeom>
          <a:noFill/>
          <a:ln/>
        </p:spPr>
        <p:txBody>
          <a:bodyPr wrap="square" lIns="0" tIns="0" rIns="0" bIns="0" rtlCol="0" anchor="ctr"/>
          <a:lstStyle/>
          <a:p>
            <a:pPr marL="0" indent="0" algn="ctr">
              <a:buNone/>
            </a:pPr>
            <a:r>
              <a:rPr lang="en-US" sz="2600" b="1" dirty="0">
                <a:solidFill>
                  <a:srgbClr val="9AA0A6"/>
                </a:solidFill>
                <a:latin typeface="Poppins" pitchFamily="34" charset="0"/>
                <a:ea typeface="Poppins" pitchFamily="34" charset="-122"/>
                <a:cs typeface="Poppins" pitchFamily="34" charset="-120"/>
              </a:rPr>
              <a:t>→</a:t>
            </a:r>
            <a:endParaRPr lang="en-US" sz="2600" dirty="0"/>
          </a:p>
        </p:txBody>
      </p:sp>
      <p:sp>
        <p:nvSpPr>
          <p:cNvPr id="16" name="Shape 12"/>
          <p:cNvSpPr/>
          <p:nvPr/>
        </p:nvSpPr>
        <p:spPr>
          <a:xfrm>
            <a:off x="3950208" y="2286000"/>
            <a:ext cx="2880360" cy="1371600"/>
          </a:xfrm>
          <a:prstGeom prst="roundRect">
            <a:avLst>
              <a:gd name="adj" fmla="val 9333"/>
            </a:avLst>
          </a:prstGeom>
          <a:solidFill>
            <a:srgbClr val="FFEEF2"/>
          </a:solidFill>
          <a:ln/>
        </p:spPr>
        <p:txBody>
          <a:bodyPr/>
          <a:lstStyle/>
          <a:p>
            <a:endParaRPr lang="en-US"/>
          </a:p>
        </p:txBody>
      </p:sp>
      <p:sp>
        <p:nvSpPr>
          <p:cNvPr id="17" name="Text 13"/>
          <p:cNvSpPr/>
          <p:nvPr/>
        </p:nvSpPr>
        <p:spPr>
          <a:xfrm>
            <a:off x="4041648" y="2523744"/>
            <a:ext cx="2697480" cy="685800"/>
          </a:xfrm>
          <a:prstGeom prst="rect">
            <a:avLst/>
          </a:prstGeom>
          <a:noFill/>
          <a:ln/>
        </p:spPr>
        <p:txBody>
          <a:bodyPr wrap="square" lIns="0" tIns="0" rIns="0" bIns="0" rtlCol="0" anchor="ctr"/>
          <a:lstStyle/>
          <a:p>
            <a:pPr marL="0" indent="0" algn="ctr">
              <a:buNone/>
            </a:pPr>
            <a:r>
              <a:rPr lang="en-US" sz="3700" b="1" dirty="0">
                <a:solidFill>
                  <a:srgbClr val="FF385C"/>
                </a:solidFill>
                <a:latin typeface="Poppins" pitchFamily="34" charset="0"/>
                <a:ea typeface="Poppins" pitchFamily="34" charset="-122"/>
                <a:cs typeface="Poppins" pitchFamily="34" charset="-120"/>
              </a:rPr>
              <a:t>9,752</a:t>
            </a:r>
            <a:endParaRPr lang="en-US" sz="3700" dirty="0"/>
          </a:p>
        </p:txBody>
      </p:sp>
      <p:sp>
        <p:nvSpPr>
          <p:cNvPr id="18" name="Text 14"/>
          <p:cNvSpPr/>
          <p:nvPr/>
        </p:nvSpPr>
        <p:spPr>
          <a:xfrm>
            <a:off x="4041648"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active listings (≈9,800)</a:t>
            </a:r>
            <a:endParaRPr lang="en-US" sz="1200" dirty="0"/>
          </a:p>
        </p:txBody>
      </p:sp>
      <p:sp>
        <p:nvSpPr>
          <p:cNvPr id="19" name="Text 15"/>
          <p:cNvSpPr/>
          <p:nvPr/>
        </p:nvSpPr>
        <p:spPr>
          <a:xfrm>
            <a:off x="6848856" y="2286000"/>
            <a:ext cx="530352" cy="1371600"/>
          </a:xfrm>
          <a:prstGeom prst="rect">
            <a:avLst/>
          </a:prstGeom>
          <a:noFill/>
          <a:ln/>
        </p:spPr>
        <p:txBody>
          <a:bodyPr wrap="square" lIns="0" tIns="0" rIns="0" bIns="0" rtlCol="0" anchor="ctr"/>
          <a:lstStyle/>
          <a:p>
            <a:pPr marL="0" indent="0" algn="ctr">
              <a:buNone/>
            </a:pPr>
            <a:r>
              <a:rPr lang="en-US" sz="2600" b="1" dirty="0">
                <a:solidFill>
                  <a:srgbClr val="9AA0A6"/>
                </a:solidFill>
                <a:latin typeface="Poppins" pitchFamily="34" charset="0"/>
                <a:ea typeface="Poppins" pitchFamily="34" charset="-122"/>
                <a:cs typeface="Poppins" pitchFamily="34" charset="-120"/>
              </a:rPr>
              <a:t>→</a:t>
            </a:r>
            <a:endParaRPr lang="en-US" sz="2600" dirty="0"/>
          </a:p>
        </p:txBody>
      </p:sp>
      <p:sp>
        <p:nvSpPr>
          <p:cNvPr id="20" name="Shape 16"/>
          <p:cNvSpPr/>
          <p:nvPr/>
        </p:nvSpPr>
        <p:spPr>
          <a:xfrm>
            <a:off x="7397496" y="2286000"/>
            <a:ext cx="2880360" cy="1371600"/>
          </a:xfrm>
          <a:prstGeom prst="roundRect">
            <a:avLst>
              <a:gd name="adj" fmla="val 9333"/>
            </a:avLst>
          </a:prstGeom>
          <a:solidFill>
            <a:srgbClr val="E6F6F4"/>
          </a:solidFill>
          <a:ln/>
        </p:spPr>
        <p:txBody>
          <a:bodyPr/>
          <a:lstStyle/>
          <a:p>
            <a:endParaRPr lang="en-US"/>
          </a:p>
        </p:txBody>
      </p:sp>
      <p:sp>
        <p:nvSpPr>
          <p:cNvPr id="21" name="Text 17"/>
          <p:cNvSpPr/>
          <p:nvPr/>
        </p:nvSpPr>
        <p:spPr>
          <a:xfrm>
            <a:off x="7488936" y="2523744"/>
            <a:ext cx="2697480" cy="685800"/>
          </a:xfrm>
          <a:prstGeom prst="rect">
            <a:avLst/>
          </a:prstGeom>
          <a:noFill/>
          <a:ln/>
        </p:spPr>
        <p:txBody>
          <a:bodyPr wrap="square" lIns="0" tIns="0" rIns="0" bIns="0" rtlCol="0" anchor="ctr"/>
          <a:lstStyle/>
          <a:p>
            <a:pPr marL="0" indent="0" algn="ctr">
              <a:buNone/>
            </a:pPr>
            <a:r>
              <a:rPr lang="en-US" sz="3700" b="1" dirty="0">
                <a:solidFill>
                  <a:srgbClr val="007A73"/>
                </a:solidFill>
                <a:latin typeface="Poppins" pitchFamily="34" charset="0"/>
                <a:ea typeface="Poppins" pitchFamily="34" charset="-122"/>
                <a:cs typeface="Poppins" pitchFamily="34" charset="-120"/>
              </a:rPr>
              <a:t>80</a:t>
            </a:r>
            <a:endParaRPr lang="en-US" sz="3700" dirty="0"/>
          </a:p>
        </p:txBody>
      </p:sp>
      <p:sp>
        <p:nvSpPr>
          <p:cNvPr id="22" name="Text 18"/>
          <p:cNvSpPr/>
          <p:nvPr/>
        </p:nvSpPr>
        <p:spPr>
          <a:xfrm>
            <a:off x="7488936"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engineered features</a:t>
            </a:r>
            <a:endParaRPr lang="en-US" sz="1200" dirty="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250" b="1" dirty="0">
                <a:solidFill>
                  <a:srgbClr val="222222"/>
                </a:solidFill>
                <a:latin typeface="Poppins" pitchFamily="34" charset="0"/>
                <a:ea typeface="Poppins" pitchFamily="34" charset="-122"/>
                <a:cs typeface="Poppins" pitchFamily="34" charset="-120"/>
              </a:rPr>
              <a:t>For each listing:  </a:t>
            </a:r>
            <a:r>
              <a:rPr lang="en-US" sz="1250" dirty="0">
                <a:solidFill>
                  <a:srgbClr val="4A4A4A"/>
                </a:solidFill>
                <a:latin typeface="Poppins" pitchFamily="34" charset="0"/>
                <a:ea typeface="Poppins" pitchFamily="34" charset="-122"/>
                <a:cs typeface="Poppins" pitchFamily="34" charset="-120"/>
              </a:rPr>
              <a:t>nightly price · availability · reviews · amenities · location · host characteristics.</a:t>
            </a:r>
            <a:endParaRPr lang="en-US" sz="1250" dirty="0"/>
          </a:p>
        </p:txBody>
      </p:sp>
      <p:sp>
        <p:nvSpPr>
          <p:cNvPr id="24" name="Shape 20"/>
          <p:cNvSpPr/>
          <p:nvPr/>
        </p:nvSpPr>
        <p:spPr>
          <a:xfrm>
            <a:off x="50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758952" y="4599432"/>
            <a:ext cx="566928" cy="566928"/>
          </a:xfrm>
          <a:prstGeom prst="ellipse">
            <a:avLst/>
          </a:prstGeom>
          <a:solidFill>
            <a:srgbClr val="E6F6F4"/>
          </a:solidFill>
          <a:ln/>
        </p:spPr>
        <p:txBody>
          <a:bodyPr/>
          <a:lstStyle/>
          <a:p>
            <a:endParaRPr lang="en-US"/>
          </a:p>
        </p:txBody>
      </p:sp>
      <p:pic>
        <p:nvPicPr>
          <p:cNvPr id="26" name="Image 2" descr="/sessions/dreamy-trusting-noether/mnt/outputs/build/assets/filter_teal.png"/>
          <p:cNvPicPr>
            <a:picLocks noChangeAspect="1"/>
          </p:cNvPicPr>
          <p:nvPr/>
        </p:nvPicPr>
        <p:blipFill>
          <a:blip r:embed="rId5"/>
          <a:stretch>
            <a:fillRect/>
          </a:stretch>
        </p:blipFill>
        <p:spPr>
          <a:xfrm>
            <a:off x="895015" y="4735495"/>
            <a:ext cx="294803" cy="294803"/>
          </a:xfrm>
          <a:prstGeom prst="rect">
            <a:avLst/>
          </a:prstGeom>
        </p:spPr>
      </p:pic>
      <p:sp>
        <p:nvSpPr>
          <p:cNvPr id="27" name="Text 22"/>
          <p:cNvSpPr/>
          <p:nvPr/>
        </p:nvSpPr>
        <p:spPr>
          <a:xfrm>
            <a:off x="143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Clean &amp; prepare</a:t>
            </a:r>
            <a:endParaRPr lang="en-US" sz="1350" dirty="0"/>
          </a:p>
        </p:txBody>
      </p:sp>
      <p:sp>
        <p:nvSpPr>
          <p:cNvPr id="28" name="Text 23"/>
          <p:cNvSpPr/>
          <p:nvPr/>
        </p:nvSpPr>
        <p:spPr>
          <a:xfrm>
            <a:off x="77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Handle missing values, parse amenities, engineer features into a reliable modeling table.</a:t>
            </a:r>
            <a:endParaRPr lang="en-US" sz="1100" dirty="0"/>
          </a:p>
        </p:txBody>
      </p:sp>
      <p:sp>
        <p:nvSpPr>
          <p:cNvPr id="29" name="Shape 24"/>
          <p:cNvSpPr/>
          <p:nvPr/>
        </p:nvSpPr>
        <p:spPr>
          <a:xfrm>
            <a:off x="431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5"/>
          <p:cNvSpPr/>
          <p:nvPr/>
        </p:nvSpPr>
        <p:spPr>
          <a:xfrm>
            <a:off x="4568952" y="4599432"/>
            <a:ext cx="566928" cy="566928"/>
          </a:xfrm>
          <a:prstGeom prst="ellipse">
            <a:avLst/>
          </a:prstGeom>
          <a:solidFill>
            <a:srgbClr val="FFEEF2"/>
          </a:solidFill>
          <a:ln/>
        </p:spPr>
        <p:txBody>
          <a:bodyPr/>
          <a:lstStyle/>
          <a:p>
            <a:endParaRPr lang="en-US"/>
          </a:p>
        </p:txBody>
      </p:sp>
      <p:pic>
        <p:nvPicPr>
          <p:cNvPr id="31" name="Image 3" descr="/sessions/dreamy-trusting-noether/mnt/outputs/build/assets/search_coral.png"/>
          <p:cNvPicPr>
            <a:picLocks noChangeAspect="1"/>
          </p:cNvPicPr>
          <p:nvPr/>
        </p:nvPicPr>
        <p:blipFill>
          <a:blip r:embed="rId6"/>
          <a:stretch>
            <a:fillRect/>
          </a:stretch>
        </p:blipFill>
        <p:spPr>
          <a:xfrm>
            <a:off x="4705015" y="4735495"/>
            <a:ext cx="294803" cy="294803"/>
          </a:xfrm>
          <a:prstGeom prst="rect">
            <a:avLst/>
          </a:prstGeom>
        </p:spPr>
      </p:pic>
      <p:sp>
        <p:nvSpPr>
          <p:cNvPr id="32" name="Text 26"/>
          <p:cNvSpPr/>
          <p:nvPr/>
        </p:nvSpPr>
        <p:spPr>
          <a:xfrm>
            <a:off x="524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Understand first</a:t>
            </a:r>
            <a:endParaRPr lang="en-US" sz="1350" dirty="0"/>
          </a:p>
        </p:txBody>
      </p:sp>
      <p:sp>
        <p:nvSpPr>
          <p:cNvPr id="33" name="Text 27"/>
          <p:cNvSpPr/>
          <p:nvPr/>
        </p:nvSpPr>
        <p:spPr>
          <a:xfrm>
            <a:off x="458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Before modeling: which variables matter, and what relationships already exist in the data?</a:t>
            </a:r>
            <a:endParaRPr lang="en-US" sz="1100" dirty="0"/>
          </a:p>
        </p:txBody>
      </p:sp>
      <p:sp>
        <p:nvSpPr>
          <p:cNvPr id="34" name="Shape 28"/>
          <p:cNvSpPr/>
          <p:nvPr/>
        </p:nvSpPr>
        <p:spPr>
          <a:xfrm>
            <a:off x="812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9"/>
          <p:cNvSpPr/>
          <p:nvPr/>
        </p:nvSpPr>
        <p:spPr>
          <a:xfrm>
            <a:off x="8378952" y="4599432"/>
            <a:ext cx="566928" cy="566928"/>
          </a:xfrm>
          <a:prstGeom prst="ellipse">
            <a:avLst/>
          </a:prstGeom>
          <a:solidFill>
            <a:srgbClr val="E6F6F4"/>
          </a:solidFill>
          <a:ln/>
        </p:spPr>
        <p:txBody>
          <a:bodyPr/>
          <a:lstStyle/>
          <a:p>
            <a:endParaRPr lang="en-US"/>
          </a:p>
        </p:txBody>
      </p:sp>
      <p:pic>
        <p:nvPicPr>
          <p:cNvPr id="36" name="Image 4" descr="/sessions/dreamy-trusting-noether/mnt/outputs/build/assets/bar_teal.png"/>
          <p:cNvPicPr>
            <a:picLocks noChangeAspect="1"/>
          </p:cNvPicPr>
          <p:nvPr/>
        </p:nvPicPr>
        <p:blipFill>
          <a:blip r:embed="rId7"/>
          <a:stretch>
            <a:fillRect/>
          </a:stretch>
        </p:blipFill>
        <p:spPr>
          <a:xfrm>
            <a:off x="8515015" y="4735495"/>
            <a:ext cx="294803" cy="294803"/>
          </a:xfrm>
          <a:prstGeom prst="rect">
            <a:avLst/>
          </a:prstGeom>
        </p:spPr>
      </p:pic>
      <p:sp>
        <p:nvSpPr>
          <p:cNvPr id="37" name="Text 30"/>
          <p:cNvSpPr/>
          <p:nvPr/>
        </p:nvSpPr>
        <p:spPr>
          <a:xfrm>
            <a:off x="905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Then model</a:t>
            </a:r>
            <a:endParaRPr lang="en-US" sz="1350" dirty="0"/>
          </a:p>
        </p:txBody>
      </p:sp>
      <p:sp>
        <p:nvSpPr>
          <p:cNvPr id="38" name="Text 31"/>
          <p:cNvSpPr/>
          <p:nvPr/>
        </p:nvSpPr>
        <p:spPr>
          <a:xfrm>
            <a:off x="839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Only once we understood the data did we move to machine learning — starting with EDA.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04 · KEY VARIABLES (EDA)</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One market, or two?</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dataset splits almost evenly — and the two halves behave nothing alike.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5</a:t>
            </a:r>
            <a:endParaRPr lang="en-US" sz="900" dirty="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Why this decides everything</a:t>
            </a:r>
            <a:endParaRPr lang="en-US" sz="1500" dirty="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A monthly renter commits to one property and barely shops on nightly rate. A weekend guest compares five listings in an hour.</a:t>
            </a:r>
            <a:endParaRPr lang="en-US" sz="1250" dirty="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dirty="0">
                <a:solidFill>
                  <a:srgbClr val="222222"/>
                </a:solidFill>
                <a:latin typeface="Poppins" pitchFamily="34" charset="0"/>
                <a:ea typeface="Poppins" pitchFamily="34" charset="-122"/>
                <a:cs typeface="Poppins" pitchFamily="34" charset="-120"/>
              </a:rPr>
              <a:t>So we model them separately. </a:t>
            </a:r>
            <a:r>
              <a:rPr lang="en-US" sz="1250" dirty="0">
                <a:solidFill>
                  <a:srgbClr val="4A4A4A"/>
                </a:solidFill>
                <a:latin typeface="Poppins" pitchFamily="34" charset="0"/>
                <a:ea typeface="Poppins" pitchFamily="34" charset="-122"/>
                <a:cs typeface="Poppins" pitchFamily="34" charset="-120"/>
              </a:rPr>
              <a:t>Two engines, two sets of comparables, two elasticities. Every number that follows is segment-aware.</a:t>
            </a:r>
            <a:endParaRPr lang="en-US" sz="1250" dirty="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SHORT-STAY</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4,008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41% of the market</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$284</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price elasticity — 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MONTHLY  (28+ nights)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5,744</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59% of the market</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$131</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none</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no price response detected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05 · A KEY RELATIONSHIP</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Pricing isn't the only thing driving demand</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Reputation and quality move occupancy too — so we shouldn't treat price as the only lever.</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6</a:t>
            </a:r>
            <a:endParaRPr lang="en-US" sz="900" dirty="0"/>
          </a:p>
        </p:txBody>
      </p:sp>
      <p:sp>
        <p:nvSpPr>
          <p:cNvPr id="12" name="Shape 8"/>
          <p:cNvSpPr/>
          <p:nvPr/>
        </p:nvSpPr>
        <p:spPr>
          <a:xfrm>
            <a:off x="502920" y="2240280"/>
            <a:ext cx="5577840" cy="3794760"/>
          </a:xfrm>
          <a:prstGeom prst="roundRect">
            <a:avLst>
              <a:gd name="adj" fmla="val 3373"/>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Occupancy rises with a host's track record</a:t>
            </a:r>
            <a:endParaRPr lang="en-US" sz="1350" dirty="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34%</a:t>
            </a:r>
            <a:endParaRPr lang="en-US" sz="1200" dirty="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0–10</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37%</a:t>
            </a:r>
            <a:endParaRPr lang="en-US" sz="1200" dirty="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11–50</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42%</a:t>
            </a:r>
            <a:endParaRPr lang="en-US" sz="1200" dirty="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51+</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23" name="Text 19"/>
          <p:cNvSpPr/>
          <p:nvPr/>
        </p:nvSpPr>
        <p:spPr>
          <a:xfrm>
            <a:off x="731520" y="5532120"/>
            <a:ext cx="5120640" cy="411480"/>
          </a:xfrm>
          <a:prstGeom prst="rect">
            <a:avLst/>
          </a:prstGeom>
          <a:noFill/>
          <a:ln/>
        </p:spPr>
        <p:txBody>
          <a:bodyPr wrap="square" lIns="0" tIns="0" rIns="0" bIns="0" rtlCol="0" anchor="ctr"/>
          <a:lstStyle/>
          <a:p>
            <a:pPr marL="0" indent="0">
              <a:buNone/>
            </a:pPr>
            <a:r>
              <a:rPr lang="en-US" sz="1050" i="1" dirty="0">
                <a:solidFill>
                  <a:srgbClr val="717171"/>
                </a:solidFill>
                <a:latin typeface="Poppins" pitchFamily="34" charset="0"/>
                <a:ea typeface="Poppins" pitchFamily="34" charset="-122"/>
                <a:cs typeface="Poppins" pitchFamily="34" charset="-120"/>
              </a:rPr>
              <a:t>Superhosts average 39% occupancy vs 36% for regular hosts.</a:t>
            </a:r>
            <a:endParaRPr lang="en-US" sz="1050" dirty="0"/>
          </a:p>
        </p:txBody>
      </p:sp>
      <p:sp>
        <p:nvSpPr>
          <p:cNvPr id="24" name="Shape 20"/>
          <p:cNvSpPr/>
          <p:nvPr/>
        </p:nvSpPr>
        <p:spPr>
          <a:xfrm>
            <a:off x="6263640" y="2240280"/>
            <a:ext cx="5422392" cy="3794760"/>
          </a:xfrm>
          <a:prstGeom prst="roundRect">
            <a:avLst>
              <a:gd name="adj" fmla="val 3373"/>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6537960" y="2514600"/>
            <a:ext cx="603504" cy="603504"/>
          </a:xfrm>
          <a:prstGeom prst="ellipse">
            <a:avLst/>
          </a:prstGeom>
          <a:solidFill>
            <a:srgbClr val="FFFFFF"/>
          </a:solidFill>
          <a:ln/>
        </p:spPr>
        <p:txBody>
          <a:bodyPr/>
          <a:lstStyle/>
          <a:p>
            <a:endParaRPr lang="en-US"/>
          </a:p>
        </p:txBody>
      </p:sp>
      <p:pic>
        <p:nvPicPr>
          <p:cNvPr id="26" name="Image 2" descr="/sessions/dreamy-trusting-noether/mnt/outputs/build/assets/scale_teal.png"/>
          <p:cNvPicPr>
            <a:picLocks noChangeAspect="1"/>
          </p:cNvPicPr>
          <p:nvPr/>
        </p:nvPicPr>
        <p:blipFill>
          <a:blip r:embed="rId5"/>
          <a:stretch>
            <a:fillRect/>
          </a:stretch>
        </p:blipFill>
        <p:spPr>
          <a:xfrm>
            <a:off x="6682801" y="2659441"/>
            <a:ext cx="313822" cy="313822"/>
          </a:xfrm>
          <a:prstGeom prst="rect">
            <a:avLst/>
          </a:prstGeom>
        </p:spPr>
      </p:pic>
      <p:sp>
        <p:nvSpPr>
          <p:cNvPr id="27" name="Text 22"/>
          <p:cNvSpPr/>
          <p:nvPr/>
        </p:nvSpPr>
        <p:spPr>
          <a:xfrm>
            <a:off x="7278624" y="2542032"/>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Which raises the real question</a:t>
            </a:r>
            <a:endParaRPr lang="en-US" sz="1500" dirty="0"/>
          </a:p>
        </p:txBody>
      </p:sp>
      <p:sp>
        <p:nvSpPr>
          <p:cNvPr id="28" name="Text 23"/>
          <p:cNvSpPr/>
          <p:nvPr/>
        </p:nvSpPr>
        <p:spPr>
          <a:xfrm>
            <a:off x="6537960" y="3246120"/>
            <a:ext cx="4892040" cy="1371600"/>
          </a:xfrm>
          <a:prstGeom prst="rect">
            <a:avLst/>
          </a:prstGeom>
          <a:noFill/>
          <a:ln/>
        </p:spPr>
        <p:txBody>
          <a:bodyPr wrap="square" lIns="0" tIns="0" rIns="0" bIns="0" rtlCol="0" anchor="t"/>
          <a:lstStyle/>
          <a:p>
            <a:pPr marL="0" indent="0">
              <a:lnSpc>
                <a:spcPct val="107000"/>
              </a:lnSpc>
              <a:buNone/>
            </a:pPr>
            <a:r>
              <a:rPr lang="en-US" sz="1250" dirty="0">
                <a:solidFill>
                  <a:srgbClr val="4A4A4A"/>
                </a:solidFill>
                <a:latin typeface="Poppins" pitchFamily="34" charset="0"/>
                <a:ea typeface="Poppins" pitchFamily="34" charset="-122"/>
                <a:cs typeface="Poppins" pitchFamily="34" charset="-120"/>
              </a:rPr>
              <a:t>Reviews, reputation and listing quality all shape whether guests book — not just price. And when we looked at the market, some listings sat close to what we'd expect while others were clearly above or below similar properties.</a:t>
            </a:r>
            <a:endParaRPr lang="en-US" sz="1250" dirty="0"/>
          </a:p>
        </p:txBody>
      </p:sp>
      <p:sp>
        <p:nvSpPr>
          <p:cNvPr id="29" name="Shape 24"/>
          <p:cNvSpPr/>
          <p:nvPr/>
        </p:nvSpPr>
        <p:spPr>
          <a:xfrm>
            <a:off x="6537960" y="4800600"/>
            <a:ext cx="4892040" cy="960120"/>
          </a:xfrm>
          <a:prstGeom prst="roundRect">
            <a:avLst>
              <a:gd name="adj" fmla="val 11429"/>
            </a:avLst>
          </a:prstGeom>
          <a:solidFill>
            <a:srgbClr val="FFFFFF"/>
          </a:solidFill>
          <a:ln/>
        </p:spPr>
        <p:txBody>
          <a:bodyPr/>
          <a:lstStyle/>
          <a:p>
            <a:endParaRPr lang="en-US"/>
          </a:p>
        </p:txBody>
      </p:sp>
      <p:sp>
        <p:nvSpPr>
          <p:cNvPr id="30" name="Text 25"/>
          <p:cNvSpPr/>
          <p:nvPr/>
        </p:nvSpPr>
        <p:spPr>
          <a:xfrm>
            <a:off x="6766560" y="4937760"/>
            <a:ext cx="4434840" cy="731520"/>
          </a:xfrm>
          <a:prstGeom prst="rect">
            <a:avLst/>
          </a:prstGeom>
          <a:noFill/>
          <a:ln/>
        </p:spPr>
        <p:txBody>
          <a:bodyPr wrap="square" lIns="0" tIns="0" rIns="0" bIns="0" rtlCol="0" anchor="ctr"/>
          <a:lstStyle/>
          <a:p>
            <a:pPr marL="0" indent="0">
              <a:lnSpc>
                <a:spcPct val="105000"/>
              </a:lnSpc>
              <a:buNone/>
            </a:pPr>
            <a:r>
              <a:rPr lang="en-US" sz="1250" b="1" i="1" dirty="0">
                <a:solidFill>
                  <a:srgbClr val="007A73"/>
                </a:solidFill>
                <a:latin typeface="Poppins" pitchFamily="34" charset="0"/>
                <a:ea typeface="Poppins" pitchFamily="34" charset="-122"/>
                <a:cs typeface="Poppins" pitchFamily="34" charset="-120"/>
              </a:rPr>
              <a:t>So instead of asking “is this listing expensive or cheap?”, we asked: “what should a fair market price actually be?”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06 · THE SOLUTION</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Not another calculator — an explanation</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When someone tells you to change your price, your first question is “why?” Our product answers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7</a:t>
            </a:r>
            <a:endParaRPr lang="en-US" sz="900" dirty="0"/>
          </a:p>
        </p:txBody>
      </p:sp>
      <p:sp>
        <p:nvSpPr>
          <p:cNvPr id="12" name="Shape 8"/>
          <p:cNvSpPr/>
          <p:nvPr/>
        </p:nvSpPr>
        <p:spPr>
          <a:xfrm>
            <a:off x="502920"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40664" y="2542032"/>
            <a:ext cx="548640" cy="548640"/>
          </a:xfrm>
          <a:prstGeom prst="ellipse">
            <a:avLst/>
          </a:prstGeom>
          <a:solidFill>
            <a:srgbClr val="FFEEF2"/>
          </a:solidFill>
          <a:ln/>
        </p:spPr>
        <p:txBody>
          <a:bodyPr/>
          <a:lstStyle/>
          <a:p>
            <a:endParaRPr lang="en-US"/>
          </a:p>
        </p:txBody>
      </p:sp>
      <p:pic>
        <p:nvPicPr>
          <p:cNvPr id="14" name="Image 2" descr="/sessions/dreamy-trusting-noether/mnt/outputs/build/assets/dollar_coral.png"/>
          <p:cNvPicPr>
            <a:picLocks noChangeAspect="1"/>
          </p:cNvPicPr>
          <p:nvPr/>
        </p:nvPicPr>
        <p:blipFill>
          <a:blip r:embed="rId5"/>
          <a:stretch>
            <a:fillRect/>
          </a:stretch>
        </p:blipFill>
        <p:spPr>
          <a:xfrm>
            <a:off x="872338" y="2673706"/>
            <a:ext cx="285293" cy="285293"/>
          </a:xfrm>
          <a:prstGeom prst="rect">
            <a:avLst/>
          </a:prstGeom>
        </p:spPr>
      </p:pic>
      <p:sp>
        <p:nvSpPr>
          <p:cNvPr id="15" name="Text 10"/>
          <p:cNvSpPr/>
          <p:nvPr/>
        </p:nvSpPr>
        <p:spPr>
          <a:xfrm>
            <a:off x="1380744" y="2578608"/>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 recommended fair value</a:t>
            </a:r>
            <a:endParaRPr lang="en-US" sz="1300" dirty="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One clear number, calibrated to the listing.</a:t>
            </a:r>
            <a:endParaRPr lang="en-US" sz="1100" dirty="0"/>
          </a:p>
        </p:txBody>
      </p:sp>
      <p:sp>
        <p:nvSpPr>
          <p:cNvPr id="17" name="Shape 12"/>
          <p:cNvSpPr/>
          <p:nvPr/>
        </p:nvSpPr>
        <p:spPr>
          <a:xfrm>
            <a:off x="4146804"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4384548" y="2542032"/>
            <a:ext cx="548640" cy="548640"/>
          </a:xfrm>
          <a:prstGeom prst="ellipse">
            <a:avLst/>
          </a:prstGeom>
          <a:solidFill>
            <a:srgbClr val="E6F6F4"/>
          </a:solidFill>
          <a:ln/>
        </p:spPr>
        <p:txBody>
          <a:bodyPr/>
          <a:lstStyle/>
          <a:p>
            <a:endParaRPr lang="en-US"/>
          </a:p>
        </p:txBody>
      </p:sp>
      <p:pic>
        <p:nvPicPr>
          <p:cNvPr id="19" name="Image 3" descr="/sessions/dreamy-trusting-noether/mnt/outputs/build/assets/search_teal.png"/>
          <p:cNvPicPr>
            <a:picLocks noChangeAspect="1"/>
          </p:cNvPicPr>
          <p:nvPr/>
        </p:nvPicPr>
        <p:blipFill>
          <a:blip r:embed="rId6"/>
          <a:stretch>
            <a:fillRect/>
          </a:stretch>
        </p:blipFill>
        <p:spPr>
          <a:xfrm>
            <a:off x="4516222" y="2673706"/>
            <a:ext cx="285293" cy="285293"/>
          </a:xfrm>
          <a:prstGeom prst="rect">
            <a:avLst/>
          </a:prstGeom>
        </p:spPr>
      </p:pic>
      <p:sp>
        <p:nvSpPr>
          <p:cNvPr id="20" name="Text 14"/>
          <p:cNvSpPr/>
          <p:nvPr/>
        </p:nvSpPr>
        <p:spPr>
          <a:xfrm>
            <a:off x="5024628" y="2578608"/>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Comparable listings</a:t>
            </a:r>
            <a:endParaRPr lang="en-US" sz="1300" dirty="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The real, similar properties that support it.</a:t>
            </a:r>
            <a:endParaRPr lang="en-US" sz="1100" dirty="0"/>
          </a:p>
        </p:txBody>
      </p:sp>
      <p:sp>
        <p:nvSpPr>
          <p:cNvPr id="22" name="Shape 16"/>
          <p:cNvSpPr/>
          <p:nvPr/>
        </p:nvSpPr>
        <p:spPr>
          <a:xfrm>
            <a:off x="502920"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80560"/>
            <a:ext cx="548640" cy="548640"/>
          </a:xfrm>
          <a:prstGeom prst="ellipse">
            <a:avLst/>
          </a:prstGeom>
          <a:solidFill>
            <a:srgbClr val="FFEEF2"/>
          </a:solidFill>
          <a:ln/>
        </p:spPr>
        <p:txBody>
          <a:bodyPr/>
          <a:lstStyle/>
          <a:p>
            <a:endParaRPr lang="en-US"/>
          </a:p>
        </p:txBody>
      </p:sp>
      <p:pic>
        <p:nvPicPr>
          <p:cNvPr id="24" name="Image 4" descr="/sessions/dreamy-trusting-noether/mnt/outputs/build/assets/sparkle_coral.png"/>
          <p:cNvPicPr>
            <a:picLocks noChangeAspect="1"/>
          </p:cNvPicPr>
          <p:nvPr/>
        </p:nvPicPr>
        <p:blipFill>
          <a:blip r:embed="rId7"/>
          <a:stretch>
            <a:fillRect/>
          </a:stretch>
        </p:blipFill>
        <p:spPr>
          <a:xfrm>
            <a:off x="872338" y="4612234"/>
            <a:ext cx="285293" cy="285293"/>
          </a:xfrm>
          <a:prstGeom prst="rect">
            <a:avLst/>
          </a:prstGeom>
        </p:spPr>
      </p:pic>
      <p:sp>
        <p:nvSpPr>
          <p:cNvPr id="25" name="Text 18"/>
          <p:cNvSpPr/>
          <p:nvPr/>
        </p:nvSpPr>
        <p:spPr>
          <a:xfrm>
            <a:off x="1380744" y="4517136"/>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Amenity differences</a:t>
            </a:r>
            <a:endParaRPr lang="en-US" sz="1300" dirty="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What comparable high performers offer that you don't.</a:t>
            </a:r>
            <a:endParaRPr lang="en-US" sz="1100" dirty="0"/>
          </a:p>
        </p:txBody>
      </p:sp>
      <p:sp>
        <p:nvSpPr>
          <p:cNvPr id="27" name="Shape 20"/>
          <p:cNvSpPr/>
          <p:nvPr/>
        </p:nvSpPr>
        <p:spPr>
          <a:xfrm>
            <a:off x="4146804"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384548" y="4480560"/>
            <a:ext cx="548640" cy="548640"/>
          </a:xfrm>
          <a:prstGeom prst="ellipse">
            <a:avLst/>
          </a:prstGeom>
          <a:solidFill>
            <a:srgbClr val="E6F6F4"/>
          </a:solidFill>
          <a:ln/>
        </p:spPr>
        <p:txBody>
          <a:bodyPr/>
          <a:lstStyle/>
          <a:p>
            <a:endParaRPr lang="en-US"/>
          </a:p>
        </p:txBody>
      </p:sp>
      <p:pic>
        <p:nvPicPr>
          <p:cNvPr id="29" name="Image 5" descr="/sessions/dreamy-trusting-noether/mnt/outputs/build/assets/trend_teal.png"/>
          <p:cNvPicPr>
            <a:picLocks noChangeAspect="1"/>
          </p:cNvPicPr>
          <p:nvPr/>
        </p:nvPicPr>
        <p:blipFill>
          <a:blip r:embed="rId8"/>
          <a:stretch>
            <a:fillRect/>
          </a:stretch>
        </p:blipFill>
        <p:spPr>
          <a:xfrm>
            <a:off x="4516222" y="4612234"/>
            <a:ext cx="285293" cy="285293"/>
          </a:xfrm>
          <a:prstGeom prst="rect">
            <a:avLst/>
          </a:prstGeom>
        </p:spPr>
      </p:pic>
      <p:sp>
        <p:nvSpPr>
          <p:cNvPr id="30" name="Text 22"/>
          <p:cNvSpPr/>
          <p:nvPr/>
        </p:nvSpPr>
        <p:spPr>
          <a:xfrm>
            <a:off x="5024628" y="4517136"/>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 revenue what-if</a:t>
            </a:r>
            <a:endParaRPr lang="en-US" sz="1300" dirty="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Explore how changing price could affect revenue.</a:t>
            </a:r>
            <a:endParaRPr lang="en-US" sz="1100" dirty="0"/>
          </a:p>
        </p:txBody>
      </p:sp>
      <p:sp>
        <p:nvSpPr>
          <p:cNvPr id="32" name="Shape 24"/>
          <p:cNvSpPr/>
          <p:nvPr/>
        </p:nvSpPr>
        <p:spPr>
          <a:xfrm>
            <a:off x="7772400" y="2286000"/>
            <a:ext cx="39136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046720" y="2560320"/>
            <a:ext cx="603504" cy="603504"/>
          </a:xfrm>
          <a:prstGeom prst="ellipse">
            <a:avLst/>
          </a:prstGeom>
          <a:solidFill>
            <a:srgbClr val="FFFFFF"/>
          </a:solidFill>
          <a:ln/>
        </p:spPr>
        <p:txBody>
          <a:bodyPr/>
          <a:lstStyle/>
          <a:p>
            <a:endParaRPr lang="en-US"/>
          </a:p>
        </p:txBody>
      </p:sp>
      <p:pic>
        <p:nvPicPr>
          <p:cNvPr id="34" name="Image 6" descr="/sessions/dreamy-trusting-noether/mnt/outputs/build/assets/compass_coral.png"/>
          <p:cNvPicPr>
            <a:picLocks noChangeAspect="1"/>
          </p:cNvPicPr>
          <p:nvPr/>
        </p:nvPicPr>
        <p:blipFill>
          <a:blip r:embed="rId9"/>
          <a:stretch>
            <a:fillRect/>
          </a:stretch>
        </p:blipFill>
        <p:spPr>
          <a:xfrm>
            <a:off x="8191561" y="2705161"/>
            <a:ext cx="313822" cy="313822"/>
          </a:xfrm>
          <a:prstGeom prst="rect">
            <a:avLst/>
          </a:prstGeom>
        </p:spPr>
      </p:pic>
      <p:sp>
        <p:nvSpPr>
          <p:cNvPr id="35" name="Text 26"/>
          <p:cNvSpPr/>
          <p:nvPr/>
        </p:nvSpPr>
        <p:spPr>
          <a:xfrm>
            <a:off x="8778240" y="2578608"/>
            <a:ext cx="2743200" cy="365760"/>
          </a:xfrm>
          <a:prstGeom prst="rect">
            <a:avLst/>
          </a:prstGeom>
          <a:noFill/>
          <a:ln/>
        </p:spPr>
        <p:txBody>
          <a:bodyPr wrap="square" lIns="0" tIns="0" rIns="0" bIns="0" rtlCol="0" anchor="ctr"/>
          <a:lstStyle/>
          <a:p>
            <a:pPr marL="0" indent="0">
              <a:buNone/>
            </a:pPr>
            <a:r>
              <a:rPr lang="en-US" sz="1450" b="1" dirty="0">
                <a:solidFill>
                  <a:srgbClr val="222222"/>
                </a:solidFill>
                <a:latin typeface="Poppins" pitchFamily="34" charset="0"/>
                <a:ea typeface="Poppins" pitchFamily="34" charset="-122"/>
                <a:cs typeface="Poppins" pitchFamily="34" charset="-120"/>
              </a:rPr>
              <a:t>“Commander's Intent”</a:t>
            </a:r>
            <a:endParaRPr lang="en-US" sz="1450" dirty="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An idea from our coach: people make better decisions when they understand the reasoning — not when they're simply told what to do.</a:t>
            </a:r>
            <a:endParaRPr lang="en-US" sz="1250" dirty="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250" b="1" dirty="0">
                <a:solidFill>
                  <a:srgbClr val="FF385C"/>
                </a:solidFill>
                <a:latin typeface="Poppins" pitchFamily="34" charset="0"/>
                <a:ea typeface="Poppins" pitchFamily="34" charset="-122"/>
                <a:cs typeface="Poppins" pitchFamily="34" charset="-120"/>
              </a:rPr>
              <a:t>Hosts trust and act on a recommendation when they understand where it came from. So this is about pricing with confidence — not just predicting a price.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07 · MODEL &amp; INSIGHTS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dirty="0">
                <a:solidFill>
                  <a:srgbClr val="222222"/>
                </a:solidFill>
                <a:latin typeface="Poppins" pitchFamily="34" charset="0"/>
                <a:ea typeface="Poppins" pitchFamily="34" charset="-122"/>
                <a:cs typeface="Poppins" pitchFamily="34" charset="-120"/>
              </a:rPr>
              <a:t>A price you can trust, and the reason behind it</a:t>
            </a:r>
            <a:endParaRPr lang="en-US" sz="27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 gradient-boosting model sets the fair price; a nearest-neighbor model explains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8</a:t>
            </a:r>
            <a:endParaRPr lang="en-US" sz="900" dirty="0"/>
          </a:p>
        </p:txBody>
      </p:sp>
      <p:sp>
        <p:nvSpPr>
          <p:cNvPr id="12" name="Shape 8"/>
          <p:cNvSpPr/>
          <p:nvPr/>
        </p:nvSpPr>
        <p:spPr>
          <a:xfrm>
            <a:off x="502920" y="2240280"/>
            <a:ext cx="5468112" cy="2148840"/>
          </a:xfrm>
          <a:prstGeom prst="roundRect">
            <a:avLst>
              <a:gd name="adj" fmla="val 595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Poppins" pitchFamily="34" charset="0"/>
                <a:ea typeface="Poppins" pitchFamily="34" charset="-122"/>
                <a:cs typeface="Poppins" pitchFamily="34" charset="-120"/>
              </a:rPr>
              <a:t>GBM</a:t>
            </a:r>
            <a:endParaRPr lang="en-US" sz="1100" dirty="0"/>
          </a:p>
        </p:txBody>
      </p:sp>
      <p:pic>
        <p:nvPicPr>
          <p:cNvPr id="15" name="Image 2" descr="/sessions/dreamy-trusting-noether/mnt/outputs/build/assets/cpu_coral.png"/>
          <p:cNvPicPr>
            <a:picLocks noChangeAspect="1"/>
          </p:cNvPicPr>
          <p:nvPr/>
        </p:nvPicPr>
        <p:blipFill>
          <a:blip r:embed="rId5"/>
          <a:stretch>
            <a:fillRect/>
          </a:stretch>
        </p:blipFill>
        <p:spPr>
          <a:xfrm>
            <a:off x="4965192" y="2514600"/>
            <a:ext cx="457200" cy="457200"/>
          </a:xfrm>
          <a:prstGeom prst="rect">
            <a:avLst/>
          </a:prstGeom>
        </p:spPr>
      </p:pic>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Fair market value</a:t>
            </a:r>
            <a:endParaRPr lang="en-US" sz="1500" dirty="0"/>
          </a:p>
        </p:txBody>
      </p:sp>
      <p:sp>
        <p:nvSpPr>
          <p:cNvPr id="17" name="Text 12"/>
          <p:cNvSpPr/>
          <p:nvPr/>
        </p:nvSpPr>
        <p:spPr>
          <a:xfrm>
            <a:off x="777240" y="3483864"/>
            <a:ext cx="4462272" cy="822960"/>
          </a:xfrm>
          <a:prstGeom prst="rect">
            <a:avLst/>
          </a:prstGeom>
          <a:noFill/>
          <a:ln/>
        </p:spPr>
        <p:txBody>
          <a:bodyPr wrap="square" lIns="0" tIns="0" rIns="0" bIns="0" rtlCol="0" anchor="t"/>
          <a:lstStyle/>
          <a:p>
            <a:pPr marL="0" indent="0">
              <a:lnSpc>
                <a:spcPct val="105000"/>
              </a:lnSpc>
              <a:buNone/>
            </a:pPr>
            <a:r>
              <a:rPr lang="en-US" sz="1150" dirty="0">
                <a:solidFill>
                  <a:srgbClr val="4A4A4A"/>
                </a:solidFill>
                <a:latin typeface="Poppins" pitchFamily="34" charset="0"/>
                <a:ea typeface="Poppins" pitchFamily="34" charset="-122"/>
                <a:cs typeface="Poppins" pitchFamily="34" charset="-120"/>
              </a:rPr>
              <a:t>Gradient boosting captures nonlinear interactions between location, amenities, property type and host — and returns a fair price with a confidence interval.</a:t>
            </a:r>
            <a:endParaRPr lang="en-US" sz="1150" dirty="0"/>
          </a:p>
        </p:txBody>
      </p:sp>
      <p:sp>
        <p:nvSpPr>
          <p:cNvPr id="18" name="Shape 13"/>
          <p:cNvSpPr/>
          <p:nvPr/>
        </p:nvSpPr>
        <p:spPr>
          <a:xfrm>
            <a:off x="6217920" y="2240280"/>
            <a:ext cx="5468112" cy="2148840"/>
          </a:xfrm>
          <a:prstGeom prst="roundRect">
            <a:avLst>
              <a:gd name="adj" fmla="val 5957"/>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Poppins" pitchFamily="34" charset="0"/>
                <a:ea typeface="Poppins" pitchFamily="34" charset="-122"/>
                <a:cs typeface="Poppins" pitchFamily="34" charset="-120"/>
              </a:rPr>
              <a:t>KNN</a:t>
            </a:r>
            <a:endParaRPr lang="en-US" sz="1100" dirty="0"/>
          </a:p>
        </p:txBody>
      </p:sp>
      <p:pic>
        <p:nvPicPr>
          <p:cNvPr id="21" name="Image 3" descr="/sessions/dreamy-trusting-noether/mnt/outputs/build/assets/search_teal.png"/>
          <p:cNvPicPr>
            <a:picLocks noChangeAspect="1"/>
          </p:cNvPicPr>
          <p:nvPr/>
        </p:nvPicPr>
        <p:blipFill>
          <a:blip r:embed="rId6"/>
          <a:stretch>
            <a:fillRect/>
          </a:stretch>
        </p:blipFill>
        <p:spPr>
          <a:xfrm>
            <a:off x="11183112" y="2514600"/>
            <a:ext cx="457200" cy="457200"/>
          </a:xfrm>
          <a:prstGeom prst="rect">
            <a:avLst/>
          </a:prstGeom>
        </p:spPr>
      </p:pic>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Comparable listings</a:t>
            </a:r>
            <a:endParaRPr lang="en-US" sz="1500" dirty="0"/>
          </a:p>
        </p:txBody>
      </p:sp>
      <p:sp>
        <p:nvSpPr>
          <p:cNvPr id="23" name="Text 17"/>
          <p:cNvSpPr/>
          <p:nvPr/>
        </p:nvSpPr>
        <p:spPr>
          <a:xfrm>
            <a:off x="6492240" y="3483864"/>
            <a:ext cx="4919472" cy="822960"/>
          </a:xfrm>
          <a:prstGeom prst="rect">
            <a:avLst/>
          </a:prstGeom>
          <a:noFill/>
          <a:ln/>
        </p:spPr>
        <p:txBody>
          <a:bodyPr wrap="square" lIns="0" tIns="0" rIns="0" bIns="0" rtlCol="0" anchor="t"/>
          <a:lstStyle/>
          <a:p>
            <a:pPr marL="0" indent="0">
              <a:lnSpc>
                <a:spcPct val="105000"/>
              </a:lnSpc>
              <a:buNone/>
            </a:pPr>
            <a:r>
              <a:rPr lang="en-US" sz="1150" dirty="0">
                <a:solidFill>
                  <a:srgbClr val="4A4A4A"/>
                </a:solidFill>
                <a:latin typeface="Poppins" pitchFamily="34" charset="0"/>
                <a:ea typeface="Poppins" pitchFamily="34" charset="-122"/>
                <a:cs typeface="Poppins" pitchFamily="34" charset="-120"/>
              </a:rPr>
              <a:t>So the price isn't a black box: nearest-neighbors surfaces the similar listings — and their amenities — that stand behind each recommendation.</a:t>
            </a:r>
            <a:endParaRPr lang="en-US" sz="1150" dirty="0"/>
          </a:p>
        </p:txBody>
      </p:sp>
      <p:sp>
        <p:nvSpPr>
          <p:cNvPr id="24" name="Shape 18"/>
          <p:cNvSpPr/>
          <p:nvPr/>
        </p:nvSpPr>
        <p:spPr>
          <a:xfrm>
            <a:off x="502920" y="4617720"/>
            <a:ext cx="1118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3400" b="1" dirty="0">
                <a:solidFill>
                  <a:srgbClr val="FF385C"/>
                </a:solidFill>
                <a:latin typeface="Poppins" pitchFamily="34" charset="0"/>
                <a:ea typeface="Poppins" pitchFamily="34" charset="-122"/>
                <a:cs typeface="Poppins" pitchFamily="34" charset="-120"/>
              </a:rPr>
              <a:t>19.2%</a:t>
            </a:r>
            <a:endParaRPr lang="en-US" sz="3400" dirty="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050" dirty="0">
                <a:solidFill>
                  <a:srgbClr val="717171"/>
                </a:solidFill>
                <a:latin typeface="Poppins" pitchFamily="34" charset="0"/>
                <a:ea typeface="Poppins" pitchFamily="34" charset="-122"/>
                <a:cs typeface="Poppins" pitchFamily="34" charset="-120"/>
              </a:rPr>
              <a:t>median error — roughly half the error of a plain regression</a:t>
            </a:r>
            <a:endParaRPr lang="en-US" sz="1050" dirty="0"/>
          </a:p>
        </p:txBody>
      </p:sp>
      <p:sp>
        <p:nvSpPr>
          <p:cNvPr id="27" name="Shape 21"/>
          <p:cNvSpPr/>
          <p:nvPr/>
        </p:nvSpPr>
        <p:spPr>
          <a:xfrm>
            <a:off x="3611880" y="4800600"/>
            <a:ext cx="0" cy="1005840"/>
          </a:xfrm>
          <a:prstGeom prst="line">
            <a:avLst/>
          </a:prstGeom>
          <a:noFill/>
          <a:ln w="12700">
            <a:solidFill>
              <a:srgbClr val="EBEBEB"/>
            </a:solidFill>
            <a:prstDash val="solid"/>
          </a:ln>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150" b="1" dirty="0">
                <a:solidFill>
                  <a:srgbClr val="222222"/>
                </a:solidFill>
                <a:latin typeface="Poppins" pitchFamily="34" charset="0"/>
                <a:ea typeface="Poppins" pitchFamily="34" charset="-122"/>
                <a:cs typeface="Poppins" pitchFamily="34" charset="-120"/>
              </a:rPr>
              <a:t>Two halves, and both pay off — differently.  </a:t>
            </a:r>
            <a:r>
              <a:rPr lang="en-US" sz="1150" dirty="0">
                <a:solidFill>
                  <a:srgbClr val="4A4A4A"/>
                </a:solidFill>
                <a:latin typeface="Poppins" pitchFamily="34" charset="0"/>
                <a:ea typeface="Poppins" pitchFamily="34" charset="-122"/>
                <a:cs typeface="Poppins" pitchFamily="34" charset="-120"/>
              </a:rPr>
              <a:t>Roughly half of listings read underpriced against fair value and half overpriced. Raising an underpriced listing adds margin. Cutting an overpriced one adds volume — it fills nights that were sitting empty. Our number counts both.</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08 · PRODUCT WALKTHROUGH</a:t>
            </a:r>
            <a:endParaRPr lang="en-US" sz="1200" dirty="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The dashboard, in three clicks</a:t>
            </a:r>
            <a:endParaRPr lang="en-US" sz="3000" dirty="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sp>
        <p:nvSpPr>
          <p:cNvPr id="7" name="Shape 5"/>
          <p:cNvSpPr/>
          <p:nvPr/>
        </p:nvSpPr>
        <p:spPr>
          <a:xfrm>
            <a:off x="502920" y="1600200"/>
            <a:ext cx="7360920" cy="4160520"/>
          </a:xfrm>
          <a:prstGeom prst="roundRect">
            <a:avLst>
              <a:gd name="adj" fmla="val 3516"/>
            </a:avLst>
          </a:prstGeom>
          <a:solidFill>
            <a:srgbClr val="FFFFFF"/>
          </a:solidFill>
          <a:ln w="12700">
            <a:solidFill>
              <a:srgbClr val="EBEBEB"/>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3"/>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dirty="0">
                <a:solidFill>
                  <a:srgbClr val="FFFFFF"/>
                </a:solidFill>
                <a:latin typeface="Poppins" pitchFamily="34" charset="0"/>
                <a:ea typeface="Poppins" pitchFamily="34" charset="-122"/>
                <a:cs typeface="Poppins" pitchFamily="34" charset="-120"/>
              </a:rPr>
              <a:t>Airbnb Pricing Intelligence</a:t>
            </a:r>
            <a:endParaRPr lang="en-US" sz="1300" dirty="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dirty="0">
                <a:solidFill>
                  <a:srgbClr val="FFFFFF"/>
                </a:solidFill>
                <a:latin typeface="Poppins" pitchFamily="34" charset="0"/>
                <a:ea typeface="Poppins" pitchFamily="34" charset="-122"/>
                <a:cs typeface="Poppins" pitchFamily="34" charset="-120"/>
              </a:rPr>
              <a:t>Greenpoint Place · Entire home · Brooklyn</a:t>
            </a:r>
            <a:endParaRPr lang="en-US" sz="1050" dirty="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dirty="0">
                <a:solidFill>
                  <a:srgbClr val="9AA0A6"/>
                </a:solidFill>
                <a:latin typeface="Poppins" pitchFamily="34" charset="0"/>
                <a:ea typeface="Poppins" pitchFamily="34" charset="-122"/>
                <a:cs typeface="Poppins" pitchFamily="34" charset="-120"/>
              </a:rPr>
              <a:t>RECOMMENDED FAIR VALUE</a:t>
            </a:r>
            <a:endParaRPr lang="en-US" sz="1000" dirty="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dirty="0">
                <a:solidFill>
                  <a:srgbClr val="222222"/>
                </a:solidFill>
                <a:latin typeface="Poppins" pitchFamily="34" charset="0"/>
                <a:ea typeface="Poppins" pitchFamily="34" charset="-122"/>
                <a:cs typeface="Poppins" pitchFamily="34" charset="-120"/>
              </a:rPr>
              <a:t>$222</a:t>
            </a:r>
            <a:r>
              <a:rPr lang="en-US" sz="1400" dirty="0">
                <a:solidFill>
                  <a:srgbClr val="717171"/>
                </a:solidFill>
                <a:latin typeface="Poppins" pitchFamily="34" charset="0"/>
                <a:ea typeface="Poppins" pitchFamily="34" charset="-122"/>
                <a:cs typeface="Poppins" pitchFamily="34" charset="-120"/>
              </a:rPr>
              <a:t>  /night</a:t>
            </a:r>
            <a:endParaRPr lang="en-US" sz="4400" dirty="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dirty="0">
                <a:solidFill>
                  <a:srgbClr val="717171"/>
                </a:solidFill>
                <a:latin typeface="Poppins" pitchFamily="34" charset="0"/>
                <a:ea typeface="Poppins" pitchFamily="34" charset="-122"/>
                <a:cs typeface="Poppins" pitchFamily="34" charset="-120"/>
              </a:rPr>
              <a:t>Confidence range $188 – $256</a:t>
            </a:r>
            <a:endParaRPr lang="en-US" sz="1100" dirty="0"/>
          </a:p>
        </p:txBody>
      </p:sp>
      <p:sp>
        <p:nvSpPr>
          <p:cNvPr id="17" name="Shape 14"/>
          <p:cNvSpPr/>
          <p:nvPr/>
        </p:nvSpPr>
        <p:spPr>
          <a:xfrm>
            <a:off x="4480560" y="2651760"/>
            <a:ext cx="3063240" cy="914400"/>
          </a:xfrm>
          <a:prstGeom prst="roundRect">
            <a:avLst>
              <a:gd name="adj" fmla="val 12000"/>
            </a:avLst>
          </a:prstGeom>
          <a:solidFill>
            <a:srgbClr val="FFEEF2"/>
          </a:solidFill>
          <a:ln/>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YOUR PRICE $138</a:t>
            </a:r>
            <a:endParaRPr lang="en-US" sz="1100" dirty="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dirty="0">
                <a:solidFill>
                  <a:srgbClr val="FF385C"/>
                </a:solidFill>
                <a:latin typeface="Poppins" pitchFamily="34" charset="0"/>
                <a:ea typeface="Poppins" pitchFamily="34" charset="-122"/>
                <a:cs typeface="Poppins" pitchFamily="34" charset="-120"/>
              </a:rPr>
              <a:t>38% below fair value</a:t>
            </a:r>
            <a:endParaRPr lang="en-US" sz="1600" dirty="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dirty="0">
                <a:solidFill>
                  <a:srgbClr val="9AA0A6"/>
                </a:solidFill>
                <a:latin typeface="Poppins" pitchFamily="34" charset="0"/>
                <a:ea typeface="Poppins" pitchFamily="34" charset="-122"/>
                <a:cs typeface="Poppins" pitchFamily="34" charset="-120"/>
              </a:rPr>
              <a:t>PROJECTED REVENUE — DRAG TO EXPLORE</a:t>
            </a:r>
            <a:endParaRPr lang="en-US" sz="1000" dirty="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$138</a:t>
            </a:r>
            <a:endParaRPr lang="en-US" sz="900" dirty="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$222 (fair)</a:t>
            </a:r>
            <a:endParaRPr lang="en-US" sz="900" dirty="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$256 (max)</a:t>
            </a:r>
            <a:endParaRPr lang="en-US" sz="900" dirty="0"/>
          </a:p>
        </p:txBody>
      </p:sp>
      <p:sp>
        <p:nvSpPr>
          <p:cNvPr id="30" name="Shape 27"/>
          <p:cNvSpPr/>
          <p:nvPr/>
        </p:nvSpPr>
        <p:spPr>
          <a:xfrm>
            <a:off x="8046720" y="1600200"/>
            <a:ext cx="3639312" cy="4160520"/>
          </a:xfrm>
          <a:prstGeom prst="roundRect">
            <a:avLst>
              <a:gd name="adj" fmla="val 4020"/>
            </a:avLst>
          </a:prstGeom>
          <a:solidFill>
            <a:srgbClr val="FFFFFF"/>
          </a:solidFill>
          <a:ln w="12700">
            <a:solidFill>
              <a:srgbClr val="EBEBEB"/>
            </a:solidFill>
            <a:prstDash val="solid"/>
          </a:ln>
          <a:effectLst>
            <a:outerShdw blurRad="127000" dist="25400" dir="5400000" algn="bl" rotWithShape="0">
              <a:srgbClr val="9AA0A6">
                <a:alpha val="18000"/>
              </a:srgbClr>
            </a:outerShdw>
          </a:effectLst>
        </p:spPr>
        <p:txBody>
          <a:bodyPr/>
          <a:lstStyle/>
          <a:p>
            <a:endParaRPr lang="en-US"/>
          </a:p>
        </p:txBody>
      </p:sp>
      <p:sp>
        <p:nvSpPr>
          <p:cNvPr id="31" name="Text 28"/>
          <p:cNvSpPr/>
          <p:nvPr/>
        </p:nvSpPr>
        <p:spPr>
          <a:xfrm>
            <a:off x="8302752" y="1819656"/>
            <a:ext cx="3182112" cy="274320"/>
          </a:xfrm>
          <a:prstGeom prst="rect">
            <a:avLst/>
          </a:prstGeom>
          <a:noFill/>
          <a:ln/>
        </p:spPr>
        <p:txBody>
          <a:bodyPr wrap="square" lIns="0" tIns="0" rIns="0" bIns="0" rtlCol="0" anchor="ctr"/>
          <a:lstStyle/>
          <a:p>
            <a:pPr marL="0" indent="0">
              <a:buNone/>
            </a:pPr>
            <a:r>
              <a:rPr lang="en-US" sz="1050" b="1" kern="0" spc="100" dirty="0">
                <a:solidFill>
                  <a:srgbClr val="9AA0A6"/>
                </a:solidFill>
                <a:latin typeface="Poppins" pitchFamily="34" charset="0"/>
                <a:ea typeface="Poppins" pitchFamily="34" charset="-122"/>
                <a:cs typeface="Poppins" pitchFamily="34" charset="-120"/>
              </a:rPr>
              <a:t>COMPARABLE LISTINGS</a:t>
            </a:r>
            <a:endParaRPr lang="en-US" sz="1050" dirty="0"/>
          </a:p>
        </p:txBody>
      </p:sp>
      <p:sp>
        <p:nvSpPr>
          <p:cNvPr id="32" name="Shape 29"/>
          <p:cNvSpPr/>
          <p:nvPr/>
        </p:nvSpPr>
        <p:spPr>
          <a:xfrm>
            <a:off x="8266176" y="2203704"/>
            <a:ext cx="3200400" cy="914400"/>
          </a:xfrm>
          <a:prstGeom prst="roundRect">
            <a:avLst>
              <a:gd name="adj" fmla="val 10000"/>
            </a:avLst>
          </a:prstGeom>
          <a:solidFill>
            <a:srgbClr val="F7F7F7"/>
          </a:solidFill>
          <a:ln/>
        </p:spPr>
        <p:txBody>
          <a:bodyPr/>
          <a:lstStyle/>
          <a:p>
            <a:endParaRPr lang="en-US"/>
          </a:p>
        </p:txBody>
      </p:sp>
      <p:sp>
        <p:nvSpPr>
          <p:cNvPr id="33" name="Text 30"/>
          <p:cNvSpPr/>
          <p:nvPr/>
        </p:nvSpPr>
        <p:spPr>
          <a:xfrm>
            <a:off x="8430768" y="2313432"/>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Sunny Greenpoint 1BR</a:t>
            </a:r>
            <a:endParaRPr lang="en-US" sz="1100" dirty="0"/>
          </a:p>
        </p:txBody>
      </p:sp>
      <p:sp>
        <p:nvSpPr>
          <p:cNvPr id="34" name="Text 31"/>
          <p:cNvSpPr/>
          <p:nvPr/>
        </p:nvSpPr>
        <p:spPr>
          <a:xfrm>
            <a:off x="10634472" y="2313432"/>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$229</a:t>
            </a:r>
            <a:endParaRPr lang="en-US" sz="1300" dirty="0"/>
          </a:p>
        </p:txBody>
      </p:sp>
      <p:sp>
        <p:nvSpPr>
          <p:cNvPr id="35" name="Shape 32"/>
          <p:cNvSpPr/>
          <p:nvPr/>
        </p:nvSpPr>
        <p:spPr>
          <a:xfrm>
            <a:off x="8430768" y="2706624"/>
            <a:ext cx="2651760" cy="310896"/>
          </a:xfrm>
          <a:prstGeom prst="roundRect">
            <a:avLst>
              <a:gd name="adj" fmla="val 50000"/>
            </a:avLst>
          </a:prstGeom>
          <a:solidFill>
            <a:srgbClr val="FFEEF2"/>
          </a:solidFill>
          <a:ln/>
        </p:spPr>
        <p:txBody>
          <a:bodyPr/>
          <a:lstStyle/>
          <a:p>
            <a:endParaRPr lang="en-US"/>
          </a:p>
        </p:txBody>
      </p:sp>
      <p:sp>
        <p:nvSpPr>
          <p:cNvPr id="36" name="Text 33"/>
          <p:cNvSpPr/>
          <p:nvPr/>
        </p:nvSpPr>
        <p:spPr>
          <a:xfrm>
            <a:off x="8430768" y="2706624"/>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Self check-in</a:t>
            </a:r>
            <a:endParaRPr lang="en-US" sz="950" dirty="0"/>
          </a:p>
        </p:txBody>
      </p:sp>
      <p:sp>
        <p:nvSpPr>
          <p:cNvPr id="37" name="Shape 34"/>
          <p:cNvSpPr/>
          <p:nvPr/>
        </p:nvSpPr>
        <p:spPr>
          <a:xfrm>
            <a:off x="8266176" y="3282696"/>
            <a:ext cx="3200400" cy="914400"/>
          </a:xfrm>
          <a:prstGeom prst="roundRect">
            <a:avLst>
              <a:gd name="adj" fmla="val 10000"/>
            </a:avLst>
          </a:prstGeom>
          <a:solidFill>
            <a:srgbClr val="F7F7F7"/>
          </a:solidFill>
          <a:ln/>
        </p:spPr>
        <p:txBody>
          <a:bodyPr/>
          <a:lstStyle/>
          <a:p>
            <a:endParaRPr lang="en-US"/>
          </a:p>
        </p:txBody>
      </p:sp>
      <p:sp>
        <p:nvSpPr>
          <p:cNvPr id="38" name="Text 35"/>
          <p:cNvSpPr/>
          <p:nvPr/>
        </p:nvSpPr>
        <p:spPr>
          <a:xfrm>
            <a:off x="8430768" y="3392424"/>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Bright Williamsburg flat</a:t>
            </a:r>
            <a:endParaRPr lang="en-US" sz="1100" dirty="0"/>
          </a:p>
        </p:txBody>
      </p:sp>
      <p:sp>
        <p:nvSpPr>
          <p:cNvPr id="39" name="Text 36"/>
          <p:cNvSpPr/>
          <p:nvPr/>
        </p:nvSpPr>
        <p:spPr>
          <a:xfrm>
            <a:off x="10634472" y="3392424"/>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$241</a:t>
            </a:r>
            <a:endParaRPr lang="en-US" sz="1300" dirty="0"/>
          </a:p>
        </p:txBody>
      </p:sp>
      <p:sp>
        <p:nvSpPr>
          <p:cNvPr id="40" name="Shape 37"/>
          <p:cNvSpPr/>
          <p:nvPr/>
        </p:nvSpPr>
        <p:spPr>
          <a:xfrm>
            <a:off x="8430768" y="3785616"/>
            <a:ext cx="2651760" cy="310896"/>
          </a:xfrm>
          <a:prstGeom prst="roundRect">
            <a:avLst>
              <a:gd name="adj" fmla="val 50000"/>
            </a:avLst>
          </a:prstGeom>
          <a:solidFill>
            <a:srgbClr val="FFEEF2"/>
          </a:solidFill>
          <a:ln/>
        </p:spPr>
        <p:txBody>
          <a:bodyPr/>
          <a:lstStyle/>
          <a:p>
            <a:endParaRPr lang="en-US"/>
          </a:p>
        </p:txBody>
      </p:sp>
      <p:sp>
        <p:nvSpPr>
          <p:cNvPr id="41" name="Text 38"/>
          <p:cNvSpPr/>
          <p:nvPr/>
        </p:nvSpPr>
        <p:spPr>
          <a:xfrm>
            <a:off x="8430768" y="3785616"/>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Dedicated workspace</a:t>
            </a:r>
            <a:endParaRPr lang="en-US" sz="950" dirty="0"/>
          </a:p>
        </p:txBody>
      </p:sp>
      <p:sp>
        <p:nvSpPr>
          <p:cNvPr id="42" name="Shape 39"/>
          <p:cNvSpPr/>
          <p:nvPr/>
        </p:nvSpPr>
        <p:spPr>
          <a:xfrm>
            <a:off x="8266176" y="4361688"/>
            <a:ext cx="3200400" cy="914400"/>
          </a:xfrm>
          <a:prstGeom prst="roundRect">
            <a:avLst>
              <a:gd name="adj" fmla="val 10000"/>
            </a:avLst>
          </a:prstGeom>
          <a:solidFill>
            <a:srgbClr val="F7F7F7"/>
          </a:solidFill>
          <a:ln/>
        </p:spPr>
        <p:txBody>
          <a:bodyPr/>
          <a:lstStyle/>
          <a:p>
            <a:endParaRPr lang="en-US"/>
          </a:p>
        </p:txBody>
      </p:sp>
      <p:sp>
        <p:nvSpPr>
          <p:cNvPr id="43" name="Text 40"/>
          <p:cNvSpPr/>
          <p:nvPr/>
        </p:nvSpPr>
        <p:spPr>
          <a:xfrm>
            <a:off x="8430768" y="4471416"/>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Modern McCarren loft</a:t>
            </a:r>
            <a:endParaRPr lang="en-US" sz="1100" dirty="0"/>
          </a:p>
        </p:txBody>
      </p:sp>
      <p:sp>
        <p:nvSpPr>
          <p:cNvPr id="44" name="Text 41"/>
          <p:cNvSpPr/>
          <p:nvPr/>
        </p:nvSpPr>
        <p:spPr>
          <a:xfrm>
            <a:off x="10634472" y="4471416"/>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$208</a:t>
            </a:r>
            <a:endParaRPr lang="en-US" sz="1300" dirty="0"/>
          </a:p>
        </p:txBody>
      </p:sp>
      <p:sp>
        <p:nvSpPr>
          <p:cNvPr id="45" name="Shape 42"/>
          <p:cNvSpPr/>
          <p:nvPr/>
        </p:nvSpPr>
        <p:spPr>
          <a:xfrm>
            <a:off x="8430768" y="4864608"/>
            <a:ext cx="2651760" cy="310896"/>
          </a:xfrm>
          <a:prstGeom prst="roundRect">
            <a:avLst>
              <a:gd name="adj" fmla="val 50000"/>
            </a:avLst>
          </a:prstGeom>
          <a:solidFill>
            <a:srgbClr val="FFEEF2"/>
          </a:solidFill>
          <a:ln/>
        </p:spPr>
        <p:txBody>
          <a:bodyPr/>
          <a:lstStyle/>
          <a:p>
            <a:endParaRPr lang="en-US"/>
          </a:p>
        </p:txBody>
      </p:sp>
      <p:sp>
        <p:nvSpPr>
          <p:cNvPr id="46" name="Text 43"/>
          <p:cNvSpPr/>
          <p:nvPr/>
        </p:nvSpPr>
        <p:spPr>
          <a:xfrm>
            <a:off x="8430768" y="4864608"/>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Air conditioning</a:t>
            </a:r>
            <a:endParaRPr lang="en-US" sz="950" dirty="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950" i="1" dirty="0">
                <a:solidFill>
                  <a:srgbClr val="9AA0A6"/>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dirty="0"/>
          </a:p>
        </p:txBody>
      </p:sp>
      <p:pic>
        <p:nvPicPr>
          <p:cNvPr id="48" name="Image 1"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09 · FROM PRICE TO REVENUE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dirty="0">
                <a:solidFill>
                  <a:srgbClr val="222222"/>
                </a:solidFill>
                <a:latin typeface="Poppins" pitchFamily="34" charset="0"/>
                <a:ea typeface="Poppins" pitchFamily="34" charset="-122"/>
                <a:cs typeface="Poppins" pitchFamily="34" charset="-120"/>
              </a:rPr>
              <a:t>Does moving the price actually make money?</a:t>
            </a:r>
            <a:endParaRPr lang="en-US" sz="27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Our most rigorous piece of analysis: we measured price sensitivity directly, on real third-party data.</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10</a:t>
            </a:r>
            <a:endParaRPr lang="en-US" sz="900" dirty="0"/>
          </a:p>
        </p:txBody>
      </p:sp>
      <p:sp>
        <p:nvSpPr>
          <p:cNvPr id="12" name="Shape 8"/>
          <p:cNvSpPr/>
          <p:nvPr/>
        </p:nvSpPr>
        <p:spPr>
          <a:xfrm>
            <a:off x="502920" y="219456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450592"/>
            <a:ext cx="548640" cy="548640"/>
          </a:xfrm>
          <a:prstGeom prst="ellipse">
            <a:avLst/>
          </a:prstGeom>
          <a:solidFill>
            <a:srgbClr val="FFFFFF"/>
          </a:solidFill>
          <a:ln/>
        </p:spPr>
        <p:txBody>
          <a:bodyPr/>
          <a:lstStyle/>
          <a:p>
            <a:endParaRPr lang="en-US"/>
          </a:p>
        </p:txBody>
      </p:sp>
      <p:pic>
        <p:nvPicPr>
          <p:cNvPr id="14" name="Image 2" descr="/sessions/dreamy-trusting-noether/mnt/outputs/build/assets/bar_teal.png"/>
          <p:cNvPicPr>
            <a:picLocks noChangeAspect="1"/>
          </p:cNvPicPr>
          <p:nvPr/>
        </p:nvPicPr>
        <p:blipFill>
          <a:blip r:embed="rId5"/>
          <a:stretch>
            <a:fillRect/>
          </a:stretch>
        </p:blipFill>
        <p:spPr>
          <a:xfrm>
            <a:off x="908914" y="2582266"/>
            <a:ext cx="285293" cy="285293"/>
          </a:xfrm>
          <a:prstGeom prst="rect">
            <a:avLst/>
          </a:prstGeom>
        </p:spPr>
      </p:pic>
      <p:sp>
        <p:nvSpPr>
          <p:cNvPr id="15" name="Text 10"/>
          <p:cNvSpPr/>
          <p:nvPr/>
        </p:nvSpPr>
        <p:spPr>
          <a:xfrm>
            <a:off x="1481328" y="2505456"/>
            <a:ext cx="3730752" cy="274320"/>
          </a:xfrm>
          <a:prstGeom prst="rect">
            <a:avLst/>
          </a:prstGeom>
          <a:noFill/>
          <a:ln/>
        </p:spPr>
        <p:txBody>
          <a:bodyPr wrap="square" lIns="0" tIns="0" rIns="0" bIns="0" rtlCol="0" anchor="ctr"/>
          <a:lstStyle/>
          <a:p>
            <a:pPr marL="0" indent="0">
              <a:buNone/>
            </a:pPr>
            <a:r>
              <a:rPr lang="en-US" sz="1050" b="1" kern="0" spc="100" dirty="0">
                <a:solidFill>
                  <a:srgbClr val="007A73"/>
                </a:solidFill>
                <a:latin typeface="Poppins" pitchFamily="34" charset="0"/>
                <a:ea typeface="Poppins" pitchFamily="34" charset="-122"/>
                <a:cs typeface="Poppins" pitchFamily="34" charset="-120"/>
              </a:rPr>
              <a:t>THE MEASUREMENT</a:t>
            </a:r>
            <a:endParaRPr lang="en-US" sz="1050" dirty="0"/>
          </a:p>
        </p:txBody>
      </p:sp>
      <p:sp>
        <p:nvSpPr>
          <p:cNvPr id="16" name="Text 11"/>
          <p:cNvSpPr/>
          <p:nvPr/>
        </p:nvSpPr>
        <p:spPr>
          <a:xfrm>
            <a:off x="777240" y="2834640"/>
            <a:ext cx="4965192" cy="457200"/>
          </a:xfrm>
          <a:prstGeom prst="rect">
            <a:avLst/>
          </a:prstGeom>
          <a:noFill/>
          <a:ln/>
        </p:spPr>
        <p:txBody>
          <a:bodyPr wrap="square" lIns="0" tIns="0" rIns="0" bIns="0" rtlCol="0" anchor="ctr"/>
          <a:lstStyle/>
          <a:p>
            <a:pPr marL="0" indent="0">
              <a:buNone/>
            </a:pPr>
            <a:r>
              <a:rPr lang="en-US" sz="2900" b="1" dirty="0">
                <a:solidFill>
                  <a:srgbClr val="007A73"/>
                </a:solidFill>
                <a:latin typeface="Poppins" pitchFamily="34" charset="0"/>
                <a:ea typeface="Poppins" pitchFamily="34" charset="-122"/>
                <a:cs typeface="Poppins" pitchFamily="34" charset="-120"/>
              </a:rPr>
              <a:t>β = −0.92</a:t>
            </a:r>
            <a:r>
              <a:rPr lang="en-US" sz="1150" dirty="0">
                <a:solidFill>
                  <a:srgbClr val="4A4A4A"/>
                </a:solidFill>
                <a:latin typeface="Poppins" pitchFamily="34" charset="0"/>
                <a:ea typeface="Poppins" pitchFamily="34" charset="-122"/>
                <a:cs typeface="Poppins" pitchFamily="34" charset="-120"/>
              </a:rPr>
              <a:t>    95% CI  −1.30 to −0.54</a:t>
            </a:r>
            <a:endParaRPr lang="en-US" sz="2900" dirty="0"/>
          </a:p>
        </p:txBody>
      </p:sp>
      <p:sp>
        <p:nvSpPr>
          <p:cNvPr id="17" name="Text 12"/>
          <p:cNvSpPr/>
          <p:nvPr/>
        </p:nvSpPr>
        <p:spPr>
          <a:xfrm>
            <a:off x="777240" y="3310128"/>
            <a:ext cx="4965192" cy="603504"/>
          </a:xfrm>
          <a:prstGeom prst="rect">
            <a:avLst/>
          </a:prstGeom>
          <a:noFill/>
          <a:ln/>
        </p:spPr>
        <p:txBody>
          <a:bodyPr wrap="square" lIns="0" tIns="0" rIns="0" bIns="0" rtlCol="0" anchor="t"/>
          <a:lstStyle/>
          <a:p>
            <a:pPr marL="0" indent="0">
              <a:lnSpc>
                <a:spcPct val="104000"/>
              </a:lnSpc>
              <a:buNone/>
            </a:pPr>
            <a:r>
              <a:rPr lang="en-US" sz="1100" dirty="0">
                <a:solidFill>
                  <a:srgbClr val="4A4A4A"/>
                </a:solidFill>
                <a:latin typeface="Poppins" pitchFamily="34" charset="0"/>
                <a:ea typeface="Poppins" pitchFamily="34" charset="-122"/>
                <a:cs typeface="Poppins" pitchFamily="34" charset="-120"/>
              </a:rPr>
              <a:t>A two-way fixed-effects regression on a third-party occupancy panel, controlling for each listing and each month. A +1% change in price maps to a −0.92% change in booked occupancy.</a:t>
            </a:r>
            <a:endParaRPr lang="en-US" sz="1100" dirty="0"/>
          </a:p>
        </p:txBody>
      </p:sp>
      <p:sp>
        <p:nvSpPr>
          <p:cNvPr id="18" name="Shape 13"/>
          <p:cNvSpPr/>
          <p:nvPr/>
        </p:nvSpPr>
        <p:spPr>
          <a:xfrm>
            <a:off x="6217920" y="2194560"/>
            <a:ext cx="5468112" cy="1783080"/>
          </a:xfrm>
          <a:prstGeom prst="roundRect">
            <a:avLst>
              <a:gd name="adj" fmla="val 7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450592"/>
            <a:ext cx="548640" cy="548640"/>
          </a:xfrm>
          <a:prstGeom prst="ellipse">
            <a:avLst/>
          </a:prstGeom>
          <a:solidFill>
            <a:srgbClr val="FFFFFF"/>
          </a:solidFill>
          <a:ln/>
        </p:spPr>
        <p:txBody>
          <a:bodyPr/>
          <a:lstStyle/>
          <a:p>
            <a:endParaRPr lang="en-US"/>
          </a:p>
        </p:txBody>
      </p:sp>
      <p:pic>
        <p:nvPicPr>
          <p:cNvPr id="20" name="Image 3" descr="/sessions/dreamy-trusting-noether/mnt/outputs/build/assets/trend_coral.png"/>
          <p:cNvPicPr>
            <a:picLocks noChangeAspect="1"/>
          </p:cNvPicPr>
          <p:nvPr/>
        </p:nvPicPr>
        <p:blipFill>
          <a:blip r:embed="rId6"/>
          <a:stretch>
            <a:fillRect/>
          </a:stretch>
        </p:blipFill>
        <p:spPr>
          <a:xfrm>
            <a:off x="6623914" y="2582266"/>
            <a:ext cx="285293" cy="285293"/>
          </a:xfrm>
          <a:prstGeom prst="rect">
            <a:avLst/>
          </a:prstGeom>
        </p:spPr>
      </p:pic>
      <p:sp>
        <p:nvSpPr>
          <p:cNvPr id="21" name="Text 15"/>
          <p:cNvSpPr/>
          <p:nvPr/>
        </p:nvSpPr>
        <p:spPr>
          <a:xfrm>
            <a:off x="7196328" y="2505456"/>
            <a:ext cx="4279392" cy="274320"/>
          </a:xfrm>
          <a:prstGeom prst="rect">
            <a:avLst/>
          </a:prstGeom>
          <a:noFill/>
          <a:ln/>
        </p:spPr>
        <p:txBody>
          <a:bodyPr wrap="square" lIns="0" tIns="0" rIns="0" bIns="0" rtlCol="0" anchor="ctr"/>
          <a:lstStyle/>
          <a:p>
            <a:pPr marL="0" indent="0">
              <a:buNone/>
            </a:pPr>
            <a:r>
              <a:rPr lang="en-US" sz="1050" b="1" kern="0" spc="100" dirty="0">
                <a:solidFill>
                  <a:srgbClr val="FF385C"/>
                </a:solidFill>
                <a:latin typeface="Poppins" pitchFamily="34" charset="0"/>
                <a:ea typeface="Poppins" pitchFamily="34" charset="-122"/>
                <a:cs typeface="Poppins" pitchFamily="34" charset="-120"/>
              </a:rPr>
              <a:t>WHAT IT MEANS FOR REVENUE</a:t>
            </a:r>
            <a:endParaRPr lang="en-US" sz="1050" dirty="0"/>
          </a:p>
        </p:txBody>
      </p:sp>
      <p:sp>
        <p:nvSpPr>
          <p:cNvPr id="22" name="Text 16"/>
          <p:cNvSpPr/>
          <p:nvPr/>
        </p:nvSpPr>
        <p:spPr>
          <a:xfrm>
            <a:off x="6492240" y="2852928"/>
            <a:ext cx="4965192" cy="457200"/>
          </a:xfrm>
          <a:prstGeom prst="rect">
            <a:avLst/>
          </a:prstGeom>
          <a:noFill/>
          <a:ln/>
        </p:spPr>
        <p:txBody>
          <a:bodyPr wrap="square" lIns="0" tIns="0" rIns="0" bIns="0" rtlCol="0" anchor="ctr"/>
          <a:lstStyle/>
          <a:p>
            <a:pPr marL="0" indent="0">
              <a:buNone/>
            </a:pPr>
            <a:r>
              <a:rPr lang="en-US" sz="2000" b="1" dirty="0">
                <a:solidFill>
                  <a:srgbClr val="FF385C"/>
                </a:solidFill>
                <a:latin typeface="Poppins" pitchFamily="34" charset="0"/>
                <a:ea typeface="Poppins" pitchFamily="34" charset="-122"/>
                <a:cs typeface="Poppins" pitchFamily="34" charset="-120"/>
              </a:rPr>
              <a:t>revenue elasticity = 1 + β ≈ 0.08</a:t>
            </a:r>
            <a:endParaRPr lang="en-US" sz="2000" dirty="0"/>
          </a:p>
        </p:txBody>
      </p:sp>
      <p:sp>
        <p:nvSpPr>
          <p:cNvPr id="23" name="Text 17"/>
          <p:cNvSpPr/>
          <p:nvPr/>
        </p:nvSpPr>
        <p:spPr>
          <a:xfrm>
            <a:off x="6492240" y="3310128"/>
            <a:ext cx="4919472" cy="603504"/>
          </a:xfrm>
          <a:prstGeom prst="rect">
            <a:avLst/>
          </a:prstGeom>
          <a:noFill/>
          <a:ln/>
        </p:spPr>
        <p:txBody>
          <a:bodyPr wrap="square" lIns="0" tIns="0" rIns="0" bIns="0" rtlCol="0" anchor="t"/>
          <a:lstStyle/>
          <a:p>
            <a:pPr marL="0" indent="0">
              <a:lnSpc>
                <a:spcPct val="104000"/>
              </a:lnSpc>
              <a:buNone/>
            </a:pPr>
            <a:r>
              <a:rPr lang="en-US" sz="1100" dirty="0">
                <a:solidFill>
                  <a:srgbClr val="4A4A4A"/>
                </a:solidFill>
                <a:latin typeface="Poppins" pitchFamily="34" charset="0"/>
                <a:ea typeface="Poppins" pitchFamily="34" charset="-122"/>
                <a:cs typeface="Poppins" pitchFamily="34" charset="-120"/>
              </a:rPr>
              <a:t>Revenue barely moves with price at the margin. Breakeven is β = −1.0: cutting price only wins if demand is more elastic than that. So the real lift is raising underpriced listings; cutting overpriced ones is near revenue-neutral for the host.</a:t>
            </a:r>
            <a:endParaRPr lang="en-US" sz="1100" dirty="0"/>
          </a:p>
        </p:txBody>
      </p:sp>
      <p:sp>
        <p:nvSpPr>
          <p:cNvPr id="24" name="Shape 18"/>
          <p:cNvSpPr/>
          <p:nvPr/>
        </p:nvSpPr>
        <p:spPr>
          <a:xfrm>
            <a:off x="502920" y="4160520"/>
            <a:ext cx="11183112" cy="1298448"/>
          </a:xfrm>
          <a:prstGeom prst="roundRect">
            <a:avLst>
              <a:gd name="adj" fmla="val 985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261104"/>
            <a:ext cx="7315200" cy="274320"/>
          </a:xfrm>
          <a:prstGeom prst="rect">
            <a:avLst/>
          </a:prstGeom>
          <a:noFill/>
          <a:ln/>
        </p:spPr>
        <p:txBody>
          <a:bodyPr wrap="square" lIns="0" tIns="0" rIns="0" bIns="0" rtlCol="0" anchor="ctr"/>
          <a:lstStyle/>
          <a:p>
            <a:pPr marL="0" indent="0">
              <a:buNone/>
            </a:pPr>
            <a:r>
              <a:rPr lang="en-US" sz="1200" b="1" dirty="0">
                <a:solidFill>
                  <a:srgbClr val="222222"/>
                </a:solidFill>
                <a:latin typeface="Poppins" pitchFamily="34" charset="0"/>
                <a:ea typeface="Poppins" pitchFamily="34" charset="-122"/>
                <a:cs typeface="Poppins" pitchFamily="34" charset="-120"/>
              </a:rPr>
              <a:t>Where our estimate sits on the elasticity line</a:t>
            </a:r>
            <a:endParaRPr lang="en-US" sz="1200" dirty="0"/>
          </a:p>
        </p:txBody>
      </p:sp>
      <p:sp>
        <p:nvSpPr>
          <p:cNvPr id="26" name="Shape 20"/>
          <p:cNvSpPr/>
          <p:nvPr/>
        </p:nvSpPr>
        <p:spPr>
          <a:xfrm>
            <a:off x="1554480" y="4919472"/>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4919472"/>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029200"/>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4791456"/>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572000"/>
            <a:ext cx="1691640" cy="219456"/>
          </a:xfrm>
          <a:prstGeom prst="rect">
            <a:avLst/>
          </a:prstGeom>
          <a:noFill/>
          <a:ln/>
        </p:spPr>
        <p:txBody>
          <a:bodyPr wrap="square" lIns="0" tIns="0" rIns="0" bIns="0" rtlCol="0" anchor="ctr"/>
          <a:lstStyle/>
          <a:p>
            <a:pPr marL="0" indent="0" algn="r">
              <a:buNone/>
            </a:pPr>
            <a:r>
              <a:rPr lang="en-US" sz="950" b="1" dirty="0">
                <a:solidFill>
                  <a:srgbClr val="222222"/>
                </a:solidFill>
                <a:latin typeface="Poppins" pitchFamily="34" charset="0"/>
                <a:ea typeface="Poppins" pitchFamily="34" charset="-122"/>
                <a:cs typeface="Poppins" pitchFamily="34" charset="-120"/>
              </a:rPr>
              <a:t>breakeven −1.0</a:t>
            </a:r>
            <a:endParaRPr lang="en-US" sz="950" dirty="0"/>
          </a:p>
        </p:txBody>
      </p:sp>
      <p:sp>
        <p:nvSpPr>
          <p:cNvPr id="31" name="Shape 25"/>
          <p:cNvSpPr/>
          <p:nvPr/>
        </p:nvSpPr>
        <p:spPr>
          <a:xfrm>
            <a:off x="6391656" y="4928616"/>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572000"/>
            <a:ext cx="2560320" cy="219456"/>
          </a:xfrm>
          <a:prstGeom prst="rect">
            <a:avLst/>
          </a:prstGeom>
          <a:noFill/>
          <a:ln/>
        </p:spPr>
        <p:txBody>
          <a:bodyPr wrap="square" lIns="0" tIns="0" rIns="0" bIns="0" rtlCol="0" anchor="ctr"/>
          <a:lstStyle/>
          <a:p>
            <a:pPr marL="0" indent="0" algn="l">
              <a:buNone/>
            </a:pPr>
            <a:r>
              <a:rPr lang="en-US" sz="950" b="1" dirty="0">
                <a:solidFill>
                  <a:srgbClr val="FF385C"/>
                </a:solidFill>
                <a:latin typeface="Poppins" pitchFamily="34" charset="0"/>
                <a:ea typeface="Poppins" pitchFamily="34" charset="-122"/>
                <a:cs typeface="Poppins" pitchFamily="34" charset="-120"/>
              </a:rPr>
              <a:t>our estimate  β = −0.92</a:t>
            </a:r>
            <a:endParaRPr lang="en-US" sz="950" dirty="0"/>
          </a:p>
        </p:txBody>
      </p:sp>
      <p:sp>
        <p:nvSpPr>
          <p:cNvPr id="33" name="Text 27"/>
          <p:cNvSpPr/>
          <p:nvPr/>
        </p:nvSpPr>
        <p:spPr>
          <a:xfrm>
            <a:off x="1554480" y="5175504"/>
            <a:ext cx="4572000" cy="219456"/>
          </a:xfrm>
          <a:prstGeom prst="rect">
            <a:avLst/>
          </a:prstGeom>
          <a:noFill/>
          <a:ln/>
        </p:spPr>
        <p:txBody>
          <a:bodyPr wrap="square" lIns="0" tIns="0" rIns="0" bIns="0" rtlCol="0" anchor="ctr"/>
          <a:lstStyle/>
          <a:p>
            <a:pPr marL="0" indent="0" algn="ctr">
              <a:buNone/>
            </a:pPr>
            <a:r>
              <a:rPr lang="en-US" sz="900" dirty="0">
                <a:solidFill>
                  <a:srgbClr val="007A73"/>
                </a:solidFill>
                <a:latin typeface="Poppins" pitchFamily="34" charset="0"/>
                <a:ea typeface="Poppins" pitchFamily="34" charset="-122"/>
                <a:cs typeface="Poppins" pitchFamily="34" charset="-120"/>
              </a:rPr>
              <a:t>ELASTIC  ·  cutting price adds revenue</a:t>
            </a:r>
            <a:endParaRPr lang="en-US" sz="900" dirty="0"/>
          </a:p>
        </p:txBody>
      </p:sp>
      <p:sp>
        <p:nvSpPr>
          <p:cNvPr id="34" name="Text 28"/>
          <p:cNvSpPr/>
          <p:nvPr/>
        </p:nvSpPr>
        <p:spPr>
          <a:xfrm>
            <a:off x="6126480" y="5175504"/>
            <a:ext cx="4572000" cy="219456"/>
          </a:xfrm>
          <a:prstGeom prst="rect">
            <a:avLst/>
          </a:prstGeom>
          <a:noFill/>
          <a:ln/>
        </p:spPr>
        <p:txBody>
          <a:bodyPr wrap="square" lIns="0" tIns="0" rIns="0" bIns="0" rtlCol="0" anchor="ctr"/>
          <a:lstStyle/>
          <a:p>
            <a:pPr marL="0" indent="0" algn="ctr">
              <a:buNone/>
            </a:pPr>
            <a:r>
              <a:rPr lang="en-US" sz="900" dirty="0">
                <a:solidFill>
                  <a:srgbClr val="FF385C"/>
                </a:solidFill>
                <a:latin typeface="Poppins" pitchFamily="34" charset="0"/>
                <a:ea typeface="Poppins" pitchFamily="34" charset="-122"/>
                <a:cs typeface="Poppins" pitchFamily="34" charset="-120"/>
              </a:rPr>
              <a:t>INELASTIC  ·  raising price adds revenue</a:t>
            </a:r>
            <a:endParaRPr lang="en-US" sz="900" dirty="0"/>
          </a:p>
        </p:txBody>
      </p:sp>
      <p:sp>
        <p:nvSpPr>
          <p:cNvPr id="35" name="Text 29"/>
          <p:cNvSpPr/>
          <p:nvPr/>
        </p:nvSpPr>
        <p:spPr>
          <a:xfrm>
            <a:off x="1234440" y="4919472"/>
            <a:ext cx="274320" cy="219456"/>
          </a:xfrm>
          <a:prstGeom prst="rect">
            <a:avLst/>
          </a:prstGeom>
          <a:noFill/>
          <a:ln/>
        </p:spPr>
        <p:txBody>
          <a:bodyPr wrap="square" lIns="0" tIns="0" rIns="0" bIns="0" rtlCol="0" anchor="ctr"/>
          <a:lstStyle/>
          <a:p>
            <a:pPr marL="0" indent="0" algn="r">
              <a:buNone/>
            </a:pPr>
            <a:r>
              <a:rPr lang="en-US" sz="900" dirty="0">
                <a:solidFill>
                  <a:srgbClr val="9AA0A6"/>
                </a:solidFill>
                <a:latin typeface="Poppins" pitchFamily="34" charset="0"/>
                <a:ea typeface="Poppins" pitchFamily="34" charset="-122"/>
                <a:cs typeface="Poppins" pitchFamily="34" charset="-120"/>
              </a:rPr>
              <a:t>−2</a:t>
            </a:r>
            <a:endParaRPr lang="en-US" sz="900" dirty="0"/>
          </a:p>
        </p:txBody>
      </p:sp>
      <p:sp>
        <p:nvSpPr>
          <p:cNvPr id="36" name="Text 30"/>
          <p:cNvSpPr/>
          <p:nvPr/>
        </p:nvSpPr>
        <p:spPr>
          <a:xfrm>
            <a:off x="10753344" y="4919472"/>
            <a:ext cx="274320" cy="219456"/>
          </a:xfrm>
          <a:prstGeom prst="rect">
            <a:avLst/>
          </a:prstGeom>
          <a:noFill/>
          <a:ln/>
        </p:spPr>
        <p:txBody>
          <a:bodyPr wrap="square" lIns="0" tIns="0" rIns="0" bIns="0" rtlCol="0" anchor="ctr"/>
          <a:lstStyle/>
          <a:p>
            <a:pPr marL="0" indent="0" algn="l">
              <a:buNone/>
            </a:pPr>
            <a:r>
              <a:rPr lang="en-US" sz="900" dirty="0">
                <a:solidFill>
                  <a:srgbClr val="9AA0A6"/>
                </a:solidFill>
                <a:latin typeface="Poppins" pitchFamily="34" charset="0"/>
                <a:ea typeface="Poppins" pitchFamily="34" charset="-122"/>
                <a:cs typeface="Poppins" pitchFamily="34" charset="-120"/>
              </a:rPr>
              <a:t>10</a:t>
            </a:r>
            <a:endParaRPr lang="en-US" sz="900" dirty="0"/>
          </a:p>
        </p:txBody>
      </p:sp>
      <p:sp>
        <p:nvSpPr>
          <p:cNvPr id="37" name="Text 31"/>
          <p:cNvSpPr/>
          <p:nvPr/>
        </p:nvSpPr>
        <p:spPr>
          <a:xfrm>
            <a:off x="502920" y="5961888"/>
            <a:ext cx="11183112" cy="365760"/>
          </a:xfrm>
          <a:prstGeom prst="rect">
            <a:avLst/>
          </a:prstGeom>
          <a:noFill/>
          <a:ln/>
        </p:spPr>
        <p:txBody>
          <a:bodyPr wrap="square" lIns="0" tIns="0" rIns="0" bIns="0" rtlCol="0" anchor="ctr"/>
          <a:lstStyle/>
          <a:p>
            <a:pPr marL="0" indent="0">
              <a:lnSpc>
                <a:spcPct val="100000"/>
              </a:lnSpc>
              <a:buNone/>
            </a:pPr>
            <a:r>
              <a:rPr lang="en-US" sz="950" b="1" i="1" dirty="0">
                <a:solidFill>
                  <a:srgbClr val="717171"/>
                </a:solidFill>
                <a:latin typeface="Poppins" pitchFamily="34" charset="0"/>
                <a:ea typeface="Poppins" pitchFamily="34" charset="-122"/>
                <a:cs typeface="Poppins" pitchFamily="34" charset="-120"/>
              </a:rPr>
              <a:t>Honest caveat:  </a:t>
            </a:r>
            <a:r>
              <a:rPr lang="en-US" sz="950" i="1" dirty="0">
                <a:solidFill>
                  <a:srgbClr val="9AA0A6"/>
                </a:solidFill>
                <a:latin typeface="Poppins" pitchFamily="34" charset="0"/>
                <a:ea typeface="Poppins" pitchFamily="34" charset="-122"/>
                <a:cs typeface="Poppins" pitchFamily="34" charset="-120"/>
              </a:rPr>
              <a:t>measured on a 64-listing short-stay pilot of established listings (median 142 reviews). The monthly segment came back statistically insignificant (β=+0.084, p=0.73), so we hold it occupancy-neutral. Broadening this across every segment is exactly our AirROI data ask.</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10 · THE FINANCIAL CASE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What it is worth, and what it costs</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We lead with the conservative floor, every assumption rounded against us, and show the ceiling as upside.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11</a:t>
            </a:r>
            <a:endParaRPr lang="en-US" sz="900" dirty="0"/>
          </a:p>
        </p:txBody>
      </p:sp>
      <p:sp>
        <p:nvSpPr>
          <p:cNvPr id="12" name="Shape 8"/>
          <p:cNvSpPr/>
          <p:nvPr/>
        </p:nvSpPr>
        <p:spPr>
          <a:xfrm>
            <a:off x="502920" y="2194560"/>
            <a:ext cx="11183112" cy="1463040"/>
          </a:xfrm>
          <a:prstGeom prst="roundRect">
            <a:avLst>
              <a:gd name="adj" fmla="val 875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100" b="1" kern="0" spc="50" dirty="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dirty="0"/>
          </a:p>
        </p:txBody>
      </p:sp>
      <p:sp>
        <p:nvSpPr>
          <p:cNvPr id="14" name="Text 10"/>
          <p:cNvSpPr/>
          <p:nvPr/>
        </p:nvSpPr>
        <p:spPr>
          <a:xfrm>
            <a:off x="777240" y="2670048"/>
            <a:ext cx="7955280" cy="731520"/>
          </a:xfrm>
          <a:prstGeom prst="rect">
            <a:avLst/>
          </a:prstGeom>
          <a:noFill/>
          <a:ln/>
        </p:spPr>
        <p:txBody>
          <a:bodyPr wrap="square" lIns="0" tIns="0" rIns="0" bIns="0" rtlCol="0" anchor="ctr"/>
          <a:lstStyle/>
          <a:p>
            <a:pPr marL="0" indent="0">
              <a:buNone/>
            </a:pPr>
            <a:r>
              <a:rPr lang="en-US" sz="2900" b="1" dirty="0">
                <a:solidFill>
                  <a:srgbClr val="222222"/>
                </a:solidFill>
                <a:latin typeface="Poppins" pitchFamily="34" charset="0"/>
                <a:ea typeface="Poppins" pitchFamily="34" charset="-122"/>
                <a:cs typeface="Poppins" pitchFamily="34" charset="-120"/>
              </a:rPr>
              <a:t>~$7.6M</a:t>
            </a:r>
            <a:r>
              <a:rPr lang="en-US" sz="1300" dirty="0">
                <a:solidFill>
                  <a:srgbClr val="4A4A4A"/>
                </a:solidFill>
                <a:latin typeface="Poppins" pitchFamily="34" charset="0"/>
                <a:ea typeface="Poppins" pitchFamily="34" charset="-122"/>
                <a:cs typeface="Poppins" pitchFamily="34" charset="-120"/>
              </a:rPr>
              <a:t> host GBV</a:t>
            </a:r>
            <a:r>
              <a:rPr lang="en-US" sz="1250" dirty="0">
                <a:solidFill>
                  <a:srgbClr val="9AA0A6"/>
                </a:solidFill>
                <a:latin typeface="Poppins" pitchFamily="34" charset="0"/>
                <a:ea typeface="Poppins" pitchFamily="34" charset="-122"/>
                <a:cs typeface="Poppins" pitchFamily="34" charset="-120"/>
              </a:rPr>
              <a:t>      ×15.5%  →      </a:t>
            </a:r>
            <a:r>
              <a:rPr lang="en-US" sz="2900" b="1" dirty="0">
                <a:solidFill>
                  <a:srgbClr val="FF385C"/>
                </a:solidFill>
                <a:latin typeface="Poppins" pitchFamily="34" charset="0"/>
                <a:ea typeface="Poppins" pitchFamily="34" charset="-122"/>
                <a:cs typeface="Poppins" pitchFamily="34" charset="-120"/>
              </a:rPr>
              <a:t>$1.17M</a:t>
            </a:r>
            <a:r>
              <a:rPr lang="en-US" sz="1300" dirty="0">
                <a:solidFill>
                  <a:srgbClr val="4A4A4A"/>
                </a:solidFill>
                <a:latin typeface="Poppins" pitchFamily="34" charset="0"/>
                <a:ea typeface="Poppins" pitchFamily="34" charset="-122"/>
                <a:cs typeface="Poppins" pitchFamily="34" charset="-120"/>
              </a:rPr>
              <a:t> / yr Airbnb fee</a:t>
            </a:r>
            <a:endParaRPr lang="en-US" sz="2900" dirty="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77440"/>
            <a:ext cx="2514600" cy="1143000"/>
          </a:xfrm>
          <a:prstGeom prst="rect">
            <a:avLst/>
          </a:prstGeom>
          <a:noFill/>
          <a:ln/>
        </p:spPr>
        <p:txBody>
          <a:bodyPr wrap="square" lIns="0" tIns="0" rIns="0" bIns="0" rtlCol="0" anchor="ctr"/>
          <a:lstStyle/>
          <a:p>
            <a:pPr marL="0" indent="0">
              <a:lnSpc>
                <a:spcPct val="106000"/>
              </a:lnSpc>
              <a:buNone/>
            </a:pPr>
            <a:r>
              <a:rPr lang="en-US" sz="1050" b="1" dirty="0">
                <a:solidFill>
                  <a:srgbClr val="222222"/>
                </a:solidFill>
                <a:latin typeface="Poppins" pitchFamily="34" charset="0"/>
                <a:ea typeface="Poppins" pitchFamily="34" charset="-122"/>
                <a:cs typeface="Poppins" pitchFamily="34" charset="-120"/>
              </a:rPr>
              <a:t>Ceiling (upside): </a:t>
            </a:r>
            <a:r>
              <a:rPr lang="en-US" sz="1050" dirty="0">
                <a:solidFill>
                  <a:srgbClr val="4A4A4A"/>
                </a:solidFill>
                <a:latin typeface="Poppins" pitchFamily="34" charset="0"/>
                <a:ea typeface="Poppins" pitchFamily="34" charset="-122"/>
                <a:cs typeface="Poppins" pitchFamily="34" charset="-120"/>
              </a:rPr>
              <a:t>~$4.15M/yr fees, from ~$26.8M GBV, occupancy-neutral. Shown as upside, not the headline.</a:t>
            </a:r>
            <a:endParaRPr lang="en-US" sz="1050" dirty="0"/>
          </a:p>
        </p:txBody>
      </p:sp>
      <p:sp>
        <p:nvSpPr>
          <p:cNvPr id="17" name="Shape 13"/>
          <p:cNvSpPr/>
          <p:nvPr/>
        </p:nvSpPr>
        <p:spPr>
          <a:xfrm>
            <a:off x="502920" y="3931920"/>
            <a:ext cx="3563112" cy="1417320"/>
          </a:xfrm>
          <a:prstGeom prst="roundRect">
            <a:avLst>
              <a:gd name="adj" fmla="val 9032"/>
            </a:avLst>
          </a:prstGeom>
          <a:solidFill>
            <a:srgbClr val="E6F6F4"/>
          </a:solidFill>
          <a:ln/>
        </p:spPr>
        <p:txBody>
          <a:bodyPr/>
          <a:lstStyle/>
          <a:p>
            <a:endParaRPr lang="en-US"/>
          </a:p>
        </p:txBody>
      </p:sp>
      <p:pic>
        <p:nvPicPr>
          <p:cNvPr id="18" name="Image 2" descr="/sessions/dreamy-trusting-noether/mnt/outputs/build/assets/cpu_teal.png"/>
          <p:cNvPicPr>
            <a:picLocks noChangeAspect="1"/>
          </p:cNvPicPr>
          <p:nvPr/>
        </p:nvPicPr>
        <p:blipFill>
          <a:blip r:embed="rId5"/>
          <a:stretch>
            <a:fillRect/>
          </a:stretch>
        </p:blipFill>
        <p:spPr>
          <a:xfrm>
            <a:off x="722376" y="4151376"/>
            <a:ext cx="365760" cy="365760"/>
          </a:xfrm>
          <a:prstGeom prst="rect">
            <a:avLst/>
          </a:prstGeom>
        </p:spPr>
      </p:pic>
      <p:sp>
        <p:nvSpPr>
          <p:cNvPr id="19" name="Text 14"/>
          <p:cNvSpPr/>
          <p:nvPr/>
        </p:nvSpPr>
        <p:spPr>
          <a:xfrm>
            <a:off x="685800" y="4462272"/>
            <a:ext cx="3197352" cy="502920"/>
          </a:xfrm>
          <a:prstGeom prst="rect">
            <a:avLst/>
          </a:prstGeom>
          <a:noFill/>
          <a:ln/>
        </p:spPr>
        <p:txBody>
          <a:bodyPr wrap="square" lIns="0" tIns="0" rIns="0" bIns="0" rtlCol="0" anchor="ctr"/>
          <a:lstStyle/>
          <a:p>
            <a:pPr marL="0" indent="0">
              <a:buNone/>
            </a:pPr>
            <a:r>
              <a:rPr lang="en-US" sz="2500" b="1" dirty="0">
                <a:solidFill>
                  <a:srgbClr val="007A73"/>
                </a:solidFill>
                <a:latin typeface="Poppins" pitchFamily="34" charset="0"/>
                <a:ea typeface="Poppins" pitchFamily="34" charset="-122"/>
                <a:cs typeface="Poppins" pitchFamily="34" charset="-120"/>
              </a:rPr>
              <a:t>$65K</a:t>
            </a:r>
            <a:endParaRPr lang="en-US" sz="2500" dirty="0"/>
          </a:p>
        </p:txBody>
      </p:sp>
      <p:sp>
        <p:nvSpPr>
          <p:cNvPr id="20" name="Text 15"/>
          <p:cNvSpPr/>
          <p:nvPr/>
        </p:nvSpPr>
        <p:spPr>
          <a:xfrm>
            <a:off x="70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one-time build (incremental engineering on Airbnb's existing stack)</a:t>
            </a:r>
            <a:endParaRPr lang="en-US" sz="1000" dirty="0"/>
          </a:p>
        </p:txBody>
      </p:sp>
      <p:sp>
        <p:nvSpPr>
          <p:cNvPr id="21" name="Shape 16"/>
          <p:cNvSpPr/>
          <p:nvPr/>
        </p:nvSpPr>
        <p:spPr>
          <a:xfrm>
            <a:off x="4312920" y="3931920"/>
            <a:ext cx="3563112" cy="1417320"/>
          </a:xfrm>
          <a:prstGeom prst="roundRect">
            <a:avLst>
              <a:gd name="adj" fmla="val 9032"/>
            </a:avLst>
          </a:prstGeom>
          <a:solidFill>
            <a:srgbClr val="FFEEF2"/>
          </a:solidFill>
          <a:ln/>
        </p:spPr>
        <p:txBody>
          <a:bodyPr/>
          <a:lstStyle/>
          <a:p>
            <a:endParaRPr lang="en-US"/>
          </a:p>
        </p:txBody>
      </p:sp>
      <p:pic>
        <p:nvPicPr>
          <p:cNvPr id="22" name="Image 3" descr="/sessions/dreamy-trusting-noether/mnt/outputs/build/assets/clock_coral.png"/>
          <p:cNvPicPr>
            <a:picLocks noChangeAspect="1"/>
          </p:cNvPicPr>
          <p:nvPr/>
        </p:nvPicPr>
        <p:blipFill>
          <a:blip r:embed="rId6"/>
          <a:stretch>
            <a:fillRect/>
          </a:stretch>
        </p:blipFill>
        <p:spPr>
          <a:xfrm>
            <a:off x="4532376" y="4151376"/>
            <a:ext cx="365760" cy="365760"/>
          </a:xfrm>
          <a:prstGeom prst="rect">
            <a:avLst/>
          </a:prstGeom>
        </p:spPr>
      </p:pic>
      <p:sp>
        <p:nvSpPr>
          <p:cNvPr id="23" name="Text 17"/>
          <p:cNvSpPr/>
          <p:nvPr/>
        </p:nvSpPr>
        <p:spPr>
          <a:xfrm>
            <a:off x="4495800" y="4462272"/>
            <a:ext cx="3197352" cy="502920"/>
          </a:xfrm>
          <a:prstGeom prst="rect">
            <a:avLst/>
          </a:prstGeom>
          <a:noFill/>
          <a:ln/>
        </p:spPr>
        <p:txBody>
          <a:bodyPr wrap="square" lIns="0" tIns="0" rIns="0" bIns="0" rtlCol="0" anchor="ctr"/>
          <a:lstStyle/>
          <a:p>
            <a:pPr marL="0" indent="0">
              <a:buNone/>
            </a:pPr>
            <a:r>
              <a:rPr lang="en-US" sz="2500" b="1" dirty="0">
                <a:solidFill>
                  <a:srgbClr val="FF385C"/>
                </a:solidFill>
                <a:latin typeface="Poppins" pitchFamily="34" charset="0"/>
                <a:ea typeface="Poppins" pitchFamily="34" charset="-122"/>
                <a:cs typeface="Poppins" pitchFamily="34" charset="-120"/>
              </a:rPr>
              <a:t>$30K / yr</a:t>
            </a:r>
            <a:endParaRPr lang="en-US" sz="2500" dirty="0"/>
          </a:p>
        </p:txBody>
      </p:sp>
      <p:sp>
        <p:nvSpPr>
          <p:cNvPr id="24" name="Text 18"/>
          <p:cNvSpPr/>
          <p:nvPr/>
        </p:nvSpPr>
        <p:spPr>
          <a:xfrm>
            <a:off x="451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to run (retraining, monitoring, ~$3K infra)</a:t>
            </a:r>
            <a:endParaRPr lang="en-US" sz="1000" dirty="0"/>
          </a:p>
        </p:txBody>
      </p:sp>
      <p:sp>
        <p:nvSpPr>
          <p:cNvPr id="25" name="Shape 19"/>
          <p:cNvSpPr/>
          <p:nvPr/>
        </p:nvSpPr>
        <p:spPr>
          <a:xfrm>
            <a:off x="8122920" y="3931920"/>
            <a:ext cx="3563112" cy="1417320"/>
          </a:xfrm>
          <a:prstGeom prst="roundRect">
            <a:avLst>
              <a:gd name="adj" fmla="val 9032"/>
            </a:avLst>
          </a:prstGeom>
          <a:solidFill>
            <a:srgbClr val="E6F6F4"/>
          </a:solidFill>
          <a:ln/>
        </p:spPr>
        <p:txBody>
          <a:bodyPr/>
          <a:lstStyle/>
          <a:p>
            <a:endParaRPr lang="en-US"/>
          </a:p>
        </p:txBody>
      </p:sp>
      <p:pic>
        <p:nvPicPr>
          <p:cNvPr id="26" name="Image 4" descr="/sessions/dreamy-trusting-noether/mnt/outputs/build/assets/dollar_teal.png"/>
          <p:cNvPicPr>
            <a:picLocks noChangeAspect="1"/>
          </p:cNvPicPr>
          <p:nvPr/>
        </p:nvPicPr>
        <p:blipFill>
          <a:blip r:embed="rId7"/>
          <a:stretch>
            <a:fillRect/>
          </a:stretch>
        </p:blipFill>
        <p:spPr>
          <a:xfrm>
            <a:off x="8342376" y="4151376"/>
            <a:ext cx="365760" cy="365760"/>
          </a:xfrm>
          <a:prstGeom prst="rect">
            <a:avLst/>
          </a:prstGeom>
        </p:spPr>
      </p:pic>
      <p:sp>
        <p:nvSpPr>
          <p:cNvPr id="27" name="Text 20"/>
          <p:cNvSpPr/>
          <p:nvPr/>
        </p:nvSpPr>
        <p:spPr>
          <a:xfrm>
            <a:off x="8305800" y="4462272"/>
            <a:ext cx="3197352" cy="502920"/>
          </a:xfrm>
          <a:prstGeom prst="rect">
            <a:avLst/>
          </a:prstGeom>
          <a:noFill/>
          <a:ln/>
        </p:spPr>
        <p:txBody>
          <a:bodyPr wrap="square" lIns="0" tIns="0" rIns="0" bIns="0" rtlCol="0" anchor="ctr"/>
          <a:lstStyle/>
          <a:p>
            <a:pPr marL="0" indent="0">
              <a:buNone/>
            </a:pPr>
            <a:r>
              <a:rPr lang="en-US" sz="2500" b="1" dirty="0">
                <a:solidFill>
                  <a:srgbClr val="007A73"/>
                </a:solidFill>
                <a:latin typeface="Poppins" pitchFamily="34" charset="0"/>
                <a:ea typeface="Poppins" pitchFamily="34" charset="-122"/>
                <a:cs typeface="Poppins" pitchFamily="34" charset="-120"/>
              </a:rPr>
              <a:t>~$215K</a:t>
            </a:r>
            <a:endParaRPr lang="en-US" sz="2500" dirty="0"/>
          </a:p>
        </p:txBody>
      </p:sp>
      <p:sp>
        <p:nvSpPr>
          <p:cNvPr id="28" name="Text 21"/>
          <p:cNvSpPr/>
          <p:nvPr/>
        </p:nvSpPr>
        <p:spPr>
          <a:xfrm>
            <a:off x="832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total 5-year cost of ownership</a:t>
            </a:r>
            <a:endParaRPr lang="en-US" sz="1000" dirty="0"/>
          </a:p>
        </p:txBody>
      </p:sp>
      <p:sp>
        <p:nvSpPr>
          <p:cNvPr id="29" name="Text 22"/>
          <p:cNvSpPr/>
          <p:nvPr/>
        </p:nvSpPr>
        <p:spPr>
          <a:xfrm>
            <a:off x="502920" y="5623560"/>
            <a:ext cx="11183112" cy="457200"/>
          </a:xfrm>
          <a:prstGeom prst="rect">
            <a:avLst/>
          </a:prstGeom>
          <a:noFill/>
          <a:ln/>
        </p:spPr>
        <p:txBody>
          <a:bodyPr wrap="square" lIns="0" tIns="0" rIns="0" bIns="0" rtlCol="0" anchor="ctr"/>
          <a:lstStyle/>
          <a:p>
            <a:pPr marL="0" indent="0">
              <a:lnSpc>
                <a:spcPct val="104000"/>
              </a:lnSpc>
              <a:buNone/>
            </a:pPr>
            <a:r>
              <a:rPr lang="en-US" sz="1050" dirty="0">
                <a:solidFill>
                  <a:srgbClr val="4A4A4A"/>
                </a:solidFill>
                <a:latin typeface="Poppins" pitchFamily="34" charset="0"/>
                <a:ea typeface="Poppins" pitchFamily="34" charset="-122"/>
                <a:cs typeface="Poppins" pitchFamily="34" charset="-120"/>
              </a:rPr>
              <a:t>Costed as an incremental feature on infrastructure Airbnb already owns (model-serving, pricing, A/B testing). </a:t>
            </a:r>
            <a:r>
              <a:rPr lang="en-US" sz="1050" i="1" dirty="0">
                <a:solidFill>
                  <a:srgbClr val="9AA0A6"/>
                </a:solidFill>
                <a:latin typeface="Poppins" pitchFamily="34" charset="0"/>
                <a:ea typeface="Poppins" pitchFamily="34" charset="-122"/>
                <a:cs typeface="Poppins" pitchFamily="34" charset="-120"/>
              </a:rPr>
              <a:t>A full greenfield build (~$190K + $105K/yr) is shown only as a worst-case if built standalone.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11 · ROI &amp; FINANCIAL TIMELINE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Payback in months, not years</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Adoption sensitivity on the $1.17M floor and the incremental cost. Even 15% adoption clears 300% ROI.</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68580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Adoption</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Airbnb fee / yr</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Payback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5-yr ROI</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15%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$176K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~6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308%</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25%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$292K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~4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580%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35%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$410K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~3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852%</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50%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$585K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~2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1,260%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75%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$878K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~1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1,941%</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050" i="1" dirty="0">
                <a:solidFill>
                  <a:srgbClr val="9AA0A6"/>
                </a:solidFill>
                <a:latin typeface="Poppins" pitchFamily="34" charset="0"/>
                <a:ea typeface="Poppins" pitchFamily="34" charset="-122"/>
                <a:cs typeface="Poppins" pitchFamily="34" charset="-120"/>
              </a:rPr>
              <a:t>We headline the 25% and 35% rows: the conservative and expected cases.</a:t>
            </a:r>
            <a:endParaRPr lang="en-US" sz="1050" dirty="0"/>
          </a:p>
        </p:txBody>
      </p:sp>
      <p:sp>
        <p:nvSpPr>
          <p:cNvPr id="14" name="Shape 9"/>
          <p:cNvSpPr/>
          <p:nvPr/>
        </p:nvSpPr>
        <p:spPr>
          <a:xfrm>
            <a:off x="7589520" y="2377440"/>
            <a:ext cx="4096512" cy="3063240"/>
          </a:xfrm>
          <a:prstGeom prst="roundRect">
            <a:avLst>
              <a:gd name="adj" fmla="val 4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7845552" y="2615184"/>
            <a:ext cx="530352" cy="530352"/>
          </a:xfrm>
          <a:prstGeom prst="ellipse">
            <a:avLst/>
          </a:prstGeom>
          <a:solidFill>
            <a:srgbClr val="FFFFFF"/>
          </a:solidFill>
          <a:ln/>
        </p:spPr>
        <p:txBody>
          <a:bodyPr/>
          <a:lstStyle/>
          <a:p>
            <a:endParaRPr lang="en-US"/>
          </a:p>
        </p:txBody>
      </p:sp>
      <p:pic>
        <p:nvPicPr>
          <p:cNvPr id="16" name="Image 2" descr="/sessions/dreamy-trusting-noether/mnt/outputs/build/assets/scale_coral.png"/>
          <p:cNvPicPr>
            <a:picLocks noChangeAspect="1"/>
          </p:cNvPicPr>
          <p:nvPr/>
        </p:nvPicPr>
        <p:blipFill>
          <a:blip r:embed="rId5"/>
          <a:stretch>
            <a:fillRect/>
          </a:stretch>
        </p:blipFill>
        <p:spPr>
          <a:xfrm>
            <a:off x="7972836" y="2742468"/>
            <a:ext cx="275783" cy="275783"/>
          </a:xfrm>
          <a:prstGeom prst="rect">
            <a:avLst/>
          </a:prstGeom>
        </p:spPr>
      </p:pic>
      <p:sp>
        <p:nvSpPr>
          <p:cNvPr id="17" name="Text 11"/>
          <p:cNvSpPr/>
          <p:nvPr/>
        </p:nvSpPr>
        <p:spPr>
          <a:xfrm>
            <a:off x="8595360" y="2651760"/>
            <a:ext cx="2926080" cy="365760"/>
          </a:xfrm>
          <a:prstGeom prst="rect">
            <a:avLst/>
          </a:prstGeom>
          <a:noFill/>
          <a:ln/>
        </p:spPr>
        <p:txBody>
          <a:bodyPr wrap="square" lIns="0" tIns="0" rIns="0" bIns="0" rtlCol="0" anchor="ctr"/>
          <a:lstStyle/>
          <a:p>
            <a:pPr marL="0" indent="0">
              <a:buNone/>
            </a:pPr>
            <a:r>
              <a:rPr lang="en-US" sz="1400" b="1" dirty="0">
                <a:solidFill>
                  <a:srgbClr val="222222"/>
                </a:solidFill>
                <a:latin typeface="Poppins" pitchFamily="34" charset="0"/>
                <a:ea typeface="Poppins" pitchFamily="34" charset="-122"/>
                <a:cs typeface="Poppins" pitchFamily="34" charset="-120"/>
              </a:rPr>
              <a:t>Honest about time value</a:t>
            </a:r>
            <a:endParaRPr lang="en-US" sz="1400" dirty="0"/>
          </a:p>
        </p:txBody>
      </p:sp>
      <p:sp>
        <p:nvSpPr>
          <p:cNvPr id="18" name="Text 12"/>
          <p:cNvSpPr/>
          <p:nvPr/>
        </p:nvSpPr>
        <p:spPr>
          <a:xfrm>
            <a:off x="7845552" y="3291840"/>
            <a:ext cx="3657600" cy="2057400"/>
          </a:xfrm>
          <a:prstGeom prst="rect">
            <a:avLst/>
          </a:prstGeom>
          <a:noFill/>
          <a:ln/>
        </p:spPr>
        <p:txBody>
          <a:bodyPr wrap="square" lIns="0" tIns="0" rIns="0" bIns="0" rtlCol="0" anchor="t"/>
          <a:lstStyle/>
          <a:p>
            <a:pPr marL="0" indent="0">
              <a:lnSpc>
                <a:spcPct val="106000"/>
              </a:lnSpc>
              <a:buNone/>
            </a:pPr>
            <a:r>
              <a:rPr lang="en-US" sz="1150" b="1" dirty="0">
                <a:solidFill>
                  <a:srgbClr val="FF385C"/>
                </a:solidFill>
                <a:latin typeface="Poppins" pitchFamily="34" charset="0"/>
                <a:ea typeface="Poppins" pitchFamily="34" charset="-122"/>
                <a:cs typeface="Poppins" pitchFamily="34" charset="-120"/>
              </a:rPr>
              <a:t>Net-positive in Year 1</a:t>
            </a:r>
            <a:r>
              <a:rPr lang="en-US" sz="1150" dirty="0">
                <a:solidFill>
                  <a:srgbClr val="4A4A4A"/>
                </a:solidFill>
                <a:latin typeface="Poppins" pitchFamily="34" charset="0"/>
                <a:ea typeface="Poppins" pitchFamily="34" charset="-122"/>
                <a:cs typeface="Poppins" pitchFamily="34" charset="-120"/>
              </a:rPr>
              <a:t>, even at 10% first-year adoption.
5-year net: </a:t>
            </a:r>
            <a:r>
              <a:rPr lang="en-US" sz="1150" b="1" dirty="0">
                <a:solidFill>
                  <a:srgbClr val="222222"/>
                </a:solidFill>
                <a:latin typeface="Poppins" pitchFamily="34" charset="0"/>
                <a:ea typeface="Poppins" pitchFamily="34" charset="-122"/>
                <a:cs typeface="Poppins" pitchFamily="34" charset="-120"/>
              </a:rPr>
              <a:t>$5.63M nominal → $4.26M NPV</a:t>
            </a:r>
            <a:r>
              <a:rPr lang="en-US" sz="1150" dirty="0">
                <a:solidFill>
                  <a:srgbClr val="4A4A4A"/>
                </a:solidFill>
                <a:latin typeface="Poppins" pitchFamily="34" charset="0"/>
                <a:ea typeface="Poppins" pitchFamily="34" charset="-122"/>
                <a:cs typeface="Poppins" pitchFamily="34" charset="-120"/>
              </a:rPr>
              <a:t> at a 10% discount (~24% haircut).
</a:t>
            </a:r>
            <a:r>
              <a:rPr lang="en-US" sz="1150" dirty="0">
                <a:solidFill>
                  <a:srgbClr val="717171"/>
                </a:solidFill>
                <a:latin typeface="Poppins" pitchFamily="34" charset="0"/>
                <a:ea typeface="Poppins" pitchFamily="34" charset="-122"/>
                <a:cs typeface="Poppins" pitchFamily="34" charset="-120"/>
              </a:rPr>
              <a:t>We discount at 10% and show both, rather than present nominal sums under an NPV banner.</a:t>
            </a:r>
            <a:endParaRPr lang="en-US" sz="1150" dirty="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050" b="1" dirty="0">
                <a:solidFill>
                  <a:srgbClr val="222222"/>
                </a:solidFill>
                <a:latin typeface="Poppins" pitchFamily="34" charset="0"/>
                <a:ea typeface="Poppins" pitchFamily="34" charset="-122"/>
                <a:cs typeface="Poppins" pitchFamily="34" charset="-120"/>
              </a:rPr>
              <a:t>And on the overpriced side: </a:t>
            </a:r>
            <a:r>
              <a:rPr lang="en-US" sz="1050" dirty="0">
                <a:solidFill>
                  <a:srgbClr val="4A4A4A"/>
                </a:solidFill>
                <a:latin typeface="Poppins" pitchFamily="34" charset="0"/>
                <a:ea typeface="Poppins" pitchFamily="34" charset="-122"/>
                <a:cs typeface="Poppins" pitchFamily="34" charset="-120"/>
              </a:rPr>
              <a:t>repricing unlocks ~77,606 booked nights/yr. Near revenue-neutral for hosts, but real marketplace liquidity and host retention for Airbnb (already inside the floor).</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12 · WHAT WE'D DO WITH MORE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The number is a floor. Here is what lifts it.</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Every unmeasured quantity was resolved against us. Four asks would let us prove how much bigger this is.</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13</a:t>
            </a:r>
            <a:endParaRPr lang="en-US" sz="900" dirty="0"/>
          </a:p>
        </p:txBody>
      </p:sp>
      <p:sp>
        <p:nvSpPr>
          <p:cNvPr id="12" name="Shape 8"/>
          <p:cNvSpPr/>
          <p:nvPr/>
        </p:nvSpPr>
        <p:spPr>
          <a:xfrm>
            <a:off x="502920" y="2331720"/>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606040"/>
            <a:ext cx="566928" cy="566928"/>
          </a:xfrm>
          <a:prstGeom prst="ellipse">
            <a:avLst/>
          </a:prstGeom>
          <a:solidFill>
            <a:srgbClr val="FFF1E9"/>
          </a:solidFill>
          <a:ln/>
        </p:spPr>
        <p:txBody>
          <a:bodyPr/>
          <a:lstStyle/>
          <a:p>
            <a:endParaRPr lang="en-US"/>
          </a:p>
        </p:txBody>
      </p:sp>
      <p:pic>
        <p:nvPicPr>
          <p:cNvPr id="14" name="Image 2" descr="/sessions/dreamy-trusting-noether/mnt/outputs/build/assets/bar_orange.png"/>
          <p:cNvPicPr>
            <a:picLocks noChangeAspect="1"/>
          </p:cNvPicPr>
          <p:nvPr/>
        </p:nvPicPr>
        <p:blipFill>
          <a:blip r:embed="rId5"/>
          <a:stretch>
            <a:fillRect/>
          </a:stretch>
        </p:blipFill>
        <p:spPr>
          <a:xfrm>
            <a:off x="895015" y="2742103"/>
            <a:ext cx="294803" cy="294803"/>
          </a:xfrm>
          <a:prstGeom prst="rect">
            <a:avLst/>
          </a:prstGeom>
        </p:spPr>
      </p:pic>
      <p:sp>
        <p:nvSpPr>
          <p:cNvPr id="15" name="Text 10"/>
          <p:cNvSpPr/>
          <p:nvPr/>
        </p:nvSpPr>
        <p:spPr>
          <a:xfrm>
            <a:off x="1453896" y="2642616"/>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Give us the full elasticity panel</a:t>
            </a:r>
            <a:endParaRPr lang="en-US" sz="1400" dirty="0"/>
          </a:p>
        </p:txBody>
      </p:sp>
      <p:sp>
        <p:nvSpPr>
          <p:cNvPr id="16" name="Text 11"/>
          <p:cNvSpPr/>
          <p:nvPr/>
        </p:nvSpPr>
        <p:spPr>
          <a:xfrm>
            <a:off x="777240" y="3264408"/>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We proved the mechanism on 64 established short-stay listings and measured −0.92. The full panel would confirm it across every segment and review tier — and likely raises the number, since newer listings are more price-sensitive.</a:t>
            </a:r>
            <a:endParaRPr lang="en-US" sz="1180" dirty="0"/>
          </a:p>
        </p:txBody>
      </p:sp>
      <p:sp>
        <p:nvSpPr>
          <p:cNvPr id="17" name="Shape 12"/>
          <p:cNvSpPr/>
          <p:nvPr/>
        </p:nvSpPr>
        <p:spPr>
          <a:xfrm>
            <a:off x="6217920" y="233172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73952" y="2606040"/>
            <a:ext cx="566928" cy="566928"/>
          </a:xfrm>
          <a:prstGeom prst="ellipse">
            <a:avLst/>
          </a:prstGeom>
          <a:solidFill>
            <a:srgbClr val="FFFFFF"/>
          </a:solidFill>
          <a:ln/>
        </p:spPr>
        <p:txBody>
          <a:bodyPr/>
          <a:lstStyle/>
          <a:p>
            <a:endParaRPr lang="en-US"/>
          </a:p>
        </p:txBody>
      </p:sp>
      <p:pic>
        <p:nvPicPr>
          <p:cNvPr id="19" name="Image 3" descr="/sessions/dreamy-trusting-noether/mnt/outputs/build/assets/calendar_teal.png"/>
          <p:cNvPicPr>
            <a:picLocks noChangeAspect="1"/>
          </p:cNvPicPr>
          <p:nvPr/>
        </p:nvPicPr>
        <p:blipFill>
          <a:blip r:embed="rId6"/>
          <a:stretch>
            <a:fillRect/>
          </a:stretch>
        </p:blipFill>
        <p:spPr>
          <a:xfrm>
            <a:off x="6610015" y="2742103"/>
            <a:ext cx="294803" cy="294803"/>
          </a:xfrm>
          <a:prstGeom prst="rect">
            <a:avLst/>
          </a:prstGeom>
        </p:spPr>
      </p:pic>
      <p:sp>
        <p:nvSpPr>
          <p:cNvPr id="20" name="Text 14"/>
          <p:cNvSpPr/>
          <p:nvPr/>
        </p:nvSpPr>
        <p:spPr>
          <a:xfrm>
            <a:off x="7168896" y="2642616"/>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Let us measure the monthly segment</a:t>
            </a:r>
            <a:endParaRPr lang="en-US" sz="1400" dirty="0"/>
          </a:p>
        </p:txBody>
      </p:sp>
      <p:sp>
        <p:nvSpPr>
          <p:cNvPr id="21" name="Text 15"/>
          <p:cNvSpPr/>
          <p:nvPr/>
        </p:nvSpPr>
        <p:spPr>
          <a:xfrm>
            <a:off x="6492240" y="3264408"/>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No significant price response showed up in the pilot, so we assumed none and let the full price gap flow through. With more within-listing price variation we could measure it properly instead of assuming it.</a:t>
            </a:r>
            <a:endParaRPr lang="en-US" sz="1180" dirty="0"/>
          </a:p>
        </p:txBody>
      </p:sp>
      <p:sp>
        <p:nvSpPr>
          <p:cNvPr id="22" name="Shape 16"/>
          <p:cNvSpPr/>
          <p:nvPr/>
        </p:nvSpPr>
        <p:spPr>
          <a:xfrm>
            <a:off x="502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58952" y="4608576"/>
            <a:ext cx="566928" cy="566928"/>
          </a:xfrm>
          <a:prstGeom prst="ellipse">
            <a:avLst/>
          </a:prstGeom>
          <a:solidFill>
            <a:srgbClr val="FFF1E9"/>
          </a:solidFill>
          <a:ln/>
        </p:spPr>
        <p:txBody>
          <a:bodyPr/>
          <a:lstStyle/>
          <a:p>
            <a:endParaRPr lang="en-US"/>
          </a:p>
        </p:txBody>
      </p:sp>
      <p:pic>
        <p:nvPicPr>
          <p:cNvPr id="24" name="Image 4" descr="/sessions/dreamy-trusting-noether/mnt/outputs/build/assets/pin_orange.png"/>
          <p:cNvPicPr>
            <a:picLocks noChangeAspect="1"/>
          </p:cNvPicPr>
          <p:nvPr/>
        </p:nvPicPr>
        <p:blipFill>
          <a:blip r:embed="rId7"/>
          <a:stretch>
            <a:fillRect/>
          </a:stretch>
        </p:blipFill>
        <p:spPr>
          <a:xfrm>
            <a:off x="895015" y="4744639"/>
            <a:ext cx="294803" cy="294803"/>
          </a:xfrm>
          <a:prstGeom prst="rect">
            <a:avLst/>
          </a:prstGeom>
        </p:spPr>
      </p:pic>
      <p:sp>
        <p:nvSpPr>
          <p:cNvPr id="25" name="Text 18"/>
          <p:cNvSpPr/>
          <p:nvPr/>
        </p:nvSpPr>
        <p:spPr>
          <a:xfrm>
            <a:off x="1453896" y="4645152"/>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Open the booking-flow data</a:t>
            </a:r>
            <a:endParaRPr lang="en-US" sz="1400" dirty="0"/>
          </a:p>
        </p:txBody>
      </p:sp>
      <p:sp>
        <p:nvSpPr>
          <p:cNvPr id="26" name="Text 19"/>
          <p:cNvSpPr/>
          <p:nvPr/>
        </p:nvSpPr>
        <p:spPr>
          <a:xfrm>
            <a:off x="777240" y="5266944"/>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We counted zero credit for guests won back from hotels and competitors. Airbnb's own conversion data would price that, along with the churn and lifetime-value effects we can describe but not yet quantify.</a:t>
            </a:r>
            <a:endParaRPr lang="en-US" sz="1180" dirty="0"/>
          </a:p>
        </p:txBody>
      </p:sp>
      <p:sp>
        <p:nvSpPr>
          <p:cNvPr id="27" name="Shape 20"/>
          <p:cNvSpPr/>
          <p:nvPr/>
        </p:nvSpPr>
        <p:spPr>
          <a:xfrm>
            <a:off x="6217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6473952" y="4608576"/>
            <a:ext cx="566928" cy="566928"/>
          </a:xfrm>
          <a:prstGeom prst="ellipse">
            <a:avLst/>
          </a:prstGeom>
          <a:solidFill>
            <a:srgbClr val="FFF1E9"/>
          </a:solidFill>
          <a:ln/>
        </p:spPr>
        <p:txBody>
          <a:bodyPr/>
          <a:lstStyle/>
          <a:p>
            <a:endParaRPr lang="en-US"/>
          </a:p>
        </p:txBody>
      </p:sp>
      <p:pic>
        <p:nvPicPr>
          <p:cNvPr id="29" name="Image 5" descr="/sessions/dreamy-trusting-noether/mnt/outputs/build/assets/alert_orange.png"/>
          <p:cNvPicPr>
            <a:picLocks noChangeAspect="1"/>
          </p:cNvPicPr>
          <p:nvPr/>
        </p:nvPicPr>
        <p:blipFill>
          <a:blip r:embed="rId8"/>
          <a:stretch>
            <a:fillRect/>
          </a:stretch>
        </p:blipFill>
        <p:spPr>
          <a:xfrm>
            <a:off x="6610015" y="4744639"/>
            <a:ext cx="294803" cy="294803"/>
          </a:xfrm>
          <a:prstGeom prst="rect">
            <a:avLst/>
          </a:prstGeom>
        </p:spPr>
      </p:pic>
      <p:sp>
        <p:nvSpPr>
          <p:cNvPr id="30" name="Text 22"/>
          <p:cNvSpPr/>
          <p:nvPr/>
        </p:nvSpPr>
        <p:spPr>
          <a:xfrm>
            <a:off x="7168896" y="4645152"/>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Then take it beyond New York</a:t>
            </a:r>
            <a:endParaRPr lang="en-US" sz="1400" dirty="0"/>
          </a:p>
        </p:txBody>
      </p:sp>
      <p:sp>
        <p:nvSpPr>
          <p:cNvPr id="31" name="Text 23"/>
          <p:cNvSpPr/>
          <p:nvPr/>
        </p:nvSpPr>
        <p:spPr>
          <a:xfrm>
            <a:off x="6492240" y="5266944"/>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Coefficients need re-fitting per market — tourism, regulation and seasonality all differ. The method transfers; these particular numbers are New York's.</a:t>
            </a:r>
            <a:endParaRPr lang="en-US" sz="11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13 · RECOMMENDATIONS &amp; CLOSING</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Build on Smart Pricing — don't replace it</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opportunity isn't another number. It's helping hosts understand, trust and act on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14</a:t>
            </a:r>
            <a:endParaRPr lang="en-US" sz="900" dirty="0"/>
          </a:p>
        </p:txBody>
      </p:sp>
      <p:sp>
        <p:nvSpPr>
          <p:cNvPr id="12" name="Shape 8"/>
          <p:cNvSpPr/>
          <p:nvPr/>
        </p:nvSpPr>
        <p:spPr>
          <a:xfrm>
            <a:off x="502920" y="2286000"/>
            <a:ext cx="3563112" cy="1554480"/>
          </a:xfrm>
          <a:prstGeom prst="roundRect">
            <a:avLst>
              <a:gd name="adj" fmla="val 8235"/>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542032"/>
            <a:ext cx="566928" cy="566928"/>
          </a:xfrm>
          <a:prstGeom prst="ellipse">
            <a:avLst/>
          </a:prstGeom>
          <a:solidFill>
            <a:srgbClr val="FF385C"/>
          </a:solidFill>
          <a:ln/>
        </p:spPr>
        <p:txBody>
          <a:bodyPr/>
          <a:lstStyle/>
          <a:p>
            <a:endParaRPr lang="en-US"/>
          </a:p>
        </p:txBody>
      </p:sp>
      <p:sp>
        <p:nvSpPr>
          <p:cNvPr id="14" name="Text 10"/>
          <p:cNvSpPr/>
          <p:nvPr/>
        </p:nvSpPr>
        <p:spPr>
          <a:xfrm>
            <a:off x="75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1</a:t>
            </a:r>
            <a:endParaRPr lang="en-US" sz="2000" dirty="0"/>
          </a:p>
        </p:txBody>
      </p:sp>
      <p:sp>
        <p:nvSpPr>
          <p:cNvPr id="15" name="Text 11"/>
          <p:cNvSpPr/>
          <p:nvPr/>
        </p:nvSpPr>
        <p:spPr>
          <a:xfrm>
            <a:off x="146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Enhance, don't replace</a:t>
            </a:r>
            <a:endParaRPr lang="en-US" sz="1350" dirty="0"/>
          </a:p>
        </p:txBody>
      </p:sp>
      <p:sp>
        <p:nvSpPr>
          <p:cNvPr id="16" name="Text 12"/>
          <p:cNvSpPr/>
          <p:nvPr/>
        </p:nvSpPr>
        <p:spPr>
          <a:xfrm>
            <a:off x="77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Layer explanations and comparables onto the existing Smart Pricing hosts already know.</a:t>
            </a:r>
            <a:endParaRPr lang="en-US" sz="1100" dirty="0"/>
          </a:p>
        </p:txBody>
      </p:sp>
      <p:sp>
        <p:nvSpPr>
          <p:cNvPr id="17" name="Shape 13"/>
          <p:cNvSpPr/>
          <p:nvPr/>
        </p:nvSpPr>
        <p:spPr>
          <a:xfrm>
            <a:off x="431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542032"/>
            <a:ext cx="566928" cy="566928"/>
          </a:xfrm>
          <a:prstGeom prst="ellipse">
            <a:avLst/>
          </a:prstGeom>
          <a:solidFill>
            <a:srgbClr val="FF385C"/>
          </a:solidFill>
          <a:ln/>
        </p:spPr>
        <p:txBody>
          <a:bodyPr/>
          <a:lstStyle/>
          <a:p>
            <a:endParaRPr lang="en-US"/>
          </a:p>
        </p:txBody>
      </p:sp>
      <p:sp>
        <p:nvSpPr>
          <p:cNvPr id="19" name="Text 15"/>
          <p:cNvSpPr/>
          <p:nvPr/>
        </p:nvSpPr>
        <p:spPr>
          <a:xfrm>
            <a:off x="456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2</a:t>
            </a:r>
            <a:endParaRPr lang="en-US" sz="2000" dirty="0"/>
          </a:p>
        </p:txBody>
      </p:sp>
      <p:sp>
        <p:nvSpPr>
          <p:cNvPr id="20" name="Text 16"/>
          <p:cNvSpPr/>
          <p:nvPr/>
        </p:nvSpPr>
        <p:spPr>
          <a:xfrm>
            <a:off x="527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Pilot in one market</a:t>
            </a:r>
            <a:endParaRPr lang="en-US" sz="1350" dirty="0"/>
          </a:p>
        </p:txBody>
      </p:sp>
      <p:sp>
        <p:nvSpPr>
          <p:cNvPr id="21" name="Text 17"/>
          <p:cNvSpPr/>
          <p:nvPr/>
        </p:nvSpPr>
        <p:spPr>
          <a:xfrm>
            <a:off x="458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Measure adoption and how pricing changes move both occupancy and revenue.</a:t>
            </a:r>
            <a:endParaRPr lang="en-US" sz="1100" dirty="0"/>
          </a:p>
        </p:txBody>
      </p:sp>
      <p:sp>
        <p:nvSpPr>
          <p:cNvPr id="22" name="Shape 18"/>
          <p:cNvSpPr/>
          <p:nvPr/>
        </p:nvSpPr>
        <p:spPr>
          <a:xfrm>
            <a:off x="812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542032"/>
            <a:ext cx="566928" cy="566928"/>
          </a:xfrm>
          <a:prstGeom prst="ellipse">
            <a:avLst/>
          </a:prstGeom>
          <a:solidFill>
            <a:srgbClr val="FF385C"/>
          </a:solidFill>
          <a:ln/>
        </p:spPr>
        <p:txBody>
          <a:bodyPr/>
          <a:lstStyle/>
          <a:p>
            <a:endParaRPr lang="en-US"/>
          </a:p>
        </p:txBody>
      </p:sp>
      <p:sp>
        <p:nvSpPr>
          <p:cNvPr id="24" name="Text 20"/>
          <p:cNvSpPr/>
          <p:nvPr/>
        </p:nvSpPr>
        <p:spPr>
          <a:xfrm>
            <a:off x="837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3</a:t>
            </a:r>
            <a:endParaRPr lang="en-US" sz="2000" dirty="0"/>
          </a:p>
        </p:txBody>
      </p:sp>
      <p:sp>
        <p:nvSpPr>
          <p:cNvPr id="25" name="Text 21"/>
          <p:cNvSpPr/>
          <p:nvPr/>
        </p:nvSpPr>
        <p:spPr>
          <a:xfrm>
            <a:off x="908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Learn, then scale</a:t>
            </a:r>
            <a:endParaRPr lang="en-US" sz="1350" dirty="0"/>
          </a:p>
        </p:txBody>
      </p:sp>
      <p:sp>
        <p:nvSpPr>
          <p:cNvPr id="26" name="Text 22"/>
          <p:cNvSpPr/>
          <p:nvPr/>
        </p:nvSpPr>
        <p:spPr>
          <a:xfrm>
            <a:off x="839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Use real-world results to improve the model before expanding to more cities.</a:t>
            </a:r>
            <a:endParaRPr lang="en-US" sz="1100" dirty="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4"/>
          <p:cNvSpPr/>
          <p:nvPr/>
        </p:nvSpPr>
        <p:spPr>
          <a:xfrm>
            <a:off x="777240" y="4343400"/>
            <a:ext cx="566928" cy="566928"/>
          </a:xfrm>
          <a:prstGeom prst="ellipse">
            <a:avLst/>
          </a:prstGeom>
          <a:solidFill>
            <a:srgbClr val="E6F6F4"/>
          </a:solidFill>
          <a:ln/>
        </p:spPr>
        <p:txBody>
          <a:bodyPr/>
          <a:lstStyle/>
          <a:p>
            <a:endParaRPr lang="en-US"/>
          </a:p>
        </p:txBody>
      </p:sp>
      <p:pic>
        <p:nvPicPr>
          <p:cNvPr id="29" name="Image 2" descr="/sessions/dreamy-trusting-noether/mnt/outputs/build/assets/briefcase_teal.png"/>
          <p:cNvPicPr>
            <a:picLocks noChangeAspect="1"/>
          </p:cNvPicPr>
          <p:nvPr/>
        </p:nvPicPr>
        <p:blipFill>
          <a:blip r:embed="rId5"/>
          <a:stretch>
            <a:fillRect/>
          </a:stretch>
        </p:blipFill>
        <p:spPr>
          <a:xfrm>
            <a:off x="913303" y="4479463"/>
            <a:ext cx="294803" cy="294803"/>
          </a:xfrm>
          <a:prstGeom prst="rect">
            <a:avLst/>
          </a:prstGeom>
        </p:spPr>
      </p:pic>
      <p:sp>
        <p:nvSpPr>
          <p:cNvPr id="30" name="Text 25"/>
          <p:cNvSpPr/>
          <p:nvPr/>
        </p:nvSpPr>
        <p:spPr>
          <a:xfrm>
            <a:off x="1481328" y="4370832"/>
            <a:ext cx="5486400" cy="365760"/>
          </a:xfrm>
          <a:prstGeom prst="rect">
            <a:avLst/>
          </a:prstGeom>
          <a:noFill/>
          <a:ln/>
        </p:spPr>
        <p:txBody>
          <a:bodyPr wrap="square" lIns="0" tIns="0" rIns="0" bIns="0" rtlCol="0" anchor="ctr"/>
          <a:lstStyle/>
          <a:p>
            <a:pPr marL="0" indent="0">
              <a:buNone/>
            </a:pPr>
            <a:r>
              <a:rPr lang="en-US" sz="1400" b="1" dirty="0">
                <a:solidFill>
                  <a:srgbClr val="222222"/>
                </a:solidFill>
                <a:latin typeface="Poppins" pitchFamily="34" charset="0"/>
                <a:ea typeface="Poppins" pitchFamily="34" charset="-122"/>
                <a:cs typeface="Poppins" pitchFamily="34" charset="-120"/>
              </a:rPr>
              <a:t>The bigger lesson</a:t>
            </a:r>
            <a:endParaRPr lang="en-US" sz="1400" dirty="0"/>
          </a:p>
        </p:txBody>
      </p:sp>
      <p:sp>
        <p:nvSpPr>
          <p:cNvPr id="31" name="Text 26"/>
          <p:cNvSpPr/>
          <p:nvPr/>
        </p:nvSpPr>
        <p:spPr>
          <a:xfrm>
            <a:off x="777240" y="4892040"/>
            <a:ext cx="6537960" cy="1051560"/>
          </a:xfrm>
          <a:prstGeom prst="rect">
            <a:avLst/>
          </a:prstGeom>
          <a:noFill/>
          <a:ln/>
        </p:spPr>
        <p:txBody>
          <a:bodyPr wrap="square" lIns="0" tIns="0" rIns="0" bIns="0" rtlCol="0" anchor="t"/>
          <a:lstStyle/>
          <a:p>
            <a:pPr marL="0" indent="0">
              <a:lnSpc>
                <a:spcPct val="106000"/>
              </a:lnSpc>
              <a:buNone/>
            </a:pPr>
            <a:r>
              <a:rPr lang="en-US" sz="1180" dirty="0">
                <a:solidFill>
                  <a:srgbClr val="4A4A4A"/>
                </a:solidFill>
                <a:latin typeface="Poppins" pitchFamily="34" charset="0"/>
                <a:ea typeface="Poppins" pitchFamily="34" charset="-122"/>
                <a:cs typeface="Poppins" pitchFamily="34" charset="-120"/>
              </a:rPr>
              <a:t>Good analytics isn't only accurate models — it's solving the right business problem and presenting insight people will actually use. This project brought together machine learning, product thinking, business strategy and data storytelling in one solution — skills that carry directly into our careers.</a:t>
            </a:r>
            <a:endParaRPr lang="en-US" sz="1180" dirty="0"/>
          </a:p>
        </p:txBody>
      </p:sp>
      <p:sp>
        <p:nvSpPr>
          <p:cNvPr id="32" name="Shape 27"/>
          <p:cNvSpPr/>
          <p:nvPr/>
        </p:nvSpPr>
        <p:spPr>
          <a:xfrm>
            <a:off x="7726680" y="4069080"/>
            <a:ext cx="3959352" cy="1965960"/>
          </a:xfrm>
          <a:prstGeom prst="roundRect">
            <a:avLst>
              <a:gd name="adj" fmla="val 6512"/>
            </a:avLst>
          </a:prstGeom>
          <a:solidFill>
            <a:srgbClr val="FF385C"/>
          </a:solidFill>
          <a:ln/>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dirty="0">
                <a:solidFill>
                  <a:srgbClr val="FFFFFF"/>
                </a:solidFill>
                <a:latin typeface="Poppins" pitchFamily="34" charset="0"/>
                <a:ea typeface="Poppins" pitchFamily="34" charset="-122"/>
                <a:cs typeface="Poppins" pitchFamily="34" charset="-120"/>
              </a:rPr>
              <a:t>Thank you</a:t>
            </a:r>
            <a:endParaRPr lang="en-US" sz="2600" dirty="0"/>
          </a:p>
        </p:txBody>
      </p:sp>
      <p:sp>
        <p:nvSpPr>
          <p:cNvPr id="34" name="Text 29"/>
          <p:cNvSpPr/>
          <p:nvPr/>
        </p:nvSpPr>
        <p:spPr>
          <a:xfrm>
            <a:off x="7973568" y="5029200"/>
            <a:ext cx="3474720" cy="457200"/>
          </a:xfrm>
          <a:prstGeom prst="rect">
            <a:avLst/>
          </a:prstGeom>
          <a:noFill/>
          <a:ln/>
        </p:spPr>
        <p:txBody>
          <a:bodyPr wrap="square" lIns="0" tIns="0" rIns="0" bIns="0" rtlCol="0" anchor="ctr"/>
          <a:lstStyle/>
          <a:p>
            <a:pPr marL="0" indent="0">
              <a:buNone/>
            </a:pPr>
            <a:r>
              <a:rPr lang="en-US" sz="1250" dirty="0">
                <a:solidFill>
                  <a:srgbClr val="FFFFFF"/>
                </a:solidFill>
                <a:latin typeface="Poppins" pitchFamily="34" charset="0"/>
                <a:ea typeface="Poppins" pitchFamily="34" charset="-122"/>
                <a:cs typeface="Poppins" pitchFamily="34" charset="-120"/>
              </a:rPr>
              <a:t>We'd be happy to answer any questions.</a:t>
            </a:r>
            <a:endParaRPr lang="en-US" sz="1250" dirty="0"/>
          </a:p>
        </p:txBody>
      </p:sp>
      <p:sp>
        <p:nvSpPr>
          <p:cNvPr id="35" name="Text 30"/>
          <p:cNvSpPr/>
          <p:nvPr/>
        </p:nvSpPr>
        <p:spPr>
          <a:xfrm>
            <a:off x="7973568" y="5532120"/>
            <a:ext cx="3566160" cy="365760"/>
          </a:xfrm>
          <a:prstGeom prst="rect">
            <a:avLst/>
          </a:prstGeom>
          <a:noFill/>
          <a:ln/>
        </p:spPr>
        <p:txBody>
          <a:bodyPr wrap="square" lIns="0" tIns="0" rIns="0" bIns="0" rtlCol="0" anchor="ctr"/>
          <a:lstStyle/>
          <a:p>
            <a:pPr marL="0" indent="0">
              <a:buNone/>
            </a:pPr>
            <a:r>
              <a:rPr lang="en-US" sz="1000" b="1" dirty="0">
                <a:solidFill>
                  <a:srgbClr val="FFFFFF"/>
                </a:solidFill>
                <a:latin typeface="Poppins" pitchFamily="34" charset="0"/>
                <a:ea typeface="Poppins" pitchFamily="34" charset="-122"/>
                <a:cs typeface="Poppins" pitchFamily="34" charset="-120"/>
              </a:rPr>
              <a:t>GitHub: mkdn007/Cornell-Airbnb-Capstone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000" b="1" dirty="0">
                <a:solidFill>
                  <a:srgbClr val="FFFFFF"/>
                </a:solidFill>
                <a:latin typeface="Poppins" pitchFamily="34" charset="0"/>
                <a:ea typeface="Poppins" pitchFamily="34" charset="-122"/>
                <a:cs typeface="Poppins" pitchFamily="34" charset="-120"/>
              </a:rPr>
              <a:t>BACKUP</a:t>
            </a:r>
            <a:endParaRPr lang="en-US" sz="6000" dirty="0"/>
          </a:p>
        </p:txBody>
      </p:sp>
      <p:sp>
        <p:nvSpPr>
          <p:cNvPr id="8" name="Text 3"/>
          <p:cNvSpPr/>
          <p:nvPr/>
        </p:nvSpPr>
        <p:spPr>
          <a:xfrm>
            <a:off x="804672" y="3108960"/>
            <a:ext cx="9601200" cy="457200"/>
          </a:xfrm>
          <a:prstGeom prst="rect">
            <a:avLst/>
          </a:prstGeom>
          <a:noFill/>
          <a:ln/>
        </p:spPr>
        <p:txBody>
          <a:bodyPr wrap="square" lIns="0" tIns="0" rIns="0" bIns="0" rtlCol="0" anchor="ctr"/>
          <a:lstStyle/>
          <a:p>
            <a:pPr marL="0" indent="0">
              <a:buNone/>
            </a:pPr>
            <a:r>
              <a:rPr lang="en-US" sz="1700" dirty="0">
                <a:solidFill>
                  <a:srgbClr val="FFFFFF">
                    <a:alpha val="92000"/>
                  </a:srgbClr>
                </a:solidFill>
                <a:latin typeface="Poppins" pitchFamily="34" charset="0"/>
                <a:ea typeface="Poppins" pitchFamily="34" charset="-122"/>
                <a:cs typeface="Poppins" pitchFamily="34" charset="-120"/>
              </a:rPr>
              <a:t>Not presented — held in reserve to answer questions. The full technical write-up lives in the appendix document.</a:t>
            </a:r>
            <a:endParaRPr lang="en-US" sz="1700" dirty="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B1  Model bake-off</a:t>
            </a:r>
            <a:endParaRPr lang="en-US" sz="1100" dirty="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B2  How the $7.6M is built</a:t>
            </a:r>
            <a:endParaRPr lang="en-US" sz="1100" dirty="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B3  Why we split at 142 reviews</a:t>
            </a:r>
            <a:endParaRPr lang="en-US" sz="1100" dirty="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B4  Revenue by confidence</a:t>
            </a:r>
            <a:endParaRPr lang="en-US" sz="1100" dirty="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B5  Validation &amp; methodology</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B1 · MODEL BAKE-OFF</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Models tested, held-out performance</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16</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490472">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384048">
                <a:tc>
                  <a:txBody>
                    <a:bodyPr/>
                    <a:lstStyle/>
                    <a:p>
                      <a:pPr marL="0" indent="0" algn="l">
                        <a:buNone/>
                      </a:pPr>
                      <a:r>
                        <a:rPr lang="en-US" sz="1100" b="1" dirty="0">
                          <a:solidFill>
                            <a:srgbClr val="FFFFFF"/>
                          </a:solidFill>
                          <a:latin typeface="Poppins" pitchFamily="34" charset="0"/>
                          <a:ea typeface="Poppins" pitchFamily="34" charset="-122"/>
                          <a:cs typeface="Poppins" pitchFamily="34" charset="-120"/>
                        </a:rPr>
                        <a:t>Model</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Median APE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MAE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R² (price)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R² (log)</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100" b="1" dirty="0">
                          <a:solidFill>
                            <a:srgbClr val="FFFFFF"/>
                          </a:solidFill>
                          <a:latin typeface="Poppins" pitchFamily="34" charset="0"/>
                          <a:ea typeface="Poppins" pitchFamily="34" charset="-122"/>
                          <a:cs typeface="Poppins" pitchFamily="34" charset="-120"/>
                        </a:rPr>
                        <a:t>Source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V1  Log-linear OLS (baseline)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39.2%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$113.22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0.243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0.486</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manas_model_metrics.csv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V1  Random Forest</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29.3%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$92.94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0.506</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0.619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manas_model_metrics.csv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OLS (expanded features)</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23.7%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$81.20</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0.751</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Ridge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23.8%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$81.03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0.752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Random Forest</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20.8%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$75.07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0.574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0.782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V4  GBM short-stay (prod.)</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19.2%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$102.81</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0.528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0.714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V4  GBM monthly (prod.)</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15.2%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$39.92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0.777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100" b="1" dirty="0">
                <a:solidFill>
                  <a:srgbClr val="222222"/>
                </a:solidFill>
                <a:latin typeface="Poppins" pitchFamily="34" charset="0"/>
                <a:ea typeface="Poppins" pitchFamily="34" charset="-122"/>
                <a:cs typeface="Poppins" pitchFamily="34" charset="-120"/>
              </a:rPr>
              <a:t>How to read it.  </a:t>
            </a:r>
            <a:r>
              <a:rPr lang="en-US" sz="1100" dirty="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 V2 Ridge scored 25.1% on short-stay alone and 20.9% on monthly. Two distinct stages of gain: richer features took pooled error from 39.2% to 23.7%, then the segment-split GBM took short-stay to 19.2% and monthly to 15.2%.</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B2 · HOW THE $7.6M IS BUILT</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How we built the business case</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17</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Revenue floor</a:t>
            </a:r>
            <a:endParaRPr lang="en-US" sz="1300" dirty="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a:t>
            </a:r>
            <a:endParaRPr lang="en-US" sz="1080" dirty="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Ceiling (upside)</a:t>
            </a:r>
            <a:endParaRPr lang="en-US" sz="1300" dirty="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dirty="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Incremental cost</a:t>
            </a:r>
            <a:endParaRPr lang="en-US" sz="1300" dirty="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dirty="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ROI &amp; payback</a:t>
            </a:r>
            <a:endParaRPr lang="en-US" sz="1300" dirty="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On the $1.17M floor: 25% adoption → ~4 mo payback, 580% 5-yr ROI; 35% → ~3 mo, 852%. Even 15% pays back in ~6 mo and clears 300%.</a:t>
            </a:r>
            <a:endParaRPr lang="en-US" sz="1080" dirty="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NPV-honest</a:t>
            </a:r>
            <a:endParaRPr lang="en-US" sz="1300" dirty="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Discounted at 10% (CFI standard). 5-yr net $5.63M nominal → $4.26M NPV (~24% haircut), still net-positive in Year 1. We show both.</a:t>
            </a:r>
            <a:endParaRPr lang="en-US" sz="1080" dirty="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dirty="0">
                <a:solidFill>
                  <a:srgbClr val="007A73"/>
                </a:solidFill>
                <a:latin typeface="Poppins" pitchFamily="34" charset="0"/>
                <a:ea typeface="Poppins" pitchFamily="34" charset="-122"/>
                <a:cs typeface="Poppins" pitchFamily="34" charset="-120"/>
              </a:rPr>
              <a:t>Floor of the floor</a:t>
            </a:r>
            <a:endParaRPr lang="en-US" sz="1300" dirty="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No overpriced upside — we book its loss, not its potential gain. No hotel win-back nights, no churn / LTV, no cross-market scaling. Every input rounds against us, so the real return is higher.</a:t>
            </a:r>
            <a:endParaRPr lang="en-US" sz="10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B3 · WHY WE SPLIT AT 142 REVIEWS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We apply the coefficient only where we measured it</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β = −0.92 came from established hosts. Most listings are not.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18</a:t>
            </a:r>
            <a:endParaRPr lang="en-US" sz="900" dirty="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Why we refuse to extrapolate</a:t>
            </a:r>
            <a:endParaRPr lang="en-US" sz="1500" dirty="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dirty="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dirty="0">
                <a:solidFill>
                  <a:srgbClr val="222222"/>
                </a:solidFill>
                <a:latin typeface="Poppins" pitchFamily="34" charset="0"/>
                <a:ea typeface="Poppins" pitchFamily="34" charset="-122"/>
                <a:cs typeface="Poppins" pitchFamily="34" charset="-120"/>
              </a:rPr>
              <a:t>At −1.0 the answer is zero by algebra. </a:t>
            </a:r>
            <a:r>
              <a:rPr lang="en-US" sz="1250" dirty="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 we claim nothing.</a:t>
            </a:r>
            <a:endParaRPr lang="en-US" sz="1250" dirty="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≥142 REVIEWS</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488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measured elasticity — applied</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+$0.35M</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UNDER 142 REVIEWS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1,511</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 — 76%</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−1.0</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breakeven assumed — not measured</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$0</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 — claimed nothing</a:t>
            </a: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B4 · REVENUE BY MODEL CONFIDENCE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How much rests on a confident call</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19</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Confident: raise price</a:t>
            </a:r>
            <a:endParaRPr lang="en-US" sz="1300" dirty="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449 listings — the model puts their price entirely below its calibrated band. Worth +$2.79M in host GBV.</a:t>
            </a:r>
            <a:endParaRPr lang="en-US" sz="1080" dirty="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Confident: lower price</a:t>
            </a:r>
            <a:endParaRPr lang="en-US" sz="1300" dirty="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dirty="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Uncertain</a:t>
            </a:r>
            <a:endParaRPr lang="en-US" sz="1300" dirty="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3,192 listings whose current price sits inside the band. Worth +$5.21M — 69% of the total.</a:t>
            </a:r>
            <a:endParaRPr lang="en-US" sz="1080" dirty="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The confident subset alone</a:t>
            </a:r>
            <a:endParaRPr lang="en-US" sz="1300" dirty="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dirty="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It still funds itself</a:t>
            </a:r>
            <a:endParaRPr lang="en-US" sz="1300" dirty="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dirty="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dirty="0">
                <a:solidFill>
                  <a:srgbClr val="007A73"/>
                </a:solidFill>
                <a:latin typeface="Poppins" pitchFamily="34" charset="0"/>
                <a:ea typeface="Poppins" pitchFamily="34" charset="-122"/>
                <a:cs typeface="Poppins" pitchFamily="34" charset="-120"/>
              </a:rPr>
              <a:t>What “Uncertain” means</a:t>
            </a:r>
            <a:endParaRPr lang="en-US" sz="1300" dirty="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 and the model-noise discount already haircuts it.</a:t>
            </a:r>
            <a:endParaRPr lang="en-US" sz="1080" dirty="0"/>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B5 · VALIDATION &amp; METHODOLOGY</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Why we trust the number</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statistical guardrails behind the recommendation.</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20</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Shape 6"/>
          <p:cNvSpPr/>
          <p:nvPr/>
        </p:nvSpPr>
        <p:spPr>
          <a:xfrm>
            <a:off x="722376" y="2569464"/>
            <a:ext cx="548640" cy="548640"/>
          </a:xfrm>
          <a:prstGeom prst="ellipse">
            <a:avLst/>
          </a:prstGeom>
          <a:solidFill>
            <a:srgbClr val="E6F6F4"/>
          </a:solidFill>
          <a:ln/>
        </p:spPr>
        <p:txBody>
          <a:bodyPr/>
          <a:lstStyle/>
          <a:p>
            <a:endParaRPr lang="en-US"/>
          </a:p>
        </p:txBody>
      </p:sp>
      <p:pic>
        <p:nvPicPr>
          <p:cNvPr id="11" name="Image 2" descr="/sessions/dreamy-trusting-noether/mnt/outputs/build/assets/layers_teal.png"/>
          <p:cNvPicPr>
            <a:picLocks noChangeAspect="1"/>
          </p:cNvPicPr>
          <p:nvPr/>
        </p:nvPicPr>
        <p:blipFill>
          <a:blip r:embed="rId5"/>
          <a:stretch>
            <a:fillRect/>
          </a:stretch>
        </p:blipFill>
        <p:spPr>
          <a:xfrm>
            <a:off x="854050" y="2701138"/>
            <a:ext cx="285293" cy="285293"/>
          </a:xfrm>
          <a:prstGeom prst="rect">
            <a:avLst/>
          </a:prstGeom>
        </p:spPr>
      </p:pic>
      <p:sp>
        <p:nvSpPr>
          <p:cNvPr id="12" name="Text 7"/>
          <p:cNvSpPr/>
          <p:nvPr/>
        </p:nvSpPr>
        <p:spPr>
          <a:xfrm>
            <a:off x="139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80/20 + 5-fold out-of-fold</a:t>
            </a:r>
            <a:endParaRPr lang="en-US" sz="1250" dirty="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Every listing scored by a model that never trained on it — genuinely out-of-sample.</a:t>
            </a:r>
            <a:endParaRPr lang="en-US" sz="1050" dirty="0"/>
          </a:p>
        </p:txBody>
      </p:sp>
      <p:sp>
        <p:nvSpPr>
          <p:cNvPr id="14" name="Shape 9"/>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4532376" y="2569464"/>
            <a:ext cx="548640" cy="548640"/>
          </a:xfrm>
          <a:prstGeom prst="ellipse">
            <a:avLst/>
          </a:prstGeom>
          <a:solidFill>
            <a:srgbClr val="E6F6F4"/>
          </a:solidFill>
          <a:ln/>
        </p:spPr>
        <p:txBody>
          <a:bodyPr/>
          <a:lstStyle/>
          <a:p>
            <a:endParaRPr lang="en-US"/>
          </a:p>
        </p:txBody>
      </p:sp>
      <p:pic>
        <p:nvPicPr>
          <p:cNvPr id="16" name="Image 3" descr="/sessions/dreamy-trusting-noether/mnt/outputs/build/assets/scale_teal.png"/>
          <p:cNvPicPr>
            <a:picLocks noChangeAspect="1"/>
          </p:cNvPicPr>
          <p:nvPr/>
        </p:nvPicPr>
        <p:blipFill>
          <a:blip r:embed="rId6"/>
          <a:stretch>
            <a:fillRect/>
          </a:stretch>
        </p:blipFill>
        <p:spPr>
          <a:xfrm>
            <a:off x="4664050" y="2701138"/>
            <a:ext cx="285293" cy="285293"/>
          </a:xfrm>
          <a:prstGeom prst="rect">
            <a:avLst/>
          </a:prstGeom>
        </p:spPr>
      </p:pic>
      <p:sp>
        <p:nvSpPr>
          <p:cNvPr id="17" name="Text 11"/>
          <p:cNvSpPr/>
          <p:nvPr/>
        </p:nvSpPr>
        <p:spPr>
          <a:xfrm>
            <a:off x="520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Duan smearing correction</a:t>
            </a:r>
            <a:endParaRPr lang="en-US" sz="1250" dirty="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dirty="0"/>
          </a:p>
        </p:txBody>
      </p:sp>
      <p:sp>
        <p:nvSpPr>
          <p:cNvPr id="19" name="Shape 13"/>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0" name="Shape 14"/>
          <p:cNvSpPr/>
          <p:nvPr/>
        </p:nvSpPr>
        <p:spPr>
          <a:xfrm>
            <a:off x="8342376" y="2569464"/>
            <a:ext cx="548640" cy="548640"/>
          </a:xfrm>
          <a:prstGeom prst="ellipse">
            <a:avLst/>
          </a:prstGeom>
          <a:solidFill>
            <a:srgbClr val="E6F6F4"/>
          </a:solidFill>
          <a:ln/>
        </p:spPr>
        <p:txBody>
          <a:bodyPr/>
          <a:lstStyle/>
          <a:p>
            <a:endParaRPr lang="en-US"/>
          </a:p>
        </p:txBody>
      </p:sp>
      <p:pic>
        <p:nvPicPr>
          <p:cNvPr id="21" name="Image 4" descr="/sessions/dreamy-trusting-noether/mnt/outputs/build/assets/check_teal.png"/>
          <p:cNvPicPr>
            <a:picLocks noChangeAspect="1"/>
          </p:cNvPicPr>
          <p:nvPr/>
        </p:nvPicPr>
        <p:blipFill>
          <a:blip r:embed="rId7"/>
          <a:stretch>
            <a:fillRect/>
          </a:stretch>
        </p:blipFill>
        <p:spPr>
          <a:xfrm>
            <a:off x="8474050" y="2701138"/>
            <a:ext cx="285293" cy="285293"/>
          </a:xfrm>
          <a:prstGeom prst="rect">
            <a:avLst/>
          </a:prstGeom>
        </p:spPr>
      </p:pic>
      <p:sp>
        <p:nvSpPr>
          <p:cNvPr id="22" name="Text 15"/>
          <p:cNvSpPr/>
          <p:nvPr/>
        </p:nvSpPr>
        <p:spPr>
          <a:xfrm>
            <a:off x="901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HC3 robust standard errors</a:t>
            </a:r>
            <a:endParaRPr lang="en-US" sz="1250" dirty="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Heteroskedasticity-consistent errors on every coefficient.</a:t>
            </a:r>
            <a:endParaRPr lang="en-US" sz="1050" dirty="0"/>
          </a:p>
        </p:txBody>
      </p:sp>
      <p:sp>
        <p:nvSpPr>
          <p:cNvPr id="24" name="Shape 17"/>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18"/>
          <p:cNvSpPr/>
          <p:nvPr/>
        </p:nvSpPr>
        <p:spPr>
          <a:xfrm>
            <a:off x="722376" y="4526280"/>
            <a:ext cx="548640" cy="548640"/>
          </a:xfrm>
          <a:prstGeom prst="ellipse">
            <a:avLst/>
          </a:prstGeom>
          <a:solidFill>
            <a:srgbClr val="E6F6F4"/>
          </a:solidFill>
          <a:ln/>
        </p:spPr>
        <p:txBody>
          <a:bodyPr/>
          <a:lstStyle/>
          <a:p>
            <a:endParaRPr lang="en-US"/>
          </a:p>
        </p:txBody>
      </p:sp>
      <p:pic>
        <p:nvPicPr>
          <p:cNvPr id="26" name="Image 5" descr="/sessions/dreamy-trusting-noether/mnt/outputs/build/assets/filter_teal.png"/>
          <p:cNvPicPr>
            <a:picLocks noChangeAspect="1"/>
          </p:cNvPicPr>
          <p:nvPr/>
        </p:nvPicPr>
        <p:blipFill>
          <a:blip r:embed="rId8"/>
          <a:stretch>
            <a:fillRect/>
          </a:stretch>
        </p:blipFill>
        <p:spPr>
          <a:xfrm>
            <a:off x="854050" y="4657954"/>
            <a:ext cx="285293" cy="285293"/>
          </a:xfrm>
          <a:prstGeom prst="rect">
            <a:avLst/>
          </a:prstGeom>
        </p:spPr>
      </p:pic>
      <p:sp>
        <p:nvSpPr>
          <p:cNvPr id="27" name="Text 19"/>
          <p:cNvSpPr/>
          <p:nvPr/>
        </p:nvSpPr>
        <p:spPr>
          <a:xfrm>
            <a:off x="139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Ridge multicollinearity check</a:t>
            </a:r>
            <a:endParaRPr lang="en-US" sz="1250" dirty="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dirty="0"/>
          </a:p>
        </p:txBody>
      </p:sp>
      <p:sp>
        <p:nvSpPr>
          <p:cNvPr id="29" name="Shape 21"/>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2"/>
          <p:cNvSpPr/>
          <p:nvPr/>
        </p:nvSpPr>
        <p:spPr>
          <a:xfrm>
            <a:off x="4532376" y="4526280"/>
            <a:ext cx="548640" cy="548640"/>
          </a:xfrm>
          <a:prstGeom prst="ellipse">
            <a:avLst/>
          </a:prstGeom>
          <a:solidFill>
            <a:srgbClr val="E6F6F4"/>
          </a:solidFill>
          <a:ln/>
        </p:spPr>
        <p:txBody>
          <a:bodyPr/>
          <a:lstStyle/>
          <a:p>
            <a:endParaRPr lang="en-US"/>
          </a:p>
        </p:txBody>
      </p:sp>
      <p:pic>
        <p:nvPicPr>
          <p:cNvPr id="31" name="Image 6" descr="/sessions/dreamy-trusting-noether/mnt/outputs/build/assets/calendar_teal.png"/>
          <p:cNvPicPr>
            <a:picLocks noChangeAspect="1"/>
          </p:cNvPicPr>
          <p:nvPr/>
        </p:nvPicPr>
        <p:blipFill>
          <a:blip r:embed="rId9"/>
          <a:stretch>
            <a:fillRect/>
          </a:stretch>
        </p:blipFill>
        <p:spPr>
          <a:xfrm>
            <a:off x="4664050" y="4657954"/>
            <a:ext cx="285293" cy="285293"/>
          </a:xfrm>
          <a:prstGeom prst="rect">
            <a:avLst/>
          </a:prstGeom>
        </p:spPr>
      </p:pic>
      <p:sp>
        <p:nvSpPr>
          <p:cNvPr id="32" name="Text 23"/>
          <p:cNvSpPr/>
          <p:nvPr/>
        </p:nvSpPr>
        <p:spPr>
          <a:xfrm>
            <a:off x="520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Segment split</a:t>
            </a:r>
            <a:endParaRPr lang="en-US" sz="1250" dirty="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Short-stay ($376.82 mean) vs monthly ($162.73) modeled separately.</a:t>
            </a:r>
            <a:endParaRPr lang="en-US" sz="1050" dirty="0"/>
          </a:p>
        </p:txBody>
      </p:sp>
      <p:sp>
        <p:nvSpPr>
          <p:cNvPr id="34" name="Shape 25"/>
          <p:cNvSpPr/>
          <p:nvPr/>
        </p:nvSpPr>
        <p:spPr>
          <a:xfrm>
            <a:off x="812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6"/>
          <p:cNvSpPr/>
          <p:nvPr/>
        </p:nvSpPr>
        <p:spPr>
          <a:xfrm>
            <a:off x="8342376" y="4526280"/>
            <a:ext cx="548640" cy="548640"/>
          </a:xfrm>
          <a:prstGeom prst="ellipse">
            <a:avLst/>
          </a:prstGeom>
          <a:solidFill>
            <a:srgbClr val="FFF1E9"/>
          </a:solidFill>
          <a:ln/>
        </p:spPr>
        <p:txBody>
          <a:bodyPr/>
          <a:lstStyle/>
          <a:p>
            <a:endParaRPr lang="en-US"/>
          </a:p>
        </p:txBody>
      </p:sp>
      <p:pic>
        <p:nvPicPr>
          <p:cNvPr id="36" name="Image 7" descr="/sessions/dreamy-trusting-noether/mnt/outputs/build/assets/alert_orange.png"/>
          <p:cNvPicPr>
            <a:picLocks noChangeAspect="1"/>
          </p:cNvPicPr>
          <p:nvPr/>
        </p:nvPicPr>
        <p:blipFill>
          <a:blip r:embed="rId10"/>
          <a:stretch>
            <a:fillRect/>
          </a:stretch>
        </p:blipFill>
        <p:spPr>
          <a:xfrm>
            <a:off x="8474050" y="4657954"/>
            <a:ext cx="285293" cy="285293"/>
          </a:xfrm>
          <a:prstGeom prst="rect">
            <a:avLst/>
          </a:prstGeom>
        </p:spPr>
      </p:pic>
      <p:sp>
        <p:nvSpPr>
          <p:cNvPr id="37" name="Text 27"/>
          <p:cNvSpPr/>
          <p:nvPr/>
        </p:nvSpPr>
        <p:spPr>
          <a:xfrm>
            <a:off x="901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Known limit</a:t>
            </a:r>
            <a:endParaRPr lang="en-US" sz="1250" dirty="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TotalTime>0</TotalTime>
  <Words>5968</Words>
  <Application>Microsoft Office PowerPoint</Application>
  <PresentationFormat>Widescreen</PresentationFormat>
  <Paragraphs>423</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Poppins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lastModifiedBy>Brendan Meara</cp:lastModifiedBy>
  <cp:revision>2</cp:revision>
  <dcterms:created xsi:type="dcterms:W3CDTF">2026-07-29T22:50:08Z</dcterms:created>
  <dcterms:modified xsi:type="dcterms:W3CDTF">2026-08-01T13:11:41Z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