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4" r:id="rId18"/>
    <p:sldId id="277" r:id="rId19"/>
    <p:sldId id="278" r:id="rId20"/>
    <p:sldId id="276" r:id="rId21"/>
    <p:sldId id="279" r:id="rId33"/>
  </p:sldIdLst>
  <p:sldSz cx="12192000" cy="6858000"/>
  <p:notesSz cx="6858000" cy="12192000"/>
  <p:embeddedFontLst>
    <p:embeddedFont>
      <p:font typeface="Poppins"/>
      <p:regular r:id="rId23"/>
      <p:bold r:id="rId24"/>
      <p:italic r:id="rId25"/>
      <p:boldItalic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7ED431-A36E-5246-BA68-9A28E96FD5F9}" v="187" dt="2026-08-01T15:54:40.285"/>
    <p1510:client id="{1190C936-1C69-D525-5532-20334E3615C6}" v="46" dt="2026-08-01T14:40:37.824"/>
    <p1510:client id="{51B8CC3D-048D-53CB-B45F-0DB0D9AB71BE}" v="242" dt="2026-08-01T15:42:01.386"/>
    <p1510:client id="{5966FAF6-CDAA-5149-9790-274323ABB908}" v="99" dt="2026-08-01T14:40:22.027"/>
    <p1510:client id="{F4459766-7F3D-414A-BF06-80034270BD7A}" v="1" dt="2026-08-01T13:59:40.7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font" Target="fonts/font3.fntdata"/><Relationship Id="rId26" Type="http://schemas.openxmlformats.org/officeDocument/2006/relationships/font" Target="fonts/font4.fntdata"/><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5966FAF6-CDAA-5149-9790-274323ABB908}"/>
    <pc:docChg chg="modSld">
      <pc:chgData name="Guest User" userId="" providerId="Windows Live" clId="Web-{5966FAF6-CDAA-5149-9790-274323ABB908}" dt="2026-08-01T14:40:18.168" v="96" actId="20577"/>
      <pc:docMkLst>
        <pc:docMk/>
      </pc:docMkLst>
      <pc:sldChg chg="modSp">
        <pc:chgData name="Guest User" userId="" providerId="Windows Live" clId="Web-{5966FAF6-CDAA-5149-9790-274323ABB908}" dt="2026-08-01T14:40:18.168" v="96" actId="20577"/>
        <pc:sldMkLst>
          <pc:docMk/>
          <pc:sldMk cId="0" sldId="258"/>
        </pc:sldMkLst>
        <pc:spChg chg="mod">
          <ac:chgData name="Guest User" userId="" providerId="Windows Live" clId="Web-{5966FAF6-CDAA-5149-9790-274323ABB908}" dt="2026-08-01T14:40:18.168" v="96" actId="20577"/>
          <ac:spMkLst>
            <pc:docMk/>
            <pc:sldMk cId="0" sldId="258"/>
            <ac:spMk id="32" creationId="{00000000-0000-0000-0000-000000000000}"/>
          </ac:spMkLst>
        </pc:spChg>
      </pc:sldChg>
    </pc:docChg>
  </pc:docChgLst>
  <pc:docChgLst>
    <pc:chgData name="Guest User" providerId="Windows Live" clId="Web-{1190C936-1C69-D525-5532-20334E3615C6}"/>
    <pc:docChg chg="modSld">
      <pc:chgData name="Guest User" userId="" providerId="Windows Live" clId="Web-{1190C936-1C69-D525-5532-20334E3615C6}" dt="2026-08-01T14:40:37.824" v="44" actId="1076"/>
      <pc:docMkLst>
        <pc:docMk/>
      </pc:docMkLst>
      <pc:sldChg chg="delSp modSp">
        <pc:chgData name="Guest User" userId="" providerId="Windows Live" clId="Web-{1190C936-1C69-D525-5532-20334E3615C6}" dt="2026-08-01T14:26:52.623" v="6"/>
        <pc:sldMkLst>
          <pc:docMk/>
          <pc:sldMk cId="0" sldId="257"/>
        </pc:sldMkLst>
        <pc:spChg chg="mod">
          <ac:chgData name="Guest User" userId="" providerId="Windows Live" clId="Web-{1190C936-1C69-D525-5532-20334E3615C6}" dt="2026-08-01T14:25:51.415" v="0" actId="20577"/>
          <ac:spMkLst>
            <pc:docMk/>
            <pc:sldMk cId="0" sldId="257"/>
            <ac:spMk id="3" creationId="{00000000-0000-0000-0000-000000000000}"/>
          </ac:spMkLst>
        </pc:spChg>
        <pc:spChg chg="mod">
          <ac:chgData name="Guest User" userId="" providerId="Windows Live" clId="Web-{1190C936-1C69-D525-5532-20334E3615C6}" dt="2026-08-01T14:26:46.888" v="5" actId="20577"/>
          <ac:spMkLst>
            <pc:docMk/>
            <pc:sldMk cId="0" sldId="257"/>
            <ac:spMk id="16" creationId="{00000000-0000-0000-0000-000000000000}"/>
          </ac:spMkLst>
        </pc:spChg>
        <pc:spChg chg="del">
          <ac:chgData name="Guest User" userId="" providerId="Windows Live" clId="Web-{1190C936-1C69-D525-5532-20334E3615C6}" dt="2026-08-01T14:26:52.623" v="6"/>
          <ac:spMkLst>
            <pc:docMk/>
            <pc:sldMk cId="0" sldId="257"/>
            <ac:spMk id="23" creationId="{00000000-0000-0000-0000-000000000000}"/>
          </ac:spMkLst>
        </pc:spChg>
      </pc:sldChg>
      <pc:sldChg chg="modSp">
        <pc:chgData name="Guest User" userId="" providerId="Windows Live" clId="Web-{1190C936-1C69-D525-5532-20334E3615C6}" dt="2026-08-01T14:40:37.824" v="44" actId="1076"/>
        <pc:sldMkLst>
          <pc:docMk/>
          <pc:sldMk cId="0" sldId="258"/>
        </pc:sldMkLst>
        <pc:spChg chg="mod">
          <ac:chgData name="Guest User" userId="" providerId="Windows Live" clId="Web-{1190C936-1C69-D525-5532-20334E3615C6}" dt="2026-08-01T14:40:37.824" v="44" actId="1076"/>
          <ac:spMkLst>
            <pc:docMk/>
            <pc:sldMk cId="0" sldId="258"/>
            <ac:spMk id="28" creationId="{00000000-0000-0000-0000-000000000000}"/>
          </ac:spMkLst>
        </pc:spChg>
        <pc:spChg chg="mod">
          <ac:chgData name="Guest User" userId="" providerId="Windows Live" clId="Web-{1190C936-1C69-D525-5532-20334E3615C6}" dt="2026-08-01T14:40:14.571" v="43" actId="20577"/>
          <ac:spMkLst>
            <pc:docMk/>
            <pc:sldMk cId="0" sldId="258"/>
            <ac:spMk id="32" creationId="{00000000-0000-0000-0000-000000000000}"/>
          </ac:spMkLst>
        </pc:spChg>
        <pc:spChg chg="mod">
          <ac:chgData name="Guest User" userId="" providerId="Windows Live" clId="Web-{1190C936-1C69-D525-5532-20334E3615C6}" dt="2026-08-01T14:35:47.686" v="36" actId="20577"/>
          <ac:spMkLst>
            <pc:docMk/>
            <pc:sldMk cId="0" sldId="258"/>
            <ac:spMk id="37" creationId="{00000000-0000-0000-0000-000000000000}"/>
          </ac:spMkLst>
        </pc:spChg>
      </pc:sldChg>
    </pc:docChg>
  </pc:docChgLst>
  <pc:docChgLst>
    <pc:chgData name="Guest User" providerId="Windows Live" clId="Web-{51B8CC3D-048D-53CB-B45F-0DB0D9AB71BE}"/>
    <pc:docChg chg="modSld">
      <pc:chgData name="Guest User" userId="" providerId="Windows Live" clId="Web-{51B8CC3D-048D-53CB-B45F-0DB0D9AB71BE}" dt="2026-08-01T15:42:01.386" v="240" actId="20577"/>
      <pc:docMkLst>
        <pc:docMk/>
      </pc:docMkLst>
      <pc:sldChg chg="modSp">
        <pc:chgData name="Guest User" userId="" providerId="Windows Live" clId="Web-{51B8CC3D-048D-53CB-B45F-0DB0D9AB71BE}" dt="2026-08-01T14:42:45.200" v="24" actId="1076"/>
        <pc:sldMkLst>
          <pc:docMk/>
          <pc:sldMk cId="0" sldId="258"/>
        </pc:sldMkLst>
        <pc:spChg chg="mod">
          <ac:chgData name="Guest User" userId="" providerId="Windows Live" clId="Web-{51B8CC3D-048D-53CB-B45F-0DB0D9AB71BE}" dt="2026-08-01T14:42:45.200" v="24" actId="1076"/>
          <ac:spMkLst>
            <pc:docMk/>
            <pc:sldMk cId="0" sldId="258"/>
            <ac:spMk id="32" creationId="{00000000-0000-0000-0000-000000000000}"/>
          </ac:spMkLst>
        </pc:spChg>
      </pc:sldChg>
      <pc:sldChg chg="modSp">
        <pc:chgData name="Guest User" userId="" providerId="Windows Live" clId="Web-{51B8CC3D-048D-53CB-B45F-0DB0D9AB71BE}" dt="2026-08-01T14:44:03.343" v="42" actId="20577"/>
        <pc:sldMkLst>
          <pc:docMk/>
          <pc:sldMk cId="0" sldId="259"/>
        </pc:sldMkLst>
        <pc:spChg chg="mod">
          <ac:chgData name="Guest User" userId="" providerId="Windows Live" clId="Web-{51B8CC3D-048D-53CB-B45F-0DB0D9AB71BE}" dt="2026-08-01T14:44:03.343" v="42" actId="20577"/>
          <ac:spMkLst>
            <pc:docMk/>
            <pc:sldMk cId="0" sldId="259"/>
            <ac:spMk id="3" creationId="{00000000-0000-0000-0000-000000000000}"/>
          </ac:spMkLst>
        </pc:spChg>
      </pc:sldChg>
      <pc:sldChg chg="delSp modSp">
        <pc:chgData name="Guest User" userId="" providerId="Windows Live" clId="Web-{51B8CC3D-048D-53CB-B45F-0DB0D9AB71BE}" dt="2026-08-01T15:42:01.386" v="240" actId="20577"/>
        <pc:sldMkLst>
          <pc:docMk/>
          <pc:sldMk cId="0" sldId="260"/>
        </pc:sldMkLst>
        <pc:spChg chg="mod">
          <ac:chgData name="Guest User" userId="" providerId="Windows Live" clId="Web-{51B8CC3D-048D-53CB-B45F-0DB0D9AB71BE}" dt="2026-08-01T14:48:03.164" v="117" actId="20577"/>
          <ac:spMkLst>
            <pc:docMk/>
            <pc:sldMk cId="0" sldId="260"/>
            <ac:spMk id="3" creationId="{00000000-0000-0000-0000-000000000000}"/>
          </ac:spMkLst>
        </pc:spChg>
        <pc:spChg chg="mod">
          <ac:chgData name="Guest User" userId="" providerId="Windows Live" clId="Web-{51B8CC3D-048D-53CB-B45F-0DB0D9AB71BE}" dt="2026-08-01T15:37:26.469" v="200" actId="20577"/>
          <ac:spMkLst>
            <pc:docMk/>
            <pc:sldMk cId="0" sldId="260"/>
            <ac:spMk id="4" creationId="{00000000-0000-0000-0000-000000000000}"/>
          </ac:spMkLst>
        </pc:spChg>
        <pc:spChg chg="del mod">
          <ac:chgData name="Guest User" userId="" providerId="Windows Live" clId="Web-{51B8CC3D-048D-53CB-B45F-0DB0D9AB71BE}" dt="2026-08-01T15:40:32.149" v="233"/>
          <ac:spMkLst>
            <pc:docMk/>
            <pc:sldMk cId="0" sldId="260"/>
            <ac:spMk id="37" creationId="{00000000-0000-0000-0000-000000000000}"/>
          </ac:spMkLst>
        </pc:spChg>
        <pc:spChg chg="del">
          <ac:chgData name="Guest User" userId="" providerId="Windows Live" clId="Web-{51B8CC3D-048D-53CB-B45F-0DB0D9AB71BE}" dt="2026-08-01T15:37:34.235" v="202"/>
          <ac:spMkLst>
            <pc:docMk/>
            <pc:sldMk cId="0" sldId="260"/>
            <ac:spMk id="41" creationId="{00000000-0000-0000-0000-000000000000}"/>
          </ac:spMkLst>
        </pc:spChg>
        <pc:spChg chg="mod">
          <ac:chgData name="Guest User" userId="" providerId="Windows Live" clId="Web-{51B8CC3D-048D-53CB-B45F-0DB0D9AB71BE}" dt="2026-08-01T15:42:01.386" v="240" actId="20577"/>
          <ac:spMkLst>
            <pc:docMk/>
            <pc:sldMk cId="0" sldId="260"/>
            <ac:spMk id="42" creationId="{00000000-0000-0000-0000-000000000000}"/>
          </ac:spMkLst>
        </pc:spChg>
      </pc:sldChg>
      <pc:sldChg chg="modSp">
        <pc:chgData name="Guest User" userId="" providerId="Windows Live" clId="Web-{51B8CC3D-048D-53CB-B45F-0DB0D9AB71BE}" dt="2026-08-01T15:26:14.365" v="160" actId="20577"/>
        <pc:sldMkLst>
          <pc:docMk/>
          <pc:sldMk cId="0" sldId="261"/>
        </pc:sldMkLst>
        <pc:spChg chg="mod">
          <ac:chgData name="Guest User" userId="" providerId="Windows Live" clId="Web-{51B8CC3D-048D-53CB-B45F-0DB0D9AB71BE}" dt="2026-08-01T15:26:14.365" v="160" actId="20577"/>
          <ac:spMkLst>
            <pc:docMk/>
            <pc:sldMk cId="0" sldId="261"/>
            <ac:spMk id="4" creationId="{00000000-0000-0000-0000-000000000000}"/>
          </ac:spMkLst>
        </pc:spChg>
        <pc:spChg chg="mod">
          <ac:chgData name="Guest User" userId="" providerId="Windows Live" clId="Web-{51B8CC3D-048D-53CB-B45F-0DB0D9AB71BE}" dt="2026-08-01T15:25:34.567" v="155" actId="20577"/>
          <ac:spMkLst>
            <pc:docMk/>
            <pc:sldMk cId="0" sldId="261"/>
            <ac:spMk id="28" creationId="{00000000-0000-0000-0000-000000000000}"/>
          </ac:spMkLst>
        </pc:spChg>
      </pc:sldChg>
    </pc:docChg>
  </pc:docChgLst>
  <pc:docChgLst>
    <pc:chgData name="Guest User" providerId="Windows Live" clId="Web-{067ED431-A36E-5246-BA68-9A28E96FD5F9}"/>
    <pc:docChg chg="modSld">
      <pc:chgData name="Guest User" userId="" providerId="Windows Live" clId="Web-{067ED431-A36E-5246-BA68-9A28E96FD5F9}" dt="2026-08-01T15:54:40.285" v="185" actId="20577"/>
      <pc:docMkLst>
        <pc:docMk/>
      </pc:docMkLst>
      <pc:sldChg chg="addSp delSp modSp">
        <pc:chgData name="Guest User" userId="" providerId="Windows Live" clId="Web-{067ED431-A36E-5246-BA68-9A28E96FD5F9}" dt="2026-08-01T15:45:18.609" v="47" actId="20577"/>
        <pc:sldMkLst>
          <pc:docMk/>
          <pc:sldMk cId="0" sldId="260"/>
        </pc:sldMkLst>
        <pc:spChg chg="add del">
          <ac:chgData name="Guest User" userId="" providerId="Windows Live" clId="Web-{067ED431-A36E-5246-BA68-9A28E96FD5F9}" dt="2026-08-01T15:42:58.729" v="4"/>
          <ac:spMkLst>
            <pc:docMk/>
            <pc:sldMk cId="0" sldId="260"/>
            <ac:spMk id="12" creationId="{4386B7B6-217F-B2A2-D7D0-DC7A7F3F890F}"/>
          </ac:spMkLst>
        </pc:spChg>
        <pc:spChg chg="mod">
          <ac:chgData name="Guest User" userId="" providerId="Windows Live" clId="Web-{067ED431-A36E-5246-BA68-9A28E96FD5F9}" dt="2026-08-01T15:44:27.404" v="36" actId="20577"/>
          <ac:spMkLst>
            <pc:docMk/>
            <pc:sldMk cId="0" sldId="260"/>
            <ac:spMk id="40" creationId="{00000000-0000-0000-0000-000000000000}"/>
          </ac:spMkLst>
        </pc:spChg>
        <pc:spChg chg="mod">
          <ac:chgData name="Guest User" userId="" providerId="Windows Live" clId="Web-{067ED431-A36E-5246-BA68-9A28E96FD5F9}" dt="2026-08-01T15:45:18.609" v="47" actId="20577"/>
          <ac:spMkLst>
            <pc:docMk/>
            <pc:sldMk cId="0" sldId="260"/>
            <ac:spMk id="42" creationId="{00000000-0000-0000-0000-000000000000}"/>
          </ac:spMkLst>
        </pc:spChg>
        <pc:picChg chg="mod">
          <ac:chgData name="Guest User" userId="" providerId="Windows Live" clId="Web-{067ED431-A36E-5246-BA68-9A28E96FD5F9}" dt="2026-08-01T15:44:30.514" v="37" actId="1076"/>
          <ac:picMkLst>
            <pc:docMk/>
            <pc:sldMk cId="0" sldId="260"/>
            <ac:picMk id="39" creationId="{00000000-0000-0000-0000-000000000000}"/>
          </ac:picMkLst>
        </pc:picChg>
      </pc:sldChg>
      <pc:sldChg chg="addSp delSp modSp">
        <pc:chgData name="Guest User" userId="" providerId="Windows Live" clId="Web-{067ED431-A36E-5246-BA68-9A28E96FD5F9}" dt="2026-08-01T15:54:40.285" v="185" actId="20577"/>
        <pc:sldMkLst>
          <pc:docMk/>
          <pc:sldMk cId="0" sldId="261"/>
        </pc:sldMkLst>
        <pc:spChg chg="mod">
          <ac:chgData name="Guest User" userId="" providerId="Windows Live" clId="Web-{067ED431-A36E-5246-BA68-9A28E96FD5F9}" dt="2026-08-01T15:47:31.348" v="66" actId="1076"/>
          <ac:spMkLst>
            <pc:docMk/>
            <pc:sldMk cId="0" sldId="261"/>
            <ac:spMk id="3" creationId="{00000000-0000-0000-0000-000000000000}"/>
          </ac:spMkLst>
        </pc:spChg>
        <pc:spChg chg="add del mod">
          <ac:chgData name="Guest User" userId="" providerId="Windows Live" clId="Web-{067ED431-A36E-5246-BA68-9A28E96FD5F9}" dt="2026-08-01T15:52:35.218" v="148" actId="20577"/>
          <ac:spMkLst>
            <pc:docMk/>
            <pc:sldMk cId="0" sldId="261"/>
            <ac:spMk id="4" creationId="{00000000-0000-0000-0000-000000000000}"/>
          </ac:spMkLst>
        </pc:spChg>
        <pc:spChg chg="mod">
          <ac:chgData name="Guest User" userId="" providerId="Windows Live" clId="Web-{067ED431-A36E-5246-BA68-9A28E96FD5F9}" dt="2026-08-01T15:54:40.285" v="185" actId="20577"/>
          <ac:spMkLst>
            <pc:docMk/>
            <pc:sldMk cId="0" sldId="261"/>
            <ac:spMk id="27" creationId="{00000000-0000-0000-0000-000000000000}"/>
          </ac:spMkLst>
        </pc:spChg>
        <pc:spChg chg="mod">
          <ac:chgData name="Guest User" userId="" providerId="Windows Live" clId="Web-{067ED431-A36E-5246-BA68-9A28E96FD5F9}" dt="2026-08-01T15:54:06.644" v="173" actId="20577"/>
          <ac:spMkLst>
            <pc:docMk/>
            <pc:sldMk cId="0" sldId="261"/>
            <ac:spMk id="30"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Cumulative adoption</c:v>
                </c:pt>
              </c:strCache>
            </c:strRef>
          </c:tx>
          <c:spPr>
            <a:ln w="31750">
              <a:solidFill>
                <a:srgbClr val="FF385C"/>
              </a:solidFill>
            </a:ln>
          </c:spPr>
          <c:marker>
            <c:spPr>
              <a:solidFill>
                <a:srgbClr val="FF385C"/>
              </a:solidFill>
              <a:ln>
                <a:solidFill>
                  <a:srgbClr val="FF385C"/>
                </a:solidFill>
              </a:ln>
            </c:spPr>
          </c:marker>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10.0</c:v>
                </c:pt>
                <c:pt idx="1">
                  <c:v>24.0</c:v>
                </c:pt>
                <c:pt idx="2">
                  <c:v>38.0</c:v>
                </c:pt>
                <c:pt idx="3">
                  <c:v>42.0</c:v>
                </c:pt>
                <c:pt idx="4">
                  <c:v>42.0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6E6E6"/>
            </a:solidFill>
          </a:ln>
        </c:spPr>
        <c:txPr>
          <a:bodyPr/>
          <a:lstStyle/>
          <a:p>
            <a:pPr>
              <a:defRPr sz="1100">
                <a:solidFill>
                  <a:srgbClr val="717171"/>
                </a:solidFill>
              </a:defRPr>
            </a:pPr>
          </a:p>
        </c:txPr>
        <c:crossAx val="2140495176"/>
        <c:crosses val="autoZero"/>
        <c:auto val="1"/>
        <c:lblAlgn val="ctr"/>
        <c:lblOffset val="100"/>
        <c:noMultiLvlLbl val="0"/>
      </c:catAx>
      <c:valAx>
        <c:axId val="2140495176"/>
        <c:scaling>
          <c:max val="50.0"/>
          <c:min val="0.0"/>
        </c:scaling>
        <c:delete val="0"/>
        <c:axPos val="l"/>
        <c:majorGridlines>
          <c:spPr>
            <a:ln w="9525">
              <a:solidFill>
                <a:srgbClr val="E6E6E6"/>
              </a:solidFill>
            </a:ln>
          </c:spPr>
        </c:majorGridlines>
        <c:numFmt formatCode="0&quot;%&quot;" sourceLinked="0"/>
        <c:majorTickMark val="out"/>
        <c:minorTickMark val="none"/>
        <c:tickLblPos val="nextTo"/>
        <c:spPr>
          <a:ln>
            <a:noFill/>
          </a:ln>
        </c:spPr>
        <c:txPr>
          <a:bodyPr/>
          <a:lstStyle/>
          <a:p>
            <a:pPr>
              <a:defRPr sz="1100">
                <a:solidFill>
                  <a:srgbClr val="717171"/>
                </a:solidFill>
              </a:defRPr>
            </a:pPr>
          </a:p>
        </c:txPr>
        <c:crossAx val="2118791784"/>
        <c:crosses val="autoZero"/>
        <c:majorUnit val="10.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Brendan (~45s).
"Good afternoon everyone, and thank you for being here. We're Team 6, and today we'll present our capstone project, Airbnb Pricing Intelligence. Over the past few months we've looked at one question that sounds simple but is genuinely hard: how do you know if an Airbnb listing is priced correctly? The deeper we dug, the clearer it got that this isn't only a machine-learning problem ,  it's a business problem and a trust problem. Today we'll walk you through what we found, how we approached it, the product we built, and the impact it could have for Airbnb and its hosts."
TRANSITION: "So let's start with the problem we set out to solve." [Brendan continues to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Brendan (~1.5 min).
"Most Airbnb hosts want to maximize revenue, but pricing isn't easy. Some price on experience, some copy nearby listings, some use Airbnb's Smart Pricing. The catch: Smart Pricing gives a recommendation but doesn't really explain why ,  you're expected to trust a number without knowing which comparable listings were used, what features drove it, or whether you have room to charge more. So we asked: could we build a pricing tool that not only predicts a fair price, but helps hosts understand and trust it? Our answer combines machine learning with comparable listings, pricing insights, and an interactive dashboard. The goal isn't to replace Smart Pricing ,  it's to make it transparent and easy to act on."
TRANSITION: "Before we show how we built it, let's look at why this problem exists. I'll hand to Jai." [Hand to Jai]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piece ,  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"We intentionally focused on New York City. Rather than model Airbnb's entire global marketplace, we wanted one market where we could build, test and evaluate. We used the public Inside Airbnb dataset ,  nearly 9,800 active listings with nightly price, availability, reviews, amenities, location and host characteristics. We cleaned the data, handled missing values, engineered features, and prepared it for analysis. Then, importantly, we didn't jump straight into machine learning ,  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"One of the most interesting relationships was between host quality and occupancy. More experienced, highly reviewed hosts maintain noticeably higher occupancy ,  listings with 51+ reviews average about 42% occupancy versus 34% for those with under ten, and superhosts run higher than regular hosts. That tells us pricing isn't the only thing driving demand ,  reviews, reputation and listing quality matter too, so we shouldn't treat price as the only lever. We also saw that some listings were priced close to what we'd expect while others were clearly above or below similar properties. That raised the real question: instead of asking whether a listing is expensive or cheap, could we estimate what a fair market price should be? Answering that became the focus of our model."
TRANSITION: "So we moved from exploration to building the product itself. Over to Manas." [Hand to Manas]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(~1.5 min).
"Our goal wasn't to build another pricing calculator ,  Airbnb already has one. It was to help hosts understand the recommendation they're given. If someone tells you to change your price, your first question is usually 'why?' Our product answers that: instead of a single number, it gives a recommended fair value, shows comparable listings that support it, highlights amenity differences, and lets the host explore how changing price could affect revenue. One idea from our coach really shaped this ,  Commander's Intent: people make better decisions when they understand the reasoning, not when they're just told what to do. That applies perfectly here. So the product isn't only about predicting a price ,  it's about helping hosts price with confidence."
TRANSITION: "Of course, that only works if the recommendation is accurate ,  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(~2 min).
"To estimate fair market value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important nuance on the split: about half of listings read underpriced and about half overpriced, but the two halves are NOT symmetric. Because demand is close to unit-elastic, cutting price on the overpriced side is actually revenue-negative for the host, so we treat that half as a fairness and peer-benchmarking signal, not a second revenue lever. The real revenue opportunity is the underpriced side, and Jai will show the elasticity work that proves it."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then team fields Q&amp;A.
"Our recommendation isn't to replace Smart Pricing ,  it's to build on it. The opportunity isn't simply another price recommendation; it's helping hosts understand, trust and act on it. As a next step we'd launch this as a pilot in a single market, measuring how hosts interact with the platform, how often they adopt the recommendations, and how pricing changes influence occupancy and revenue. Those real-world results would let Airbnb keep improving the model before expanding to more cities. Looking back, the biggest lesson is that successful analytics isn't just about accurate models ,  it's about solving the right business problem and presenting insights people are willing to use. For us this project combined machine learning, product thinking, business strategy and data storytelling. Thank you for your time ,  we'd be happy to take questions."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  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2.png"/><Relationship Id="rId6" Type="http://schemas.openxmlformats.org/officeDocument/2006/relationships/image" Target="../media/image15.png"/><Relationship Id="rId7" Type="http://schemas.openxmlformats.org/officeDocument/2006/relationships/image" Target="../media/image33.png"/><Relationship Id="rId8" Type="http://schemas.openxmlformats.org/officeDocument/2006/relationships/image" Target="../media/image12.png"/><Relationship Id="rId9" Type="http://schemas.openxmlformats.org/officeDocument/2006/relationships/image" Target="../media/image27.png"/><Relationship Id="rId10" Type="http://schemas.openxmlformats.org/officeDocument/2006/relationships/image" Target="../media/image2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a:solidFill>
                  <a:srgbClr val="FFFFFF"/>
                </a:solidFill>
                <a:latin typeface="Poppins" pitchFamily="34" charset="0"/>
                <a:ea typeface="Poppins" pitchFamily="34" charset="-122"/>
                <a:cs typeface="Poppins" pitchFamily="34" charset="-120"/>
              </a:rPr>
              <a:t>BANA 5160 CAPSTONE  ·  CORNELL UNIVERSITY  ·  TEAM 6</a:t>
            </a:r>
            <a:endParaRPr lang="en-US" sz="120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a:solidFill>
                  <a:srgbClr val="FFFFFF"/>
                </a:solidFill>
                <a:latin typeface="Poppins" pitchFamily="34" charset="0"/>
                <a:ea typeface="Poppins" pitchFamily="34" charset="-122"/>
                <a:cs typeface="Poppins" pitchFamily="34" charset="-120"/>
              </a:rPr>
              <a:t>Airbnb Pricing</a:t>
            </a:r>
            <a:endParaRPr lang="en-US" sz="5600"/>
          </a:p>
          <a:p>
            <a:pPr marL="0" indent="0">
              <a:lnSpc>
                <a:spcPct val="98000"/>
              </a:lnSpc>
              <a:buNone/>
            </a:pPr>
            <a:r>
              <a:rPr lang="en-US" sz="5600" b="1">
                <a:solidFill>
                  <a:srgbClr val="FFFFFF"/>
                </a:solidFill>
                <a:latin typeface="Poppins" pitchFamily="34" charset="0"/>
                <a:ea typeface="Poppins" pitchFamily="34" charset="-122"/>
                <a:cs typeface="Poppins" pitchFamily="34" charset="-120"/>
              </a:rPr>
              <a:t>Intelligence</a:t>
            </a:r>
            <a:endParaRPr lang="en-US" sz="560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a:solidFill>
                  <a:srgbClr val="FFFFFF"/>
                </a:solidFill>
                <a:latin typeface="Poppins" pitchFamily="34" charset="0"/>
                <a:ea typeface="Poppins" pitchFamily="34" charset="-122"/>
                <a:cs typeface="Poppins" pitchFamily="34" charset="-120"/>
              </a:rPr>
              <a:t>Brendan Meara </a:t>
            </a:r>
            <a:r>
              <a:rPr lang="en-US" sz="1250">
                <a:solidFill>
                  <a:srgbClr val="FFFFFF">
                    <a:alpha val="78000"/>
                  </a:srgbClr>
                </a:solidFill>
                <a:latin typeface="Poppins" pitchFamily="34" charset="0"/>
                <a:ea typeface="Poppins" pitchFamily="34" charset="-122"/>
                <a:cs typeface="Poppins" pitchFamily="34" charset="-120"/>
              </a:rPr>
              <a:t>(PM)     </a:t>
            </a:r>
            <a:r>
              <a:rPr lang="en-US" sz="1250" b="1">
                <a:solidFill>
                  <a:srgbClr val="FFFFFF"/>
                </a:solidFill>
                <a:latin typeface="Poppins" pitchFamily="34" charset="0"/>
                <a:ea typeface="Poppins" pitchFamily="34" charset="-122"/>
                <a:cs typeface="Poppins" pitchFamily="34" charset="-120"/>
              </a:rPr>
              <a:t>Jai Manikandan </a:t>
            </a:r>
            <a:r>
              <a:rPr lang="en-US" sz="1250">
                <a:solidFill>
                  <a:srgbClr val="FFFFFF">
                    <a:alpha val="78000"/>
                  </a:srgbClr>
                </a:solidFill>
                <a:latin typeface="Poppins" pitchFamily="34" charset="0"/>
                <a:ea typeface="Poppins" pitchFamily="34" charset="-122"/>
                <a:cs typeface="Poppins" pitchFamily="34" charset="-120"/>
              </a:rPr>
              <a:t>(Data)     </a:t>
            </a:r>
            <a:r>
              <a:rPr lang="en-US" sz="1250" b="1">
                <a:solidFill>
                  <a:srgbClr val="FFFFFF"/>
                </a:solidFill>
                <a:latin typeface="Poppins" pitchFamily="34" charset="0"/>
                <a:ea typeface="Poppins" pitchFamily="34" charset="-122"/>
                <a:cs typeface="Poppins" pitchFamily="34" charset="-120"/>
              </a:rPr>
              <a:t>Manas Manu </a:t>
            </a:r>
            <a:r>
              <a:rPr lang="en-US" sz="1250">
                <a:solidFill>
                  <a:srgbClr val="FFFFFF">
                    <a:alpha val="78000"/>
                  </a:srgbClr>
                </a:solidFill>
                <a:latin typeface="Poppins" pitchFamily="34" charset="0"/>
                <a:ea typeface="Poppins" pitchFamily="34" charset="-122"/>
                <a:cs typeface="Poppins" pitchFamily="34" charset="-120"/>
              </a:rPr>
              <a:t>(Modeling)     </a:t>
            </a:r>
            <a:r>
              <a:rPr lang="en-US" sz="1250" b="1">
                <a:solidFill>
                  <a:srgbClr val="FFFFFF"/>
                </a:solidFill>
                <a:latin typeface="Poppins" pitchFamily="34" charset="0"/>
                <a:ea typeface="Poppins" pitchFamily="34" charset="-122"/>
                <a:cs typeface="Poppins" pitchFamily="34" charset="-120"/>
              </a:rPr>
              <a:t>Rachael Chin </a:t>
            </a:r>
            <a:r>
              <a:rPr lang="en-US" sz="1250">
                <a:solidFill>
                  <a:srgbClr val="FFFFFF">
                    <a:alpha val="78000"/>
                  </a:srgbClr>
                </a:solidFill>
                <a:latin typeface="Poppins" pitchFamily="34" charset="0"/>
                <a:ea typeface="Poppins" pitchFamily="34" charset="-122"/>
                <a:cs typeface="Poppins" pitchFamily="34" charset="-120"/>
              </a:rPr>
              <a:t>(Visualization)</a:t>
            </a:r>
            <a:endParaRPr lang="en-US" sz="1250"/>
          </a:p>
        </p:txBody>
      </p:sp>
      <p:sp>
        <p:nvSpPr>
          <p:cNvPr id="11" name="Text 6"/>
          <p:cNvSpPr/>
          <p:nvPr/>
        </p:nvSpPr>
        <p:spPr>
          <a:xfrm>
            <a:off x="777240" y="5138928"/>
            <a:ext cx="10607040" cy="320040"/>
          </a:xfrm>
          <a:prstGeom prst="rect">
            <a:avLst/>
          </a:prstGeom>
          <a:noFill/>
          <a:ln/>
        </p:spPr>
        <p:txBody>
          <a:bodyPr wrap="square" lIns="0" tIns="0" rIns="0" bIns="0" rtlCol="0" anchor="ctr"/>
          <a:lstStyle/>
          <a:p>
            <a:pPr marL="0" indent="0">
              <a:buNone/>
            </a:pPr>
            <a:r>
              <a:rPr lang="en-US" sz="1250" b="1">
                <a:solidFill>
                  <a:srgbClr val="FFFFFF"/>
                </a:solidFill>
                <a:latin typeface="Poppins" pitchFamily="34" charset="0"/>
                <a:ea typeface="Poppins" pitchFamily="34" charset="-122"/>
                <a:cs typeface="Poppins" pitchFamily="34" charset="-120"/>
              </a:rPr>
              <a:t>Francois Miaule </a:t>
            </a:r>
            <a:r>
              <a:rPr lang="en-US" sz="1250">
                <a:solidFill>
                  <a:srgbClr val="FFFFFF">
                    <a:alpha val="78000"/>
                  </a:srgbClr>
                </a:solidFill>
                <a:latin typeface="Poppins" pitchFamily="34" charset="0"/>
                <a:ea typeface="Poppins" pitchFamily="34" charset="-122"/>
                <a:cs typeface="Poppins" pitchFamily="34" charset="-120"/>
              </a:rPr>
              <a:t>(Insights &amp; Presentation)      Industry Coach: </a:t>
            </a:r>
            <a:r>
              <a:rPr lang="en-US" sz="1250" b="1">
                <a:solidFill>
                  <a:srgbClr val="FFFFFF"/>
                </a:solidFill>
                <a:latin typeface="Poppins" pitchFamily="34" charset="0"/>
                <a:ea typeface="Poppins" pitchFamily="34" charset="-122"/>
                <a:cs typeface="Poppins" pitchFamily="34" charset="-120"/>
              </a:rPr>
              <a:t>Stan</a:t>
            </a:r>
            <a:endParaRPr lang="en-US" sz="125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01 · EXECUTIVE SUMMARY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cs typeface="Poppins"/>
              </a:rPr>
              <a:t>$1.17M a year, for a $65K build</a:t>
            </a:r>
            <a:endParaRPr lang="en-US"/>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Half of NYC’s listings are priced wrong. We show hosts by how much and why, and Airbnb earns on every correction.</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Brendan</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a:t>
            </a:r>
            <a:endParaRPr lang="en-US" sz="900"/>
          </a:p>
        </p:txBody>
      </p:sp>
      <p:sp>
        <p:nvSpPr>
          <p:cNvPr id="12" name="Shape 8"/>
          <p:cNvSpPr/>
          <p:nvPr/>
        </p:nvSpPr>
        <p:spPr>
          <a:xfrm>
            <a:off x="502920" y="2286000"/>
            <a:ext cx="5468112" cy="1600200"/>
          </a:xfrm>
          <a:prstGeom prst="roundRect">
            <a:avLst>
              <a:gd name="adj" fmla="val 8000"/>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632399" y="2373783"/>
            <a:ext cx="603504" cy="603504"/>
          </a:xfrm>
          <a:prstGeom prst="ellipse">
            <a:avLst/>
          </a:prstGeom>
          <a:solidFill>
            <a:srgbClr val="FFEEF2"/>
          </a:solidFill>
          <a:ln/>
        </p:spPr>
        <p:txBody>
          <a:bodyPr/>
          <a:lstStyle/>
          <a:p>
            <a:endParaRPr lang="en-US"/>
          </a:p>
        </p:txBody>
      </p:sp>
      <p:pic>
        <p:nvPicPr>
          <p:cNvPr id="14" name="Image 2" descr="/sessions/dreamy-trusting-noether/mnt/outputs/build/assets/zap_coral.png"/>
          <p:cNvPicPr>
            <a:picLocks noChangeAspect="1"/>
          </p:cNvPicPr>
          <p:nvPr/>
        </p:nvPicPr>
        <p:blipFill>
          <a:blip r:embed="rId5"/>
          <a:stretch>
            <a:fillRect/>
          </a:stretch>
        </p:blipFill>
        <p:spPr>
          <a:xfrm>
            <a:off x="777875" y="2507102"/>
            <a:ext cx="313822" cy="313822"/>
          </a:xfrm>
          <a:prstGeom prst="rect">
            <a:avLst/>
          </a:prstGeom>
        </p:spPr>
      </p:pic>
      <p:sp>
        <p:nvSpPr>
          <p:cNvPr id="15" name="Text 10"/>
          <p:cNvSpPr/>
          <p:nvPr/>
        </p:nvSpPr>
        <p:spPr>
          <a:xfrm>
            <a:off x="1517904" y="2560320"/>
            <a:ext cx="363931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The problem</a:t>
            </a:r>
            <a:endParaRPr lang="en-US" sz="1500"/>
          </a:p>
        </p:txBody>
      </p:sp>
      <p:sp>
        <p:nvSpPr>
          <p:cNvPr id="16" name="Text 11"/>
          <p:cNvSpPr/>
          <p:nvPr/>
        </p:nvSpPr>
        <p:spPr>
          <a:xfrm>
            <a:off x="777240" y="3108960"/>
            <a:ext cx="4965192" cy="685800"/>
          </a:xfrm>
          <a:prstGeom prst="rect">
            <a:avLst/>
          </a:prstGeom>
          <a:noFill/>
          <a:ln/>
        </p:spPr>
        <p:txBody>
          <a:bodyPr wrap="square" lIns="0" tIns="0" rIns="0" bIns="0" rtlCol="0" anchor="t"/>
          <a:lstStyle/>
          <a:p>
            <a:pPr>
              <a:lnSpc>
                <a:spcPct val="105000"/>
              </a:lnSpc>
            </a:pPr>
            <a:r>
              <a:rPr lang="en-US" sz="1200">
                <a:solidFill>
                  <a:srgbClr val="4A4A4A"/>
                </a:solidFill>
                <a:latin typeface="Poppins"/>
                <a:ea typeface="Poppins" pitchFamily="34" charset="-122"/>
                <a:cs typeface="Poppins"/>
              </a:rPr>
              <a:t>Smart Pricing hands hosts a number with no reasoning: no comparables, no drivers, nothing to explore. So hosts ignore it, or follow it blindly.</a:t>
            </a:r>
            <a:r>
              <a:rPr lang="en-US" sz="1200" err="1">
                <a:solidFill>
                  <a:srgbClr val="4A4A4A"/>
                </a:solidFill>
                <a:latin typeface="Poppins"/>
                <a:ea typeface="Poppins" pitchFamily="34" charset="-122"/>
                <a:cs typeface="Poppins"/>
              </a:rPr>
              <a:t/>
            </a:r>
            <a:r>
              <a:rPr lang="en-US" sz="1200">
                <a:solidFill>
                  <a:srgbClr val="4A4A4A"/>
                </a:solidFill>
                <a:latin typeface="Poppins"/>
                <a:ea typeface="Poppins" pitchFamily="34" charset="-122"/>
                <a:cs typeface="Poppins"/>
              </a:rPr>
              <a:t/>
            </a:r>
            <a:endParaRPr lang="en-US" sz="1200">
              <a:latin typeface="Poppins"/>
              <a:cs typeface="Poppins"/>
            </a:endParaRPr>
          </a:p>
        </p:txBody>
      </p:sp>
      <p:sp>
        <p:nvSpPr>
          <p:cNvPr id="17" name="Shape 12"/>
          <p:cNvSpPr/>
          <p:nvPr/>
        </p:nvSpPr>
        <p:spPr>
          <a:xfrm>
            <a:off x="6217920" y="2286000"/>
            <a:ext cx="5468112" cy="1600200"/>
          </a:xfrm>
          <a:prstGeom prst="roundRect">
            <a:avLst>
              <a:gd name="adj" fmla="val 80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335329" y="2373783"/>
            <a:ext cx="603504" cy="603504"/>
          </a:xfrm>
          <a:prstGeom prst="ellipse">
            <a:avLst/>
          </a:prstGeom>
          <a:solidFill>
            <a:srgbClr val="FFFFFF"/>
          </a:solidFill>
          <a:ln/>
        </p:spPr>
        <p:txBody>
          <a:bodyPr/>
          <a:lstStyle/>
          <a:p>
            <a:endParaRPr lang="en-US"/>
          </a:p>
        </p:txBody>
      </p:sp>
      <p:pic>
        <p:nvPicPr>
          <p:cNvPr id="19" name="Image 3" descr="/sessions/dreamy-trusting-noether/mnt/outputs/build/assets/bulb_coral.png"/>
          <p:cNvPicPr>
            <a:picLocks noChangeAspect="1"/>
          </p:cNvPicPr>
          <p:nvPr/>
        </p:nvPicPr>
        <p:blipFill>
          <a:blip r:embed="rId6"/>
          <a:stretch>
            <a:fillRect/>
          </a:stretch>
        </p:blipFill>
        <p:spPr>
          <a:xfrm>
            <a:off x="6492240" y="2518624"/>
            <a:ext cx="313822" cy="313822"/>
          </a:xfrm>
          <a:prstGeom prst="rect">
            <a:avLst/>
          </a:prstGeom>
        </p:spPr>
      </p:pic>
      <p:sp>
        <p:nvSpPr>
          <p:cNvPr id="20" name="Text 14"/>
          <p:cNvSpPr/>
          <p:nvPr/>
        </p:nvSpPr>
        <p:spPr>
          <a:xfrm>
            <a:off x="7232904" y="2560320"/>
            <a:ext cx="363931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Our answer</a:t>
            </a:r>
            <a:endParaRPr lang="en-US" sz="1500"/>
          </a:p>
        </p:txBody>
      </p:sp>
      <p:sp>
        <p:nvSpPr>
          <p:cNvPr id="21" name="Text 15"/>
          <p:cNvSpPr/>
          <p:nvPr/>
        </p:nvSpPr>
        <p:spPr>
          <a:xfrm>
            <a:off x="6492240" y="3108960"/>
            <a:ext cx="4965192" cy="713232"/>
          </a:xfrm>
          <a:prstGeom prst="rect">
            <a:avLst/>
          </a:prstGeom>
          <a:noFill/>
          <a:ln/>
        </p:spPr>
        <p:txBody>
          <a:bodyPr wrap="square" lIns="0" tIns="0" rIns="0" bIns="0" rtlCol="0" anchor="t"/>
          <a:lstStyle/>
          <a:p>
            <a:pPr marL="0" indent="0">
              <a:lnSpc>
                <a:spcPct val="105000"/>
              </a:lnSpc>
              <a:buNone/>
            </a:pPr>
            <a:r>
              <a:rPr lang="en-US" sz="1200">
                <a:solidFill>
                  <a:srgbClr val="4A4A4A"/>
                </a:solidFill>
                <a:latin typeface="Poppins" pitchFamily="34" charset="0"/>
                <a:ea typeface="Poppins" pitchFamily="34" charset="-122"/>
                <a:cs typeface="Poppins" pitchFamily="34" charset="-120"/>
              </a:rPr>
              <a:t>A fair price a host can actually interrogate: the comparable listings behind it, the amenity gaps against high performers, and a slider to test any price.</a:t>
            </a:r>
            <a:endParaRPr lang="en-US" sz="1200"/>
          </a:p>
        </p:txBody>
      </p:sp>
      <p:sp>
        <p:nvSpPr>
          <p:cNvPr id="22" name="Shape 16"/>
          <p:cNvSpPr/>
          <p:nvPr/>
        </p:nvSpPr>
        <p:spPr>
          <a:xfrm>
            <a:off x="502920"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462272"/>
            <a:ext cx="3054096"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$7.6M</a:t>
            </a:r>
            <a:endParaRPr lang="en-US" sz="1500"/>
          </a:p>
        </p:txBody>
      </p:sp>
      <p:sp>
        <p:nvSpPr>
          <p:cNvPr id="26" name="Text 19"/>
          <p:cNvSpPr/>
          <p:nvPr/>
        </p:nvSpPr>
        <p:spPr>
          <a:xfrm>
            <a:off x="758952" y="5047488"/>
            <a:ext cx="3054096" cy="548640"/>
          </a:xfrm>
          <a:prstGeom prst="rect">
            <a:avLst/>
          </a:prstGeom>
          <a:noFill/>
          <a:ln/>
        </p:spPr>
        <p:txBody>
          <a:bodyPr wrap="square" lIns="0" tIns="0" rIns="0" bIns="0" rtlCol="0" anchor="t"/>
          <a:lstStyle/>
          <a:p>
            <a:pPr marL="0" indent="0">
              <a:lnSpc>
                <a:spcPct val="103000"/>
              </a:lnSpc>
              <a:buNone/>
            </a:pPr>
            <a:r>
              <a:rPr lang="en-US" sz="1100" b="0">
                <a:solidFill>
                  <a:srgbClr val="717171"/>
                </a:solidFill>
                <a:latin typeface="Poppins" pitchFamily="34" charset="0"/>
                <a:ea typeface="Poppins" pitchFamily="34" charset="-122"/>
                <a:cs typeface="Poppins" pitchFamily="34" charset="-120"/>
              </a:rPr>
              <a:t>a year in host GBV if every mispriced listing is corrected. $1.17M in Airbnb fees.</a:t>
            </a:r>
            <a:endParaRPr lang="en-US" sz="1100"/>
          </a:p>
        </p:txBody>
      </p:sp>
      <p:sp>
        <p:nvSpPr>
          <p:cNvPr id="27" name="Shape 20"/>
          <p:cNvSpPr/>
          <p:nvPr/>
        </p:nvSpPr>
        <p:spPr>
          <a:xfrm>
            <a:off x="4315968"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572000" y="4462272"/>
            <a:ext cx="3054096"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Year 1</a:t>
            </a:r>
            <a:endParaRPr lang="en-US" sz="1500"/>
          </a:p>
        </p:txBody>
      </p:sp>
      <p:sp>
        <p:nvSpPr>
          <p:cNvPr id="31" name="Text 23"/>
          <p:cNvSpPr/>
          <p:nvPr/>
        </p:nvSpPr>
        <p:spPr>
          <a:xfrm>
            <a:off x="4572000" y="5047488"/>
            <a:ext cx="3054096" cy="548640"/>
          </a:xfrm>
          <a:prstGeom prst="rect">
            <a:avLst/>
          </a:prstGeom>
          <a:noFill/>
          <a:ln/>
        </p:spPr>
        <p:txBody>
          <a:bodyPr wrap="square" lIns="0" tIns="0" rIns="0" bIns="0" rtlCol="0" anchor="t"/>
          <a:lstStyle/>
          <a:p>
            <a:pPr marL="0" indent="0">
              <a:lnSpc>
                <a:spcPct val="103000"/>
              </a:lnSpc>
              <a:buNone/>
            </a:pPr>
            <a:r>
              <a:rPr lang="en-US" sz="1100" b="0">
                <a:solidFill>
                  <a:srgbClr val="717171"/>
                </a:solidFill>
                <a:latin typeface="Poppins" pitchFamily="34" charset="0"/>
                <a:ea typeface="Poppins" pitchFamily="34" charset="-122"/>
                <a:cs typeface="Poppins" pitchFamily="34" charset="-120"/>
              </a:rPr>
              <a:t>to turn cash-positive, on a modeled adoption ramp</a:t>
            </a:r>
            <a:endParaRPr lang="en-US" sz="1100"/>
          </a:p>
        </p:txBody>
      </p:sp>
      <p:sp>
        <p:nvSpPr>
          <p:cNvPr id="32" name="Shape 24"/>
          <p:cNvSpPr/>
          <p:nvPr/>
        </p:nvSpPr>
        <p:spPr>
          <a:xfrm>
            <a:off x="8119872"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375904" y="4462272"/>
            <a:ext cx="3054096"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$65K</a:t>
            </a:r>
            <a:endParaRPr lang="en-US" sz="1500"/>
          </a:p>
        </p:txBody>
      </p:sp>
      <p:sp>
        <p:nvSpPr>
          <p:cNvPr id="36" name="Text 27"/>
          <p:cNvSpPr/>
          <p:nvPr/>
        </p:nvSpPr>
        <p:spPr>
          <a:xfrm>
            <a:off x="8375904" y="5047488"/>
            <a:ext cx="3054096" cy="548640"/>
          </a:xfrm>
          <a:prstGeom prst="rect">
            <a:avLst/>
          </a:prstGeom>
          <a:noFill/>
          <a:ln/>
        </p:spPr>
        <p:txBody>
          <a:bodyPr wrap="square" lIns="0" tIns="0" rIns="0" bIns="0" rtlCol="0" anchor="t"/>
          <a:lstStyle/>
          <a:p>
            <a:pPr marL="0" indent="0">
              <a:lnSpc>
                <a:spcPct val="103000"/>
              </a:lnSpc>
              <a:buNone/>
            </a:pPr>
            <a:r>
              <a:rPr lang="en-US" sz="1100" b="0">
                <a:solidFill>
                  <a:srgbClr val="717171"/>
                </a:solidFill>
                <a:latin typeface="Poppins" pitchFamily="34" charset="0"/>
                <a:ea typeface="Poppins" pitchFamily="34" charset="-122"/>
                <a:cs typeface="Poppins" pitchFamily="34" charset="-120"/>
              </a:rPr>
              <a:t>one-time build, then $30K a year to run</a:t>
            </a:r>
            <a:endParaRPr lang="en-US" sz="1100"/>
          </a:p>
        </p:txBody>
      </p:sp>
      <p:sp>
        <p:nvSpPr>
          <p:cNvPr id="4" name="Text 28"/>
          <p:cNvSpPr/>
          <p:nvPr/>
        </p:nvSpPr>
        <p:spPr>
          <a:xfrm>
            <a:off x="502920" y="5779008"/>
            <a:ext cx="11183112" cy="320040"/>
          </a:xfrm>
          <a:prstGeom prst="rect">
            <a:avLst/>
          </a:prstGeom>
          <a:noFill/>
          <a:ln/>
        </p:spPr>
        <p:txBody>
          <a:bodyPr wrap="square" lIns="0" tIns="0" rIns="0" bIns="0" rtlCol="0" anchor="ctr"/>
          <a:lstStyle/>
          <a:p>
            <a:pPr marL="0" indent="0" algn="ctr">
              <a:lnSpc>
                <a:spcPct val="105000"/>
              </a:lnSpc>
              <a:buNone/>
            </a:pPr>
            <a:r>
              <a:rPr lang="en-US" sz="1250" b="1" i="1">
                <a:solidFill>
                  <a:srgbClr val="FF385C"/>
                </a:solidFill>
                <a:latin typeface="Poppins" pitchFamily="34" charset="0"/>
                <a:ea typeface="Poppins" pitchFamily="34" charset="-122"/>
                <a:cs typeface="Poppins" pitchFamily="34" charset="-120"/>
              </a:rPr>
              <a:t>Every underpriced night costs the host and Airbnb both. We build on Smart Pricing, not replace it.</a:t>
            </a:r>
            <a:endParaRPr lang="en-US" sz="14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02 · CONTEXT &amp; PROBLEM</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A huge marketplace with a transparency gap</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Airbnb connects millions of hosts and guests, and pricing moves both sides of the market.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3</a:t>
            </a:r>
            <a:endParaRPr lang="en-US" sz="900"/>
          </a:p>
        </p:txBody>
      </p:sp>
      <p:sp>
        <p:nvSpPr>
          <p:cNvPr id="12" name="Shape 8"/>
          <p:cNvSpPr/>
          <p:nvPr/>
        </p:nvSpPr>
        <p:spPr>
          <a:xfrm>
            <a:off x="502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3" name="Image 2" descr="/sessions/dreamy-trusting-noether/mnt/outputs/build/assets/dollar_coral.png"/>
          <p:cNvPicPr>
            <a:picLocks noChangeAspect="1"/>
          </p:cNvPicPr>
          <p:nvPr/>
        </p:nvPicPr>
        <p:blipFill>
          <a:blip r:embed="rId5"/>
          <a:stretch>
            <a:fillRect/>
          </a:stretch>
        </p:blipFill>
        <p:spPr>
          <a:xfrm>
            <a:off x="619209" y="2281428"/>
            <a:ext cx="384048" cy="384048"/>
          </a:xfrm>
          <a:prstGeom prst="rect">
            <a:avLst/>
          </a:prstGeom>
        </p:spPr>
      </p:pic>
      <p:sp>
        <p:nvSpPr>
          <p:cNvPr id="14" name="Text 9"/>
          <p:cNvSpPr/>
          <p:nvPr/>
        </p:nvSpPr>
        <p:spPr>
          <a:xfrm>
            <a:off x="667512" y="2638044"/>
            <a:ext cx="2281428" cy="566928"/>
          </a:xfrm>
          <a:prstGeom prst="rect">
            <a:avLst/>
          </a:prstGeom>
          <a:noFill/>
          <a:ln/>
        </p:spPr>
        <p:txBody>
          <a:bodyPr wrap="square" lIns="0" tIns="0" rIns="0" bIns="0" rtlCol="0" anchor="ctr"/>
          <a:lstStyle/>
          <a:p>
            <a:pPr marL="0" indent="0" algn="l">
              <a:buNone/>
            </a:pPr>
            <a:r>
              <a:rPr lang="en-US" sz="3000" b="1">
                <a:solidFill>
                  <a:srgbClr val="FF385C"/>
                </a:solidFill>
                <a:latin typeface="Poppins" pitchFamily="34" charset="0"/>
                <a:ea typeface="Poppins" pitchFamily="34" charset="-122"/>
                <a:cs typeface="Poppins" pitchFamily="34" charset="-120"/>
              </a:rPr>
              <a:t>$12.2B</a:t>
            </a:r>
            <a:endParaRPr lang="en-US" sz="3000"/>
          </a:p>
        </p:txBody>
      </p:sp>
      <p:sp>
        <p:nvSpPr>
          <p:cNvPr id="15" name="Text 10"/>
          <p:cNvSpPr/>
          <p:nvPr/>
        </p:nvSpPr>
        <p:spPr>
          <a:xfrm>
            <a:off x="649224" y="3218688"/>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2025 revenue (+10% YoY)</a:t>
            </a:r>
            <a:endParaRPr lang="en-US" sz="1150"/>
          </a:p>
        </p:txBody>
      </p:sp>
      <p:sp>
        <p:nvSpPr>
          <p:cNvPr id="16" name="Shape 11"/>
          <p:cNvSpPr/>
          <p:nvPr/>
        </p:nvSpPr>
        <p:spPr>
          <a:xfrm>
            <a:off x="3360420" y="2212848"/>
            <a:ext cx="2610612" cy="1417320"/>
          </a:xfrm>
          <a:prstGeom prst="roundRect">
            <a:avLst>
              <a:gd name="adj" fmla="val 9032"/>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7" name="Image 3" descr="/sessions/dreamy-trusting-noether/mnt/outputs/build/assets/home_teal.png"/>
          <p:cNvPicPr>
            <a:picLocks noChangeAspect="1"/>
          </p:cNvPicPr>
          <p:nvPr/>
        </p:nvPicPr>
        <p:blipFill>
          <a:blip r:embed="rId6"/>
          <a:stretch>
            <a:fillRect/>
          </a:stretch>
        </p:blipFill>
        <p:spPr>
          <a:xfrm>
            <a:off x="3495294" y="2278815"/>
            <a:ext cx="384048" cy="384048"/>
          </a:xfrm>
          <a:prstGeom prst="rect">
            <a:avLst/>
          </a:prstGeom>
        </p:spPr>
      </p:pic>
      <p:sp>
        <p:nvSpPr>
          <p:cNvPr id="18" name="Text 12"/>
          <p:cNvSpPr/>
          <p:nvPr/>
        </p:nvSpPr>
        <p:spPr>
          <a:xfrm>
            <a:off x="3525012" y="2638044"/>
            <a:ext cx="2281428" cy="566928"/>
          </a:xfrm>
          <a:prstGeom prst="rect">
            <a:avLst/>
          </a:prstGeom>
          <a:noFill/>
          <a:ln/>
        </p:spPr>
        <p:txBody>
          <a:bodyPr wrap="square" lIns="0" tIns="0" rIns="0" bIns="0" rtlCol="0" anchor="ctr"/>
          <a:lstStyle/>
          <a:p>
            <a:pPr marL="0" indent="0" algn="l">
              <a:buNone/>
            </a:pPr>
            <a:r>
              <a:rPr lang="en-US" sz="3000" b="1">
                <a:solidFill>
                  <a:srgbClr val="00A699"/>
                </a:solidFill>
                <a:latin typeface="Poppins" pitchFamily="34" charset="0"/>
                <a:ea typeface="Poppins" pitchFamily="34" charset="-122"/>
                <a:cs typeface="Poppins" pitchFamily="34" charset="-120"/>
              </a:rPr>
              <a:t>8M+</a:t>
            </a:r>
            <a:endParaRPr lang="en-US" sz="3000"/>
          </a:p>
        </p:txBody>
      </p:sp>
      <p:sp>
        <p:nvSpPr>
          <p:cNvPr id="19" name="Text 13"/>
          <p:cNvSpPr/>
          <p:nvPr/>
        </p:nvSpPr>
        <p:spPr>
          <a:xfrm>
            <a:off x="3543300" y="3204413"/>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active listings worldwide</a:t>
            </a:r>
            <a:endParaRPr lang="en-US" sz="1150"/>
          </a:p>
        </p:txBody>
      </p:sp>
      <p:sp>
        <p:nvSpPr>
          <p:cNvPr id="20" name="Shape 14"/>
          <p:cNvSpPr/>
          <p:nvPr/>
        </p:nvSpPr>
        <p:spPr>
          <a:xfrm>
            <a:off x="6217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1" name="Image 4" descr="/sessions/dreamy-trusting-noether/mnt/outputs/build/assets/users_coral.png"/>
          <p:cNvPicPr>
            <a:picLocks noChangeAspect="1"/>
          </p:cNvPicPr>
          <p:nvPr/>
        </p:nvPicPr>
        <p:blipFill>
          <a:blip r:embed="rId7"/>
          <a:stretch>
            <a:fillRect/>
          </a:stretch>
        </p:blipFill>
        <p:spPr>
          <a:xfrm>
            <a:off x="6298877" y="2281428"/>
            <a:ext cx="384048" cy="384048"/>
          </a:xfrm>
          <a:prstGeom prst="rect">
            <a:avLst/>
          </a:prstGeom>
        </p:spPr>
      </p:pic>
      <p:sp>
        <p:nvSpPr>
          <p:cNvPr id="22" name="Text 15"/>
          <p:cNvSpPr/>
          <p:nvPr/>
        </p:nvSpPr>
        <p:spPr>
          <a:xfrm>
            <a:off x="6382512" y="2638044"/>
            <a:ext cx="2281428" cy="566928"/>
          </a:xfrm>
          <a:prstGeom prst="rect">
            <a:avLst/>
          </a:prstGeom>
          <a:noFill/>
          <a:ln/>
        </p:spPr>
        <p:txBody>
          <a:bodyPr wrap="square" lIns="0" tIns="0" rIns="0" bIns="0" rtlCol="0" anchor="ctr"/>
          <a:lstStyle/>
          <a:p>
            <a:pPr marL="0" indent="0" algn="l">
              <a:buNone/>
            </a:pPr>
            <a:r>
              <a:rPr lang="en-US" sz="3000" b="1">
                <a:solidFill>
                  <a:srgbClr val="FF385C"/>
                </a:solidFill>
                <a:latin typeface="Poppins" pitchFamily="34" charset="0"/>
                <a:ea typeface="Poppins" pitchFamily="34" charset="-122"/>
                <a:cs typeface="Poppins" pitchFamily="34" charset="-120"/>
              </a:rPr>
              <a:t>5M+</a:t>
            </a:r>
            <a:endParaRPr lang="en-US" sz="3000"/>
          </a:p>
        </p:txBody>
      </p:sp>
      <p:sp>
        <p:nvSpPr>
          <p:cNvPr id="23" name="Text 16"/>
          <p:cNvSpPr/>
          <p:nvPr/>
        </p:nvSpPr>
        <p:spPr>
          <a:xfrm>
            <a:off x="6455664" y="3205345"/>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hosts on the platform</a:t>
            </a:r>
            <a:endParaRPr lang="en-US" sz="1150"/>
          </a:p>
        </p:txBody>
      </p:sp>
      <p:sp>
        <p:nvSpPr>
          <p:cNvPr id="24" name="Shape 17"/>
          <p:cNvSpPr/>
          <p:nvPr/>
        </p:nvSpPr>
        <p:spPr>
          <a:xfrm>
            <a:off x="9075420" y="2212848"/>
            <a:ext cx="2610612" cy="1417320"/>
          </a:xfrm>
          <a:prstGeom prst="roundRect">
            <a:avLst>
              <a:gd name="adj" fmla="val 9032"/>
            </a:avLst>
          </a:prstGeom>
          <a:solidFill>
            <a:srgbClr val="FFF1E9"/>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5" name="Image 5" descr="/sessions/dreamy-trusting-noether/mnt/outputs/build/assets/zap_orange.png"/>
          <p:cNvPicPr>
            <a:picLocks noChangeAspect="1"/>
          </p:cNvPicPr>
          <p:nvPr/>
        </p:nvPicPr>
        <p:blipFill>
          <a:blip r:embed="rId8"/>
          <a:stretch>
            <a:fillRect/>
          </a:stretch>
        </p:blipFill>
        <p:spPr>
          <a:xfrm>
            <a:off x="9165031" y="2274803"/>
            <a:ext cx="384048" cy="384048"/>
          </a:xfrm>
          <a:prstGeom prst="rect">
            <a:avLst/>
          </a:prstGeom>
        </p:spPr>
      </p:pic>
      <p:sp>
        <p:nvSpPr>
          <p:cNvPr id="26" name="Text 18"/>
          <p:cNvSpPr/>
          <p:nvPr/>
        </p:nvSpPr>
        <p:spPr>
          <a:xfrm>
            <a:off x="9240012" y="2638044"/>
            <a:ext cx="2281428" cy="566928"/>
          </a:xfrm>
          <a:prstGeom prst="rect">
            <a:avLst/>
          </a:prstGeom>
          <a:noFill/>
          <a:ln/>
        </p:spPr>
        <p:txBody>
          <a:bodyPr wrap="square" lIns="0" tIns="0" rIns="0" bIns="0" rtlCol="0" anchor="ctr"/>
          <a:lstStyle/>
          <a:p>
            <a:pPr marL="0" indent="0" algn="l">
              <a:buNone/>
            </a:pPr>
            <a:r>
              <a:rPr lang="en-US" sz="3000" b="1">
                <a:solidFill>
                  <a:srgbClr val="FC642D"/>
                </a:solidFill>
                <a:latin typeface="Poppins" pitchFamily="34" charset="0"/>
                <a:ea typeface="Poppins" pitchFamily="34" charset="-122"/>
                <a:cs typeface="Poppins" pitchFamily="34" charset="-120"/>
              </a:rPr>
              <a:t>15.5%</a:t>
            </a:r>
            <a:endParaRPr lang="en-US" sz="3000"/>
          </a:p>
        </p:txBody>
      </p:sp>
      <p:sp>
        <p:nvSpPr>
          <p:cNvPr id="27" name="Text 19"/>
          <p:cNvSpPr/>
          <p:nvPr/>
        </p:nvSpPr>
        <p:spPr>
          <a:xfrm>
            <a:off x="9261348" y="3201519"/>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host-only service fee</a:t>
            </a:r>
            <a:endParaRPr lang="en-US" sz="1150"/>
          </a:p>
        </p:txBody>
      </p:sp>
      <p:sp>
        <p:nvSpPr>
          <p:cNvPr id="28" name="Shape 20"/>
          <p:cNvSpPr/>
          <p:nvPr/>
        </p:nvSpPr>
        <p:spPr>
          <a:xfrm>
            <a:off x="753441" y="4062791"/>
            <a:ext cx="5468112" cy="2103120"/>
          </a:xfrm>
          <a:prstGeom prst="roundRect">
            <a:avLst>
              <a:gd name="adj" fmla="val 608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9" name="Shape 21"/>
          <p:cNvSpPr/>
          <p:nvPr/>
        </p:nvSpPr>
        <p:spPr>
          <a:xfrm>
            <a:off x="777240" y="4206240"/>
            <a:ext cx="603504" cy="603504"/>
          </a:xfrm>
          <a:prstGeom prst="ellipse">
            <a:avLst/>
          </a:prstGeom>
          <a:solidFill>
            <a:srgbClr val="FFEEF2"/>
          </a:solidFill>
          <a:ln/>
        </p:spPr>
        <p:txBody>
          <a:bodyPr/>
          <a:lstStyle/>
          <a:p>
            <a:endParaRPr lang="en-US"/>
          </a:p>
        </p:txBody>
      </p:sp>
      <p:pic>
        <p:nvPicPr>
          <p:cNvPr id="30" name="Image 6" descr="/sessions/dreamy-trusting-noether/mnt/outputs/build/assets/alert_coral.png"/>
          <p:cNvPicPr>
            <a:picLocks noChangeAspect="1"/>
          </p:cNvPicPr>
          <p:nvPr/>
        </p:nvPicPr>
        <p:blipFill>
          <a:blip r:embed="rId9"/>
          <a:stretch>
            <a:fillRect/>
          </a:stretch>
        </p:blipFill>
        <p:spPr>
          <a:xfrm>
            <a:off x="922081" y="4351081"/>
            <a:ext cx="313822" cy="313822"/>
          </a:xfrm>
          <a:prstGeom prst="rect">
            <a:avLst/>
          </a:prstGeom>
        </p:spPr>
      </p:pic>
      <p:sp>
        <p:nvSpPr>
          <p:cNvPr id="31" name="Text 22"/>
          <p:cNvSpPr/>
          <p:nvPr/>
        </p:nvSpPr>
        <p:spPr>
          <a:xfrm>
            <a:off x="1517904" y="4224528"/>
            <a:ext cx="4206240"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The missing piece for hosts</a:t>
            </a:r>
            <a:endParaRPr lang="en-US" sz="1500"/>
          </a:p>
        </p:txBody>
      </p:sp>
      <p:sp>
        <p:nvSpPr>
          <p:cNvPr id="32" name="Text 23"/>
          <p:cNvSpPr/>
          <p:nvPr/>
        </p:nvSpPr>
        <p:spPr>
          <a:xfrm>
            <a:off x="893356" y="4908089"/>
            <a:ext cx="4937760" cy="1005840"/>
          </a:xfrm>
          <a:prstGeom prst="rect">
            <a:avLst/>
          </a:prstGeom>
          <a:noFill/>
          <a:ln/>
        </p:spPr>
        <p:txBody>
          <a:bodyPr wrap="square" lIns="0" tIns="0" rIns="0" bIns="0" rtlCol="0" anchor="t"/>
          <a:lstStyle/>
          <a:p>
            <a:pPr>
              <a:lnSpc>
                <a:spcPct val="108000"/>
              </a:lnSpc>
            </a:pPr>
            <a:r>
              <a:rPr lang="en-US" sz="1250">
                <a:solidFill>
                  <a:srgbClr val="4A4A4A"/>
                </a:solidFill>
                <a:latin typeface="Poppins"/>
                <a:ea typeface="+mn-lt"/>
                <a:cs typeface="Poppins"/>
              </a:rPr>
              <a:t>Smart Pricing recommends a nightly price but offers no explanation for how it got there. With no transparency into the logic, hosts either ignore the recommendation entirely or follow it blindly, with no way of knowing if it fits their listing.</a:t>
            </a:r>
            <a:endParaRPr lang="en-US" sz="1250">
              <a:solidFill>
                <a:srgbClr val="000000"/>
              </a:solidFill>
              <a:latin typeface="Poppins"/>
              <a:ea typeface="+mn-lt"/>
              <a:cs typeface="Poppins"/>
            </a:endParaRPr>
          </a:p>
          <a:p>
            <a:pPr>
              <a:lnSpc>
                <a:spcPct val="108000"/>
              </a:lnSpc>
            </a:pPr>
            <a:endParaRPr lang="en-US" sz="1250">
              <a:solidFill>
                <a:srgbClr val="4A4A4A"/>
              </a:solidFill>
              <a:latin typeface="Poppins"/>
              <a:ea typeface="Calibri" panose="020F0502020204030204"/>
              <a:cs typeface="Poppins"/>
            </a:endParaRPr>
          </a:p>
        </p:txBody>
      </p:sp>
      <p:sp>
        <p:nvSpPr>
          <p:cNvPr id="33" name="Shape 24"/>
          <p:cNvSpPr/>
          <p:nvPr/>
        </p:nvSpPr>
        <p:spPr>
          <a:xfrm>
            <a:off x="6217920" y="3931920"/>
            <a:ext cx="5468112" cy="2103120"/>
          </a:xfrm>
          <a:prstGeom prst="roundRect">
            <a:avLst>
              <a:gd name="adj" fmla="val 6087"/>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4" name="Shape 25"/>
          <p:cNvSpPr/>
          <p:nvPr/>
        </p:nvSpPr>
        <p:spPr>
          <a:xfrm>
            <a:off x="6492240" y="4206240"/>
            <a:ext cx="603504" cy="603504"/>
          </a:xfrm>
          <a:prstGeom prst="ellipse">
            <a:avLst/>
          </a:prstGeom>
          <a:solidFill>
            <a:srgbClr val="FFFFFF"/>
          </a:solidFill>
          <a:ln/>
        </p:spPr>
        <p:txBody>
          <a:bodyPr/>
          <a:lstStyle/>
          <a:p>
            <a:endParaRPr lang="en-US"/>
          </a:p>
        </p:txBody>
      </p:sp>
      <p:pic>
        <p:nvPicPr>
          <p:cNvPr id="35" name="Image 7" descr="/sessions/dreamy-trusting-noether/mnt/outputs/build/assets/target_coral.png"/>
          <p:cNvPicPr>
            <a:picLocks noChangeAspect="1"/>
          </p:cNvPicPr>
          <p:nvPr/>
        </p:nvPicPr>
        <p:blipFill>
          <a:blip r:embed="rId10"/>
          <a:stretch>
            <a:fillRect/>
          </a:stretch>
        </p:blipFill>
        <p:spPr>
          <a:xfrm>
            <a:off x="6637081" y="4351081"/>
            <a:ext cx="313822" cy="313822"/>
          </a:xfrm>
          <a:prstGeom prst="rect">
            <a:avLst/>
          </a:prstGeom>
        </p:spPr>
      </p:pic>
      <p:sp>
        <p:nvSpPr>
          <p:cNvPr id="36" name="Text 26"/>
          <p:cNvSpPr/>
          <p:nvPr/>
        </p:nvSpPr>
        <p:spPr>
          <a:xfrm>
            <a:off x="7232904" y="4224528"/>
            <a:ext cx="4206240"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We reframed the question</a:t>
            </a:r>
            <a:endParaRPr lang="en-US" sz="1500"/>
          </a:p>
        </p:txBody>
      </p:sp>
      <p:sp>
        <p:nvSpPr>
          <p:cNvPr id="37" name="Text 27"/>
          <p:cNvSpPr/>
          <p:nvPr/>
        </p:nvSpPr>
        <p:spPr>
          <a:xfrm>
            <a:off x="6492240" y="4903237"/>
            <a:ext cx="4937760" cy="1051560"/>
          </a:xfrm>
          <a:prstGeom prst="rect">
            <a:avLst/>
          </a:prstGeom>
          <a:noFill/>
          <a:ln/>
        </p:spPr>
        <p:txBody>
          <a:bodyPr wrap="square" lIns="0" tIns="0" rIns="0" bIns="0" rtlCol="0" anchor="t"/>
          <a:lstStyle/>
          <a:p>
            <a:pPr>
              <a:lnSpc>
                <a:spcPct val="108000"/>
              </a:lnSpc>
            </a:pPr>
            <a:r>
              <a:rPr lang="en-US" sz="1250" i="1">
                <a:solidFill>
                  <a:srgbClr val="222222"/>
                </a:solidFill>
                <a:latin typeface="Poppins"/>
                <a:ea typeface="Poppins" pitchFamily="34" charset="-122"/>
                <a:cs typeface="Poppins"/>
              </a:rPr>
              <a:t>Not “can we build another pricing model?” but “can we help hosts make smarter pricing decisions by combining accurate recommendations with clear explanations and real market comparisons?”</a:t>
            </a:r>
            <a:endParaRPr lang="en-US" sz="1250">
              <a:latin typeface="Poppins"/>
              <a:cs typeface="Poppi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03 · THE DATASET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ea typeface="+mn-lt"/>
                <a:cs typeface="Poppins"/>
              </a:rPr>
              <a:t>New York City as a proving ground</a:t>
            </a:r>
            <a:endParaRPr lang="en-US" sz="2900" b="1">
              <a:solidFill>
                <a:srgbClr val="000000"/>
              </a:solidFill>
              <a:latin typeface="Poppins"/>
              <a:ea typeface="Calibri"/>
              <a:cs typeface="Poppins"/>
            </a:endParaRPr>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Inside Airbnb: public, open-source data. We chose one market to build, test and evaluate.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4</a:t>
            </a:r>
            <a:endParaRPr lang="en-US" sz="900"/>
          </a:p>
        </p:txBody>
      </p:sp>
      <p:sp>
        <p:nvSpPr>
          <p:cNvPr id="12" name="Shape 8"/>
          <p:cNvSpPr/>
          <p:nvPr/>
        </p:nvSpPr>
        <p:spPr>
          <a:xfrm>
            <a:off x="5029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594360" y="2523744"/>
            <a:ext cx="2697480" cy="685800"/>
          </a:xfrm>
          <a:prstGeom prst="rect">
            <a:avLst/>
          </a:prstGeom>
          <a:noFill/>
          <a:ln/>
        </p:spPr>
        <p:txBody>
          <a:bodyPr wrap="square" lIns="0" tIns="0" rIns="0" bIns="0" rtlCol="0" anchor="ctr"/>
          <a:lstStyle/>
          <a:p>
            <a:pPr marL="0" indent="0" algn="ctr">
              <a:buNone/>
            </a:pPr>
            <a:r>
              <a:rPr lang="en-US" sz="3700" b="1">
                <a:solidFill>
                  <a:srgbClr val="9AA0A6"/>
                </a:solidFill>
                <a:latin typeface="Poppins" pitchFamily="34" charset="0"/>
                <a:ea typeface="Poppins" pitchFamily="34" charset="-122"/>
                <a:cs typeface="Poppins" pitchFamily="34" charset="-120"/>
              </a:rPr>
              <a:t>30,259</a:t>
            </a:r>
            <a:endParaRPr lang="en-US" sz="3700"/>
          </a:p>
        </p:txBody>
      </p:sp>
      <p:sp>
        <p:nvSpPr>
          <p:cNvPr id="14" name="Text 10"/>
          <p:cNvSpPr/>
          <p:nvPr/>
        </p:nvSpPr>
        <p:spPr>
          <a:xfrm>
            <a:off x="594360" y="3200400"/>
            <a:ext cx="2697480" cy="365760"/>
          </a:xfrm>
          <a:prstGeom prst="rect">
            <a:avLst/>
          </a:prstGeom>
          <a:noFill/>
          <a:ln/>
        </p:spPr>
        <p:txBody>
          <a:bodyPr wrap="square" lIns="0" tIns="0" rIns="0" bIns="0" rtlCol="0" anchor="ctr"/>
          <a:lstStyle/>
          <a:p>
            <a:pPr marL="0" indent="0" algn="ctr">
              <a:buNone/>
            </a:pPr>
            <a:r>
              <a:rPr lang="en-US" sz="1200">
                <a:solidFill>
                  <a:srgbClr val="4A4A4A"/>
                </a:solidFill>
                <a:latin typeface="Poppins" pitchFamily="34" charset="0"/>
                <a:ea typeface="Poppins" pitchFamily="34" charset="-122"/>
                <a:cs typeface="Poppins" pitchFamily="34" charset="-120"/>
              </a:rPr>
              <a:t>raw listings scraped</a:t>
            </a:r>
            <a:endParaRPr lang="en-US" sz="1200"/>
          </a:p>
        </p:txBody>
      </p:sp>
      <p:sp>
        <p:nvSpPr>
          <p:cNvPr id="15" name="Text 11"/>
          <p:cNvSpPr/>
          <p:nvPr/>
        </p:nvSpPr>
        <p:spPr>
          <a:xfrm>
            <a:off x="3401568" y="2286000"/>
            <a:ext cx="530352" cy="1371600"/>
          </a:xfrm>
          <a:prstGeom prst="rect">
            <a:avLst/>
          </a:prstGeom>
          <a:noFill/>
          <a:ln/>
        </p:spPr>
        <p:txBody>
          <a:bodyPr wrap="square" lIns="0" tIns="0" rIns="0" bIns="0" rtlCol="0" anchor="ctr"/>
          <a:lstStyle/>
          <a:p>
            <a:pPr marL="0" indent="0" algn="ctr">
              <a:buNone/>
            </a:pPr>
            <a:r>
              <a:rPr lang="en-US" sz="2600" b="1">
                <a:solidFill>
                  <a:srgbClr val="9AA0A6"/>
                </a:solidFill>
                <a:latin typeface="Poppins" pitchFamily="34" charset="0"/>
                <a:ea typeface="Poppins" pitchFamily="34" charset="-122"/>
                <a:cs typeface="Poppins" pitchFamily="34" charset="-120"/>
              </a:rPr>
              <a:t>→</a:t>
            </a:r>
            <a:endParaRPr lang="en-US" sz="2600"/>
          </a:p>
        </p:txBody>
      </p:sp>
      <p:sp>
        <p:nvSpPr>
          <p:cNvPr id="16" name="Shape 12"/>
          <p:cNvSpPr/>
          <p:nvPr/>
        </p:nvSpPr>
        <p:spPr>
          <a:xfrm>
            <a:off x="3950208" y="2286000"/>
            <a:ext cx="2880360" cy="1371600"/>
          </a:xfrm>
          <a:prstGeom prst="roundRect">
            <a:avLst>
              <a:gd name="adj" fmla="val 9333"/>
            </a:avLst>
          </a:prstGeom>
          <a:solidFill>
            <a:srgbClr val="FFEEF2"/>
          </a:solidFill>
          <a:ln/>
        </p:spPr>
        <p:txBody>
          <a:bodyPr/>
          <a:lstStyle/>
          <a:p>
            <a:endParaRPr lang="en-US"/>
          </a:p>
        </p:txBody>
      </p:sp>
      <p:sp>
        <p:nvSpPr>
          <p:cNvPr id="17" name="Text 13"/>
          <p:cNvSpPr/>
          <p:nvPr/>
        </p:nvSpPr>
        <p:spPr>
          <a:xfrm>
            <a:off x="4041648" y="2523744"/>
            <a:ext cx="2697480" cy="685800"/>
          </a:xfrm>
          <a:prstGeom prst="rect">
            <a:avLst/>
          </a:prstGeom>
          <a:noFill/>
          <a:ln/>
        </p:spPr>
        <p:txBody>
          <a:bodyPr wrap="square" lIns="0" tIns="0" rIns="0" bIns="0" rtlCol="0" anchor="ctr"/>
          <a:lstStyle/>
          <a:p>
            <a:pPr marL="0" indent="0" algn="ctr">
              <a:buNone/>
            </a:pPr>
            <a:r>
              <a:rPr lang="en-US" sz="3700" b="1">
                <a:solidFill>
                  <a:srgbClr val="FF385C"/>
                </a:solidFill>
                <a:latin typeface="Poppins" pitchFamily="34" charset="0"/>
                <a:ea typeface="Poppins" pitchFamily="34" charset="-122"/>
                <a:cs typeface="Poppins" pitchFamily="34" charset="-120"/>
              </a:rPr>
              <a:t>9,752</a:t>
            </a:r>
            <a:endParaRPr lang="en-US" sz="3700"/>
          </a:p>
        </p:txBody>
      </p:sp>
      <p:sp>
        <p:nvSpPr>
          <p:cNvPr id="18" name="Text 14"/>
          <p:cNvSpPr/>
          <p:nvPr/>
        </p:nvSpPr>
        <p:spPr>
          <a:xfrm>
            <a:off x="4041648" y="3200400"/>
            <a:ext cx="2697480" cy="365760"/>
          </a:xfrm>
          <a:prstGeom prst="rect">
            <a:avLst/>
          </a:prstGeom>
          <a:noFill/>
          <a:ln/>
        </p:spPr>
        <p:txBody>
          <a:bodyPr wrap="square" lIns="0" tIns="0" rIns="0" bIns="0" rtlCol="0" anchor="ctr"/>
          <a:lstStyle/>
          <a:p>
            <a:pPr marL="0" indent="0" algn="ctr">
              <a:buNone/>
            </a:pPr>
            <a:r>
              <a:rPr lang="en-US" sz="1200">
                <a:solidFill>
                  <a:srgbClr val="4A4A4A"/>
                </a:solidFill>
                <a:latin typeface="Poppins" pitchFamily="34" charset="0"/>
                <a:ea typeface="Poppins" pitchFamily="34" charset="-122"/>
                <a:cs typeface="Poppins" pitchFamily="34" charset="-120"/>
              </a:rPr>
              <a:t>active listings (≈9,800)</a:t>
            </a:r>
            <a:endParaRPr lang="en-US" sz="1200"/>
          </a:p>
        </p:txBody>
      </p:sp>
      <p:sp>
        <p:nvSpPr>
          <p:cNvPr id="19" name="Text 15"/>
          <p:cNvSpPr/>
          <p:nvPr/>
        </p:nvSpPr>
        <p:spPr>
          <a:xfrm>
            <a:off x="6848856" y="2286000"/>
            <a:ext cx="530352" cy="1371600"/>
          </a:xfrm>
          <a:prstGeom prst="rect">
            <a:avLst/>
          </a:prstGeom>
          <a:noFill/>
          <a:ln/>
        </p:spPr>
        <p:txBody>
          <a:bodyPr wrap="square" lIns="0" tIns="0" rIns="0" bIns="0" rtlCol="0" anchor="ctr"/>
          <a:lstStyle/>
          <a:p>
            <a:pPr marL="0" indent="0" algn="ctr">
              <a:buNone/>
            </a:pPr>
            <a:r>
              <a:rPr lang="en-US" sz="2600" b="1">
                <a:solidFill>
                  <a:srgbClr val="9AA0A6"/>
                </a:solidFill>
                <a:latin typeface="Poppins" pitchFamily="34" charset="0"/>
                <a:ea typeface="Poppins" pitchFamily="34" charset="-122"/>
                <a:cs typeface="Poppins" pitchFamily="34" charset="-120"/>
              </a:rPr>
              <a:t>→</a:t>
            </a:r>
            <a:endParaRPr lang="en-US" sz="2600"/>
          </a:p>
        </p:txBody>
      </p:sp>
      <p:sp>
        <p:nvSpPr>
          <p:cNvPr id="20" name="Shape 16"/>
          <p:cNvSpPr/>
          <p:nvPr/>
        </p:nvSpPr>
        <p:spPr>
          <a:xfrm>
            <a:off x="7397496" y="2286000"/>
            <a:ext cx="2880360" cy="1371600"/>
          </a:xfrm>
          <a:prstGeom prst="roundRect">
            <a:avLst>
              <a:gd name="adj" fmla="val 9333"/>
            </a:avLst>
          </a:prstGeom>
          <a:solidFill>
            <a:srgbClr val="E6F6F4"/>
          </a:solidFill>
          <a:ln/>
        </p:spPr>
        <p:txBody>
          <a:bodyPr/>
          <a:lstStyle/>
          <a:p>
            <a:endParaRPr lang="en-US"/>
          </a:p>
        </p:txBody>
      </p:sp>
      <p:sp>
        <p:nvSpPr>
          <p:cNvPr id="21" name="Text 17"/>
          <p:cNvSpPr/>
          <p:nvPr/>
        </p:nvSpPr>
        <p:spPr>
          <a:xfrm>
            <a:off x="7488936" y="2523744"/>
            <a:ext cx="2697480" cy="685800"/>
          </a:xfrm>
          <a:prstGeom prst="rect">
            <a:avLst/>
          </a:prstGeom>
          <a:noFill/>
          <a:ln/>
        </p:spPr>
        <p:txBody>
          <a:bodyPr wrap="square" lIns="0" tIns="0" rIns="0" bIns="0" rtlCol="0" anchor="ctr"/>
          <a:lstStyle/>
          <a:p>
            <a:pPr marL="0" indent="0" algn="ctr">
              <a:buNone/>
            </a:pPr>
            <a:r>
              <a:rPr lang="en-US" sz="3700" b="1">
                <a:solidFill>
                  <a:srgbClr val="007A73"/>
                </a:solidFill>
                <a:latin typeface="Poppins" pitchFamily="34" charset="0"/>
                <a:ea typeface="Poppins" pitchFamily="34" charset="-122"/>
                <a:cs typeface="Poppins" pitchFamily="34" charset="-120"/>
              </a:rPr>
              <a:t>80</a:t>
            </a:r>
            <a:endParaRPr lang="en-US" sz="3700"/>
          </a:p>
        </p:txBody>
      </p:sp>
      <p:sp>
        <p:nvSpPr>
          <p:cNvPr id="22" name="Text 18"/>
          <p:cNvSpPr/>
          <p:nvPr/>
        </p:nvSpPr>
        <p:spPr>
          <a:xfrm>
            <a:off x="7488936" y="3200400"/>
            <a:ext cx="2697480" cy="365760"/>
          </a:xfrm>
          <a:prstGeom prst="rect">
            <a:avLst/>
          </a:prstGeom>
          <a:noFill/>
          <a:ln/>
        </p:spPr>
        <p:txBody>
          <a:bodyPr wrap="square" lIns="0" tIns="0" rIns="0" bIns="0" rtlCol="0" anchor="ctr"/>
          <a:lstStyle/>
          <a:p>
            <a:pPr marL="0" indent="0" algn="ctr">
              <a:buNone/>
            </a:pPr>
            <a:r>
              <a:rPr lang="en-US" sz="1200">
                <a:solidFill>
                  <a:srgbClr val="4A4A4A"/>
                </a:solidFill>
                <a:latin typeface="Poppins" pitchFamily="34" charset="0"/>
                <a:ea typeface="Poppins" pitchFamily="34" charset="-122"/>
                <a:cs typeface="Poppins" pitchFamily="34" charset="-120"/>
              </a:rPr>
              <a:t>engineered features</a:t>
            </a:r>
            <a:endParaRPr lang="en-US" sz="120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250" b="1">
                <a:solidFill>
                  <a:srgbClr val="222222"/>
                </a:solidFill>
                <a:latin typeface="Poppins" pitchFamily="34" charset="0"/>
                <a:ea typeface="Poppins" pitchFamily="34" charset="-122"/>
                <a:cs typeface="Poppins" pitchFamily="34" charset="-120"/>
              </a:rPr>
              <a:t>For each listing:  </a:t>
            </a:r>
            <a:r>
              <a:rPr lang="en-US" sz="1250">
                <a:solidFill>
                  <a:srgbClr val="4A4A4A"/>
                </a:solidFill>
                <a:latin typeface="Poppins" pitchFamily="34" charset="0"/>
                <a:ea typeface="Poppins" pitchFamily="34" charset="-122"/>
                <a:cs typeface="Poppins" pitchFamily="34" charset="-120"/>
              </a:rPr>
              <a:t>nightly price · availability · reviews · amenities · location · host characteristics.</a:t>
            </a:r>
            <a:endParaRPr lang="en-US" sz="1250"/>
          </a:p>
        </p:txBody>
      </p:sp>
      <p:sp>
        <p:nvSpPr>
          <p:cNvPr id="24" name="Shape 20"/>
          <p:cNvSpPr/>
          <p:nvPr/>
        </p:nvSpPr>
        <p:spPr>
          <a:xfrm>
            <a:off x="50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758952" y="4599432"/>
            <a:ext cx="566928" cy="566928"/>
          </a:xfrm>
          <a:prstGeom prst="ellipse">
            <a:avLst/>
          </a:prstGeom>
          <a:solidFill>
            <a:srgbClr val="E6F6F4"/>
          </a:solidFill>
          <a:ln/>
        </p:spPr>
        <p:txBody>
          <a:bodyPr/>
          <a:lstStyle/>
          <a:p>
            <a:endParaRPr lang="en-US"/>
          </a:p>
        </p:txBody>
      </p:sp>
      <p:pic>
        <p:nvPicPr>
          <p:cNvPr id="26" name="Image 2" descr="/sessions/dreamy-trusting-noether/mnt/outputs/build/assets/filter_teal.png"/>
          <p:cNvPicPr>
            <a:picLocks noChangeAspect="1"/>
          </p:cNvPicPr>
          <p:nvPr/>
        </p:nvPicPr>
        <p:blipFill>
          <a:blip r:embed="rId5"/>
          <a:stretch>
            <a:fillRect/>
          </a:stretch>
        </p:blipFill>
        <p:spPr>
          <a:xfrm>
            <a:off x="895015" y="4735495"/>
            <a:ext cx="294803" cy="294803"/>
          </a:xfrm>
          <a:prstGeom prst="rect">
            <a:avLst/>
          </a:prstGeom>
        </p:spPr>
      </p:pic>
      <p:sp>
        <p:nvSpPr>
          <p:cNvPr id="27" name="Text 22"/>
          <p:cNvSpPr/>
          <p:nvPr/>
        </p:nvSpPr>
        <p:spPr>
          <a:xfrm>
            <a:off x="1435608" y="4672584"/>
            <a:ext cx="2465832"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Clean &amp; prepare</a:t>
            </a:r>
            <a:endParaRPr lang="en-US" sz="1350"/>
          </a:p>
        </p:txBody>
      </p:sp>
      <p:sp>
        <p:nvSpPr>
          <p:cNvPr id="28" name="Text 23"/>
          <p:cNvSpPr/>
          <p:nvPr/>
        </p:nvSpPr>
        <p:spPr>
          <a:xfrm>
            <a:off x="777240" y="5312664"/>
            <a:ext cx="3014472" cy="658368"/>
          </a:xfrm>
          <a:prstGeom prst="rect">
            <a:avLst/>
          </a:prstGeom>
          <a:noFill/>
          <a:ln/>
        </p:spPr>
        <p:txBody>
          <a:bodyPr wrap="square" lIns="0" tIns="0" rIns="0" bIns="0" rtlCol="0" anchor="ctr"/>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Handle missing values, parse amenities, engineer features into a reliable modeling table.</a:t>
            </a:r>
            <a:endParaRPr lang="en-US" sz="1100"/>
          </a:p>
        </p:txBody>
      </p:sp>
      <p:sp>
        <p:nvSpPr>
          <p:cNvPr id="29" name="Shape 24"/>
          <p:cNvSpPr/>
          <p:nvPr/>
        </p:nvSpPr>
        <p:spPr>
          <a:xfrm>
            <a:off x="431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5"/>
          <p:cNvSpPr/>
          <p:nvPr/>
        </p:nvSpPr>
        <p:spPr>
          <a:xfrm>
            <a:off x="4568952" y="4599432"/>
            <a:ext cx="566928" cy="566928"/>
          </a:xfrm>
          <a:prstGeom prst="ellipse">
            <a:avLst/>
          </a:prstGeom>
          <a:solidFill>
            <a:srgbClr val="FFEEF2"/>
          </a:solidFill>
          <a:ln/>
        </p:spPr>
        <p:txBody>
          <a:bodyPr/>
          <a:lstStyle/>
          <a:p>
            <a:endParaRPr lang="en-US"/>
          </a:p>
        </p:txBody>
      </p:sp>
      <p:pic>
        <p:nvPicPr>
          <p:cNvPr id="31" name="Image 3" descr="/sessions/dreamy-trusting-noether/mnt/outputs/build/assets/search_coral.png"/>
          <p:cNvPicPr>
            <a:picLocks noChangeAspect="1"/>
          </p:cNvPicPr>
          <p:nvPr/>
        </p:nvPicPr>
        <p:blipFill>
          <a:blip r:embed="rId6"/>
          <a:stretch>
            <a:fillRect/>
          </a:stretch>
        </p:blipFill>
        <p:spPr>
          <a:xfrm>
            <a:off x="4705015" y="4735495"/>
            <a:ext cx="294803" cy="294803"/>
          </a:xfrm>
          <a:prstGeom prst="rect">
            <a:avLst/>
          </a:prstGeom>
        </p:spPr>
      </p:pic>
      <p:sp>
        <p:nvSpPr>
          <p:cNvPr id="32" name="Text 26"/>
          <p:cNvSpPr/>
          <p:nvPr/>
        </p:nvSpPr>
        <p:spPr>
          <a:xfrm>
            <a:off x="5245608" y="4672584"/>
            <a:ext cx="2465832"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Understand first</a:t>
            </a:r>
            <a:endParaRPr lang="en-US" sz="1350"/>
          </a:p>
        </p:txBody>
      </p:sp>
      <p:sp>
        <p:nvSpPr>
          <p:cNvPr id="33" name="Text 27"/>
          <p:cNvSpPr/>
          <p:nvPr/>
        </p:nvSpPr>
        <p:spPr>
          <a:xfrm>
            <a:off x="4587240" y="5312664"/>
            <a:ext cx="3014472" cy="658368"/>
          </a:xfrm>
          <a:prstGeom prst="rect">
            <a:avLst/>
          </a:prstGeom>
          <a:noFill/>
          <a:ln/>
        </p:spPr>
        <p:txBody>
          <a:bodyPr wrap="square" lIns="0" tIns="0" rIns="0" bIns="0" rtlCol="0" anchor="ctr"/>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Before modeling: which variables matter, and what relationships already exist in the data?</a:t>
            </a:r>
            <a:endParaRPr lang="en-US" sz="1100"/>
          </a:p>
        </p:txBody>
      </p:sp>
      <p:sp>
        <p:nvSpPr>
          <p:cNvPr id="34" name="Shape 28"/>
          <p:cNvSpPr/>
          <p:nvPr/>
        </p:nvSpPr>
        <p:spPr>
          <a:xfrm>
            <a:off x="812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9"/>
          <p:cNvSpPr/>
          <p:nvPr/>
        </p:nvSpPr>
        <p:spPr>
          <a:xfrm>
            <a:off x="8378952" y="4599432"/>
            <a:ext cx="566928" cy="566928"/>
          </a:xfrm>
          <a:prstGeom prst="ellipse">
            <a:avLst/>
          </a:prstGeom>
          <a:solidFill>
            <a:srgbClr val="E6F6F4"/>
          </a:solidFill>
          <a:ln/>
        </p:spPr>
        <p:txBody>
          <a:bodyPr/>
          <a:lstStyle/>
          <a:p>
            <a:endParaRPr lang="en-US"/>
          </a:p>
        </p:txBody>
      </p:sp>
      <p:pic>
        <p:nvPicPr>
          <p:cNvPr id="36" name="Image 4" descr="/sessions/dreamy-trusting-noether/mnt/outputs/build/assets/bar_teal.png"/>
          <p:cNvPicPr>
            <a:picLocks noChangeAspect="1"/>
          </p:cNvPicPr>
          <p:nvPr/>
        </p:nvPicPr>
        <p:blipFill>
          <a:blip r:embed="rId7"/>
          <a:stretch>
            <a:fillRect/>
          </a:stretch>
        </p:blipFill>
        <p:spPr>
          <a:xfrm>
            <a:off x="8515015" y="4735495"/>
            <a:ext cx="294803" cy="294803"/>
          </a:xfrm>
          <a:prstGeom prst="rect">
            <a:avLst/>
          </a:prstGeom>
        </p:spPr>
      </p:pic>
      <p:sp>
        <p:nvSpPr>
          <p:cNvPr id="37" name="Text 30"/>
          <p:cNvSpPr/>
          <p:nvPr/>
        </p:nvSpPr>
        <p:spPr>
          <a:xfrm>
            <a:off x="9055608" y="4672584"/>
            <a:ext cx="2465832"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Then model</a:t>
            </a:r>
            <a:endParaRPr lang="en-US" sz="1350"/>
          </a:p>
        </p:txBody>
      </p:sp>
      <p:sp>
        <p:nvSpPr>
          <p:cNvPr id="38" name="Text 31"/>
          <p:cNvSpPr/>
          <p:nvPr/>
        </p:nvSpPr>
        <p:spPr>
          <a:xfrm>
            <a:off x="8397240" y="5312664"/>
            <a:ext cx="3014472" cy="658368"/>
          </a:xfrm>
          <a:prstGeom prst="rect">
            <a:avLst/>
          </a:prstGeom>
          <a:noFill/>
          <a:ln/>
        </p:spPr>
        <p:txBody>
          <a:bodyPr wrap="square" lIns="0" tIns="0" rIns="0" bIns="0" rtlCol="0" anchor="ctr"/>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Only once we understood the data did we move to machine learning, starting with EDA.</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04 · KEY VARIABLES (EDA)</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cs typeface="Poppins"/>
              </a:rPr>
              <a:t>One problem, two markets</a:t>
            </a:r>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a:ea typeface="Poppins" pitchFamily="34" charset="-122"/>
                <a:cs typeface="Poppins"/>
              </a:rPr>
              <a:t>The dataset splits almost evenly, and the two halves behave differently.</a:t>
            </a:r>
            <a:endParaRPr lang="en-US" sz="1450">
              <a:latin typeface="Poppins"/>
              <a:cs typeface="Poppins"/>
            </a:endParaRPr>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5</a:t>
            </a:r>
            <a:endParaRPr lang="en-US" sz="900"/>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7960874" y="2778229"/>
            <a:ext cx="313822" cy="313822"/>
          </a:xfrm>
          <a:prstGeom prst="rect">
            <a:avLst/>
          </a:prstGeom>
        </p:spPr>
      </p:pic>
      <p:sp>
        <p:nvSpPr>
          <p:cNvPr id="40" name="Text 35"/>
          <p:cNvSpPr/>
          <p:nvPr/>
        </p:nvSpPr>
        <p:spPr>
          <a:xfrm>
            <a:off x="8422290" y="2776937"/>
            <a:ext cx="3531087" cy="470143"/>
          </a:xfrm>
          <a:prstGeom prst="rect">
            <a:avLst/>
          </a:prstGeom>
          <a:noFill/>
          <a:ln/>
        </p:spPr>
        <p:txBody>
          <a:bodyPr wrap="square" lIns="0" tIns="0" rIns="0" bIns="0" rtlCol="0" anchor="ctr"/>
          <a:lstStyle/>
          <a:p>
            <a:r>
              <a:rPr lang="en-US" b="1">
                <a:solidFill>
                  <a:srgbClr val="222222"/>
                </a:solidFill>
                <a:latin typeface="Poppins"/>
                <a:cs typeface="Poppins"/>
              </a:rPr>
              <a:t>Why two markets?</a:t>
            </a:r>
            <a:endParaRPr lang="en-US"/>
          </a:p>
        </p:txBody>
      </p:sp>
      <p:sp>
        <p:nvSpPr>
          <p:cNvPr id="42" name="Text 37"/>
          <p:cNvSpPr/>
          <p:nvPr/>
        </p:nvSpPr>
        <p:spPr>
          <a:xfrm>
            <a:off x="8285758" y="3161360"/>
            <a:ext cx="3816262" cy="1945709"/>
          </a:xfrm>
          <a:prstGeom prst="rect">
            <a:avLst/>
          </a:prstGeom>
          <a:noFill/>
          <a:ln/>
        </p:spPr>
        <p:txBody>
          <a:bodyPr wrap="square" lIns="0" tIns="0" rIns="0" bIns="0" rtlCol="0" anchor="t"/>
          <a:lstStyle/>
          <a:p>
            <a:pPr>
              <a:lnSpc>
                <a:spcPct val="106000"/>
              </a:lnSpc>
            </a:pPr>
            <a:br>
              <a:rPr lang="en-US" sz="1600">
                <a:latin typeface="Poppins"/>
                <a:ea typeface="Poppins" pitchFamily="34" charset="-122"/>
                <a:cs typeface="Poppins"/>
              </a:rPr>
            </a:br>
            <a:br>
              <a:rPr lang="en-US" sz="1600">
                <a:latin typeface="Poppins"/>
                <a:cs typeface="Poppins"/>
              </a:rPr>
            </a:br>
            <a:r>
              <a:rPr lang="en-US" sz="1600" i="1">
                <a:latin typeface="Poppins"/>
                <a:ea typeface="+mn-lt"/>
                <a:cs typeface="Poppins"/>
              </a:rPr>
              <a:t>Short-stay competes with hotels. Monthly competes with apartment sublets. Different alternatives, and only one responds measurably to price.</a:t>
            </a:r>
            <a:br>
              <a:rPr lang="en-US" sz="1600" i="1">
                <a:latin typeface="Poppins"/>
                <a:ea typeface="+mn-lt"/>
                <a:cs typeface="Poppins"/>
              </a:rPr>
            </a:br>
            <a:br>
              <a:rPr lang="en-US" sz="1600" i="1">
                <a:latin typeface="Poppins"/>
                <a:ea typeface="+mn-lt"/>
                <a:cs typeface="Poppins"/>
              </a:rPr>
            </a:br>
            <a:r>
              <a:rPr lang="en-US" sz="1600" i="1">
                <a:latin typeface="Poppins"/>
                <a:ea typeface="+mn-lt"/>
                <a:cs typeface="Poppins"/>
              </a:rPr>
              <a:t>One engine, calibrated separately for each market: its own comparables, its own elasticity. Every number that follows is market-aware.</a:t>
            </a:r>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SHORT-STAY</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4,008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41% of the market</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$284</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50" name="TextBox 49"/>
          <p:cNvSpPr txBox="1"/>
          <p:nvPr/>
        </p:nvSpPr>
        <p:spPr>
          <a:xfrm>
            <a:off x="932688" y="5029200"/>
            <a:ext cx="2743200" cy="169277"/>
          </a:xfrm>
          <a:prstGeom prst="rect">
            <a:avLst/>
          </a:prstGeom>
          <a:noFill/>
        </p:spPr>
        <p:txBody>
          <a:bodyPr wrap="square" lIns="0" tIns="0" rIns="0" bIns="0">
            <a:spAutoFit/>
          </a:bodyPr>
          <a:lstStyle/>
          <a:p>
            <a:pPr algn="l"/>
            <a:r>
              <a:rPr sz="1100" b="0">
                <a:solidFill>
                  <a:srgbClr val="717171"/>
                </a:solidFill>
                <a:latin typeface="Poppins"/>
              </a:rPr>
              <a:t>price elasticity</a:t>
            </a:r>
            <a:r>
              <a:rPr lang="en-US" sz="1100" b="0">
                <a:solidFill>
                  <a:srgbClr val="717171"/>
                </a:solidFill>
                <a:latin typeface="Poppins"/>
              </a:rPr>
              <a:t>, </a:t>
            </a:r>
            <a:r>
              <a:rPr sz="1100" b="0">
                <a:solidFill>
                  <a:srgbClr val="717171"/>
                </a:solidFill>
                <a:latin typeface="Poppins"/>
              </a:rPr>
              <a:t>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MONTHLY  (28+ nights)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5,744</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59% of the market</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$131</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none</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no price response detected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05 · A KEY RELATIONSHIP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cs typeface="Poppins"/>
              </a:rPr>
              <a:t>Two listings at $200 aren’t the same listing</a:t>
            </a:r>
            <a:endParaRPr lang="en-US"/>
          </a:p>
        </p:txBody>
      </p:sp>
      <p:sp>
        <p:nvSpPr>
          <p:cNvPr id="4" name="Text 2"/>
          <p:cNvSpPr/>
          <p:nvPr/>
        </p:nvSpPr>
        <p:spPr>
          <a:xfrm>
            <a:off x="521208" y="1591056"/>
            <a:ext cx="10424160" cy="457200"/>
          </a:xfrm>
          <a:prstGeom prst="rect">
            <a:avLst/>
          </a:prstGeom>
          <a:noFill/>
          <a:ln/>
        </p:spPr>
        <p:txBody>
          <a:bodyPr wrap="square" lIns="0" tIns="0" rIns="0" bIns="0" rtlCol="0" anchor="ctr"/>
          <a:lstStyle/>
          <a:p>
            <a:pPr>
              <a:lnSpc>
                <a:spcPct val="105000"/>
              </a:lnSpc>
            </a:pPr>
            <a:r>
              <a:rPr lang="en-US" sz="1450">
                <a:solidFill>
                  <a:srgbClr val="717171"/>
                </a:solidFill>
                <a:latin typeface="Poppins"/>
                <a:cs typeface="Poppins"/>
              </a:rPr>
              <a:t>Reputation moves occupancy on its own. Until you hold it constant, a price comparison tells you nothing.</a:t>
            </a:r>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6</a:t>
            </a:r>
            <a:endParaRPr lang="en-US" sz="900"/>
          </a:p>
        </p:txBody>
      </p:sp>
      <p:sp>
        <p:nvSpPr>
          <p:cNvPr id="12" name="Shape 8"/>
          <p:cNvSpPr/>
          <p:nvPr/>
        </p:nvSpPr>
        <p:spPr>
          <a:xfrm>
            <a:off x="502920" y="2240280"/>
            <a:ext cx="5577840" cy="3794760"/>
          </a:xfrm>
          <a:prstGeom prst="roundRect">
            <a:avLst>
              <a:gd name="adj" fmla="val 3373"/>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Occupancy rises with review count</a:t>
            </a:r>
            <a:endParaRPr lang="en-US" sz="135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200" b="1">
                <a:solidFill>
                  <a:srgbClr val="222222"/>
                </a:solidFill>
                <a:latin typeface="Poppins" pitchFamily="34" charset="0"/>
                <a:ea typeface="Poppins" pitchFamily="34" charset="-122"/>
                <a:cs typeface="Poppins" pitchFamily="34" charset="-120"/>
              </a:rPr>
              <a:t>34%</a:t>
            </a:r>
            <a:endParaRPr lang="en-US" sz="120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0–10</a:t>
            </a:r>
            <a:endParaRPr lang="en-US" sz="1050"/>
          </a:p>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reviews</a:t>
            </a:r>
            <a:endParaRPr lang="en-US" sz="105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200" b="1">
                <a:solidFill>
                  <a:srgbClr val="222222"/>
                </a:solidFill>
                <a:latin typeface="Poppins" pitchFamily="34" charset="0"/>
                <a:ea typeface="Poppins" pitchFamily="34" charset="-122"/>
                <a:cs typeface="Poppins" pitchFamily="34" charset="-120"/>
              </a:rPr>
              <a:t>37%</a:t>
            </a:r>
            <a:endParaRPr lang="en-US" sz="120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11–50</a:t>
            </a:r>
            <a:endParaRPr lang="en-US" sz="1050"/>
          </a:p>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reviews</a:t>
            </a:r>
            <a:endParaRPr lang="en-US" sz="105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200" b="1">
                <a:solidFill>
                  <a:srgbClr val="222222"/>
                </a:solidFill>
                <a:latin typeface="Poppins" pitchFamily="34" charset="0"/>
                <a:ea typeface="Poppins" pitchFamily="34" charset="-122"/>
                <a:cs typeface="Poppins" pitchFamily="34" charset="-120"/>
              </a:rPr>
              <a:t>42%</a:t>
            </a:r>
            <a:endParaRPr lang="en-US" sz="120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51+</a:t>
            </a:r>
            <a:endParaRPr lang="en-US" sz="1050"/>
          </a:p>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reviews</a:t>
            </a:r>
            <a:endParaRPr lang="en-US" sz="1050"/>
          </a:p>
        </p:txBody>
      </p:sp>
      <p:sp>
        <p:nvSpPr>
          <p:cNvPr id="23" name="Text 19"/>
          <p:cNvSpPr/>
          <p:nvPr/>
        </p:nvSpPr>
        <p:spPr>
          <a:xfrm>
            <a:off x="731520" y="5532120"/>
            <a:ext cx="5120640" cy="411480"/>
          </a:xfrm>
          <a:prstGeom prst="rect">
            <a:avLst/>
          </a:prstGeom>
          <a:noFill/>
          <a:ln/>
        </p:spPr>
        <p:txBody>
          <a:bodyPr wrap="square" lIns="0" tIns="0" rIns="0" bIns="0" rtlCol="0" anchor="ctr"/>
          <a:lstStyle/>
          <a:p>
            <a:pPr marL="0" indent="0">
              <a:buNone/>
            </a:pPr>
            <a:r>
              <a:rPr lang="en-US" sz="1050" i="1">
                <a:solidFill>
                  <a:srgbClr val="717171"/>
                </a:solidFill>
                <a:latin typeface="Poppins" pitchFamily="34" charset="0"/>
                <a:ea typeface="Poppins" pitchFamily="34" charset="-122"/>
                <a:cs typeface="Poppins" pitchFamily="34" charset="-120"/>
              </a:rPr>
              <a:t>Host tenure shows no such pattern: flat at 37–39%. It’s the reviews, not the years.</a:t>
            </a:r>
            <a:endParaRPr lang="en-US" sz="1050"/>
          </a:p>
        </p:txBody>
      </p:sp>
      <p:sp>
        <p:nvSpPr>
          <p:cNvPr id="24" name="Shape 20"/>
          <p:cNvSpPr/>
          <p:nvPr/>
        </p:nvSpPr>
        <p:spPr>
          <a:xfrm>
            <a:off x="6263640" y="2240280"/>
            <a:ext cx="5422392" cy="3794760"/>
          </a:xfrm>
          <a:prstGeom prst="roundRect">
            <a:avLst>
              <a:gd name="adj" fmla="val 3373"/>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6537960" y="2514600"/>
            <a:ext cx="603504" cy="603504"/>
          </a:xfrm>
          <a:prstGeom prst="ellipse">
            <a:avLst/>
          </a:prstGeom>
          <a:solidFill>
            <a:srgbClr val="FFFFFF"/>
          </a:solidFill>
          <a:ln/>
        </p:spPr>
        <p:txBody>
          <a:bodyPr/>
          <a:lstStyle/>
          <a:p>
            <a:endParaRPr lang="en-US"/>
          </a:p>
        </p:txBody>
      </p:sp>
      <p:pic>
        <p:nvPicPr>
          <p:cNvPr id="26" name="Image 2" descr="/sessions/dreamy-trusting-noether/mnt/outputs/build/assets/scale_teal.png"/>
          <p:cNvPicPr>
            <a:picLocks noChangeAspect="1"/>
          </p:cNvPicPr>
          <p:nvPr/>
        </p:nvPicPr>
        <p:blipFill>
          <a:blip r:embed="rId5"/>
          <a:stretch>
            <a:fillRect/>
          </a:stretch>
        </p:blipFill>
        <p:spPr>
          <a:xfrm>
            <a:off x="6682801" y="2659441"/>
            <a:ext cx="313822" cy="313822"/>
          </a:xfrm>
          <a:prstGeom prst="rect">
            <a:avLst/>
          </a:prstGeom>
        </p:spPr>
      </p:pic>
      <p:sp>
        <p:nvSpPr>
          <p:cNvPr id="27" name="Text 22"/>
          <p:cNvSpPr/>
          <p:nvPr/>
        </p:nvSpPr>
        <p:spPr>
          <a:xfrm>
            <a:off x="7278624" y="2542032"/>
            <a:ext cx="4206240" cy="365760"/>
          </a:xfrm>
          <a:prstGeom prst="rect">
            <a:avLst/>
          </a:prstGeom>
          <a:noFill/>
          <a:ln/>
        </p:spPr>
        <p:txBody>
          <a:bodyPr wrap="square" lIns="0" tIns="0" rIns="0" bIns="0" rtlCol="0" anchor="ctr"/>
          <a:lstStyle/>
          <a:p>
            <a:r>
              <a:rPr lang="en-US" sz="1500" b="1">
                <a:solidFill>
                  <a:srgbClr val="222222"/>
                </a:solidFill>
                <a:latin typeface="Poppins"/>
                <a:cs typeface="Poppins"/>
              </a:rPr>
              <a:t>Which is why we built a model</a:t>
            </a:r>
            <a:endParaRPr lang="en-US"/>
          </a:p>
        </p:txBody>
      </p:sp>
      <p:sp>
        <p:nvSpPr>
          <p:cNvPr id="28" name="Text 23"/>
          <p:cNvSpPr/>
          <p:nvPr/>
        </p:nvSpPr>
        <p:spPr>
          <a:xfrm>
            <a:off x="6537960" y="3246120"/>
            <a:ext cx="4892040" cy="1371600"/>
          </a:xfrm>
          <a:prstGeom prst="rect">
            <a:avLst/>
          </a:prstGeom>
          <a:noFill/>
          <a:ln/>
        </p:spPr>
        <p:txBody>
          <a:bodyPr wrap="square" lIns="0" tIns="0" rIns="0" bIns="0" rtlCol="0" anchor="t"/>
          <a:lstStyle/>
          <a:p>
            <a:pPr marL="0" indent="0">
              <a:lnSpc>
                <a:spcPct val="107000"/>
              </a:lnSpc>
              <a:buNone/>
            </a:pPr>
            <a:r>
              <a:rPr lang="en-US" sz="1250">
                <a:solidFill>
                  <a:srgbClr val="4A4A4A"/>
                </a:solidFill>
                <a:latin typeface="Poppins"/>
                <a:ea typeface="Poppins" pitchFamily="34" charset="-122"/>
                <a:cs typeface="Poppins"/>
              </a:rPr>
              <a:t>Reviews move occupancy independently of price. So “is this listing expensive?” has no answer until you compare it to listings that match on reputation, location, size and amenities.</a:t>
            </a:r>
            <a:r>
              <a:rPr lang="en-US" sz="1250" err="1">
                <a:solidFill>
                  <a:srgbClr val="4A4A4A"/>
                </a:solidFill>
                <a:latin typeface="Poppins"/>
                <a:ea typeface="Poppins" pitchFamily="34" charset="-122"/>
                <a:cs typeface="Poppins"/>
              </a:rPr>
              <a:t/>
            </a:r>
            <a:r>
              <a:rPr lang="en-US" sz="1250">
                <a:solidFill>
                  <a:srgbClr val="4A4A4A"/>
                </a:solidFill>
                <a:latin typeface="Poppins"/>
                <a:ea typeface="Poppins" pitchFamily="34" charset="-122"/>
                <a:cs typeface="Poppins"/>
              </a:rPr>
              <a:t/>
            </a:r>
            <a:endParaRPr lang="en-US" sz="1250">
              <a:latin typeface="Poppins"/>
              <a:cs typeface="Poppins"/>
            </a:endParaRPr>
          </a:p>
        </p:txBody>
      </p:sp>
      <p:sp>
        <p:nvSpPr>
          <p:cNvPr id="29" name="Shape 24"/>
          <p:cNvSpPr/>
          <p:nvPr/>
        </p:nvSpPr>
        <p:spPr>
          <a:xfrm>
            <a:off x="6537960" y="4800600"/>
            <a:ext cx="4892040" cy="960120"/>
          </a:xfrm>
          <a:prstGeom prst="roundRect">
            <a:avLst>
              <a:gd name="adj" fmla="val 11429"/>
            </a:avLst>
          </a:prstGeom>
          <a:solidFill>
            <a:srgbClr val="FFFFFF"/>
          </a:solidFill>
          <a:ln/>
        </p:spPr>
        <p:txBody>
          <a:bodyPr/>
          <a:lstStyle/>
          <a:p>
            <a:endParaRPr lang="en-US"/>
          </a:p>
        </p:txBody>
      </p:sp>
      <p:sp>
        <p:nvSpPr>
          <p:cNvPr id="30" name="Text 25"/>
          <p:cNvSpPr/>
          <p:nvPr/>
        </p:nvSpPr>
        <p:spPr>
          <a:xfrm>
            <a:off x="6766560" y="4937760"/>
            <a:ext cx="4434840" cy="731520"/>
          </a:xfrm>
          <a:prstGeom prst="rect">
            <a:avLst/>
          </a:prstGeom>
          <a:noFill/>
          <a:ln/>
        </p:spPr>
        <p:txBody>
          <a:bodyPr wrap="square" lIns="0" tIns="0" rIns="0" bIns="0" rtlCol="0" anchor="ctr"/>
          <a:lstStyle/>
          <a:p>
            <a:pPr>
              <a:lnSpc>
                <a:spcPct val="105000"/>
              </a:lnSpc>
            </a:pPr>
            <a:r>
              <a:rPr lang="en-US" sz="1250" b="1" i="1">
                <a:solidFill>
                  <a:srgbClr val="007A73"/>
                </a:solidFill>
                <a:latin typeface="Poppins"/>
                <a:ea typeface="Poppins" pitchFamily="34" charset="-122"/>
                <a:cs typeface="Poppins"/>
              </a:rPr>
              <a:t>That’s the model’s whole job: a fair price against genuinely similar listings, not against the market average.</a:t>
            </a:r>
            <a:endParaRPr lang="en-US" sz="1250">
              <a:latin typeface="Poppins"/>
              <a:cs typeface="Poppi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06 · THE SOLUTION</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Not another calculator: an explanation</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When someone tells you to change your price, your first question is “why?” Our product answers it.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7</a:t>
            </a:r>
            <a:endParaRPr lang="en-US" sz="900"/>
          </a:p>
        </p:txBody>
      </p:sp>
      <p:sp>
        <p:nvSpPr>
          <p:cNvPr id="12" name="Shape 8"/>
          <p:cNvSpPr/>
          <p:nvPr/>
        </p:nvSpPr>
        <p:spPr>
          <a:xfrm>
            <a:off x="502920"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40664" y="2542032"/>
            <a:ext cx="548640" cy="548640"/>
          </a:xfrm>
          <a:prstGeom prst="ellipse">
            <a:avLst/>
          </a:prstGeom>
          <a:solidFill>
            <a:srgbClr val="FFEEF2"/>
          </a:solidFill>
          <a:ln/>
        </p:spPr>
        <p:txBody>
          <a:bodyPr/>
          <a:lstStyle/>
          <a:p>
            <a:endParaRPr lang="en-US"/>
          </a:p>
        </p:txBody>
      </p:sp>
      <p:pic>
        <p:nvPicPr>
          <p:cNvPr id="14" name="Image 2" descr="/sessions/dreamy-trusting-noether/mnt/outputs/build/assets/dollar_coral.png"/>
          <p:cNvPicPr>
            <a:picLocks noChangeAspect="1"/>
          </p:cNvPicPr>
          <p:nvPr/>
        </p:nvPicPr>
        <p:blipFill>
          <a:blip r:embed="rId5"/>
          <a:stretch>
            <a:fillRect/>
          </a:stretch>
        </p:blipFill>
        <p:spPr>
          <a:xfrm>
            <a:off x="872338" y="2673706"/>
            <a:ext cx="285293" cy="285293"/>
          </a:xfrm>
          <a:prstGeom prst="rect">
            <a:avLst/>
          </a:prstGeom>
        </p:spPr>
      </p:pic>
      <p:sp>
        <p:nvSpPr>
          <p:cNvPr id="15" name="Text 10"/>
          <p:cNvSpPr/>
          <p:nvPr/>
        </p:nvSpPr>
        <p:spPr>
          <a:xfrm>
            <a:off x="1380744" y="2578608"/>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A recommended fair value</a:t>
            </a:r>
            <a:endParaRPr lang="en-US" sz="130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One clear number, calibrated to the listing.</a:t>
            </a:r>
            <a:endParaRPr lang="en-US" sz="1100"/>
          </a:p>
        </p:txBody>
      </p:sp>
      <p:sp>
        <p:nvSpPr>
          <p:cNvPr id="17" name="Shape 12"/>
          <p:cNvSpPr/>
          <p:nvPr/>
        </p:nvSpPr>
        <p:spPr>
          <a:xfrm>
            <a:off x="4146804"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4384548" y="2542032"/>
            <a:ext cx="548640" cy="548640"/>
          </a:xfrm>
          <a:prstGeom prst="ellipse">
            <a:avLst/>
          </a:prstGeom>
          <a:solidFill>
            <a:srgbClr val="E6F6F4"/>
          </a:solidFill>
          <a:ln/>
        </p:spPr>
        <p:txBody>
          <a:bodyPr/>
          <a:lstStyle/>
          <a:p>
            <a:endParaRPr lang="en-US"/>
          </a:p>
        </p:txBody>
      </p:sp>
      <p:pic>
        <p:nvPicPr>
          <p:cNvPr id="19" name="Image 3" descr="/sessions/dreamy-trusting-noether/mnt/outputs/build/assets/search_teal.png"/>
          <p:cNvPicPr>
            <a:picLocks noChangeAspect="1"/>
          </p:cNvPicPr>
          <p:nvPr/>
        </p:nvPicPr>
        <p:blipFill>
          <a:blip r:embed="rId6"/>
          <a:stretch>
            <a:fillRect/>
          </a:stretch>
        </p:blipFill>
        <p:spPr>
          <a:xfrm>
            <a:off x="4516222" y="2673706"/>
            <a:ext cx="285293" cy="285293"/>
          </a:xfrm>
          <a:prstGeom prst="rect">
            <a:avLst/>
          </a:prstGeom>
        </p:spPr>
      </p:pic>
      <p:sp>
        <p:nvSpPr>
          <p:cNvPr id="20" name="Text 14"/>
          <p:cNvSpPr/>
          <p:nvPr/>
        </p:nvSpPr>
        <p:spPr>
          <a:xfrm>
            <a:off x="5024628" y="2578608"/>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Comparable listings</a:t>
            </a:r>
            <a:endParaRPr lang="en-US" sz="130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The real, similar properties that support it.</a:t>
            </a:r>
            <a:endParaRPr lang="en-US" sz="1100"/>
          </a:p>
        </p:txBody>
      </p:sp>
      <p:sp>
        <p:nvSpPr>
          <p:cNvPr id="22" name="Shape 16"/>
          <p:cNvSpPr/>
          <p:nvPr/>
        </p:nvSpPr>
        <p:spPr>
          <a:xfrm>
            <a:off x="502920"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80560"/>
            <a:ext cx="548640" cy="548640"/>
          </a:xfrm>
          <a:prstGeom prst="ellipse">
            <a:avLst/>
          </a:prstGeom>
          <a:solidFill>
            <a:srgbClr val="FFEEF2"/>
          </a:solidFill>
          <a:ln/>
        </p:spPr>
        <p:txBody>
          <a:bodyPr/>
          <a:lstStyle/>
          <a:p>
            <a:endParaRPr lang="en-US"/>
          </a:p>
        </p:txBody>
      </p:sp>
      <p:pic>
        <p:nvPicPr>
          <p:cNvPr id="24" name="Image 4" descr="/sessions/dreamy-trusting-noether/mnt/outputs/build/assets/sparkle_coral.png"/>
          <p:cNvPicPr>
            <a:picLocks noChangeAspect="1"/>
          </p:cNvPicPr>
          <p:nvPr/>
        </p:nvPicPr>
        <p:blipFill>
          <a:blip r:embed="rId7"/>
          <a:stretch>
            <a:fillRect/>
          </a:stretch>
        </p:blipFill>
        <p:spPr>
          <a:xfrm>
            <a:off x="872338" y="4612234"/>
            <a:ext cx="285293" cy="285293"/>
          </a:xfrm>
          <a:prstGeom prst="rect">
            <a:avLst/>
          </a:prstGeom>
        </p:spPr>
      </p:pic>
      <p:sp>
        <p:nvSpPr>
          <p:cNvPr id="25" name="Text 18"/>
          <p:cNvSpPr/>
          <p:nvPr/>
        </p:nvSpPr>
        <p:spPr>
          <a:xfrm>
            <a:off x="1380744" y="4517136"/>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Amenity differences</a:t>
            </a:r>
            <a:endParaRPr lang="en-US" sz="130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What comparable high performers offer that you don't.</a:t>
            </a:r>
            <a:endParaRPr lang="en-US" sz="1100"/>
          </a:p>
        </p:txBody>
      </p:sp>
      <p:sp>
        <p:nvSpPr>
          <p:cNvPr id="27" name="Shape 20"/>
          <p:cNvSpPr/>
          <p:nvPr/>
        </p:nvSpPr>
        <p:spPr>
          <a:xfrm>
            <a:off x="4146804"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384548" y="4480560"/>
            <a:ext cx="548640" cy="548640"/>
          </a:xfrm>
          <a:prstGeom prst="ellipse">
            <a:avLst/>
          </a:prstGeom>
          <a:solidFill>
            <a:srgbClr val="E6F6F4"/>
          </a:solidFill>
          <a:ln/>
        </p:spPr>
        <p:txBody>
          <a:bodyPr/>
          <a:lstStyle/>
          <a:p>
            <a:endParaRPr lang="en-US"/>
          </a:p>
        </p:txBody>
      </p:sp>
      <p:pic>
        <p:nvPicPr>
          <p:cNvPr id="29" name="Image 5" descr="/sessions/dreamy-trusting-noether/mnt/outputs/build/assets/trend_teal.png"/>
          <p:cNvPicPr>
            <a:picLocks noChangeAspect="1"/>
          </p:cNvPicPr>
          <p:nvPr/>
        </p:nvPicPr>
        <p:blipFill>
          <a:blip r:embed="rId8"/>
          <a:stretch>
            <a:fillRect/>
          </a:stretch>
        </p:blipFill>
        <p:spPr>
          <a:xfrm>
            <a:off x="4516222" y="4612234"/>
            <a:ext cx="285293" cy="285293"/>
          </a:xfrm>
          <a:prstGeom prst="rect">
            <a:avLst/>
          </a:prstGeom>
        </p:spPr>
      </p:pic>
      <p:sp>
        <p:nvSpPr>
          <p:cNvPr id="30" name="Text 22"/>
          <p:cNvSpPr/>
          <p:nvPr/>
        </p:nvSpPr>
        <p:spPr>
          <a:xfrm>
            <a:off x="5024628" y="4517136"/>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A revenue what-if</a:t>
            </a:r>
            <a:endParaRPr lang="en-US" sz="130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Explore how changing price could affect revenue.</a:t>
            </a:r>
            <a:endParaRPr lang="en-US" sz="1100"/>
          </a:p>
        </p:txBody>
      </p:sp>
      <p:sp>
        <p:nvSpPr>
          <p:cNvPr id="32" name="Shape 24"/>
          <p:cNvSpPr/>
          <p:nvPr/>
        </p:nvSpPr>
        <p:spPr>
          <a:xfrm>
            <a:off x="7772400" y="2286000"/>
            <a:ext cx="39136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046720" y="2560320"/>
            <a:ext cx="603504" cy="603504"/>
          </a:xfrm>
          <a:prstGeom prst="ellipse">
            <a:avLst/>
          </a:prstGeom>
          <a:solidFill>
            <a:srgbClr val="FFFFFF"/>
          </a:solidFill>
          <a:ln/>
        </p:spPr>
        <p:txBody>
          <a:bodyPr/>
          <a:lstStyle/>
          <a:p>
            <a:endParaRPr lang="en-US"/>
          </a:p>
        </p:txBody>
      </p:sp>
      <p:pic>
        <p:nvPicPr>
          <p:cNvPr id="34" name="Image 6" descr="/sessions/dreamy-trusting-noether/mnt/outputs/build/assets/compass_coral.png"/>
          <p:cNvPicPr>
            <a:picLocks noChangeAspect="1"/>
          </p:cNvPicPr>
          <p:nvPr/>
        </p:nvPicPr>
        <p:blipFill>
          <a:blip r:embed="rId9"/>
          <a:stretch>
            <a:fillRect/>
          </a:stretch>
        </p:blipFill>
        <p:spPr>
          <a:xfrm>
            <a:off x="8191561" y="2705161"/>
            <a:ext cx="313822" cy="313822"/>
          </a:xfrm>
          <a:prstGeom prst="rect">
            <a:avLst/>
          </a:prstGeom>
        </p:spPr>
      </p:pic>
      <p:sp>
        <p:nvSpPr>
          <p:cNvPr id="35" name="Text 26"/>
          <p:cNvSpPr/>
          <p:nvPr/>
        </p:nvSpPr>
        <p:spPr>
          <a:xfrm>
            <a:off x="8778240" y="2578608"/>
            <a:ext cx="2743200" cy="365760"/>
          </a:xfrm>
          <a:prstGeom prst="rect">
            <a:avLst/>
          </a:prstGeom>
          <a:noFill/>
          <a:ln/>
        </p:spPr>
        <p:txBody>
          <a:bodyPr wrap="square" lIns="0" tIns="0" rIns="0" bIns="0" rtlCol="0" anchor="ctr"/>
          <a:lstStyle/>
          <a:p>
            <a:pPr marL="0" indent="0">
              <a:buNone/>
            </a:pPr>
            <a:r>
              <a:rPr lang="en-US" sz="1450" b="1">
                <a:solidFill>
                  <a:srgbClr val="222222"/>
                </a:solidFill>
                <a:latin typeface="Poppins" pitchFamily="34" charset="0"/>
                <a:ea typeface="Poppins" pitchFamily="34" charset="-122"/>
                <a:cs typeface="Poppins" pitchFamily="34" charset="-120"/>
              </a:rPr>
              <a:t>“Commander's Intent”</a:t>
            </a:r>
            <a:endParaRPr lang="en-US" sz="145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250">
                <a:solidFill>
                  <a:srgbClr val="4A4A4A"/>
                </a:solidFill>
                <a:latin typeface="Poppins" pitchFamily="34" charset="0"/>
                <a:ea typeface="Poppins" pitchFamily="34" charset="-122"/>
                <a:cs typeface="Poppins" pitchFamily="34" charset="-120"/>
              </a:rPr>
              <a:t>People make better decisions when they understand the reasoning, not when they’re simply told what to do.</a:t>
            </a:r>
            <a:endParaRPr lang="en-US" sz="125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250" b="1">
                <a:solidFill>
                  <a:srgbClr val="FF385C"/>
                </a:solidFill>
                <a:latin typeface="Poppins" pitchFamily="34" charset="0"/>
                <a:ea typeface="Poppins" pitchFamily="34" charset="-122"/>
                <a:cs typeface="Poppins" pitchFamily="34" charset="-120"/>
              </a:rPr>
              <a:t>Hosts trust a recommendation when they understand where it came from. This is about pricing with confidence, not just predicting a price.</a:t>
            </a:r>
            <a:endParaRPr lang="en-US" sz="12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07 · MODEL &amp; INSIGHTS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a:solidFill>
                  <a:srgbClr val="222222"/>
                </a:solidFill>
                <a:latin typeface="Poppins" pitchFamily="34" charset="0"/>
                <a:ea typeface="Poppins" pitchFamily="34" charset="-122"/>
                <a:cs typeface="Poppins" pitchFamily="34" charset="-120"/>
              </a:rPr>
              <a:t>A price you can trust, and the reason behind it</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A gradient-boosting model sets the fair price; a nearest-neighbor model explains it.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8</a:t>
            </a:r>
            <a:endParaRPr lang="en-US" sz="900"/>
          </a:p>
        </p:txBody>
      </p:sp>
      <p:sp>
        <p:nvSpPr>
          <p:cNvPr id="12" name="Shape 8"/>
          <p:cNvSpPr/>
          <p:nvPr/>
        </p:nvSpPr>
        <p:spPr>
          <a:xfrm>
            <a:off x="502920" y="2240280"/>
            <a:ext cx="5468112" cy="2148840"/>
          </a:xfrm>
          <a:prstGeom prst="roundRect">
            <a:avLst>
              <a:gd name="adj" fmla="val 595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100" b="1">
                <a:solidFill>
                  <a:srgbClr val="FFFFFF"/>
                </a:solidFill>
                <a:latin typeface="Poppins" pitchFamily="34" charset="0"/>
                <a:ea typeface="Poppins" pitchFamily="34" charset="-122"/>
                <a:cs typeface="Poppins" pitchFamily="34" charset="-120"/>
              </a:rPr>
              <a:t>GBM</a:t>
            </a:r>
            <a:endParaRPr lang="en-US" sz="1100"/>
          </a:p>
        </p:txBody>
      </p:sp>
      <p:pic>
        <p:nvPicPr>
          <p:cNvPr id="15" name="Image 2" descr="/sessions/dreamy-trusting-noether/mnt/outputs/build/assets/cpu_coral.png"/>
          <p:cNvPicPr>
            <a:picLocks noChangeAspect="1"/>
          </p:cNvPicPr>
          <p:nvPr/>
        </p:nvPicPr>
        <p:blipFill>
          <a:blip r:embed="rId5"/>
          <a:stretch>
            <a:fillRect/>
          </a:stretch>
        </p:blipFill>
        <p:spPr>
          <a:xfrm>
            <a:off x="4965192" y="2514600"/>
            <a:ext cx="457200" cy="457200"/>
          </a:xfrm>
          <a:prstGeom prst="rect">
            <a:avLst/>
          </a:prstGeom>
        </p:spPr>
      </p:pic>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Fair market value</a:t>
            </a:r>
            <a:endParaRPr lang="en-US" sz="1500"/>
          </a:p>
        </p:txBody>
      </p:sp>
      <p:sp>
        <p:nvSpPr>
          <p:cNvPr id="17" name="Text 12"/>
          <p:cNvSpPr/>
          <p:nvPr/>
        </p:nvSpPr>
        <p:spPr>
          <a:xfrm>
            <a:off x="777240" y="3483864"/>
            <a:ext cx="4462272" cy="822960"/>
          </a:xfrm>
          <a:prstGeom prst="rect">
            <a:avLst/>
          </a:prstGeom>
          <a:noFill/>
          <a:ln/>
        </p:spPr>
        <p:txBody>
          <a:bodyPr wrap="square" lIns="0" tIns="0" rIns="0" bIns="0" rtlCol="0" anchor="t"/>
          <a:lstStyle/>
          <a:p>
            <a:pPr marL="0" indent="0">
              <a:lnSpc>
                <a:spcPct val="105000"/>
              </a:lnSpc>
              <a:buNone/>
            </a:pPr>
            <a:r>
              <a:rPr lang="en-US" sz="1150">
                <a:solidFill>
                  <a:srgbClr val="4A4A4A"/>
                </a:solidFill>
                <a:latin typeface="Poppins" pitchFamily="34" charset="0"/>
                <a:ea typeface="Poppins" pitchFamily="34" charset="-122"/>
                <a:cs typeface="Poppins" pitchFamily="34" charset="-120"/>
              </a:rPr>
              <a:t>Gradient boosting captures nonlinear interactions between location, amenities, property type and host, then returns a fair price with a confidence interval.</a:t>
            </a:r>
            <a:endParaRPr lang="en-US" sz="1150"/>
          </a:p>
        </p:txBody>
      </p:sp>
      <p:sp>
        <p:nvSpPr>
          <p:cNvPr id="18" name="Shape 13"/>
          <p:cNvSpPr/>
          <p:nvPr/>
        </p:nvSpPr>
        <p:spPr>
          <a:xfrm>
            <a:off x="6217920" y="2240280"/>
            <a:ext cx="5468112" cy="2148840"/>
          </a:xfrm>
          <a:prstGeom prst="roundRect">
            <a:avLst>
              <a:gd name="adj" fmla="val 5957"/>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100" b="1">
                <a:solidFill>
                  <a:srgbClr val="FFFFFF"/>
                </a:solidFill>
                <a:latin typeface="Poppins" pitchFamily="34" charset="0"/>
                <a:ea typeface="Poppins" pitchFamily="34" charset="-122"/>
                <a:cs typeface="Poppins" pitchFamily="34" charset="-120"/>
              </a:rPr>
              <a:t>KNN</a:t>
            </a:r>
            <a:endParaRPr lang="en-US" sz="1100"/>
          </a:p>
        </p:txBody>
      </p:sp>
      <p:pic>
        <p:nvPicPr>
          <p:cNvPr id="21" name="Image 3" descr="/sessions/dreamy-trusting-noether/mnt/outputs/build/assets/search_teal.png"/>
          <p:cNvPicPr>
            <a:picLocks noChangeAspect="1"/>
          </p:cNvPicPr>
          <p:nvPr/>
        </p:nvPicPr>
        <p:blipFill>
          <a:blip r:embed="rId6"/>
          <a:stretch>
            <a:fillRect/>
          </a:stretch>
        </p:blipFill>
        <p:spPr>
          <a:xfrm>
            <a:off x="11183112" y="2514600"/>
            <a:ext cx="457200" cy="457200"/>
          </a:xfrm>
          <a:prstGeom prst="rect">
            <a:avLst/>
          </a:prstGeom>
        </p:spPr>
      </p:pic>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Comparable listings</a:t>
            </a:r>
            <a:endParaRPr lang="en-US" sz="1500"/>
          </a:p>
        </p:txBody>
      </p:sp>
      <p:sp>
        <p:nvSpPr>
          <p:cNvPr id="23" name="Text 17"/>
          <p:cNvSpPr/>
          <p:nvPr/>
        </p:nvSpPr>
        <p:spPr>
          <a:xfrm>
            <a:off x="6492240" y="3483864"/>
            <a:ext cx="4919472" cy="822960"/>
          </a:xfrm>
          <a:prstGeom prst="rect">
            <a:avLst/>
          </a:prstGeom>
          <a:noFill/>
          <a:ln/>
        </p:spPr>
        <p:txBody>
          <a:bodyPr wrap="square" lIns="0" tIns="0" rIns="0" bIns="0" rtlCol="0" anchor="t"/>
          <a:lstStyle/>
          <a:p>
            <a:pPr marL="0" indent="0">
              <a:lnSpc>
                <a:spcPct val="105000"/>
              </a:lnSpc>
              <a:buNone/>
            </a:pPr>
            <a:r>
              <a:rPr lang="en-US" sz="1150">
                <a:solidFill>
                  <a:srgbClr val="4A4A4A"/>
                </a:solidFill>
                <a:latin typeface="Poppins" pitchFamily="34" charset="0"/>
                <a:ea typeface="Poppins" pitchFamily="34" charset="-122"/>
                <a:cs typeface="Poppins" pitchFamily="34" charset="-120"/>
              </a:rPr>
              <a:t>The price isn't a black box: nearest-neighbors surfaces the similar listings, and their amenities, that stand behind each recommendation.</a:t>
            </a:r>
            <a:endParaRPr lang="en-US" sz="1150"/>
          </a:p>
        </p:txBody>
      </p:sp>
      <p:sp>
        <p:nvSpPr>
          <p:cNvPr id="24" name="Shape 18"/>
          <p:cNvSpPr/>
          <p:nvPr/>
        </p:nvSpPr>
        <p:spPr>
          <a:xfrm>
            <a:off x="502920" y="4617720"/>
            <a:ext cx="1118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3400" b="1">
                <a:solidFill>
                  <a:srgbClr val="FF385C"/>
                </a:solidFill>
                <a:latin typeface="Poppins" pitchFamily="34" charset="0"/>
                <a:ea typeface="Poppins" pitchFamily="34" charset="-122"/>
                <a:cs typeface="Poppins" pitchFamily="34" charset="-120"/>
              </a:rPr>
              <a:t>19.2%</a:t>
            </a:r>
            <a:endParaRPr lang="en-US" sz="340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050">
                <a:solidFill>
                  <a:srgbClr val="717171"/>
                </a:solidFill>
                <a:latin typeface="Poppins" pitchFamily="34" charset="0"/>
                <a:ea typeface="Poppins" pitchFamily="34" charset="-122"/>
                <a:cs typeface="Poppins" pitchFamily="34" charset="-120"/>
              </a:rPr>
              <a:t>median error, roughly half the error of a plain regression</a:t>
            </a:r>
            <a:endParaRPr lang="en-US" sz="1050"/>
          </a:p>
        </p:txBody>
      </p:sp>
      <p:sp>
        <p:nvSpPr>
          <p:cNvPr id="27" name="Shape 21"/>
          <p:cNvSpPr/>
          <p:nvPr/>
        </p:nvSpPr>
        <p:spPr>
          <a:xfrm>
            <a:off x="3611880" y="4800600"/>
            <a:ext cx="0" cy="1005840"/>
          </a:xfrm>
          <a:prstGeom prst="line">
            <a:avLst/>
          </a:prstGeom>
          <a:noFill/>
          <a:ln w="12700">
            <a:solidFill>
              <a:srgbClr val="EBEBEB"/>
            </a:solidFill>
            <a:prstDash val="solid"/>
          </a:ln>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150" b="1">
                <a:solidFill>
                  <a:srgbClr val="222222"/>
                </a:solidFill>
                <a:latin typeface="Poppins" pitchFamily="34" charset="0"/>
                <a:ea typeface="Poppins" pitchFamily="34" charset="-122"/>
                <a:cs typeface="Poppins" pitchFamily="34" charset="-120"/>
              </a:rPr>
              <a:t>Two halves that pay off differently.  </a:t>
            </a:r>
            <a:r>
              <a:rPr lang="en-US" sz="1150">
                <a:solidFill>
                  <a:srgbClr val="4A4A4A"/>
                </a:solidFill>
                <a:latin typeface="Poppins" pitchFamily="34" charset="0"/>
                <a:ea typeface="Poppins" pitchFamily="34" charset="-122"/>
                <a:cs typeface="Poppins" pitchFamily="34" charset="-120"/>
              </a:rPr>
              <a:t>Roughly half of listings read underpriced against fair value and half overpriced. Raising an underpriced listing adds margin. Cutting an overpriced one adds volume: it fills nights that were sitting empty. Our number counts both.</a:t>
            </a:r>
            <a:endParaRPr lang="en-US" sz="11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08 · PRODUCT WALKTHROUGH</a:t>
            </a:r>
            <a:endParaRPr lang="en-US" sz="120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The dashboard, in three clicks</a:t>
            </a:r>
            <a:endParaRPr lang="en-US" sz="300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sp>
        <p:nvSpPr>
          <p:cNvPr id="7" name="Shape 5"/>
          <p:cNvSpPr/>
          <p:nvPr/>
        </p:nvSpPr>
        <p:spPr>
          <a:xfrm>
            <a:off x="502920" y="1600200"/>
            <a:ext cx="7360920" cy="4160520"/>
          </a:xfrm>
          <a:prstGeom prst="roundRect">
            <a:avLst>
              <a:gd name="adj" fmla="val 3516"/>
            </a:avLst>
          </a:prstGeom>
          <a:solidFill>
            <a:srgbClr val="FFFFFF"/>
          </a:solidFill>
          <a:ln w="12700">
            <a:solidFill>
              <a:srgbClr val="EBEBEB"/>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3"/>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Airbnb Pricing Intelligence</a:t>
            </a:r>
            <a:endParaRPr lang="en-US" sz="130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a:solidFill>
                  <a:srgbClr val="FFFFFF"/>
                </a:solidFill>
                <a:latin typeface="Poppins" pitchFamily="34" charset="0"/>
                <a:ea typeface="Poppins" pitchFamily="34" charset="-122"/>
                <a:cs typeface="Poppins" pitchFamily="34" charset="-120"/>
              </a:rPr>
              <a:t>Greenpoint Place · Entire home · Brooklyn</a:t>
            </a:r>
            <a:endParaRPr lang="en-US" sz="105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RECOMMENDED FAIR VALUE</a:t>
            </a:r>
            <a:endParaRPr lang="en-US" sz="100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a:solidFill>
                  <a:srgbClr val="222222"/>
                </a:solidFill>
                <a:latin typeface="Poppins" pitchFamily="34" charset="0"/>
                <a:ea typeface="Poppins" pitchFamily="34" charset="-122"/>
                <a:cs typeface="Poppins" pitchFamily="34" charset="-120"/>
              </a:rPr>
              <a:t>$222</a:t>
            </a:r>
            <a:r>
              <a:rPr lang="en-US" sz="1400">
                <a:solidFill>
                  <a:srgbClr val="717171"/>
                </a:solidFill>
                <a:latin typeface="Poppins" pitchFamily="34" charset="0"/>
                <a:ea typeface="Poppins" pitchFamily="34" charset="-122"/>
                <a:cs typeface="Poppins" pitchFamily="34" charset="-120"/>
              </a:rPr>
              <a:t>  /night</a:t>
            </a:r>
            <a:endParaRPr lang="en-US" sz="440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a:solidFill>
                  <a:srgbClr val="717171"/>
                </a:solidFill>
                <a:latin typeface="Poppins" pitchFamily="34" charset="0"/>
                <a:ea typeface="Poppins" pitchFamily="34" charset="-122"/>
                <a:cs typeface="Poppins" pitchFamily="34" charset="-120"/>
              </a:rPr>
              <a:t>Confidence range $188 – $256</a:t>
            </a:r>
            <a:endParaRPr lang="en-US" sz="1100"/>
          </a:p>
        </p:txBody>
      </p:sp>
      <p:sp>
        <p:nvSpPr>
          <p:cNvPr id="17" name="Shape 14"/>
          <p:cNvSpPr/>
          <p:nvPr/>
        </p:nvSpPr>
        <p:spPr>
          <a:xfrm>
            <a:off x="4480560" y="2651760"/>
            <a:ext cx="3063240" cy="914400"/>
          </a:xfrm>
          <a:prstGeom prst="roundRect">
            <a:avLst>
              <a:gd name="adj" fmla="val 12000"/>
            </a:avLst>
          </a:prstGeom>
          <a:solidFill>
            <a:srgbClr val="FFEEF2"/>
          </a:solidFill>
          <a:ln/>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YOUR PRICE $138</a:t>
            </a:r>
            <a:endParaRPr lang="en-US" sz="110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a:solidFill>
                  <a:srgbClr val="FF385C"/>
                </a:solidFill>
                <a:latin typeface="Poppins" pitchFamily="34" charset="0"/>
                <a:ea typeface="Poppins" pitchFamily="34" charset="-122"/>
                <a:cs typeface="Poppins" pitchFamily="34" charset="-120"/>
              </a:rPr>
              <a:t>38% below fair value</a:t>
            </a:r>
            <a:endParaRPr lang="en-US" sz="160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PROJECTED REVENUE · DRAG TO EXPLORE</a:t>
            </a:r>
            <a:endParaRPr lang="en-US" sz="100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$138</a:t>
            </a:r>
            <a:endParaRPr lang="en-US" sz="90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$222 (fair)</a:t>
            </a:r>
            <a:endParaRPr lang="en-US" sz="90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$256 (max)</a:t>
            </a:r>
            <a:endParaRPr lang="en-US" sz="900"/>
          </a:p>
        </p:txBody>
      </p:sp>
      <p:sp>
        <p:nvSpPr>
          <p:cNvPr id="30" name="Shape 27"/>
          <p:cNvSpPr/>
          <p:nvPr/>
        </p:nvSpPr>
        <p:spPr>
          <a:xfrm>
            <a:off x="8046720" y="1600200"/>
            <a:ext cx="3639312" cy="4160520"/>
          </a:xfrm>
          <a:prstGeom prst="roundRect">
            <a:avLst>
              <a:gd name="adj" fmla="val 4020"/>
            </a:avLst>
          </a:prstGeom>
          <a:solidFill>
            <a:srgbClr val="FFFFFF"/>
          </a:solidFill>
          <a:ln w="12700">
            <a:solidFill>
              <a:srgbClr val="EBEBEB"/>
            </a:solidFill>
            <a:prstDash val="solid"/>
          </a:ln>
          <a:effectLst>
            <a:outerShdw blurRad="127000" dist="25400" dir="5400000" algn="bl" rotWithShape="0">
              <a:srgbClr val="9AA0A6">
                <a:alpha val="18000"/>
              </a:srgbClr>
            </a:outerShdw>
          </a:effectLst>
        </p:spPr>
        <p:txBody>
          <a:bodyPr/>
          <a:lstStyle/>
          <a:p>
            <a:endParaRPr lang="en-US"/>
          </a:p>
        </p:txBody>
      </p:sp>
      <p:sp>
        <p:nvSpPr>
          <p:cNvPr id="31" name="Text 28"/>
          <p:cNvSpPr/>
          <p:nvPr/>
        </p:nvSpPr>
        <p:spPr>
          <a:xfrm>
            <a:off x="8302752" y="1819656"/>
            <a:ext cx="3182112" cy="274320"/>
          </a:xfrm>
          <a:prstGeom prst="rect">
            <a:avLst/>
          </a:prstGeom>
          <a:noFill/>
          <a:ln/>
        </p:spPr>
        <p:txBody>
          <a:bodyPr wrap="square" lIns="0" tIns="0" rIns="0" bIns="0" rtlCol="0" anchor="ctr"/>
          <a:lstStyle/>
          <a:p>
            <a:pPr marL="0" indent="0">
              <a:buNone/>
            </a:pPr>
            <a:r>
              <a:rPr lang="en-US" sz="1050" b="1" kern="0" spc="100">
                <a:solidFill>
                  <a:srgbClr val="9AA0A6"/>
                </a:solidFill>
                <a:latin typeface="Poppins" pitchFamily="34" charset="0"/>
                <a:ea typeface="Poppins" pitchFamily="34" charset="-122"/>
                <a:cs typeface="Poppins" pitchFamily="34" charset="-120"/>
              </a:rPr>
              <a:t>COMPARABLE LISTINGS</a:t>
            </a:r>
            <a:endParaRPr lang="en-US" sz="1050"/>
          </a:p>
        </p:txBody>
      </p:sp>
      <p:sp>
        <p:nvSpPr>
          <p:cNvPr id="32" name="Shape 29"/>
          <p:cNvSpPr/>
          <p:nvPr/>
        </p:nvSpPr>
        <p:spPr>
          <a:xfrm>
            <a:off x="8266176" y="2203704"/>
            <a:ext cx="3200400" cy="914400"/>
          </a:xfrm>
          <a:prstGeom prst="roundRect">
            <a:avLst>
              <a:gd name="adj" fmla="val 10000"/>
            </a:avLst>
          </a:prstGeom>
          <a:solidFill>
            <a:srgbClr val="F7F7F7"/>
          </a:solidFill>
          <a:ln/>
        </p:spPr>
        <p:txBody>
          <a:bodyPr/>
          <a:lstStyle/>
          <a:p>
            <a:endParaRPr lang="en-US"/>
          </a:p>
        </p:txBody>
      </p:sp>
      <p:sp>
        <p:nvSpPr>
          <p:cNvPr id="33" name="Text 30"/>
          <p:cNvSpPr/>
          <p:nvPr/>
        </p:nvSpPr>
        <p:spPr>
          <a:xfrm>
            <a:off x="8430768" y="2313432"/>
            <a:ext cx="2450592" cy="32004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Sunny Greenpoint 1BR</a:t>
            </a:r>
            <a:endParaRPr lang="en-US" sz="1100"/>
          </a:p>
        </p:txBody>
      </p:sp>
      <p:sp>
        <p:nvSpPr>
          <p:cNvPr id="34" name="Text 31"/>
          <p:cNvSpPr/>
          <p:nvPr/>
        </p:nvSpPr>
        <p:spPr>
          <a:xfrm>
            <a:off x="10634472" y="2313432"/>
            <a:ext cx="822960" cy="320040"/>
          </a:xfrm>
          <a:prstGeom prst="rect">
            <a:avLst/>
          </a:prstGeom>
          <a:noFill/>
          <a:ln/>
        </p:spPr>
        <p:txBody>
          <a:bodyPr wrap="square" lIns="0" tIns="0" rIns="0" bIns="0" rtlCol="0" anchor="ctr"/>
          <a:lstStyle/>
          <a:p>
            <a:pPr marL="0" indent="0" algn="r">
              <a:buNone/>
            </a:pPr>
            <a:r>
              <a:rPr lang="en-US" sz="1300" b="1">
                <a:solidFill>
                  <a:srgbClr val="007A73"/>
                </a:solidFill>
                <a:latin typeface="Poppins" pitchFamily="34" charset="0"/>
                <a:ea typeface="Poppins" pitchFamily="34" charset="-122"/>
                <a:cs typeface="Poppins" pitchFamily="34" charset="-120"/>
              </a:rPr>
              <a:t>$229</a:t>
            </a:r>
            <a:endParaRPr lang="en-US" sz="1300"/>
          </a:p>
        </p:txBody>
      </p:sp>
      <p:sp>
        <p:nvSpPr>
          <p:cNvPr id="35" name="Shape 32"/>
          <p:cNvSpPr/>
          <p:nvPr/>
        </p:nvSpPr>
        <p:spPr>
          <a:xfrm>
            <a:off x="8430768" y="2706624"/>
            <a:ext cx="2651760" cy="310896"/>
          </a:xfrm>
          <a:prstGeom prst="roundRect">
            <a:avLst>
              <a:gd name="adj" fmla="val 50000"/>
            </a:avLst>
          </a:prstGeom>
          <a:solidFill>
            <a:srgbClr val="FFEEF2"/>
          </a:solidFill>
          <a:ln/>
        </p:spPr>
        <p:txBody>
          <a:bodyPr/>
          <a:lstStyle/>
          <a:p>
            <a:endParaRPr lang="en-US"/>
          </a:p>
        </p:txBody>
      </p:sp>
      <p:sp>
        <p:nvSpPr>
          <p:cNvPr id="36" name="Text 33"/>
          <p:cNvSpPr/>
          <p:nvPr/>
        </p:nvSpPr>
        <p:spPr>
          <a:xfrm>
            <a:off x="8430768" y="2706624"/>
            <a:ext cx="2651760" cy="310896"/>
          </a:xfrm>
          <a:prstGeom prst="rect">
            <a:avLst/>
          </a:prstGeom>
          <a:noFill/>
          <a:ln/>
        </p:spPr>
        <p:txBody>
          <a:bodyPr wrap="square" lIns="0" tIns="0" rIns="0" bIns="0" rtlCol="0" anchor="ctr"/>
          <a:lstStyle/>
          <a:p>
            <a:pPr marL="0" indent="0" algn="ctr">
              <a:buNone/>
            </a:pPr>
            <a:r>
              <a:rPr lang="en-US" sz="950" b="1">
                <a:solidFill>
                  <a:srgbClr val="FF385C"/>
                </a:solidFill>
                <a:latin typeface="Poppins" pitchFamily="34" charset="0"/>
                <a:ea typeface="Poppins" pitchFamily="34" charset="-122"/>
                <a:cs typeface="Poppins" pitchFamily="34" charset="-120"/>
              </a:rPr>
              <a:t>+ Self check-in</a:t>
            </a:r>
            <a:endParaRPr lang="en-US" sz="950"/>
          </a:p>
        </p:txBody>
      </p:sp>
      <p:sp>
        <p:nvSpPr>
          <p:cNvPr id="37" name="Shape 34"/>
          <p:cNvSpPr/>
          <p:nvPr/>
        </p:nvSpPr>
        <p:spPr>
          <a:xfrm>
            <a:off x="8266176" y="3282696"/>
            <a:ext cx="3200400" cy="914400"/>
          </a:xfrm>
          <a:prstGeom prst="roundRect">
            <a:avLst>
              <a:gd name="adj" fmla="val 10000"/>
            </a:avLst>
          </a:prstGeom>
          <a:solidFill>
            <a:srgbClr val="F7F7F7"/>
          </a:solidFill>
          <a:ln/>
        </p:spPr>
        <p:txBody>
          <a:bodyPr/>
          <a:lstStyle/>
          <a:p>
            <a:endParaRPr lang="en-US"/>
          </a:p>
        </p:txBody>
      </p:sp>
      <p:sp>
        <p:nvSpPr>
          <p:cNvPr id="38" name="Text 35"/>
          <p:cNvSpPr/>
          <p:nvPr/>
        </p:nvSpPr>
        <p:spPr>
          <a:xfrm>
            <a:off x="8430768" y="3392424"/>
            <a:ext cx="2450592" cy="32004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Bright Williamsburg flat</a:t>
            </a:r>
            <a:endParaRPr lang="en-US" sz="1100"/>
          </a:p>
        </p:txBody>
      </p:sp>
      <p:sp>
        <p:nvSpPr>
          <p:cNvPr id="39" name="Text 36"/>
          <p:cNvSpPr/>
          <p:nvPr/>
        </p:nvSpPr>
        <p:spPr>
          <a:xfrm>
            <a:off x="10634472" y="3392424"/>
            <a:ext cx="822960" cy="320040"/>
          </a:xfrm>
          <a:prstGeom prst="rect">
            <a:avLst/>
          </a:prstGeom>
          <a:noFill/>
          <a:ln/>
        </p:spPr>
        <p:txBody>
          <a:bodyPr wrap="square" lIns="0" tIns="0" rIns="0" bIns="0" rtlCol="0" anchor="ctr"/>
          <a:lstStyle/>
          <a:p>
            <a:pPr marL="0" indent="0" algn="r">
              <a:buNone/>
            </a:pPr>
            <a:r>
              <a:rPr lang="en-US" sz="1300" b="1">
                <a:solidFill>
                  <a:srgbClr val="007A73"/>
                </a:solidFill>
                <a:latin typeface="Poppins" pitchFamily="34" charset="0"/>
                <a:ea typeface="Poppins" pitchFamily="34" charset="-122"/>
                <a:cs typeface="Poppins" pitchFamily="34" charset="-120"/>
              </a:rPr>
              <a:t>$241</a:t>
            </a:r>
            <a:endParaRPr lang="en-US" sz="1300"/>
          </a:p>
        </p:txBody>
      </p:sp>
      <p:sp>
        <p:nvSpPr>
          <p:cNvPr id="40" name="Shape 37"/>
          <p:cNvSpPr/>
          <p:nvPr/>
        </p:nvSpPr>
        <p:spPr>
          <a:xfrm>
            <a:off x="8430768" y="3785616"/>
            <a:ext cx="2651760" cy="310896"/>
          </a:xfrm>
          <a:prstGeom prst="roundRect">
            <a:avLst>
              <a:gd name="adj" fmla="val 50000"/>
            </a:avLst>
          </a:prstGeom>
          <a:solidFill>
            <a:srgbClr val="FFEEF2"/>
          </a:solidFill>
          <a:ln/>
        </p:spPr>
        <p:txBody>
          <a:bodyPr/>
          <a:lstStyle/>
          <a:p>
            <a:endParaRPr lang="en-US"/>
          </a:p>
        </p:txBody>
      </p:sp>
      <p:sp>
        <p:nvSpPr>
          <p:cNvPr id="41" name="Text 38"/>
          <p:cNvSpPr/>
          <p:nvPr/>
        </p:nvSpPr>
        <p:spPr>
          <a:xfrm>
            <a:off x="8430768" y="3785616"/>
            <a:ext cx="2651760" cy="310896"/>
          </a:xfrm>
          <a:prstGeom prst="rect">
            <a:avLst/>
          </a:prstGeom>
          <a:noFill/>
          <a:ln/>
        </p:spPr>
        <p:txBody>
          <a:bodyPr wrap="square" lIns="0" tIns="0" rIns="0" bIns="0" rtlCol="0" anchor="ctr"/>
          <a:lstStyle/>
          <a:p>
            <a:pPr marL="0" indent="0" algn="ctr">
              <a:buNone/>
            </a:pPr>
            <a:r>
              <a:rPr lang="en-US" sz="950" b="1">
                <a:solidFill>
                  <a:srgbClr val="FF385C"/>
                </a:solidFill>
                <a:latin typeface="Poppins" pitchFamily="34" charset="0"/>
                <a:ea typeface="Poppins" pitchFamily="34" charset="-122"/>
                <a:cs typeface="Poppins" pitchFamily="34" charset="-120"/>
              </a:rPr>
              <a:t>+ Dedicated workspace</a:t>
            </a:r>
            <a:endParaRPr lang="en-US" sz="950"/>
          </a:p>
        </p:txBody>
      </p:sp>
      <p:sp>
        <p:nvSpPr>
          <p:cNvPr id="42" name="Shape 39"/>
          <p:cNvSpPr/>
          <p:nvPr/>
        </p:nvSpPr>
        <p:spPr>
          <a:xfrm>
            <a:off x="8266176" y="4361688"/>
            <a:ext cx="3200400" cy="914400"/>
          </a:xfrm>
          <a:prstGeom prst="roundRect">
            <a:avLst>
              <a:gd name="adj" fmla="val 10000"/>
            </a:avLst>
          </a:prstGeom>
          <a:solidFill>
            <a:srgbClr val="F7F7F7"/>
          </a:solidFill>
          <a:ln/>
        </p:spPr>
        <p:txBody>
          <a:bodyPr/>
          <a:lstStyle/>
          <a:p>
            <a:endParaRPr lang="en-US"/>
          </a:p>
        </p:txBody>
      </p:sp>
      <p:sp>
        <p:nvSpPr>
          <p:cNvPr id="43" name="Text 40"/>
          <p:cNvSpPr/>
          <p:nvPr/>
        </p:nvSpPr>
        <p:spPr>
          <a:xfrm>
            <a:off x="8430768" y="4471416"/>
            <a:ext cx="2450592" cy="32004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Modern McCarren loft</a:t>
            </a:r>
            <a:endParaRPr lang="en-US" sz="1100"/>
          </a:p>
        </p:txBody>
      </p:sp>
      <p:sp>
        <p:nvSpPr>
          <p:cNvPr id="44" name="Text 41"/>
          <p:cNvSpPr/>
          <p:nvPr/>
        </p:nvSpPr>
        <p:spPr>
          <a:xfrm>
            <a:off x="10634472" y="4471416"/>
            <a:ext cx="822960" cy="320040"/>
          </a:xfrm>
          <a:prstGeom prst="rect">
            <a:avLst/>
          </a:prstGeom>
          <a:noFill/>
          <a:ln/>
        </p:spPr>
        <p:txBody>
          <a:bodyPr wrap="square" lIns="0" tIns="0" rIns="0" bIns="0" rtlCol="0" anchor="ctr"/>
          <a:lstStyle/>
          <a:p>
            <a:pPr marL="0" indent="0" algn="r">
              <a:buNone/>
            </a:pPr>
            <a:r>
              <a:rPr lang="en-US" sz="1300" b="1">
                <a:solidFill>
                  <a:srgbClr val="007A73"/>
                </a:solidFill>
                <a:latin typeface="Poppins" pitchFamily="34" charset="0"/>
                <a:ea typeface="Poppins" pitchFamily="34" charset="-122"/>
                <a:cs typeface="Poppins" pitchFamily="34" charset="-120"/>
              </a:rPr>
              <a:t>$208</a:t>
            </a:r>
            <a:endParaRPr lang="en-US" sz="1300"/>
          </a:p>
        </p:txBody>
      </p:sp>
      <p:sp>
        <p:nvSpPr>
          <p:cNvPr id="45" name="Shape 42"/>
          <p:cNvSpPr/>
          <p:nvPr/>
        </p:nvSpPr>
        <p:spPr>
          <a:xfrm>
            <a:off x="8430768" y="4864608"/>
            <a:ext cx="2651760" cy="310896"/>
          </a:xfrm>
          <a:prstGeom prst="roundRect">
            <a:avLst>
              <a:gd name="adj" fmla="val 50000"/>
            </a:avLst>
          </a:prstGeom>
          <a:solidFill>
            <a:srgbClr val="FFEEF2"/>
          </a:solidFill>
          <a:ln/>
        </p:spPr>
        <p:txBody>
          <a:bodyPr/>
          <a:lstStyle/>
          <a:p>
            <a:endParaRPr lang="en-US"/>
          </a:p>
        </p:txBody>
      </p:sp>
      <p:sp>
        <p:nvSpPr>
          <p:cNvPr id="46" name="Text 43"/>
          <p:cNvSpPr/>
          <p:nvPr/>
        </p:nvSpPr>
        <p:spPr>
          <a:xfrm>
            <a:off x="8430768" y="4864608"/>
            <a:ext cx="2651760" cy="310896"/>
          </a:xfrm>
          <a:prstGeom prst="rect">
            <a:avLst/>
          </a:prstGeom>
          <a:noFill/>
          <a:ln/>
        </p:spPr>
        <p:txBody>
          <a:bodyPr wrap="square" lIns="0" tIns="0" rIns="0" bIns="0" rtlCol="0" anchor="ctr"/>
          <a:lstStyle/>
          <a:p>
            <a:pPr marL="0" indent="0" algn="ctr">
              <a:buNone/>
            </a:pPr>
            <a:r>
              <a:rPr lang="en-US" sz="950" b="1">
                <a:solidFill>
                  <a:srgbClr val="FF385C"/>
                </a:solidFill>
                <a:latin typeface="Poppins" pitchFamily="34" charset="0"/>
                <a:ea typeface="Poppins" pitchFamily="34" charset="-122"/>
                <a:cs typeface="Poppins" pitchFamily="34" charset="-120"/>
              </a:rPr>
              <a:t>+ Air conditioning</a:t>
            </a:r>
            <a:endParaRPr lang="en-US" sz="95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950" i="1">
                <a:solidFill>
                  <a:srgbClr val="9AA0A6"/>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a:p>
        </p:txBody>
      </p:sp>
      <p:pic>
        <p:nvPicPr>
          <p:cNvPr id="48" name="Image 1"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9</a:t>
            </a:r>
            <a:endParaRPr lang="en-US" sz="9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09 · FROM PRICE TO REVENUE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a:solidFill>
                  <a:srgbClr val="222222"/>
                </a:solidFill>
                <a:latin typeface="Poppins" pitchFamily="34" charset="0"/>
                <a:ea typeface="Poppins" pitchFamily="34" charset="-122"/>
                <a:cs typeface="Poppins" pitchFamily="34" charset="-120"/>
              </a:rPr>
              <a:t>Does moving the price make money?</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Our most rigorous piece of analysis: we measured price sensitivity directly, on real third-party data.</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10</a:t>
            </a:r>
            <a:endParaRPr lang="en-US" sz="900"/>
          </a:p>
        </p:txBody>
      </p:sp>
      <p:sp>
        <p:nvSpPr>
          <p:cNvPr id="12" name="Shape 8"/>
          <p:cNvSpPr/>
          <p:nvPr/>
        </p:nvSpPr>
        <p:spPr>
          <a:xfrm>
            <a:off x="502920" y="219456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450592"/>
            <a:ext cx="548640" cy="548640"/>
          </a:xfrm>
          <a:prstGeom prst="ellipse">
            <a:avLst/>
          </a:prstGeom>
          <a:solidFill>
            <a:srgbClr val="FFFFFF"/>
          </a:solidFill>
          <a:ln/>
        </p:spPr>
        <p:txBody>
          <a:bodyPr/>
          <a:lstStyle/>
          <a:p>
            <a:endParaRPr lang="en-US"/>
          </a:p>
        </p:txBody>
      </p:sp>
      <p:pic>
        <p:nvPicPr>
          <p:cNvPr id="14" name="Image 2" descr="/sessions/dreamy-trusting-noether/mnt/outputs/build/assets/bar_teal.png"/>
          <p:cNvPicPr>
            <a:picLocks noChangeAspect="1"/>
          </p:cNvPicPr>
          <p:nvPr/>
        </p:nvPicPr>
        <p:blipFill>
          <a:blip r:embed="rId5"/>
          <a:stretch>
            <a:fillRect/>
          </a:stretch>
        </p:blipFill>
        <p:spPr>
          <a:xfrm>
            <a:off x="908914" y="2582266"/>
            <a:ext cx="285293" cy="285293"/>
          </a:xfrm>
          <a:prstGeom prst="rect">
            <a:avLst/>
          </a:prstGeom>
        </p:spPr>
      </p:pic>
      <p:sp>
        <p:nvSpPr>
          <p:cNvPr id="15" name="Text 10"/>
          <p:cNvSpPr/>
          <p:nvPr/>
        </p:nvSpPr>
        <p:spPr>
          <a:xfrm>
            <a:off x="1481328" y="2505456"/>
            <a:ext cx="3730752" cy="274320"/>
          </a:xfrm>
          <a:prstGeom prst="rect">
            <a:avLst/>
          </a:prstGeom>
          <a:noFill/>
          <a:ln/>
        </p:spPr>
        <p:txBody>
          <a:bodyPr wrap="square" lIns="0" tIns="0" rIns="0" bIns="0" rtlCol="0" anchor="ctr"/>
          <a:lstStyle/>
          <a:p>
            <a:pPr marL="0" indent="0">
              <a:buNone/>
            </a:pPr>
            <a:r>
              <a:rPr lang="en-US" sz="1050" b="1" kern="0" spc="100">
                <a:solidFill>
                  <a:srgbClr val="007A73"/>
                </a:solidFill>
                <a:latin typeface="Poppins" pitchFamily="34" charset="0"/>
                <a:ea typeface="Poppins" pitchFamily="34" charset="-122"/>
                <a:cs typeface="Poppins" pitchFamily="34" charset="-120"/>
              </a:rPr>
              <a:t>THE MEASUREMENT</a:t>
            </a:r>
            <a:endParaRPr lang="en-US" sz="1050"/>
          </a:p>
        </p:txBody>
      </p:sp>
      <p:sp>
        <p:nvSpPr>
          <p:cNvPr id="16" name="Text 11"/>
          <p:cNvSpPr/>
          <p:nvPr/>
        </p:nvSpPr>
        <p:spPr>
          <a:xfrm>
            <a:off x="777240" y="2834640"/>
            <a:ext cx="4965192" cy="457200"/>
          </a:xfrm>
          <a:prstGeom prst="rect">
            <a:avLst/>
          </a:prstGeom>
          <a:noFill/>
          <a:ln/>
        </p:spPr>
        <p:txBody>
          <a:bodyPr wrap="square" lIns="0" tIns="0" rIns="0" bIns="0" rtlCol="0" anchor="ctr"/>
          <a:lstStyle/>
          <a:p>
            <a:pPr marL="0" indent="0">
              <a:buNone/>
            </a:pPr>
            <a:r>
              <a:rPr lang="en-US" sz="2900" b="1">
                <a:solidFill>
                  <a:srgbClr val="007A73"/>
                </a:solidFill>
                <a:latin typeface="Poppins" pitchFamily="34" charset="0"/>
                <a:ea typeface="Poppins" pitchFamily="34" charset="-122"/>
                <a:cs typeface="Poppins" pitchFamily="34" charset="-120"/>
              </a:rPr>
              <a:t>β = −0.92</a:t>
            </a:r>
            <a:r>
              <a:rPr lang="en-US" sz="1150">
                <a:solidFill>
                  <a:srgbClr val="4A4A4A"/>
                </a:solidFill>
                <a:latin typeface="Poppins" pitchFamily="34" charset="0"/>
                <a:ea typeface="Poppins" pitchFamily="34" charset="-122"/>
                <a:cs typeface="Poppins" pitchFamily="34" charset="-120"/>
              </a:rPr>
              <a:t>    95% CI  −1.30 to −0.54</a:t>
            </a:r>
            <a:endParaRPr lang="en-US" sz="2900"/>
          </a:p>
        </p:txBody>
      </p:sp>
      <p:sp>
        <p:nvSpPr>
          <p:cNvPr id="17" name="Text 12"/>
          <p:cNvSpPr/>
          <p:nvPr/>
        </p:nvSpPr>
        <p:spPr>
          <a:xfrm>
            <a:off x="777240" y="3310128"/>
            <a:ext cx="4965192" cy="603504"/>
          </a:xfrm>
          <a:prstGeom prst="rect">
            <a:avLst/>
          </a:prstGeom>
          <a:noFill/>
          <a:ln/>
        </p:spPr>
        <p:txBody>
          <a:bodyPr wrap="square" lIns="0" tIns="0" rIns="0" bIns="0" rtlCol="0" anchor="t"/>
          <a:lstStyle/>
          <a:p>
            <a:pPr marL="0" indent="0">
              <a:lnSpc>
                <a:spcPct val="104000"/>
              </a:lnSpc>
              <a:buNone/>
            </a:pPr>
            <a:r>
              <a:rPr lang="en-US" sz="1100">
                <a:solidFill>
                  <a:srgbClr val="4A4A4A"/>
                </a:solidFill>
                <a:latin typeface="Poppins" pitchFamily="34" charset="0"/>
                <a:ea typeface="Poppins" pitchFamily="34" charset="-122"/>
                <a:cs typeface="Poppins" pitchFamily="34" charset="-120"/>
              </a:rPr>
              <a:t>A two-way fixed-effects regression on a third-party occupancy panel, controlling for each listing and each month. A +1% change in price maps to a −0.92% change in booked occupancy.</a:t>
            </a:r>
            <a:endParaRPr lang="en-US" sz="1100"/>
          </a:p>
        </p:txBody>
      </p:sp>
      <p:sp>
        <p:nvSpPr>
          <p:cNvPr id="18" name="Shape 13"/>
          <p:cNvSpPr/>
          <p:nvPr/>
        </p:nvSpPr>
        <p:spPr>
          <a:xfrm>
            <a:off x="6217920" y="2194560"/>
            <a:ext cx="5468112" cy="1783080"/>
          </a:xfrm>
          <a:prstGeom prst="roundRect">
            <a:avLst>
              <a:gd name="adj" fmla="val 7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450592"/>
            <a:ext cx="548640" cy="548640"/>
          </a:xfrm>
          <a:prstGeom prst="ellipse">
            <a:avLst/>
          </a:prstGeom>
          <a:solidFill>
            <a:srgbClr val="FFFFFF"/>
          </a:solidFill>
          <a:ln/>
        </p:spPr>
        <p:txBody>
          <a:bodyPr/>
          <a:lstStyle/>
          <a:p>
            <a:endParaRPr lang="en-US"/>
          </a:p>
        </p:txBody>
      </p:sp>
      <p:pic>
        <p:nvPicPr>
          <p:cNvPr id="20" name="Image 3" descr="/sessions/dreamy-trusting-noether/mnt/outputs/build/assets/trend_coral.png"/>
          <p:cNvPicPr>
            <a:picLocks noChangeAspect="1"/>
          </p:cNvPicPr>
          <p:nvPr/>
        </p:nvPicPr>
        <p:blipFill>
          <a:blip r:embed="rId6"/>
          <a:stretch>
            <a:fillRect/>
          </a:stretch>
        </p:blipFill>
        <p:spPr>
          <a:xfrm>
            <a:off x="6623914" y="2582266"/>
            <a:ext cx="285293" cy="285293"/>
          </a:xfrm>
          <a:prstGeom prst="rect">
            <a:avLst/>
          </a:prstGeom>
        </p:spPr>
      </p:pic>
      <p:sp>
        <p:nvSpPr>
          <p:cNvPr id="21" name="Text 15"/>
          <p:cNvSpPr/>
          <p:nvPr/>
        </p:nvSpPr>
        <p:spPr>
          <a:xfrm>
            <a:off x="7196328" y="2505456"/>
            <a:ext cx="4279392" cy="274320"/>
          </a:xfrm>
          <a:prstGeom prst="rect">
            <a:avLst/>
          </a:prstGeom>
          <a:noFill/>
          <a:ln/>
        </p:spPr>
        <p:txBody>
          <a:bodyPr wrap="square" lIns="0" tIns="0" rIns="0" bIns="0" rtlCol="0" anchor="ctr"/>
          <a:lstStyle/>
          <a:p>
            <a:pPr marL="0" indent="0">
              <a:buNone/>
            </a:pPr>
            <a:r>
              <a:rPr lang="en-US" sz="1050" b="1" kern="0" spc="100">
                <a:solidFill>
                  <a:srgbClr val="FF385C"/>
                </a:solidFill>
                <a:latin typeface="Poppins" pitchFamily="34" charset="0"/>
                <a:ea typeface="Poppins" pitchFamily="34" charset="-122"/>
                <a:cs typeface="Poppins" pitchFamily="34" charset="-120"/>
              </a:rPr>
              <a:t>WHAT IT MEANS FOR REVENUE</a:t>
            </a:r>
            <a:endParaRPr lang="en-US" sz="1050"/>
          </a:p>
        </p:txBody>
      </p:sp>
      <p:sp>
        <p:nvSpPr>
          <p:cNvPr id="22" name="Text 16"/>
          <p:cNvSpPr/>
          <p:nvPr/>
        </p:nvSpPr>
        <p:spPr>
          <a:xfrm>
            <a:off x="6492240" y="2852928"/>
            <a:ext cx="4965192" cy="457200"/>
          </a:xfrm>
          <a:prstGeom prst="rect">
            <a:avLst/>
          </a:prstGeom>
          <a:noFill/>
          <a:ln/>
        </p:spPr>
        <p:txBody>
          <a:bodyPr wrap="square" lIns="0" tIns="0" rIns="0" bIns="0" rtlCol="0" anchor="ctr"/>
          <a:lstStyle/>
          <a:p>
            <a:pPr marL="0" indent="0">
              <a:buNone/>
            </a:pPr>
            <a:r>
              <a:rPr lang="en-US" sz="2000" b="1">
                <a:solidFill>
                  <a:srgbClr val="FF385C"/>
                </a:solidFill>
                <a:latin typeface="Poppins" pitchFamily="34" charset="0"/>
                <a:ea typeface="Poppins" pitchFamily="34" charset="-122"/>
                <a:cs typeface="Poppins" pitchFamily="34" charset="-120"/>
              </a:rPr>
              <a:t>revenue elasticity = 1 + β ≈ 0.08</a:t>
            </a:r>
            <a:endParaRPr lang="en-US" sz="2000"/>
          </a:p>
        </p:txBody>
      </p:sp>
      <p:sp>
        <p:nvSpPr>
          <p:cNvPr id="23" name="Text 17"/>
          <p:cNvSpPr/>
          <p:nvPr/>
        </p:nvSpPr>
        <p:spPr>
          <a:xfrm>
            <a:off x="6492240" y="3310128"/>
            <a:ext cx="4919472" cy="603504"/>
          </a:xfrm>
          <a:prstGeom prst="rect">
            <a:avLst/>
          </a:prstGeom>
          <a:noFill/>
          <a:ln/>
        </p:spPr>
        <p:txBody>
          <a:bodyPr wrap="square" lIns="0" tIns="0" rIns="0" bIns="0" rtlCol="0" anchor="t"/>
          <a:lstStyle/>
          <a:p>
            <a:pPr marL="0" indent="0">
              <a:lnSpc>
                <a:spcPct val="104000"/>
              </a:lnSpc>
              <a:buNone/>
            </a:pPr>
            <a:r>
              <a:rPr lang="en-US" sz="1100">
                <a:solidFill>
                  <a:srgbClr val="4A4A4A"/>
                </a:solidFill>
                <a:latin typeface="Poppins" pitchFamily="34" charset="0"/>
                <a:ea typeface="Poppins" pitchFamily="34" charset="-122"/>
                <a:cs typeface="Poppins" pitchFamily="34" charset="-120"/>
              </a:rPr>
              <a:t>Revenue barely moves with price at the margin. Breakeven is β = −1.0: cutting price only wins if demand is more elastic than that. So the real lift is raising underpriced listings; cutting overpriced ones is near revenue-neutral for the host.</a:t>
            </a:r>
            <a:endParaRPr lang="en-US" sz="1100"/>
          </a:p>
        </p:txBody>
      </p:sp>
      <p:sp>
        <p:nvSpPr>
          <p:cNvPr id="24" name="Shape 18"/>
          <p:cNvSpPr/>
          <p:nvPr/>
        </p:nvSpPr>
        <p:spPr>
          <a:xfrm>
            <a:off x="502920" y="4160520"/>
            <a:ext cx="11183112" cy="1298448"/>
          </a:xfrm>
          <a:prstGeom prst="roundRect">
            <a:avLst>
              <a:gd name="adj" fmla="val 985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261104"/>
            <a:ext cx="7315200" cy="274320"/>
          </a:xfrm>
          <a:prstGeom prst="rect">
            <a:avLst/>
          </a:prstGeom>
          <a:noFill/>
          <a:ln/>
        </p:spPr>
        <p:txBody>
          <a:bodyPr wrap="square" lIns="0" tIns="0" rIns="0" bIns="0" rtlCol="0" anchor="ctr"/>
          <a:lstStyle/>
          <a:p>
            <a:pPr marL="0" indent="0">
              <a:buNone/>
            </a:pPr>
            <a:r>
              <a:rPr lang="en-US" sz="1200" b="1">
                <a:solidFill>
                  <a:srgbClr val="222222"/>
                </a:solidFill>
                <a:latin typeface="Poppins" pitchFamily="34" charset="0"/>
                <a:ea typeface="Poppins" pitchFamily="34" charset="-122"/>
                <a:cs typeface="Poppins" pitchFamily="34" charset="-120"/>
              </a:rPr>
              <a:t>Where our estimate sits on the elasticity line</a:t>
            </a:r>
            <a:endParaRPr lang="en-US" sz="1200"/>
          </a:p>
        </p:txBody>
      </p:sp>
      <p:sp>
        <p:nvSpPr>
          <p:cNvPr id="26" name="Shape 20"/>
          <p:cNvSpPr/>
          <p:nvPr/>
        </p:nvSpPr>
        <p:spPr>
          <a:xfrm>
            <a:off x="1554480" y="4919472"/>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4919472"/>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029200"/>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4791456"/>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572000"/>
            <a:ext cx="1691640" cy="219456"/>
          </a:xfrm>
          <a:prstGeom prst="rect">
            <a:avLst/>
          </a:prstGeom>
          <a:noFill/>
          <a:ln/>
        </p:spPr>
        <p:txBody>
          <a:bodyPr wrap="square" lIns="0" tIns="0" rIns="0" bIns="0" rtlCol="0" anchor="ctr"/>
          <a:lstStyle/>
          <a:p>
            <a:pPr marL="0" indent="0" algn="r">
              <a:buNone/>
            </a:pPr>
            <a:r>
              <a:rPr lang="en-US" sz="950" b="1">
                <a:solidFill>
                  <a:srgbClr val="222222"/>
                </a:solidFill>
                <a:latin typeface="Poppins" pitchFamily="34" charset="0"/>
                <a:ea typeface="Poppins" pitchFamily="34" charset="-122"/>
                <a:cs typeface="Poppins" pitchFamily="34" charset="-120"/>
              </a:rPr>
              <a:t>breakeven −1.0</a:t>
            </a:r>
            <a:endParaRPr lang="en-US" sz="950"/>
          </a:p>
        </p:txBody>
      </p:sp>
      <p:sp>
        <p:nvSpPr>
          <p:cNvPr id="31" name="Shape 25"/>
          <p:cNvSpPr/>
          <p:nvPr/>
        </p:nvSpPr>
        <p:spPr>
          <a:xfrm>
            <a:off x="6391656" y="4928616"/>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572000"/>
            <a:ext cx="2560320" cy="219456"/>
          </a:xfrm>
          <a:prstGeom prst="rect">
            <a:avLst/>
          </a:prstGeom>
          <a:noFill/>
          <a:ln/>
        </p:spPr>
        <p:txBody>
          <a:bodyPr wrap="square" lIns="0" tIns="0" rIns="0" bIns="0" rtlCol="0" anchor="ctr"/>
          <a:lstStyle/>
          <a:p>
            <a:pPr marL="0" indent="0" algn="l">
              <a:buNone/>
            </a:pPr>
            <a:r>
              <a:rPr lang="en-US" sz="950" b="1">
                <a:solidFill>
                  <a:srgbClr val="FF385C"/>
                </a:solidFill>
                <a:latin typeface="Poppins" pitchFamily="34" charset="0"/>
                <a:ea typeface="Poppins" pitchFamily="34" charset="-122"/>
                <a:cs typeface="Poppins" pitchFamily="34" charset="-120"/>
              </a:rPr>
              <a:t>our estimate  β = −0.92</a:t>
            </a:r>
            <a:endParaRPr lang="en-US" sz="950"/>
          </a:p>
        </p:txBody>
      </p:sp>
      <p:sp>
        <p:nvSpPr>
          <p:cNvPr id="33" name="Text 27"/>
          <p:cNvSpPr/>
          <p:nvPr/>
        </p:nvSpPr>
        <p:spPr>
          <a:xfrm>
            <a:off x="1554480" y="5175504"/>
            <a:ext cx="4572000" cy="219456"/>
          </a:xfrm>
          <a:prstGeom prst="rect">
            <a:avLst/>
          </a:prstGeom>
          <a:noFill/>
          <a:ln/>
        </p:spPr>
        <p:txBody>
          <a:bodyPr wrap="square" lIns="0" tIns="0" rIns="0" bIns="0" rtlCol="0" anchor="ctr"/>
          <a:lstStyle/>
          <a:p>
            <a:pPr marL="0" indent="0" algn="ctr">
              <a:buNone/>
            </a:pPr>
            <a:r>
              <a:rPr lang="en-US" sz="900">
                <a:solidFill>
                  <a:srgbClr val="007A73"/>
                </a:solidFill>
                <a:latin typeface="Poppins" pitchFamily="34" charset="0"/>
                <a:ea typeface="Poppins" pitchFamily="34" charset="-122"/>
                <a:cs typeface="Poppins" pitchFamily="34" charset="-120"/>
              </a:rPr>
              <a:t>ELASTIC  ·  cutting price adds revenue</a:t>
            </a:r>
            <a:endParaRPr lang="en-US" sz="900"/>
          </a:p>
        </p:txBody>
      </p:sp>
      <p:sp>
        <p:nvSpPr>
          <p:cNvPr id="34" name="Text 28"/>
          <p:cNvSpPr/>
          <p:nvPr/>
        </p:nvSpPr>
        <p:spPr>
          <a:xfrm>
            <a:off x="6126480" y="5175504"/>
            <a:ext cx="4572000" cy="219456"/>
          </a:xfrm>
          <a:prstGeom prst="rect">
            <a:avLst/>
          </a:prstGeom>
          <a:noFill/>
          <a:ln/>
        </p:spPr>
        <p:txBody>
          <a:bodyPr wrap="square" lIns="0" tIns="0" rIns="0" bIns="0" rtlCol="0" anchor="ctr"/>
          <a:lstStyle/>
          <a:p>
            <a:pPr marL="0" indent="0" algn="ctr">
              <a:buNone/>
            </a:pPr>
            <a:r>
              <a:rPr lang="en-US" sz="900">
                <a:solidFill>
                  <a:srgbClr val="FF385C"/>
                </a:solidFill>
                <a:latin typeface="Poppins" pitchFamily="34" charset="0"/>
                <a:ea typeface="Poppins" pitchFamily="34" charset="-122"/>
                <a:cs typeface="Poppins" pitchFamily="34" charset="-120"/>
              </a:rPr>
              <a:t>INELASTIC  ·  raising price adds revenue</a:t>
            </a:r>
            <a:endParaRPr lang="en-US" sz="900"/>
          </a:p>
        </p:txBody>
      </p:sp>
      <p:sp>
        <p:nvSpPr>
          <p:cNvPr id="35" name="Text 29"/>
          <p:cNvSpPr/>
          <p:nvPr/>
        </p:nvSpPr>
        <p:spPr>
          <a:xfrm>
            <a:off x="1234440" y="4919472"/>
            <a:ext cx="274320" cy="219456"/>
          </a:xfrm>
          <a:prstGeom prst="rect">
            <a:avLst/>
          </a:prstGeom>
          <a:noFill/>
          <a:ln/>
        </p:spPr>
        <p:txBody>
          <a:bodyPr wrap="square" lIns="0" tIns="0" rIns="0" bIns="0" rtlCol="0" anchor="ctr"/>
          <a:lstStyle/>
          <a:p>
            <a:pPr marL="0" indent="0" algn="r">
              <a:buNone/>
            </a:pPr>
            <a:r>
              <a:rPr lang="en-US" sz="900">
                <a:solidFill>
                  <a:srgbClr val="9AA0A6"/>
                </a:solidFill>
                <a:latin typeface="Poppins" pitchFamily="34" charset="0"/>
                <a:ea typeface="Poppins" pitchFamily="34" charset="-122"/>
                <a:cs typeface="Poppins" pitchFamily="34" charset="-120"/>
              </a:rPr>
              <a:t>−2</a:t>
            </a:r>
            <a:endParaRPr lang="en-US" sz="900"/>
          </a:p>
        </p:txBody>
      </p:sp>
      <p:sp>
        <p:nvSpPr>
          <p:cNvPr id="36" name="Text 30"/>
          <p:cNvSpPr/>
          <p:nvPr/>
        </p:nvSpPr>
        <p:spPr>
          <a:xfrm>
            <a:off x="10753344" y="4919472"/>
            <a:ext cx="274320" cy="219456"/>
          </a:xfrm>
          <a:prstGeom prst="rect">
            <a:avLst/>
          </a:prstGeom>
          <a:noFill/>
          <a:ln/>
        </p:spPr>
        <p:txBody>
          <a:bodyPr wrap="square" lIns="0" tIns="0" rIns="0" bIns="0" rtlCol="0" anchor="ctr"/>
          <a:lstStyle/>
          <a:p>
            <a:pPr marL="0" indent="0" algn="l">
              <a:buNone/>
            </a:pPr>
            <a:r>
              <a:rPr lang="en-US" sz="900">
                <a:solidFill>
                  <a:srgbClr val="9AA0A6"/>
                </a:solidFill>
                <a:latin typeface="Poppins" pitchFamily="34" charset="0"/>
                <a:ea typeface="Poppins" pitchFamily="34" charset="-122"/>
                <a:cs typeface="Poppins" pitchFamily="34" charset="-120"/>
              </a:rPr>
              <a:t>10</a:t>
            </a:r>
            <a:endParaRPr lang="en-US" sz="900"/>
          </a:p>
        </p:txBody>
      </p:sp>
      <p:sp>
        <p:nvSpPr>
          <p:cNvPr id="37" name="Text 31"/>
          <p:cNvSpPr/>
          <p:nvPr/>
        </p:nvSpPr>
        <p:spPr>
          <a:xfrm>
            <a:off x="502920" y="5961888"/>
            <a:ext cx="11183112" cy="365760"/>
          </a:xfrm>
          <a:prstGeom prst="rect">
            <a:avLst/>
          </a:prstGeom>
          <a:noFill/>
          <a:ln/>
        </p:spPr>
        <p:txBody>
          <a:bodyPr wrap="square" lIns="0" tIns="0" rIns="0" bIns="0" rtlCol="0" anchor="ctr"/>
          <a:lstStyle/>
          <a:p>
            <a:pPr marL="0" indent="0">
              <a:lnSpc>
                <a:spcPct val="100000"/>
              </a:lnSpc>
              <a:buNone/>
            </a:pPr>
            <a:r>
              <a:rPr lang="en-US" sz="950" b="1" i="1">
                <a:solidFill>
                  <a:srgbClr val="717171"/>
                </a:solidFill>
                <a:latin typeface="Poppins" pitchFamily="34" charset="0"/>
                <a:ea typeface="Poppins" pitchFamily="34" charset="-122"/>
                <a:cs typeface="Poppins" pitchFamily="34" charset="-120"/>
              </a:rPr>
              <a:t>Honest caveat:  </a:t>
            </a:r>
            <a:r>
              <a:rPr lang="en-US" sz="950" i="1">
                <a:solidFill>
                  <a:srgbClr val="9AA0A6"/>
                </a:solidFill>
                <a:latin typeface="Poppins" pitchFamily="34" charset="0"/>
                <a:ea typeface="Poppins" pitchFamily="34" charset="-122"/>
                <a:cs typeface="Poppins" pitchFamily="34" charset="-120"/>
              </a:rPr>
              <a:t>measured on a 64-listing short-stay pilot of established listings (median 142 reviews). The monthly segment came back statistically insignificant (β=+0.084, p=0.73), so we hold it occupancy-neutral. Broadening this across every segment is exactly our AirROI data ask.</a:t>
            </a:r>
            <a:endParaRPr lang="en-US" sz="95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10 · THE FINANCIAL CASE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What it is worth, and what it costs</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We lead with the conservative floor, every assumption rounded against us, and show the ceiling as upside.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11</a:t>
            </a:r>
            <a:endParaRPr lang="en-US" sz="900"/>
          </a:p>
        </p:txBody>
      </p:sp>
      <p:sp>
        <p:nvSpPr>
          <p:cNvPr id="12" name="Shape 8"/>
          <p:cNvSpPr/>
          <p:nvPr/>
        </p:nvSpPr>
        <p:spPr>
          <a:xfrm>
            <a:off x="502920" y="2194560"/>
            <a:ext cx="11183112" cy="1463040"/>
          </a:xfrm>
          <a:prstGeom prst="roundRect">
            <a:avLst>
              <a:gd name="adj" fmla="val 875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100" b="1" kern="0" spc="5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a:p>
        </p:txBody>
      </p:sp>
      <p:sp>
        <p:nvSpPr>
          <p:cNvPr id="14" name="Text 10"/>
          <p:cNvSpPr/>
          <p:nvPr/>
        </p:nvSpPr>
        <p:spPr>
          <a:xfrm>
            <a:off x="777240" y="2670048"/>
            <a:ext cx="7955280" cy="731520"/>
          </a:xfrm>
          <a:prstGeom prst="rect">
            <a:avLst/>
          </a:prstGeom>
          <a:noFill/>
          <a:ln/>
        </p:spPr>
        <p:txBody>
          <a:bodyPr wrap="square" lIns="0" tIns="0" rIns="0" bIns="0" rtlCol="0" anchor="ctr"/>
          <a:lstStyle/>
          <a:p>
            <a:pPr marL="0" indent="0">
              <a:buNone/>
            </a:pPr>
            <a:r>
              <a:rPr lang="en-US" sz="2900" b="1">
                <a:solidFill>
                  <a:srgbClr val="222222"/>
                </a:solidFill>
                <a:latin typeface="Poppins" pitchFamily="34" charset="0"/>
                <a:ea typeface="Poppins" pitchFamily="34" charset="-122"/>
                <a:cs typeface="Poppins" pitchFamily="34" charset="-120"/>
              </a:rPr>
              <a:t>~$7.6M host GBV      ×15.5%  →      $1.17M / yr Airbnb fee, at full adoption</a:t>
            </a:r>
            <a:r>
              <a:rPr lang="en-US" sz="1300">
                <a:solidFill>
                  <a:srgbClr val="4A4A4A"/>
                </a:solidFill>
                <a:latin typeface="Poppins" pitchFamily="34" charset="0"/>
                <a:ea typeface="Poppins" pitchFamily="34" charset="-122"/>
                <a:cs typeface="Poppins" pitchFamily="34" charset="-120"/>
              </a:rPr>
              <a:t/>
            </a:r>
            <a:r>
              <a:rPr lang="en-US" sz="1250">
                <a:solidFill>
                  <a:srgbClr val="9AA0A6"/>
                </a:solidFill>
                <a:latin typeface="Poppins" pitchFamily="34" charset="0"/>
                <a:ea typeface="Poppins" pitchFamily="34" charset="-122"/>
                <a:cs typeface="Poppins" pitchFamily="34" charset="-120"/>
              </a:rPr>
              <a:t/>
            </a:r>
            <a:r>
              <a:rPr lang="en-US" sz="2900" b="1">
                <a:solidFill>
                  <a:srgbClr val="FF385C"/>
                </a:solidFill>
                <a:latin typeface="Poppins" pitchFamily="34" charset="0"/>
                <a:ea typeface="Poppins" pitchFamily="34" charset="-122"/>
                <a:cs typeface="Poppins" pitchFamily="34" charset="-120"/>
              </a:rPr>
              <a:t/>
            </a:r>
            <a:r>
              <a:rPr lang="en-US" sz="1300">
                <a:solidFill>
                  <a:srgbClr val="4A4A4A"/>
                </a:solidFill>
                <a:latin typeface="Poppins" pitchFamily="34" charset="0"/>
                <a:ea typeface="Poppins" pitchFamily="34" charset="-122"/>
                <a:cs typeface="Poppins" pitchFamily="34" charset="-120"/>
              </a:rPr>
              <a:t/>
            </a:r>
            <a:endParaRPr lang="en-US" sz="290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77440"/>
            <a:ext cx="2514600" cy="1143000"/>
          </a:xfrm>
          <a:prstGeom prst="rect">
            <a:avLst/>
          </a:prstGeom>
          <a:noFill/>
          <a:ln/>
        </p:spPr>
        <p:txBody>
          <a:bodyPr wrap="square" lIns="0" tIns="0" rIns="0" bIns="0" rtlCol="0" anchor="ctr"/>
          <a:lstStyle/>
          <a:p>
            <a:pPr marL="0" indent="0">
              <a:lnSpc>
                <a:spcPct val="106000"/>
              </a:lnSpc>
              <a:buNone/>
            </a:pPr>
            <a:r>
              <a:rPr lang="en-US" sz="1050" b="1">
                <a:solidFill>
                  <a:srgbClr val="222222"/>
                </a:solidFill>
                <a:latin typeface="Poppins" pitchFamily="34" charset="0"/>
                <a:ea typeface="Poppins" pitchFamily="34" charset="-122"/>
                <a:cs typeface="Poppins" pitchFamily="34" charset="-120"/>
              </a:rPr>
              <a:t>Ceiling (upside): </a:t>
            </a:r>
            <a:r>
              <a:rPr lang="en-US" sz="1050">
                <a:solidFill>
                  <a:srgbClr val="4A4A4A"/>
                </a:solidFill>
                <a:latin typeface="Poppins" pitchFamily="34" charset="0"/>
                <a:ea typeface="Poppins" pitchFamily="34" charset="-122"/>
                <a:cs typeface="Poppins" pitchFamily="34" charset="-120"/>
              </a:rPr>
              <a:t>~$4.15M/yr fees, from ~$26.8M GBV, occupancy-neutral. Shown as upside, not the headline.</a:t>
            </a:r>
            <a:endParaRPr lang="en-US" sz="1050"/>
          </a:p>
        </p:txBody>
      </p:sp>
      <p:sp>
        <p:nvSpPr>
          <p:cNvPr id="17" name="Shape 13"/>
          <p:cNvSpPr/>
          <p:nvPr/>
        </p:nvSpPr>
        <p:spPr>
          <a:xfrm>
            <a:off x="502920" y="3931920"/>
            <a:ext cx="3563112" cy="1417320"/>
          </a:xfrm>
          <a:prstGeom prst="roundRect">
            <a:avLst>
              <a:gd name="adj" fmla="val 9032"/>
            </a:avLst>
          </a:prstGeom>
          <a:solidFill>
            <a:srgbClr val="E6F6F4"/>
          </a:solidFill>
          <a:ln/>
        </p:spPr>
        <p:txBody>
          <a:bodyPr/>
          <a:lstStyle/>
          <a:p>
            <a:endParaRPr lang="en-US"/>
          </a:p>
        </p:txBody>
      </p:sp>
      <p:pic>
        <p:nvPicPr>
          <p:cNvPr id="18" name="Image 2" descr="/sessions/dreamy-trusting-noether/mnt/outputs/build/assets/cpu_teal.png"/>
          <p:cNvPicPr>
            <a:picLocks noChangeAspect="1"/>
          </p:cNvPicPr>
          <p:nvPr/>
        </p:nvPicPr>
        <p:blipFill>
          <a:blip r:embed="rId5"/>
          <a:stretch>
            <a:fillRect/>
          </a:stretch>
        </p:blipFill>
        <p:spPr>
          <a:xfrm>
            <a:off x="722376" y="4151376"/>
            <a:ext cx="365760" cy="365760"/>
          </a:xfrm>
          <a:prstGeom prst="rect">
            <a:avLst/>
          </a:prstGeom>
        </p:spPr>
      </p:pic>
      <p:sp>
        <p:nvSpPr>
          <p:cNvPr id="19" name="Text 14"/>
          <p:cNvSpPr/>
          <p:nvPr/>
        </p:nvSpPr>
        <p:spPr>
          <a:xfrm>
            <a:off x="685800" y="4462272"/>
            <a:ext cx="3197352" cy="502920"/>
          </a:xfrm>
          <a:prstGeom prst="rect">
            <a:avLst/>
          </a:prstGeom>
          <a:noFill/>
          <a:ln/>
        </p:spPr>
        <p:txBody>
          <a:bodyPr wrap="square" lIns="0" tIns="0" rIns="0" bIns="0" rtlCol="0" anchor="ctr"/>
          <a:lstStyle/>
          <a:p>
            <a:pPr marL="0" indent="0">
              <a:buNone/>
            </a:pPr>
            <a:r>
              <a:rPr lang="en-US" sz="2500" b="1">
                <a:solidFill>
                  <a:srgbClr val="007A73"/>
                </a:solidFill>
                <a:latin typeface="Poppins" pitchFamily="34" charset="0"/>
                <a:ea typeface="Poppins" pitchFamily="34" charset="-122"/>
                <a:cs typeface="Poppins" pitchFamily="34" charset="-120"/>
              </a:rPr>
              <a:t>$65K</a:t>
            </a:r>
            <a:endParaRPr lang="en-US" sz="2500"/>
          </a:p>
        </p:txBody>
      </p:sp>
      <p:sp>
        <p:nvSpPr>
          <p:cNvPr id="20" name="Text 15"/>
          <p:cNvSpPr/>
          <p:nvPr/>
        </p:nvSpPr>
        <p:spPr>
          <a:xfrm>
            <a:off x="704088" y="4937760"/>
            <a:ext cx="3160776" cy="384048"/>
          </a:xfrm>
          <a:prstGeom prst="rect">
            <a:avLst/>
          </a:prstGeom>
          <a:noFill/>
          <a:ln/>
        </p:spPr>
        <p:txBody>
          <a:bodyPr wrap="square" lIns="0" tIns="0" rIns="0" bIns="0" rtlCol="0" anchor="ctr"/>
          <a:lstStyle/>
          <a:p>
            <a:pPr marL="0" indent="0">
              <a:lnSpc>
                <a:spcPct val="100000"/>
              </a:lnSpc>
              <a:buNone/>
            </a:pPr>
            <a:r>
              <a:rPr lang="en-US" sz="1000">
                <a:solidFill>
                  <a:srgbClr val="4A4A4A"/>
                </a:solidFill>
                <a:latin typeface="Poppins" pitchFamily="34" charset="0"/>
                <a:ea typeface="Poppins" pitchFamily="34" charset="-122"/>
                <a:cs typeface="Poppins" pitchFamily="34" charset="-120"/>
              </a:rPr>
              <a:t>one-time build (incremental engineering on Airbnb's existing stack)</a:t>
            </a:r>
            <a:endParaRPr lang="en-US" sz="1000"/>
          </a:p>
        </p:txBody>
      </p:sp>
      <p:sp>
        <p:nvSpPr>
          <p:cNvPr id="21" name="Shape 16"/>
          <p:cNvSpPr/>
          <p:nvPr/>
        </p:nvSpPr>
        <p:spPr>
          <a:xfrm>
            <a:off x="4312920" y="3931920"/>
            <a:ext cx="3563112" cy="1417320"/>
          </a:xfrm>
          <a:prstGeom prst="roundRect">
            <a:avLst>
              <a:gd name="adj" fmla="val 9032"/>
            </a:avLst>
          </a:prstGeom>
          <a:solidFill>
            <a:srgbClr val="FFEEF2"/>
          </a:solidFill>
          <a:ln/>
        </p:spPr>
        <p:txBody>
          <a:bodyPr/>
          <a:lstStyle/>
          <a:p>
            <a:endParaRPr lang="en-US"/>
          </a:p>
        </p:txBody>
      </p:sp>
      <p:pic>
        <p:nvPicPr>
          <p:cNvPr id="22" name="Image 3" descr="/sessions/dreamy-trusting-noether/mnt/outputs/build/assets/clock_coral.png"/>
          <p:cNvPicPr>
            <a:picLocks noChangeAspect="1"/>
          </p:cNvPicPr>
          <p:nvPr/>
        </p:nvPicPr>
        <p:blipFill>
          <a:blip r:embed="rId6"/>
          <a:stretch>
            <a:fillRect/>
          </a:stretch>
        </p:blipFill>
        <p:spPr>
          <a:xfrm>
            <a:off x="4532376" y="4151376"/>
            <a:ext cx="365760" cy="365760"/>
          </a:xfrm>
          <a:prstGeom prst="rect">
            <a:avLst/>
          </a:prstGeom>
        </p:spPr>
      </p:pic>
      <p:sp>
        <p:nvSpPr>
          <p:cNvPr id="23" name="Text 17"/>
          <p:cNvSpPr/>
          <p:nvPr/>
        </p:nvSpPr>
        <p:spPr>
          <a:xfrm>
            <a:off x="4495800" y="4462272"/>
            <a:ext cx="3197352" cy="502920"/>
          </a:xfrm>
          <a:prstGeom prst="rect">
            <a:avLst/>
          </a:prstGeom>
          <a:noFill/>
          <a:ln/>
        </p:spPr>
        <p:txBody>
          <a:bodyPr wrap="square" lIns="0" tIns="0" rIns="0" bIns="0" rtlCol="0" anchor="ctr"/>
          <a:lstStyle/>
          <a:p>
            <a:pPr marL="0" indent="0">
              <a:buNone/>
            </a:pPr>
            <a:r>
              <a:rPr lang="en-US" sz="2500" b="1">
                <a:solidFill>
                  <a:srgbClr val="FF385C"/>
                </a:solidFill>
                <a:latin typeface="Poppins" pitchFamily="34" charset="0"/>
                <a:ea typeface="Poppins" pitchFamily="34" charset="-122"/>
                <a:cs typeface="Poppins" pitchFamily="34" charset="-120"/>
              </a:rPr>
              <a:t>$30K / yr</a:t>
            </a:r>
            <a:endParaRPr lang="en-US" sz="2500"/>
          </a:p>
        </p:txBody>
      </p:sp>
      <p:sp>
        <p:nvSpPr>
          <p:cNvPr id="24" name="Text 18"/>
          <p:cNvSpPr/>
          <p:nvPr/>
        </p:nvSpPr>
        <p:spPr>
          <a:xfrm>
            <a:off x="4514088" y="4937760"/>
            <a:ext cx="3160776" cy="384048"/>
          </a:xfrm>
          <a:prstGeom prst="rect">
            <a:avLst/>
          </a:prstGeom>
          <a:noFill/>
          <a:ln/>
        </p:spPr>
        <p:txBody>
          <a:bodyPr wrap="square" lIns="0" tIns="0" rIns="0" bIns="0" rtlCol="0" anchor="ctr"/>
          <a:lstStyle/>
          <a:p>
            <a:pPr marL="0" indent="0">
              <a:lnSpc>
                <a:spcPct val="100000"/>
              </a:lnSpc>
              <a:buNone/>
            </a:pPr>
            <a:r>
              <a:rPr lang="en-US" sz="1000">
                <a:solidFill>
                  <a:srgbClr val="4A4A4A"/>
                </a:solidFill>
                <a:latin typeface="Poppins" pitchFamily="34" charset="0"/>
                <a:ea typeface="Poppins" pitchFamily="34" charset="-122"/>
                <a:cs typeface="Poppins" pitchFamily="34" charset="-120"/>
              </a:rPr>
              <a:t>to run (retraining, monitoring, ~$3K infra)</a:t>
            </a:r>
            <a:endParaRPr lang="en-US" sz="1000"/>
          </a:p>
        </p:txBody>
      </p:sp>
      <p:sp>
        <p:nvSpPr>
          <p:cNvPr id="25" name="Shape 19"/>
          <p:cNvSpPr/>
          <p:nvPr/>
        </p:nvSpPr>
        <p:spPr>
          <a:xfrm>
            <a:off x="8122920" y="3931920"/>
            <a:ext cx="3563112" cy="1417320"/>
          </a:xfrm>
          <a:prstGeom prst="roundRect">
            <a:avLst>
              <a:gd name="adj" fmla="val 9032"/>
            </a:avLst>
          </a:prstGeom>
          <a:solidFill>
            <a:srgbClr val="E6F6F4"/>
          </a:solidFill>
          <a:ln/>
        </p:spPr>
        <p:txBody>
          <a:bodyPr/>
          <a:lstStyle/>
          <a:p>
            <a:endParaRPr lang="en-US"/>
          </a:p>
        </p:txBody>
      </p:sp>
      <p:pic>
        <p:nvPicPr>
          <p:cNvPr id="26" name="Image 4" descr="/sessions/dreamy-trusting-noether/mnt/outputs/build/assets/dollar_teal.png"/>
          <p:cNvPicPr>
            <a:picLocks noChangeAspect="1"/>
          </p:cNvPicPr>
          <p:nvPr/>
        </p:nvPicPr>
        <p:blipFill>
          <a:blip r:embed="rId7"/>
          <a:stretch>
            <a:fillRect/>
          </a:stretch>
        </p:blipFill>
        <p:spPr>
          <a:xfrm>
            <a:off x="8342376" y="4151376"/>
            <a:ext cx="365760" cy="365760"/>
          </a:xfrm>
          <a:prstGeom prst="rect">
            <a:avLst/>
          </a:prstGeom>
        </p:spPr>
      </p:pic>
      <p:sp>
        <p:nvSpPr>
          <p:cNvPr id="27" name="Text 20"/>
          <p:cNvSpPr/>
          <p:nvPr/>
        </p:nvSpPr>
        <p:spPr>
          <a:xfrm>
            <a:off x="8305800" y="4462272"/>
            <a:ext cx="3197352" cy="502920"/>
          </a:xfrm>
          <a:prstGeom prst="rect">
            <a:avLst/>
          </a:prstGeom>
          <a:noFill/>
          <a:ln/>
        </p:spPr>
        <p:txBody>
          <a:bodyPr wrap="square" lIns="0" tIns="0" rIns="0" bIns="0" rtlCol="0" anchor="ctr"/>
          <a:lstStyle/>
          <a:p>
            <a:pPr marL="0" indent="0">
              <a:buNone/>
            </a:pPr>
            <a:r>
              <a:rPr lang="en-US" sz="2500" b="1">
                <a:solidFill>
                  <a:srgbClr val="007A73"/>
                </a:solidFill>
                <a:latin typeface="Poppins" pitchFamily="34" charset="0"/>
                <a:ea typeface="Poppins" pitchFamily="34" charset="-122"/>
                <a:cs typeface="Poppins" pitchFamily="34" charset="-120"/>
              </a:rPr>
              <a:t>~$215K</a:t>
            </a:r>
            <a:endParaRPr lang="en-US" sz="2500"/>
          </a:p>
        </p:txBody>
      </p:sp>
      <p:sp>
        <p:nvSpPr>
          <p:cNvPr id="28" name="Text 21"/>
          <p:cNvSpPr/>
          <p:nvPr/>
        </p:nvSpPr>
        <p:spPr>
          <a:xfrm>
            <a:off x="8324088" y="4937760"/>
            <a:ext cx="3160776" cy="384048"/>
          </a:xfrm>
          <a:prstGeom prst="rect">
            <a:avLst/>
          </a:prstGeom>
          <a:noFill/>
          <a:ln/>
        </p:spPr>
        <p:txBody>
          <a:bodyPr wrap="square" lIns="0" tIns="0" rIns="0" bIns="0" rtlCol="0" anchor="ctr"/>
          <a:lstStyle/>
          <a:p>
            <a:pPr marL="0" indent="0">
              <a:lnSpc>
                <a:spcPct val="100000"/>
              </a:lnSpc>
              <a:buNone/>
            </a:pPr>
            <a:r>
              <a:rPr lang="en-US" sz="1000">
                <a:solidFill>
                  <a:srgbClr val="4A4A4A"/>
                </a:solidFill>
                <a:latin typeface="Poppins" pitchFamily="34" charset="0"/>
                <a:ea typeface="Poppins" pitchFamily="34" charset="-122"/>
                <a:cs typeface="Poppins" pitchFamily="34" charset="-120"/>
              </a:rPr>
              <a:t>total 5-year cost of ownership</a:t>
            </a:r>
            <a:endParaRPr lang="en-US" sz="1000"/>
          </a:p>
        </p:txBody>
      </p:sp>
      <p:sp>
        <p:nvSpPr>
          <p:cNvPr id="29" name="Text 22"/>
          <p:cNvSpPr/>
          <p:nvPr/>
        </p:nvSpPr>
        <p:spPr>
          <a:xfrm>
            <a:off x="502920" y="5623560"/>
            <a:ext cx="11183112" cy="457200"/>
          </a:xfrm>
          <a:prstGeom prst="rect">
            <a:avLst/>
          </a:prstGeom>
          <a:noFill/>
          <a:ln/>
        </p:spPr>
        <p:txBody>
          <a:bodyPr wrap="square" lIns="0" tIns="0" rIns="0" bIns="0" rtlCol="0" anchor="ctr"/>
          <a:lstStyle/>
          <a:p>
            <a:pPr marL="0" indent="0">
              <a:lnSpc>
                <a:spcPct val="104000"/>
              </a:lnSpc>
              <a:buNone/>
            </a:pPr>
            <a:r>
              <a:rPr lang="en-US" sz="1050">
                <a:solidFill>
                  <a:srgbClr val="4A4A4A"/>
                </a:solidFill>
                <a:latin typeface="Poppins" pitchFamily="34" charset="0"/>
                <a:ea typeface="Poppins" pitchFamily="34" charset="-122"/>
                <a:cs typeface="Poppins" pitchFamily="34" charset="-120"/>
              </a:rPr>
              <a:t>Costed as an incremental feature on infrastructure Airbnb already owns (model-serving, pricing, A/B testing). </a:t>
            </a:r>
            <a:r>
              <a:rPr lang="en-US" sz="1050" i="1">
                <a:solidFill>
                  <a:srgbClr val="9AA0A6"/>
                </a:solidFill>
                <a:latin typeface="Poppins" pitchFamily="34" charset="0"/>
                <a:ea typeface="Poppins" pitchFamily="34" charset="-122"/>
                <a:cs typeface="Poppins" pitchFamily="34" charset="-120"/>
              </a:rPr>
              <a:t>A full greenfield build (~$190K + $105K/yr) is shown only as a worst-case if built standalone.</a:t>
            </a:r>
            <a:endParaRPr lang="en-US" sz="10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11 · ROI &amp; FINANCIAL TIMELINE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Cash-positive in Year 1, on a modeled adoption ramp</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Modeled as an adoption ramp (Rogers' Diffusion of Innovation), not a single guess: about 10% adoption in Year 1, climbing to roughly 42% by Year 4.</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12</a:t>
            </a:r>
            <a:endParaRPr lang="en-US" sz="90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6858000" cy="2688336"/>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Year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Adoption</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Airbnb Fee / yr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Cumulative Net (NPV @10%)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1</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$117K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+$20K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24%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$281K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+$227K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3</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38%</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$445K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+$539K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+$854K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5</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+$1.14M</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050" i="1">
                <a:solidFill>
                  <a:srgbClr val="9AA0A6"/>
                </a:solidFill>
                <a:latin typeface="Poppins" pitchFamily="34" charset="0"/>
                <a:ea typeface="Poppins" pitchFamily="34" charset="-122"/>
                <a:cs typeface="Poppins" pitchFamily="34" charset="-120"/>
              </a:rPr>
              <a:t>We build the case on the ramp itself, not a single adoption row.</a:t>
            </a:r>
            <a:endParaRPr lang="en-US" sz="1050"/>
          </a:p>
        </p:txBody>
      </p:sp>
      <p:sp>
        <p:nvSpPr>
          <p:cNvPr id="14" name="Shape 9"/>
          <p:cNvSpPr/>
          <p:nvPr/>
        </p:nvSpPr>
        <p:spPr>
          <a:xfrm>
            <a:off x="7589520" y="2377440"/>
            <a:ext cx="4096512" cy="3063240"/>
          </a:xfrm>
          <a:prstGeom prst="roundRect">
            <a:avLst>
              <a:gd name="adj" fmla="val 4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7845552" y="2615184"/>
            <a:ext cx="530352" cy="530352"/>
          </a:xfrm>
          <a:prstGeom prst="ellipse">
            <a:avLst/>
          </a:prstGeom>
          <a:solidFill>
            <a:srgbClr val="FFFFFF"/>
          </a:solidFill>
          <a:ln/>
        </p:spPr>
        <p:txBody>
          <a:bodyPr/>
          <a:lstStyle/>
          <a:p>
            <a:endParaRPr lang="en-US"/>
          </a:p>
        </p:txBody>
      </p:sp>
      <p:pic>
        <p:nvPicPr>
          <p:cNvPr id="16" name="Image 2" descr="/sessions/dreamy-trusting-noether/mnt/outputs/build/assets/scale_coral.png"/>
          <p:cNvPicPr>
            <a:picLocks noChangeAspect="1"/>
          </p:cNvPicPr>
          <p:nvPr/>
        </p:nvPicPr>
        <p:blipFill>
          <a:blip r:embed="rId5"/>
          <a:stretch>
            <a:fillRect/>
          </a:stretch>
        </p:blipFill>
        <p:spPr>
          <a:xfrm>
            <a:off x="7972836" y="2742468"/>
            <a:ext cx="275783" cy="275783"/>
          </a:xfrm>
          <a:prstGeom prst="rect">
            <a:avLst/>
          </a:prstGeom>
        </p:spPr>
      </p:pic>
      <p:sp>
        <p:nvSpPr>
          <p:cNvPr id="17" name="Text 11"/>
          <p:cNvSpPr/>
          <p:nvPr/>
        </p:nvSpPr>
        <p:spPr>
          <a:xfrm>
            <a:off x="8595360" y="2651760"/>
            <a:ext cx="2926080" cy="365760"/>
          </a:xfrm>
          <a:prstGeom prst="rect">
            <a:avLst/>
          </a:prstGeom>
          <a:noFill/>
          <a:ln/>
        </p:spPr>
        <p:txBody>
          <a:bodyPr wrap="square" lIns="0" tIns="0" rIns="0" bIns="0" rtlCol="0" anchor="ctr"/>
          <a:lstStyle/>
          <a:p>
            <a:pPr marL="0" indent="0">
              <a:buNone/>
            </a:pPr>
            <a:r>
              <a:rPr lang="en-US" sz="1400" b="1">
                <a:solidFill>
                  <a:srgbClr val="222222"/>
                </a:solidFill>
                <a:latin typeface="Poppins" pitchFamily="34" charset="0"/>
                <a:ea typeface="Poppins" pitchFamily="34" charset="-122"/>
                <a:cs typeface="Poppins" pitchFamily="34" charset="-120"/>
              </a:rPr>
              <a:t>Honest about time value</a:t>
            </a:r>
            <a:endParaRPr lang="en-US" sz="1400"/>
          </a:p>
        </p:txBody>
      </p:sp>
      <p:sp>
        <p:nvSpPr>
          <p:cNvPr id="18" name="Text 12"/>
          <p:cNvSpPr/>
          <p:nvPr/>
        </p:nvSpPr>
        <p:spPr>
          <a:xfrm>
            <a:off x="7845552" y="3291840"/>
            <a:ext cx="3657600" cy="2057400"/>
          </a:xfrm>
          <a:prstGeom prst="rect">
            <a:avLst/>
          </a:prstGeom>
          <a:noFill/>
          <a:ln/>
        </p:spPr>
        <p:txBody>
          <a:bodyPr wrap="square" lIns="0" tIns="0" rIns="0" bIns="0" rtlCol="0" anchor="t"/>
          <a:lstStyle/>
          <a:p>
            <a:pPr marL="0" indent="0">
              <a:lnSpc>
                <a:spcPct val="106000"/>
              </a:lnSpc>
              <a:buNone/>
            </a:pPr>
            <a:r>
              <a:rPr lang="en-US" sz="1150" b="1">
                <a:solidFill>
                  <a:srgbClr val="FF385C"/>
                </a:solidFill>
                <a:latin typeface="Poppins" pitchFamily="34" charset="0"/>
                <a:ea typeface="Poppins" pitchFamily="34" charset="-122"/>
                <a:cs typeface="Poppins" pitchFamily="34" charset="-120"/>
              </a:rPr>
              <a:t>Net-positive in Year 1, on a modeled 10% first-year adoption.
5-year cumulative net: $1.61M nominal → $1.14M NPV at a 10% discount (~29% haircut).
We discount at 10% and show both, rather than present nominal sums under an NPV banner.</a:t>
            </a:r>
            <a:r>
              <a:rPr lang="en-US" sz="1150">
                <a:solidFill>
                  <a:srgbClr val="4A4A4A"/>
                </a:solidFill>
                <a:latin typeface="Poppins" pitchFamily="34" charset="0"/>
                <a:ea typeface="Poppins" pitchFamily="34" charset="-122"/>
                <a:cs typeface="Poppins" pitchFamily="34" charset="-120"/>
              </a:rPr>
              <a:t/>
            </a:r>
            <a:r>
              <a:rPr lang="en-US" sz="1150" b="1">
                <a:solidFill>
                  <a:srgbClr val="222222"/>
                </a:solidFill>
                <a:latin typeface="Poppins" pitchFamily="34" charset="0"/>
                <a:ea typeface="Poppins" pitchFamily="34" charset="-122"/>
                <a:cs typeface="Poppins" pitchFamily="34" charset="-120"/>
              </a:rPr>
              <a:t/>
            </a:r>
            <a:r>
              <a:rPr lang="en-US" sz="1150">
                <a:solidFill>
                  <a:srgbClr val="4A4A4A"/>
                </a:solidFill>
                <a:latin typeface="Poppins" pitchFamily="34" charset="0"/>
                <a:ea typeface="Poppins" pitchFamily="34" charset="-122"/>
                <a:cs typeface="Poppins" pitchFamily="34" charset="-120"/>
              </a:rPr>
              <a:t/>
            </a:r>
            <a:r>
              <a:rPr lang="en-US" sz="1150">
                <a:solidFill>
                  <a:srgbClr val="717171"/>
                </a:solidFill>
                <a:latin typeface="Poppins" pitchFamily="34" charset="0"/>
                <a:ea typeface="Poppins" pitchFamily="34" charset="-122"/>
                <a:cs typeface="Poppins" pitchFamily="34" charset="-120"/>
              </a:rPr>
              <a:t/>
            </a:r>
            <a:endParaRPr lang="en-US" sz="115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050" b="1">
                <a:solidFill>
                  <a:srgbClr val="222222"/>
                </a:solidFill>
                <a:latin typeface="Poppins" pitchFamily="34" charset="0"/>
                <a:ea typeface="Poppins" pitchFamily="34" charset="-122"/>
                <a:cs typeface="Poppins" pitchFamily="34" charset="-120"/>
              </a:rPr>
              <a:t>And on the overpriced side: </a:t>
            </a:r>
            <a:r>
              <a:rPr lang="en-US" sz="1050">
                <a:solidFill>
                  <a:srgbClr val="4A4A4A"/>
                </a:solidFill>
                <a:latin typeface="Poppins" pitchFamily="34" charset="0"/>
                <a:ea typeface="Poppins" pitchFamily="34" charset="-122"/>
                <a:cs typeface="Poppins" pitchFamily="34" charset="-120"/>
              </a:rPr>
              <a:t>repricing unlocks ~77,606 booked nights/yr. Near revenue-neutral for hosts, but real marketplace liquidity and host retention for Airbnb (already inside the floor).</a:t>
            </a:r>
            <a:endParaRPr lang="en-US" sz="105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12 · WHAT WE'D DO WITH MORE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The number is a floor. Here is what lifts it.</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Every unmeasured quantity was resolved against us. Four asks would let us prove how much bigger this is.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13</a:t>
            </a:r>
            <a:endParaRPr lang="en-US" sz="900"/>
          </a:p>
        </p:txBody>
      </p:sp>
      <p:sp>
        <p:nvSpPr>
          <p:cNvPr id="12" name="Shape 8"/>
          <p:cNvSpPr/>
          <p:nvPr/>
        </p:nvSpPr>
        <p:spPr>
          <a:xfrm>
            <a:off x="502920" y="2331720"/>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606040"/>
            <a:ext cx="566928" cy="566928"/>
          </a:xfrm>
          <a:prstGeom prst="ellipse">
            <a:avLst/>
          </a:prstGeom>
          <a:solidFill>
            <a:srgbClr val="FFF1E9"/>
          </a:solidFill>
          <a:ln/>
        </p:spPr>
        <p:txBody>
          <a:bodyPr/>
          <a:lstStyle/>
          <a:p>
            <a:endParaRPr lang="en-US"/>
          </a:p>
        </p:txBody>
      </p:sp>
      <p:pic>
        <p:nvPicPr>
          <p:cNvPr id="14" name="Image 2" descr="/sessions/dreamy-trusting-noether/mnt/outputs/build/assets/bar_orange.png"/>
          <p:cNvPicPr>
            <a:picLocks noChangeAspect="1"/>
          </p:cNvPicPr>
          <p:nvPr/>
        </p:nvPicPr>
        <p:blipFill>
          <a:blip r:embed="rId5"/>
          <a:stretch>
            <a:fillRect/>
          </a:stretch>
        </p:blipFill>
        <p:spPr>
          <a:xfrm>
            <a:off x="895015" y="2742103"/>
            <a:ext cx="294803" cy="294803"/>
          </a:xfrm>
          <a:prstGeom prst="rect">
            <a:avLst/>
          </a:prstGeom>
        </p:spPr>
      </p:pic>
      <p:sp>
        <p:nvSpPr>
          <p:cNvPr id="15" name="Text 10"/>
          <p:cNvSpPr/>
          <p:nvPr/>
        </p:nvSpPr>
        <p:spPr>
          <a:xfrm>
            <a:off x="1453896" y="2642616"/>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Give us the full elasticity panel</a:t>
            </a:r>
            <a:endParaRPr lang="en-US" sz="1400"/>
          </a:p>
        </p:txBody>
      </p:sp>
      <p:sp>
        <p:nvSpPr>
          <p:cNvPr id="16" name="Text 11"/>
          <p:cNvSpPr/>
          <p:nvPr/>
        </p:nvSpPr>
        <p:spPr>
          <a:xfrm>
            <a:off x="777240" y="3264408"/>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We proved the mechanism on 64 established short-stay listings and measured −0.92. The full panel would confirm it across every segment and review tier, and likely raises the number, since newer listings are more price-sensitive.</a:t>
            </a:r>
            <a:endParaRPr lang="en-US" sz="1180"/>
          </a:p>
        </p:txBody>
      </p:sp>
      <p:sp>
        <p:nvSpPr>
          <p:cNvPr id="17" name="Shape 12"/>
          <p:cNvSpPr/>
          <p:nvPr/>
        </p:nvSpPr>
        <p:spPr>
          <a:xfrm>
            <a:off x="6217920" y="233172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73952" y="2606040"/>
            <a:ext cx="566928" cy="566928"/>
          </a:xfrm>
          <a:prstGeom prst="ellipse">
            <a:avLst/>
          </a:prstGeom>
          <a:solidFill>
            <a:srgbClr val="FFFFFF"/>
          </a:solidFill>
          <a:ln/>
        </p:spPr>
        <p:txBody>
          <a:bodyPr/>
          <a:lstStyle/>
          <a:p>
            <a:endParaRPr lang="en-US"/>
          </a:p>
        </p:txBody>
      </p:sp>
      <p:pic>
        <p:nvPicPr>
          <p:cNvPr id="19" name="Image 3" descr="/sessions/dreamy-trusting-noether/mnt/outputs/build/assets/calendar_teal.png"/>
          <p:cNvPicPr>
            <a:picLocks noChangeAspect="1"/>
          </p:cNvPicPr>
          <p:nvPr/>
        </p:nvPicPr>
        <p:blipFill>
          <a:blip r:embed="rId6"/>
          <a:stretch>
            <a:fillRect/>
          </a:stretch>
        </p:blipFill>
        <p:spPr>
          <a:xfrm>
            <a:off x="6610015" y="2742103"/>
            <a:ext cx="294803" cy="294803"/>
          </a:xfrm>
          <a:prstGeom prst="rect">
            <a:avLst/>
          </a:prstGeom>
        </p:spPr>
      </p:pic>
      <p:sp>
        <p:nvSpPr>
          <p:cNvPr id="20" name="Text 14"/>
          <p:cNvSpPr/>
          <p:nvPr/>
        </p:nvSpPr>
        <p:spPr>
          <a:xfrm>
            <a:off x="7168896" y="2642616"/>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Let us measure the monthly segment</a:t>
            </a:r>
            <a:endParaRPr lang="en-US" sz="1400"/>
          </a:p>
        </p:txBody>
      </p:sp>
      <p:sp>
        <p:nvSpPr>
          <p:cNvPr id="21" name="Text 15"/>
          <p:cNvSpPr/>
          <p:nvPr/>
        </p:nvSpPr>
        <p:spPr>
          <a:xfrm>
            <a:off x="6492240" y="3264408"/>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No significant price response showed up in the pilot, so we assumed none and let the full price gap flow through. With more within-listing price variation we could measure it properly instead of assuming it.</a:t>
            </a:r>
            <a:endParaRPr lang="en-US" sz="1180"/>
          </a:p>
        </p:txBody>
      </p:sp>
      <p:sp>
        <p:nvSpPr>
          <p:cNvPr id="22" name="Shape 16"/>
          <p:cNvSpPr/>
          <p:nvPr/>
        </p:nvSpPr>
        <p:spPr>
          <a:xfrm>
            <a:off x="502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58952" y="4608576"/>
            <a:ext cx="566928" cy="566928"/>
          </a:xfrm>
          <a:prstGeom prst="ellipse">
            <a:avLst/>
          </a:prstGeom>
          <a:solidFill>
            <a:srgbClr val="FFF1E9"/>
          </a:solidFill>
          <a:ln/>
        </p:spPr>
        <p:txBody>
          <a:bodyPr/>
          <a:lstStyle/>
          <a:p>
            <a:endParaRPr lang="en-US"/>
          </a:p>
        </p:txBody>
      </p:sp>
      <p:pic>
        <p:nvPicPr>
          <p:cNvPr id="24" name="Image 4" descr="/sessions/dreamy-trusting-noether/mnt/outputs/build/assets/pin_orange.png"/>
          <p:cNvPicPr>
            <a:picLocks noChangeAspect="1"/>
          </p:cNvPicPr>
          <p:nvPr/>
        </p:nvPicPr>
        <p:blipFill>
          <a:blip r:embed="rId7"/>
          <a:stretch>
            <a:fillRect/>
          </a:stretch>
        </p:blipFill>
        <p:spPr>
          <a:xfrm>
            <a:off x="895015" y="4744639"/>
            <a:ext cx="294803" cy="294803"/>
          </a:xfrm>
          <a:prstGeom prst="rect">
            <a:avLst/>
          </a:prstGeom>
        </p:spPr>
      </p:pic>
      <p:sp>
        <p:nvSpPr>
          <p:cNvPr id="25" name="Text 18"/>
          <p:cNvSpPr/>
          <p:nvPr/>
        </p:nvSpPr>
        <p:spPr>
          <a:xfrm>
            <a:off x="1453896" y="4645152"/>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Open the booking-flow data</a:t>
            </a:r>
            <a:endParaRPr lang="en-US" sz="1400"/>
          </a:p>
        </p:txBody>
      </p:sp>
      <p:sp>
        <p:nvSpPr>
          <p:cNvPr id="26" name="Text 19"/>
          <p:cNvSpPr/>
          <p:nvPr/>
        </p:nvSpPr>
        <p:spPr>
          <a:xfrm>
            <a:off x="777240" y="5266944"/>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We counted zero credit for guests won back from hotels and competitors. Airbnb's own conversion data would price that, along with the churn and lifetime-value effects we can describe but not yet quantify.</a:t>
            </a:r>
            <a:endParaRPr lang="en-US" sz="1180"/>
          </a:p>
        </p:txBody>
      </p:sp>
      <p:sp>
        <p:nvSpPr>
          <p:cNvPr id="27" name="Shape 20"/>
          <p:cNvSpPr/>
          <p:nvPr/>
        </p:nvSpPr>
        <p:spPr>
          <a:xfrm>
            <a:off x="6217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6473952" y="4608576"/>
            <a:ext cx="566928" cy="566928"/>
          </a:xfrm>
          <a:prstGeom prst="ellipse">
            <a:avLst/>
          </a:prstGeom>
          <a:solidFill>
            <a:srgbClr val="FFF1E9"/>
          </a:solidFill>
          <a:ln/>
        </p:spPr>
        <p:txBody>
          <a:bodyPr/>
          <a:lstStyle/>
          <a:p>
            <a:endParaRPr lang="en-US"/>
          </a:p>
        </p:txBody>
      </p:sp>
      <p:pic>
        <p:nvPicPr>
          <p:cNvPr id="29" name="Image 5" descr="/sessions/dreamy-trusting-noether/mnt/outputs/build/assets/alert_orange.png"/>
          <p:cNvPicPr>
            <a:picLocks noChangeAspect="1"/>
          </p:cNvPicPr>
          <p:nvPr/>
        </p:nvPicPr>
        <p:blipFill>
          <a:blip r:embed="rId8"/>
          <a:stretch>
            <a:fillRect/>
          </a:stretch>
        </p:blipFill>
        <p:spPr>
          <a:xfrm>
            <a:off x="6610015" y="4744639"/>
            <a:ext cx="294803" cy="294803"/>
          </a:xfrm>
          <a:prstGeom prst="rect">
            <a:avLst/>
          </a:prstGeom>
        </p:spPr>
      </p:pic>
      <p:sp>
        <p:nvSpPr>
          <p:cNvPr id="30" name="Text 22"/>
          <p:cNvSpPr/>
          <p:nvPr/>
        </p:nvSpPr>
        <p:spPr>
          <a:xfrm>
            <a:off x="7168896" y="4645152"/>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Then take it beyond New York</a:t>
            </a:r>
            <a:endParaRPr lang="en-US" sz="1400"/>
          </a:p>
        </p:txBody>
      </p:sp>
      <p:sp>
        <p:nvSpPr>
          <p:cNvPr id="31" name="Text 23"/>
          <p:cNvSpPr/>
          <p:nvPr/>
        </p:nvSpPr>
        <p:spPr>
          <a:xfrm>
            <a:off x="6492240" y="5266944"/>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Coefficients need re-fitting per market: tourism, regulation and seasonality all differ. The method transfers; these particular numbers are New York's.</a:t>
            </a:r>
            <a:endParaRPr lang="en-US" sz="118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13 · RECOMMENDATIONS &amp; CLOSING</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Build on Smart Pricing, don't replace it</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The opportunity isn't another number. It's helping hosts understand, trust and act on it.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14</a:t>
            </a:r>
            <a:endParaRPr lang="en-US" sz="900"/>
          </a:p>
        </p:txBody>
      </p:sp>
      <p:sp>
        <p:nvSpPr>
          <p:cNvPr id="12" name="Shape 8"/>
          <p:cNvSpPr/>
          <p:nvPr/>
        </p:nvSpPr>
        <p:spPr>
          <a:xfrm>
            <a:off x="502920" y="2286000"/>
            <a:ext cx="3563112" cy="1554480"/>
          </a:xfrm>
          <a:prstGeom prst="roundRect">
            <a:avLst>
              <a:gd name="adj" fmla="val 8235"/>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542032"/>
            <a:ext cx="566928" cy="566928"/>
          </a:xfrm>
          <a:prstGeom prst="ellipse">
            <a:avLst/>
          </a:prstGeom>
          <a:solidFill>
            <a:srgbClr val="FF385C"/>
          </a:solidFill>
          <a:ln/>
        </p:spPr>
        <p:txBody>
          <a:bodyPr/>
          <a:lstStyle/>
          <a:p>
            <a:endParaRPr lang="en-US"/>
          </a:p>
        </p:txBody>
      </p:sp>
      <p:sp>
        <p:nvSpPr>
          <p:cNvPr id="14" name="Text 10"/>
          <p:cNvSpPr/>
          <p:nvPr/>
        </p:nvSpPr>
        <p:spPr>
          <a:xfrm>
            <a:off x="758952" y="2542032"/>
            <a:ext cx="566928" cy="566928"/>
          </a:xfrm>
          <a:prstGeom prst="rect">
            <a:avLst/>
          </a:prstGeom>
          <a:noFill/>
          <a:ln/>
        </p:spPr>
        <p:txBody>
          <a:bodyPr wrap="square" lIns="0" tIns="0" rIns="0" bIns="0" rtlCol="0" anchor="ctr"/>
          <a:lstStyle/>
          <a:p>
            <a:pPr marL="0" indent="0" algn="ctr">
              <a:buNone/>
            </a:pPr>
            <a:r>
              <a:rPr lang="en-US" sz="2000" b="1">
                <a:solidFill>
                  <a:srgbClr val="FFFFFF"/>
                </a:solidFill>
                <a:latin typeface="Poppins" pitchFamily="34" charset="0"/>
                <a:ea typeface="Poppins" pitchFamily="34" charset="-122"/>
                <a:cs typeface="Poppins" pitchFamily="34" charset="-120"/>
              </a:rPr>
              <a:t>1</a:t>
            </a:r>
            <a:endParaRPr lang="en-US" sz="2000"/>
          </a:p>
        </p:txBody>
      </p:sp>
      <p:sp>
        <p:nvSpPr>
          <p:cNvPr id="15" name="Text 11"/>
          <p:cNvSpPr/>
          <p:nvPr/>
        </p:nvSpPr>
        <p:spPr>
          <a:xfrm>
            <a:off x="1463040" y="2578608"/>
            <a:ext cx="2420112" cy="502920"/>
          </a:xfrm>
          <a:prstGeom prst="rect">
            <a:avLst/>
          </a:prstGeom>
          <a:noFill/>
          <a:ln/>
        </p:spPr>
        <p:txBody>
          <a:bodyPr wrap="square" lIns="0" tIns="0" rIns="0" bIns="0" rtlCol="0" anchor="ctr"/>
          <a:lstStyle/>
          <a:p>
            <a:pPr marL="0" indent="0">
              <a:lnSpc>
                <a:spcPct val="95000"/>
              </a:lnSpc>
              <a:buNone/>
            </a:pPr>
            <a:r>
              <a:rPr lang="en-US" sz="1350" b="1">
                <a:solidFill>
                  <a:srgbClr val="222222"/>
                </a:solidFill>
                <a:latin typeface="Poppins" pitchFamily="34" charset="0"/>
                <a:ea typeface="Poppins" pitchFamily="34" charset="-122"/>
                <a:cs typeface="Poppins" pitchFamily="34" charset="-120"/>
              </a:rPr>
              <a:t>Enhance, don't replace</a:t>
            </a:r>
            <a:endParaRPr lang="en-US" sz="1350"/>
          </a:p>
        </p:txBody>
      </p:sp>
      <p:sp>
        <p:nvSpPr>
          <p:cNvPr id="16" name="Text 12"/>
          <p:cNvSpPr/>
          <p:nvPr/>
        </p:nvSpPr>
        <p:spPr>
          <a:xfrm>
            <a:off x="777240" y="3182112"/>
            <a:ext cx="3014472" cy="59436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Layer explanations and comparables onto the existing Smart Pricing hosts already know.</a:t>
            </a:r>
            <a:endParaRPr lang="en-US" sz="1100"/>
          </a:p>
        </p:txBody>
      </p:sp>
      <p:sp>
        <p:nvSpPr>
          <p:cNvPr id="17" name="Shape 13"/>
          <p:cNvSpPr/>
          <p:nvPr/>
        </p:nvSpPr>
        <p:spPr>
          <a:xfrm>
            <a:off x="431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542032"/>
            <a:ext cx="566928" cy="566928"/>
          </a:xfrm>
          <a:prstGeom prst="ellipse">
            <a:avLst/>
          </a:prstGeom>
          <a:solidFill>
            <a:srgbClr val="FF385C"/>
          </a:solidFill>
          <a:ln/>
        </p:spPr>
        <p:txBody>
          <a:bodyPr/>
          <a:lstStyle/>
          <a:p>
            <a:endParaRPr lang="en-US"/>
          </a:p>
        </p:txBody>
      </p:sp>
      <p:sp>
        <p:nvSpPr>
          <p:cNvPr id="19" name="Text 15"/>
          <p:cNvSpPr/>
          <p:nvPr/>
        </p:nvSpPr>
        <p:spPr>
          <a:xfrm>
            <a:off x="4568952" y="2542032"/>
            <a:ext cx="566928" cy="566928"/>
          </a:xfrm>
          <a:prstGeom prst="rect">
            <a:avLst/>
          </a:prstGeom>
          <a:noFill/>
          <a:ln/>
        </p:spPr>
        <p:txBody>
          <a:bodyPr wrap="square" lIns="0" tIns="0" rIns="0" bIns="0" rtlCol="0" anchor="ctr"/>
          <a:lstStyle/>
          <a:p>
            <a:pPr marL="0" indent="0" algn="ctr">
              <a:buNone/>
            </a:pPr>
            <a:r>
              <a:rPr lang="en-US" sz="2000" b="1">
                <a:solidFill>
                  <a:srgbClr val="FFFFFF"/>
                </a:solidFill>
                <a:latin typeface="Poppins" pitchFamily="34" charset="0"/>
                <a:ea typeface="Poppins" pitchFamily="34" charset="-122"/>
                <a:cs typeface="Poppins" pitchFamily="34" charset="-120"/>
              </a:rPr>
              <a:t>2</a:t>
            </a:r>
            <a:endParaRPr lang="en-US" sz="2000"/>
          </a:p>
        </p:txBody>
      </p:sp>
      <p:sp>
        <p:nvSpPr>
          <p:cNvPr id="20" name="Text 16"/>
          <p:cNvSpPr/>
          <p:nvPr/>
        </p:nvSpPr>
        <p:spPr>
          <a:xfrm>
            <a:off x="5273040" y="2578608"/>
            <a:ext cx="2420112" cy="502920"/>
          </a:xfrm>
          <a:prstGeom prst="rect">
            <a:avLst/>
          </a:prstGeom>
          <a:noFill/>
          <a:ln/>
        </p:spPr>
        <p:txBody>
          <a:bodyPr wrap="square" lIns="0" tIns="0" rIns="0" bIns="0" rtlCol="0" anchor="ctr"/>
          <a:lstStyle/>
          <a:p>
            <a:pPr marL="0" indent="0">
              <a:lnSpc>
                <a:spcPct val="95000"/>
              </a:lnSpc>
              <a:buNone/>
            </a:pPr>
            <a:r>
              <a:rPr lang="en-US" sz="1350" b="1">
                <a:solidFill>
                  <a:srgbClr val="222222"/>
                </a:solidFill>
                <a:latin typeface="Poppins" pitchFamily="34" charset="0"/>
                <a:ea typeface="Poppins" pitchFamily="34" charset="-122"/>
                <a:cs typeface="Poppins" pitchFamily="34" charset="-120"/>
              </a:rPr>
              <a:t>Pilot in one market</a:t>
            </a:r>
            <a:endParaRPr lang="en-US" sz="1350"/>
          </a:p>
        </p:txBody>
      </p:sp>
      <p:sp>
        <p:nvSpPr>
          <p:cNvPr id="21" name="Text 17"/>
          <p:cNvSpPr/>
          <p:nvPr/>
        </p:nvSpPr>
        <p:spPr>
          <a:xfrm>
            <a:off x="4587240" y="3182112"/>
            <a:ext cx="3014472" cy="59436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Measure adoption and how pricing changes move both occupancy and revenue.</a:t>
            </a:r>
            <a:endParaRPr lang="en-US" sz="1100"/>
          </a:p>
        </p:txBody>
      </p:sp>
      <p:sp>
        <p:nvSpPr>
          <p:cNvPr id="22" name="Shape 18"/>
          <p:cNvSpPr/>
          <p:nvPr/>
        </p:nvSpPr>
        <p:spPr>
          <a:xfrm>
            <a:off x="812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542032"/>
            <a:ext cx="566928" cy="566928"/>
          </a:xfrm>
          <a:prstGeom prst="ellipse">
            <a:avLst/>
          </a:prstGeom>
          <a:solidFill>
            <a:srgbClr val="FF385C"/>
          </a:solidFill>
          <a:ln/>
        </p:spPr>
        <p:txBody>
          <a:bodyPr/>
          <a:lstStyle/>
          <a:p>
            <a:endParaRPr lang="en-US"/>
          </a:p>
        </p:txBody>
      </p:sp>
      <p:sp>
        <p:nvSpPr>
          <p:cNvPr id="24" name="Text 20"/>
          <p:cNvSpPr/>
          <p:nvPr/>
        </p:nvSpPr>
        <p:spPr>
          <a:xfrm>
            <a:off x="8378952" y="2542032"/>
            <a:ext cx="566928" cy="566928"/>
          </a:xfrm>
          <a:prstGeom prst="rect">
            <a:avLst/>
          </a:prstGeom>
          <a:noFill/>
          <a:ln/>
        </p:spPr>
        <p:txBody>
          <a:bodyPr wrap="square" lIns="0" tIns="0" rIns="0" bIns="0" rtlCol="0" anchor="ctr"/>
          <a:lstStyle/>
          <a:p>
            <a:pPr marL="0" indent="0" algn="ctr">
              <a:buNone/>
            </a:pPr>
            <a:r>
              <a:rPr lang="en-US" sz="2000" b="1">
                <a:solidFill>
                  <a:srgbClr val="FFFFFF"/>
                </a:solidFill>
                <a:latin typeface="Poppins" pitchFamily="34" charset="0"/>
                <a:ea typeface="Poppins" pitchFamily="34" charset="-122"/>
                <a:cs typeface="Poppins" pitchFamily="34" charset="-120"/>
              </a:rPr>
              <a:t>3</a:t>
            </a:r>
            <a:endParaRPr lang="en-US" sz="2000"/>
          </a:p>
        </p:txBody>
      </p:sp>
      <p:sp>
        <p:nvSpPr>
          <p:cNvPr id="25" name="Text 21"/>
          <p:cNvSpPr/>
          <p:nvPr/>
        </p:nvSpPr>
        <p:spPr>
          <a:xfrm>
            <a:off x="9083040" y="2578608"/>
            <a:ext cx="2420112" cy="502920"/>
          </a:xfrm>
          <a:prstGeom prst="rect">
            <a:avLst/>
          </a:prstGeom>
          <a:noFill/>
          <a:ln/>
        </p:spPr>
        <p:txBody>
          <a:bodyPr wrap="square" lIns="0" tIns="0" rIns="0" bIns="0" rtlCol="0" anchor="ctr"/>
          <a:lstStyle/>
          <a:p>
            <a:pPr marL="0" indent="0">
              <a:lnSpc>
                <a:spcPct val="95000"/>
              </a:lnSpc>
              <a:buNone/>
            </a:pPr>
            <a:r>
              <a:rPr lang="en-US" sz="1350" b="1">
                <a:solidFill>
                  <a:srgbClr val="222222"/>
                </a:solidFill>
                <a:latin typeface="Poppins" pitchFamily="34" charset="0"/>
                <a:ea typeface="Poppins" pitchFamily="34" charset="-122"/>
                <a:cs typeface="Poppins" pitchFamily="34" charset="-120"/>
              </a:rPr>
              <a:t>Learn, then scale</a:t>
            </a:r>
            <a:endParaRPr lang="en-US" sz="1350"/>
          </a:p>
        </p:txBody>
      </p:sp>
      <p:sp>
        <p:nvSpPr>
          <p:cNvPr id="26" name="Text 22"/>
          <p:cNvSpPr/>
          <p:nvPr/>
        </p:nvSpPr>
        <p:spPr>
          <a:xfrm>
            <a:off x="8397240" y="3182112"/>
            <a:ext cx="3014472" cy="59436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Use real-world results to improve the model before expanding to more cities.</a:t>
            </a:r>
            <a:endParaRPr lang="en-US" sz="110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4"/>
          <p:cNvSpPr/>
          <p:nvPr/>
        </p:nvSpPr>
        <p:spPr>
          <a:xfrm>
            <a:off x="777240" y="4343400"/>
            <a:ext cx="566928" cy="566928"/>
          </a:xfrm>
          <a:prstGeom prst="ellipse">
            <a:avLst/>
          </a:prstGeom>
          <a:solidFill>
            <a:srgbClr val="E6F6F4"/>
          </a:solidFill>
          <a:ln/>
        </p:spPr>
        <p:txBody>
          <a:bodyPr/>
          <a:lstStyle/>
          <a:p>
            <a:endParaRPr lang="en-US"/>
          </a:p>
        </p:txBody>
      </p:sp>
      <p:pic>
        <p:nvPicPr>
          <p:cNvPr id="29" name="Image 2" descr="/sessions/dreamy-trusting-noether/mnt/outputs/build/assets/briefcase_teal.png"/>
          <p:cNvPicPr>
            <a:picLocks noChangeAspect="1"/>
          </p:cNvPicPr>
          <p:nvPr/>
        </p:nvPicPr>
        <p:blipFill>
          <a:blip r:embed="rId5"/>
          <a:stretch>
            <a:fillRect/>
          </a:stretch>
        </p:blipFill>
        <p:spPr>
          <a:xfrm>
            <a:off x="913303" y="4479463"/>
            <a:ext cx="294803" cy="294803"/>
          </a:xfrm>
          <a:prstGeom prst="rect">
            <a:avLst/>
          </a:prstGeom>
        </p:spPr>
      </p:pic>
      <p:sp>
        <p:nvSpPr>
          <p:cNvPr id="30" name="Text 25"/>
          <p:cNvSpPr/>
          <p:nvPr/>
        </p:nvSpPr>
        <p:spPr>
          <a:xfrm>
            <a:off x="1481328" y="4370832"/>
            <a:ext cx="5486400" cy="365760"/>
          </a:xfrm>
          <a:prstGeom prst="rect">
            <a:avLst/>
          </a:prstGeom>
          <a:noFill/>
          <a:ln/>
        </p:spPr>
        <p:txBody>
          <a:bodyPr wrap="square" lIns="0" tIns="0" rIns="0" bIns="0" rtlCol="0" anchor="ctr"/>
          <a:lstStyle/>
          <a:p>
            <a:pPr marL="0" indent="0">
              <a:buNone/>
            </a:pPr>
            <a:r>
              <a:rPr lang="en-US" sz="1400" b="1">
                <a:solidFill>
                  <a:srgbClr val="222222"/>
                </a:solidFill>
                <a:latin typeface="Poppins" pitchFamily="34" charset="0"/>
                <a:ea typeface="Poppins" pitchFamily="34" charset="-122"/>
                <a:cs typeface="Poppins" pitchFamily="34" charset="-120"/>
              </a:rPr>
              <a:t>The bigger lesson</a:t>
            </a:r>
            <a:endParaRPr lang="en-US" sz="1400"/>
          </a:p>
        </p:txBody>
      </p:sp>
      <p:sp>
        <p:nvSpPr>
          <p:cNvPr id="31" name="Text 26"/>
          <p:cNvSpPr/>
          <p:nvPr/>
        </p:nvSpPr>
        <p:spPr>
          <a:xfrm>
            <a:off x="777240" y="4892040"/>
            <a:ext cx="6537960" cy="1051560"/>
          </a:xfrm>
          <a:prstGeom prst="rect">
            <a:avLst/>
          </a:prstGeom>
          <a:noFill/>
          <a:ln/>
        </p:spPr>
        <p:txBody>
          <a:bodyPr wrap="square" lIns="0" tIns="0" rIns="0" bIns="0" rtlCol="0" anchor="t"/>
          <a:lstStyle/>
          <a:p>
            <a:pPr marL="0" indent="0">
              <a:lnSpc>
                <a:spcPct val="106000"/>
              </a:lnSpc>
              <a:buNone/>
            </a:pPr>
            <a:r>
              <a:rPr lang="en-US" sz="1180">
                <a:solidFill>
                  <a:srgbClr val="4A4A4A"/>
                </a:solidFill>
                <a:latin typeface="Poppins" pitchFamily="34" charset="0"/>
                <a:ea typeface="Poppins" pitchFamily="34" charset="-122"/>
                <a:cs typeface="Poppins" pitchFamily="34" charset="-120"/>
              </a:rPr>
              <a:t>Good analytics means more than accurate models. It means solving the right business problem and presenting insight people will actually use. This project brought together machine learning, product thinking, business strategy and data storytelling in one solution, skills that carry directly into our careers.</a:t>
            </a:r>
            <a:endParaRPr lang="en-US" sz="1180"/>
          </a:p>
        </p:txBody>
      </p:sp>
      <p:sp>
        <p:nvSpPr>
          <p:cNvPr id="32" name="Shape 27"/>
          <p:cNvSpPr/>
          <p:nvPr/>
        </p:nvSpPr>
        <p:spPr>
          <a:xfrm>
            <a:off x="7726680" y="4069080"/>
            <a:ext cx="3959352" cy="1965960"/>
          </a:xfrm>
          <a:prstGeom prst="roundRect">
            <a:avLst>
              <a:gd name="adj" fmla="val 6512"/>
            </a:avLst>
          </a:prstGeom>
          <a:solidFill>
            <a:srgbClr val="FF385C"/>
          </a:solidFill>
          <a:ln/>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a:solidFill>
                  <a:srgbClr val="FFFFFF"/>
                </a:solidFill>
                <a:latin typeface="Poppins" pitchFamily="34" charset="0"/>
                <a:ea typeface="Poppins" pitchFamily="34" charset="-122"/>
                <a:cs typeface="Poppins" pitchFamily="34" charset="-120"/>
              </a:rPr>
              <a:t>Thank you</a:t>
            </a:r>
            <a:endParaRPr lang="en-US" sz="2600"/>
          </a:p>
        </p:txBody>
      </p:sp>
      <p:sp>
        <p:nvSpPr>
          <p:cNvPr id="34" name="Text 29"/>
          <p:cNvSpPr/>
          <p:nvPr/>
        </p:nvSpPr>
        <p:spPr>
          <a:xfrm>
            <a:off x="7973568" y="5029200"/>
            <a:ext cx="3474720" cy="457200"/>
          </a:xfrm>
          <a:prstGeom prst="rect">
            <a:avLst/>
          </a:prstGeom>
          <a:noFill/>
          <a:ln/>
        </p:spPr>
        <p:txBody>
          <a:bodyPr wrap="square" lIns="0" tIns="0" rIns="0" bIns="0" rtlCol="0" anchor="ctr"/>
          <a:lstStyle/>
          <a:p>
            <a:pPr marL="0" indent="0">
              <a:buNone/>
            </a:pPr>
            <a:r>
              <a:rPr lang="en-US" sz="1250">
                <a:solidFill>
                  <a:srgbClr val="FFFFFF"/>
                </a:solidFill>
                <a:latin typeface="Poppins" pitchFamily="34" charset="0"/>
                <a:ea typeface="Poppins" pitchFamily="34" charset="-122"/>
                <a:cs typeface="Poppins" pitchFamily="34" charset="-120"/>
              </a:rPr>
              <a:t>We'd be happy to answer any questions.</a:t>
            </a:r>
            <a:endParaRPr lang="en-US" sz="1250"/>
          </a:p>
        </p:txBody>
      </p:sp>
      <p:sp>
        <p:nvSpPr>
          <p:cNvPr id="35" name="Text 30"/>
          <p:cNvSpPr/>
          <p:nvPr/>
        </p:nvSpPr>
        <p:spPr>
          <a:xfrm>
            <a:off x="7973568" y="5532120"/>
            <a:ext cx="3566160" cy="365760"/>
          </a:xfrm>
          <a:prstGeom prst="rect">
            <a:avLst/>
          </a:prstGeom>
          <a:noFill/>
          <a:ln/>
        </p:spPr>
        <p:txBody>
          <a:bodyPr wrap="square" lIns="0" tIns="0" rIns="0" bIns="0" rtlCol="0" anchor="ctr"/>
          <a:lstStyle/>
          <a:p>
            <a:pPr marL="0" indent="0">
              <a:buNone/>
            </a:pPr>
            <a:r>
              <a:rPr lang="en-US" sz="1000" b="1">
                <a:solidFill>
                  <a:srgbClr val="FFFFFF"/>
                </a:solidFill>
                <a:latin typeface="Poppins" pitchFamily="34" charset="0"/>
                <a:ea typeface="Poppins" pitchFamily="34" charset="-122"/>
                <a:cs typeface="Poppins" pitchFamily="34" charset="-120"/>
              </a:rPr>
              <a:t>GitHub: mkdn007/Cornell-Airbnb-Capstone</a:t>
            </a:r>
            <a:endParaRPr lang="en-US" sz="1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000" b="1">
                <a:solidFill>
                  <a:srgbClr val="FFFFFF"/>
                </a:solidFill>
                <a:latin typeface="Poppins" pitchFamily="34" charset="0"/>
                <a:ea typeface="Poppins" pitchFamily="34" charset="-122"/>
                <a:cs typeface="Poppins" pitchFamily="34" charset="-120"/>
              </a:rPr>
              <a:t>BACKUP</a:t>
            </a:r>
            <a:endParaRPr lang="en-US" sz="600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B1  Model bake-off</a:t>
            </a:r>
            <a:endParaRPr lang="en-US" sz="110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B2  How the $7.6M is built</a:t>
            </a:r>
            <a:endParaRPr lang="en-US" sz="110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B3  Why we split at 142 reviews</a:t>
            </a:r>
            <a:endParaRPr lang="en-US" sz="110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B4  Revenue by confidence</a:t>
            </a:r>
            <a:endParaRPr lang="en-US" sz="110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B5  Validation &amp; methodology</a:t>
            </a:r>
            <a:endParaRPr lang="en-US" sz="1100"/>
          </a:p>
        </p:txBody>
      </p:sp>
      <p:sp>
        <p:nvSpPr>
          <p:cNvPr id="18" name="Text 15"/>
          <p:cNvSpPr/>
          <p:nvPr/>
        </p:nvSpPr>
        <p:spPr>
          <a:xfrm>
            <a:off x="3685032" y="4590288"/>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B6  The adoption ramp</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B1 · MODEL BAKE-OFF</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Models tested, held-out performance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16</a:t>
            </a:r>
            <a:endParaRPr lang="en-US" sz="90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490472">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384048">
                <a:tc>
                  <a:txBody>
                    <a:bodyPr/>
                    <a:lstStyle/>
                    <a:p>
                      <a:pPr marL="0" indent="0" algn="l">
                        <a:buNone/>
                      </a:pPr>
                      <a:r>
                        <a:rPr lang="en-US" sz="1100" b="1">
                          <a:solidFill>
                            <a:srgbClr val="FFFFFF"/>
                          </a:solidFill>
                          <a:latin typeface="Poppins" pitchFamily="34" charset="0"/>
                          <a:ea typeface="Poppins" pitchFamily="34" charset="-122"/>
                          <a:cs typeface="Poppins" pitchFamily="34" charset="-120"/>
                        </a:rPr>
                        <a:t>Model</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Median APE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MAE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R² (price)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R² (log)</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100" b="1">
                          <a:solidFill>
                            <a:srgbClr val="FFFFFF"/>
                          </a:solidFill>
                          <a:latin typeface="Poppins" pitchFamily="34" charset="0"/>
                          <a:ea typeface="Poppins" pitchFamily="34" charset="-122"/>
                          <a:cs typeface="Poppins" pitchFamily="34" charset="-120"/>
                        </a:rPr>
                        <a:t>Source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V1  Log-linear OLS (baseline)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39.2%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$113.22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0.243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0.486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V1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29.3%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$92.94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0.506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0.619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V2  OLS (expanded features)</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23.7%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$81.20</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0.751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V2  Ridge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23.8%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$81.03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V2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20.8%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$75.07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0.574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0.782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V4  GBM short-stay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19.2%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$102.81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0.528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0.714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v3_gbm_segment_metrics.csv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V4  GBM monthly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15.2%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$39.92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0.532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0.777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v3_gbm_segment_metrics.csv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100" b="1">
                <a:solidFill>
                  <a:srgbClr val="222222"/>
                </a:solidFill>
                <a:latin typeface="Poppins" pitchFamily="34" charset="0"/>
                <a:ea typeface="Poppins" pitchFamily="34" charset="-122"/>
                <a:cs typeface="Poppins" pitchFamily="34" charset="-120"/>
              </a:rPr>
              <a:t>How to read it.  </a:t>
            </a:r>
            <a:r>
              <a:rPr lang="en-US" sz="110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V2 Ridge scored 25.1% on short-stay alone and 20.9% on monthly. Two distinct stages of gain: richer features took pooled error from 39.2% to 23.7%, then the segment-split GBM took short-stay to 19.2% and monthly to 15.2%.</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B2 · HOW THE $7.6M IS BUILT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How we built the business case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17</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Revenue floor</a:t>
            </a:r>
            <a:endParaRPr lang="en-US" sz="130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 at full adoption.</a:t>
            </a:r>
            <a:endParaRPr lang="en-US" sz="108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Ceiling (upside)</a:t>
            </a:r>
            <a:endParaRPr lang="en-US" sz="130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Incremental cost</a:t>
            </a:r>
            <a:endParaRPr lang="en-US" sz="130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ROI &amp; payback</a:t>
            </a:r>
            <a:endParaRPr lang="en-US" sz="130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Modeled as an adoption ramp (Rogers' Diffusion), not a flat guess: ~10% in Year 1 climbing to ~42% by Year 4. Cash-positive in Year 1, at $117K revenue against $95K cost.</a:t>
            </a:r>
            <a:endParaRPr lang="en-US" sz="108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NPV-honest</a:t>
            </a:r>
            <a:endParaRPr lang="en-US" sz="130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Discounted at 10% (CFI standard). 5-yr cumulative net $1.61M nominal → $1.14M NPV (~29% haircut), still net-positive in Year 1. We show both.</a:t>
            </a:r>
            <a:endParaRPr lang="en-US" sz="108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a:solidFill>
                  <a:srgbClr val="007A73"/>
                </a:solidFill>
                <a:latin typeface="Poppins" pitchFamily="34" charset="0"/>
                <a:ea typeface="Poppins" pitchFamily="34" charset="-122"/>
                <a:cs typeface="Poppins" pitchFamily="34" charset="-120"/>
              </a:rPr>
              <a:t>Floor of the floor</a:t>
            </a:r>
            <a:endParaRPr lang="en-US" sz="130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No overpriced upside: we book its loss, not its potential gain. No hotel win-back nights, no churn / LTV, no cross-market scaling. Every input rounds against us, so the real return is higher.</a:t>
            </a:r>
            <a:endParaRPr lang="en-US" sz="108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B3 · WHY WE SPLIT AT 142 REVIEWS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We apply the coefficient only where we measured it</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β = −0.92 came from established hosts. Most listings are not.</a:t>
            </a:r>
            <a:endParaRPr lang="en-US" sz="14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18</a:t>
            </a:r>
            <a:endParaRPr lang="en-US" sz="90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Why we refuse to extrapolate</a:t>
            </a:r>
            <a:endParaRPr lang="en-US" sz="150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a:solidFill>
                  <a:srgbClr val="222222"/>
                </a:solidFill>
                <a:latin typeface="Poppins" pitchFamily="34" charset="0"/>
                <a:ea typeface="Poppins" pitchFamily="34" charset="-122"/>
                <a:cs typeface="Poppins" pitchFamily="34" charset="-120"/>
              </a:rPr>
              <a:t>At −1.0 the answer is zero by algebra. </a:t>
            </a:r>
            <a:r>
              <a:rPr lang="en-US" sz="125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we claim nothing.</a:t>
            </a:r>
            <a:endParaRPr lang="en-US" sz="125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≥142 REVIEWS</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488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48" name="TextBox 47"/>
          <p:cNvSpPr txBox="1"/>
          <p:nvPr/>
        </p:nvSpPr>
        <p:spPr>
          <a:xfrm>
            <a:off x="932688" y="4242816"/>
            <a:ext cx="2743200" cy="169277"/>
          </a:xfrm>
          <a:prstGeom prst="rect">
            <a:avLst/>
          </a:prstGeom>
          <a:noFill/>
        </p:spPr>
        <p:txBody>
          <a:bodyPr wrap="square" lIns="0" tIns="0" rIns="0" bIns="0">
            <a:spAutoFit/>
          </a:bodyPr>
          <a:lstStyle/>
          <a:p>
            <a:pPr algn="l"/>
            <a:r>
              <a:rPr sz="1100" b="0">
                <a:solidFill>
                  <a:srgbClr val="717171"/>
                </a:solidFill>
                <a:latin typeface="Poppins"/>
              </a:rPr>
              <a:t>measured elasticity</a:t>
            </a:r>
            <a:r>
              <a:rPr lang="en-US" sz="1100" b="0">
                <a:solidFill>
                  <a:srgbClr val="717171"/>
                </a:solidFill>
                <a:latin typeface="Poppins"/>
              </a:rPr>
              <a:t>, </a:t>
            </a:r>
            <a:r>
              <a:rPr sz="1100" b="0">
                <a:solidFill>
                  <a:srgbClr val="717171"/>
                </a:solidFill>
                <a:latin typeface="Poppins"/>
              </a:rPr>
              <a:t>applied</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+$0.35M</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UNDER 142 REVIEWS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1,511</a:t>
            </a:r>
          </a:p>
        </p:txBody>
      </p:sp>
      <p:sp>
        <p:nvSpPr>
          <p:cNvPr id="54" name="TextBox 53"/>
          <p:cNvSpPr txBox="1"/>
          <p:nvPr/>
        </p:nvSpPr>
        <p:spPr>
          <a:xfrm>
            <a:off x="4544568" y="3456432"/>
            <a:ext cx="2743200" cy="169277"/>
          </a:xfrm>
          <a:prstGeom prst="rect">
            <a:avLst/>
          </a:prstGeom>
          <a:noFill/>
        </p:spPr>
        <p:txBody>
          <a:bodyPr wrap="square" lIns="0" tIns="0" rIns="0" bIns="0">
            <a:spAutoFit/>
          </a:bodyPr>
          <a:lstStyle/>
          <a:p>
            <a:pPr algn="l"/>
            <a:r>
              <a:rPr sz="1100" b="0">
                <a:solidFill>
                  <a:srgbClr val="717171"/>
                </a:solidFill>
                <a:latin typeface="Poppins"/>
              </a:rPr>
              <a:t>underpriced short-stay listings</a:t>
            </a:r>
            <a:r>
              <a:rPr lang="en-US" sz="1100" b="0">
                <a:solidFill>
                  <a:srgbClr val="717171"/>
                </a:solidFill>
                <a:latin typeface="Poppins"/>
              </a:rPr>
              <a:t>, </a:t>
            </a:r>
            <a:r>
              <a:rPr sz="1100" b="0">
                <a:solidFill>
                  <a:srgbClr val="717171"/>
                </a:solidFill>
                <a:latin typeface="Poppins"/>
              </a:rPr>
              <a:t>76%</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−1.0</a:t>
            </a:r>
          </a:p>
        </p:txBody>
      </p:sp>
      <p:sp>
        <p:nvSpPr>
          <p:cNvPr id="56" name="TextBox 55"/>
          <p:cNvSpPr txBox="1"/>
          <p:nvPr/>
        </p:nvSpPr>
        <p:spPr>
          <a:xfrm>
            <a:off x="4544568" y="4242816"/>
            <a:ext cx="2743200" cy="169277"/>
          </a:xfrm>
          <a:prstGeom prst="rect">
            <a:avLst/>
          </a:prstGeom>
          <a:noFill/>
        </p:spPr>
        <p:txBody>
          <a:bodyPr wrap="square" lIns="0" tIns="0" rIns="0" bIns="0">
            <a:spAutoFit/>
          </a:bodyPr>
          <a:lstStyle/>
          <a:p>
            <a:pPr algn="l"/>
            <a:r>
              <a:rPr sz="1100" b="0">
                <a:solidFill>
                  <a:srgbClr val="717171"/>
                </a:solidFill>
                <a:latin typeface="Poppins"/>
              </a:rPr>
              <a:t>breakeven assumed</a:t>
            </a:r>
            <a:r>
              <a:rPr lang="en-US" sz="1100" b="0">
                <a:solidFill>
                  <a:srgbClr val="717171"/>
                </a:solidFill>
                <a:latin typeface="Poppins"/>
              </a:rPr>
              <a:t>, </a:t>
            </a:r>
            <a:r>
              <a:rPr sz="1100" b="0">
                <a:solidFill>
                  <a:srgbClr val="717171"/>
                </a:solidFill>
                <a:latin typeface="Poppins"/>
              </a:rPr>
              <a:t>not measured</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$0</a:t>
            </a:r>
          </a:p>
        </p:txBody>
      </p:sp>
      <p:sp>
        <p:nvSpPr>
          <p:cNvPr id="58" name="TextBox 57"/>
          <p:cNvSpPr txBox="1"/>
          <p:nvPr/>
        </p:nvSpPr>
        <p:spPr>
          <a:xfrm>
            <a:off x="4544568" y="5029200"/>
            <a:ext cx="2743200" cy="169277"/>
          </a:xfrm>
          <a:prstGeom prst="rect">
            <a:avLst/>
          </a:prstGeom>
          <a:noFill/>
        </p:spPr>
        <p:txBody>
          <a:bodyPr wrap="square" lIns="0" tIns="0" rIns="0" bIns="0">
            <a:spAutoFit/>
          </a:bodyPr>
          <a:lstStyle/>
          <a:p>
            <a:pPr algn="l"/>
            <a:r>
              <a:rPr sz="1100" b="0">
                <a:solidFill>
                  <a:srgbClr val="717171"/>
                </a:solidFill>
                <a:latin typeface="Poppins"/>
              </a:rPr>
              <a:t>revenue contribution</a:t>
            </a:r>
            <a:r>
              <a:rPr lang="en-US" sz="1100" b="0">
                <a:solidFill>
                  <a:srgbClr val="717171"/>
                </a:solidFill>
                <a:latin typeface="Poppins"/>
              </a:rPr>
              <a:t>, </a:t>
            </a:r>
            <a:r>
              <a:rPr sz="1100" b="0">
                <a:solidFill>
                  <a:srgbClr val="717171"/>
                </a:solidFill>
                <a:latin typeface="Poppins"/>
              </a:rPr>
              <a:t>claimed nothing</a:t>
            </a: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B4 · REVENUE BY MODEL CONFIDENCE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How much rests on a confident call</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19</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Confident: raise price</a:t>
            </a:r>
            <a:endParaRPr lang="en-US" sz="130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449 listings: the model puts their price entirely below its calibrated band. Worth +$2.79M in host GBV.</a:t>
            </a:r>
            <a:endParaRPr lang="en-US" sz="108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Confident: lower price</a:t>
            </a:r>
            <a:endParaRPr lang="en-US" sz="130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Uncertain</a:t>
            </a:r>
            <a:endParaRPr lang="en-US" sz="130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3,192 listings whose current price sits inside the band. Worth +$5.21M, 69% of the total.</a:t>
            </a:r>
            <a:endParaRPr lang="en-US" sz="108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The confident subset alone</a:t>
            </a:r>
            <a:endParaRPr lang="en-US" sz="130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It still funds itself</a:t>
            </a:r>
            <a:endParaRPr lang="en-US" sz="130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a:solidFill>
                  <a:srgbClr val="007A73"/>
                </a:solidFill>
                <a:latin typeface="Poppins" pitchFamily="34" charset="0"/>
                <a:ea typeface="Poppins" pitchFamily="34" charset="-122"/>
                <a:cs typeface="Poppins" pitchFamily="34" charset="-120"/>
              </a:rPr>
              <a:t>What “Uncertain” means</a:t>
            </a:r>
            <a:endParaRPr lang="en-US" sz="130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and the model-noise discount already haircuts it.</a:t>
            </a:r>
            <a:endParaRPr lang="en-US" sz="1080"/>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B5 · VALIDATION &amp; METHODOLOGY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Why we trust the number</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The statistical guardrails behind the recommendation.</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20</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Shape 6"/>
          <p:cNvSpPr/>
          <p:nvPr/>
        </p:nvSpPr>
        <p:spPr>
          <a:xfrm>
            <a:off x="722376" y="2569464"/>
            <a:ext cx="548640" cy="548640"/>
          </a:xfrm>
          <a:prstGeom prst="ellipse">
            <a:avLst/>
          </a:prstGeom>
          <a:solidFill>
            <a:srgbClr val="E6F6F4"/>
          </a:solidFill>
          <a:ln/>
        </p:spPr>
        <p:txBody>
          <a:bodyPr/>
          <a:lstStyle/>
          <a:p>
            <a:endParaRPr lang="en-US"/>
          </a:p>
        </p:txBody>
      </p:sp>
      <p:pic>
        <p:nvPicPr>
          <p:cNvPr id="11" name="Image 2" descr="/sessions/dreamy-trusting-noether/mnt/outputs/build/assets/layers_teal.png"/>
          <p:cNvPicPr>
            <a:picLocks noChangeAspect="1"/>
          </p:cNvPicPr>
          <p:nvPr/>
        </p:nvPicPr>
        <p:blipFill>
          <a:blip r:embed="rId5"/>
          <a:stretch>
            <a:fillRect/>
          </a:stretch>
        </p:blipFill>
        <p:spPr>
          <a:xfrm>
            <a:off x="854050" y="2701138"/>
            <a:ext cx="285293" cy="285293"/>
          </a:xfrm>
          <a:prstGeom prst="rect">
            <a:avLst/>
          </a:prstGeom>
        </p:spPr>
      </p:pic>
      <p:sp>
        <p:nvSpPr>
          <p:cNvPr id="12" name="Text 7"/>
          <p:cNvSpPr/>
          <p:nvPr/>
        </p:nvSpPr>
        <p:spPr>
          <a:xfrm>
            <a:off x="1399032" y="2606040"/>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80/20 + 5-fold out-of-fold</a:t>
            </a:r>
            <a:endParaRPr lang="en-US" sz="125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Every listing scored by a model that never trained on it, genuinely out-of-sample.</a:t>
            </a:r>
            <a:endParaRPr lang="en-US" sz="1050"/>
          </a:p>
        </p:txBody>
      </p:sp>
      <p:sp>
        <p:nvSpPr>
          <p:cNvPr id="14" name="Shape 9"/>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4532376" y="2569464"/>
            <a:ext cx="548640" cy="548640"/>
          </a:xfrm>
          <a:prstGeom prst="ellipse">
            <a:avLst/>
          </a:prstGeom>
          <a:solidFill>
            <a:srgbClr val="E6F6F4"/>
          </a:solidFill>
          <a:ln/>
        </p:spPr>
        <p:txBody>
          <a:bodyPr/>
          <a:lstStyle/>
          <a:p>
            <a:endParaRPr lang="en-US"/>
          </a:p>
        </p:txBody>
      </p:sp>
      <p:pic>
        <p:nvPicPr>
          <p:cNvPr id="16" name="Image 3" descr="/sessions/dreamy-trusting-noether/mnt/outputs/build/assets/scale_teal.png"/>
          <p:cNvPicPr>
            <a:picLocks noChangeAspect="1"/>
          </p:cNvPicPr>
          <p:nvPr/>
        </p:nvPicPr>
        <p:blipFill>
          <a:blip r:embed="rId6"/>
          <a:stretch>
            <a:fillRect/>
          </a:stretch>
        </p:blipFill>
        <p:spPr>
          <a:xfrm>
            <a:off x="4664050" y="2701138"/>
            <a:ext cx="285293" cy="285293"/>
          </a:xfrm>
          <a:prstGeom prst="rect">
            <a:avLst/>
          </a:prstGeom>
        </p:spPr>
      </p:pic>
      <p:sp>
        <p:nvSpPr>
          <p:cNvPr id="17" name="Text 11"/>
          <p:cNvSpPr/>
          <p:nvPr/>
        </p:nvSpPr>
        <p:spPr>
          <a:xfrm>
            <a:off x="5209032" y="2606040"/>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Duan smearing correction</a:t>
            </a:r>
            <a:endParaRPr lang="en-US" sz="125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a:p>
        </p:txBody>
      </p:sp>
      <p:sp>
        <p:nvSpPr>
          <p:cNvPr id="19" name="Shape 13"/>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0" name="Shape 14"/>
          <p:cNvSpPr/>
          <p:nvPr/>
        </p:nvSpPr>
        <p:spPr>
          <a:xfrm>
            <a:off x="8342376" y="2569464"/>
            <a:ext cx="548640" cy="548640"/>
          </a:xfrm>
          <a:prstGeom prst="ellipse">
            <a:avLst/>
          </a:prstGeom>
          <a:solidFill>
            <a:srgbClr val="E6F6F4"/>
          </a:solidFill>
          <a:ln/>
        </p:spPr>
        <p:txBody>
          <a:bodyPr/>
          <a:lstStyle/>
          <a:p>
            <a:endParaRPr lang="en-US"/>
          </a:p>
        </p:txBody>
      </p:sp>
      <p:pic>
        <p:nvPicPr>
          <p:cNvPr id="21" name="Image 4" descr="/sessions/dreamy-trusting-noether/mnt/outputs/build/assets/check_teal.png"/>
          <p:cNvPicPr>
            <a:picLocks noChangeAspect="1"/>
          </p:cNvPicPr>
          <p:nvPr/>
        </p:nvPicPr>
        <p:blipFill>
          <a:blip r:embed="rId7"/>
          <a:stretch>
            <a:fillRect/>
          </a:stretch>
        </p:blipFill>
        <p:spPr>
          <a:xfrm>
            <a:off x="8474050" y="2701138"/>
            <a:ext cx="285293" cy="285293"/>
          </a:xfrm>
          <a:prstGeom prst="rect">
            <a:avLst/>
          </a:prstGeom>
        </p:spPr>
      </p:pic>
      <p:sp>
        <p:nvSpPr>
          <p:cNvPr id="22" name="Text 15"/>
          <p:cNvSpPr/>
          <p:nvPr/>
        </p:nvSpPr>
        <p:spPr>
          <a:xfrm>
            <a:off x="9019032" y="2606040"/>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HC3 robust standard errors</a:t>
            </a:r>
            <a:endParaRPr lang="en-US" sz="125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Heteroskedasticity-consistent errors on every coefficient.</a:t>
            </a:r>
            <a:endParaRPr lang="en-US" sz="1050"/>
          </a:p>
        </p:txBody>
      </p:sp>
      <p:sp>
        <p:nvSpPr>
          <p:cNvPr id="24" name="Shape 17"/>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18"/>
          <p:cNvSpPr/>
          <p:nvPr/>
        </p:nvSpPr>
        <p:spPr>
          <a:xfrm>
            <a:off x="722376" y="4526280"/>
            <a:ext cx="548640" cy="548640"/>
          </a:xfrm>
          <a:prstGeom prst="ellipse">
            <a:avLst/>
          </a:prstGeom>
          <a:solidFill>
            <a:srgbClr val="E6F6F4"/>
          </a:solidFill>
          <a:ln/>
        </p:spPr>
        <p:txBody>
          <a:bodyPr/>
          <a:lstStyle/>
          <a:p>
            <a:endParaRPr lang="en-US"/>
          </a:p>
        </p:txBody>
      </p:sp>
      <p:pic>
        <p:nvPicPr>
          <p:cNvPr id="26" name="Image 5" descr="/sessions/dreamy-trusting-noether/mnt/outputs/build/assets/filter_teal.png"/>
          <p:cNvPicPr>
            <a:picLocks noChangeAspect="1"/>
          </p:cNvPicPr>
          <p:nvPr/>
        </p:nvPicPr>
        <p:blipFill>
          <a:blip r:embed="rId8"/>
          <a:stretch>
            <a:fillRect/>
          </a:stretch>
        </p:blipFill>
        <p:spPr>
          <a:xfrm>
            <a:off x="854050" y="4657954"/>
            <a:ext cx="285293" cy="285293"/>
          </a:xfrm>
          <a:prstGeom prst="rect">
            <a:avLst/>
          </a:prstGeom>
        </p:spPr>
      </p:pic>
      <p:sp>
        <p:nvSpPr>
          <p:cNvPr id="27" name="Text 19"/>
          <p:cNvSpPr/>
          <p:nvPr/>
        </p:nvSpPr>
        <p:spPr>
          <a:xfrm>
            <a:off x="1399032" y="4562856"/>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Ridge multicollinearity check</a:t>
            </a:r>
            <a:endParaRPr lang="en-US" sz="125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a:p>
        </p:txBody>
      </p:sp>
      <p:sp>
        <p:nvSpPr>
          <p:cNvPr id="29" name="Shape 21"/>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2"/>
          <p:cNvSpPr/>
          <p:nvPr/>
        </p:nvSpPr>
        <p:spPr>
          <a:xfrm>
            <a:off x="4532376" y="4526280"/>
            <a:ext cx="548640" cy="548640"/>
          </a:xfrm>
          <a:prstGeom prst="ellipse">
            <a:avLst/>
          </a:prstGeom>
          <a:solidFill>
            <a:srgbClr val="E6F6F4"/>
          </a:solidFill>
          <a:ln/>
        </p:spPr>
        <p:txBody>
          <a:bodyPr/>
          <a:lstStyle/>
          <a:p>
            <a:endParaRPr lang="en-US"/>
          </a:p>
        </p:txBody>
      </p:sp>
      <p:pic>
        <p:nvPicPr>
          <p:cNvPr id="31" name="Image 6" descr="/sessions/dreamy-trusting-noether/mnt/outputs/build/assets/calendar_teal.png"/>
          <p:cNvPicPr>
            <a:picLocks noChangeAspect="1"/>
          </p:cNvPicPr>
          <p:nvPr/>
        </p:nvPicPr>
        <p:blipFill>
          <a:blip r:embed="rId9"/>
          <a:stretch>
            <a:fillRect/>
          </a:stretch>
        </p:blipFill>
        <p:spPr>
          <a:xfrm>
            <a:off x="4664050" y="4657954"/>
            <a:ext cx="285293" cy="285293"/>
          </a:xfrm>
          <a:prstGeom prst="rect">
            <a:avLst/>
          </a:prstGeom>
        </p:spPr>
      </p:pic>
      <p:sp>
        <p:nvSpPr>
          <p:cNvPr id="32" name="Text 23"/>
          <p:cNvSpPr/>
          <p:nvPr/>
        </p:nvSpPr>
        <p:spPr>
          <a:xfrm>
            <a:off x="5209032" y="4562856"/>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Segment split</a:t>
            </a:r>
            <a:endParaRPr lang="en-US" sz="125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Short-stay ($376.82 mean) vs monthly ($162.73) modeled separately.</a:t>
            </a:r>
            <a:endParaRPr lang="en-US" sz="1050"/>
          </a:p>
        </p:txBody>
      </p:sp>
      <p:sp>
        <p:nvSpPr>
          <p:cNvPr id="34" name="Shape 25"/>
          <p:cNvSpPr/>
          <p:nvPr/>
        </p:nvSpPr>
        <p:spPr>
          <a:xfrm>
            <a:off x="812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6"/>
          <p:cNvSpPr/>
          <p:nvPr/>
        </p:nvSpPr>
        <p:spPr>
          <a:xfrm>
            <a:off x="8342376" y="4526280"/>
            <a:ext cx="548640" cy="548640"/>
          </a:xfrm>
          <a:prstGeom prst="ellipse">
            <a:avLst/>
          </a:prstGeom>
          <a:solidFill>
            <a:srgbClr val="FFF1E9"/>
          </a:solidFill>
          <a:ln/>
        </p:spPr>
        <p:txBody>
          <a:bodyPr/>
          <a:lstStyle/>
          <a:p>
            <a:endParaRPr lang="en-US"/>
          </a:p>
        </p:txBody>
      </p:sp>
      <p:pic>
        <p:nvPicPr>
          <p:cNvPr id="36" name="Image 7" descr="/sessions/dreamy-trusting-noether/mnt/outputs/build/assets/alert_orange.png"/>
          <p:cNvPicPr>
            <a:picLocks noChangeAspect="1"/>
          </p:cNvPicPr>
          <p:nvPr/>
        </p:nvPicPr>
        <p:blipFill>
          <a:blip r:embed="rId10"/>
          <a:stretch>
            <a:fillRect/>
          </a:stretch>
        </p:blipFill>
        <p:spPr>
          <a:xfrm>
            <a:off x="8474050" y="4657954"/>
            <a:ext cx="285293" cy="285293"/>
          </a:xfrm>
          <a:prstGeom prst="rect">
            <a:avLst/>
          </a:prstGeom>
        </p:spPr>
      </p:pic>
      <p:sp>
        <p:nvSpPr>
          <p:cNvPr id="37" name="Text 27"/>
          <p:cNvSpPr/>
          <p:nvPr/>
        </p:nvSpPr>
        <p:spPr>
          <a:xfrm>
            <a:off x="9019032" y="4562856"/>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Known limit</a:t>
            </a:r>
            <a:endParaRPr lang="en-US" sz="125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B6 · THE ADOPTION RAMP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Why we didn't assume 35% adoption on day one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Modeled on Rogers' Diffusion of Innovation, recalibrated to real SaaS feature-adoption benchmarks (Product Metrics Benchmark Report 2024, 181 companies) rather than Bass's classical durable-goods parameters, which assume 10-15+ year adoption cycles, too slow for a digital tool.</a:t>
            </a:r>
            <a:endParaRPr lang="en-US" sz="1450"/>
          </a:p>
        </p:txBody>
      </p:sp>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sp>
        <p:nvSpPr>
          <p:cNvPr id="8" name="TextBox 7"/>
          <p:cNvSpPr txBox="1"/>
          <p:nvPr/>
        </p:nvSpPr>
        <p:spPr>
          <a:xfrm>
            <a:off x="502920" y="5650000"/>
            <a:ext cx="10883112" cy="457200"/>
          </a:xfrm>
          <a:prstGeom prst="rect">
            <a:avLst/>
          </a:prstGeom>
          <a:noFill/>
        </p:spPr>
        <p:txBody>
          <a:bodyPr wrap="none">
            <a:spAutoFit/>
          </a:bodyPr>
          <a:lstStyle/>
          <a:p>
            <a:r>
              <a:rPr sz="1400">
                <a:solidFill>
                  <a:srgbClr val="717171"/>
                </a:solidFill>
              </a:rPr>
              <a:t>Same ramp drives Slide 2, the financial slides, and Backup B2: one adoption curve, not a per-slide guess.</a:t>
            </a:r>
          </a:p>
        </p:txBody>
      </p:sp>
      <p:graphicFrame>
        <p:nvGraphicFramePr>
          <p:cNvPr id="9" name="Chart 8"/>
          <p:cNvGraphicFramePr>
            <a:graphicFrameLocks noGrp="1"/>
          </p:cNvGraphicFramePr>
          <p:nvPr/>
        </p:nvGraphicFramePr>
        <p:xfrm>
          <a:off x="502920" y="2249424"/>
          <a:ext cx="10881360" cy="3300984"/>
        </p:xfrm>
        <a:graphic>
          <a:graphicData uri="http://schemas.openxmlformats.org/drawingml/2006/chart">
            <c:chart xmlns:c="http://schemas.openxmlformats.org/drawingml/2006/chart" r:id="rId2"/>
          </a:graphicData>
        </a:graphic>
      </p:graphicFrame>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21</a:t>
            </a:r>
            <a:endParaRPr lang="en-US" sz="9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20</Slides>
  <Notes>20</Notes>
  <HiddenSlides>0</HiddenSlide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revision>1</cp:revision>
  <dcterms:created xsi:type="dcterms:W3CDTF">2026-07-29T22:50:08Z</dcterms:created>
  <dcterms:modified xsi:type="dcterms:W3CDTF">2026-08-01T15:54:49Z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