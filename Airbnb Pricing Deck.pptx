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71" r:id="rId13"/>
    <p:sldId id="268" r:id="rId14"/>
    <p:sldId id="269" r:id="rId15"/>
    <p:sldId id="270" r:id="rId16"/>
    <p:sldId id="272" r:id="rId17"/>
    <p:sldId id="273" r:id="rId18"/>
    <p:sldId id="274" r:id="rId19"/>
    <p:sldId id="275" r:id="rId20"/>
    <p:sldId id="276" r:id="rId21"/>
    <p:sldId id="277" r:id="rId22"/>
    <p:sldId id="278" r:id="rId23"/>
    <p:sldId id="279" r:id="rId24"/>
  </p:sldIdLst>
  <p:sldSz cx="12192000" cy="6858000"/>
  <p:notesSz cx="6858000" cy="12192000"/>
  <p:embeddedFontLst>
    <p:embeddedFont>
      <p:font typeface="Poppins" panose="00000500000000000000" pitchFamily="2" charset="0"/>
      <p:regular r:id="rId26"/>
      <p:bold r:id="rId27"/>
      <p:italic r:id="rId28"/>
      <p:boldItalic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582667-6102-27E7-ED8E-01A166EB4B6B}" name="Guest User" initials="GU" userId="Guest Us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E617F0-D388-4A3E-81F6-AB7DD8B2A2BB}" v="12" dt="2026-08-06T19:46:24.617"/>
    <p1510:client id="{4952E4C5-3B12-48E9-9698-CFBB749B17E5}" v="7" dt="2026-08-06T18:18:43.38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643" y="43"/>
      </p:cViewPr>
      <p:guideLst/>
    </p:cSldViewPr>
  </p:slideViewPr>
  <p:notesTextViewPr>
    <p:cViewPr>
      <p:scale>
        <a:sx n="1" d="1"/>
        <a:sy n="1" d="1"/>
      </p:scale>
      <p:origin x="0" y="-153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font" Target="fonts/font1.fntdata"/><Relationship Id="rId27" Type="http://schemas.openxmlformats.org/officeDocument/2006/relationships/font" Target="fonts/font2.fntdata"/><Relationship Id="rId28" Type="http://schemas.openxmlformats.org/officeDocument/2006/relationships/font" Target="fonts/font3.fntdata"/><Relationship Id="rId29" Type="http://schemas.openxmlformats.org/officeDocument/2006/relationships/font" Target="fonts/font4.fntdata"/><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dan Meara" userId="8c30799446d3e4f6" providerId="LiveId" clId="{B34053D7-44A3-4929-810D-8317594B30B9}"/>
    <pc:docChg chg="undo redo custSel addSld delSld modSld">
      <pc:chgData name="Brendan Meara" userId="8c30799446d3e4f6" providerId="LiveId" clId="{B34053D7-44A3-4929-810D-8317594B30B9}" dt="2026-08-06T19:47:19.222" v="1097" actId="20577"/>
      <pc:docMkLst>
        <pc:docMk/>
      </pc:docMkLst>
      <pc:sldChg chg="modSp mod">
        <pc:chgData name="Brendan Meara" userId="8c30799446d3e4f6" providerId="LiveId" clId="{B34053D7-44A3-4929-810D-8317594B30B9}" dt="2026-08-06T17:45:31.797" v="6" actId="20577"/>
        <pc:sldMkLst>
          <pc:docMk/>
          <pc:sldMk cId="0" sldId="258"/>
        </pc:sldMkLst>
        <pc:spChg chg="mod">
          <ac:chgData name="Brendan Meara" userId="8c30799446d3e4f6" providerId="LiveId" clId="{B34053D7-44A3-4929-810D-8317594B30B9}" dt="2026-08-06T17:45:31.797" v="6" actId="20577"/>
          <ac:spMkLst>
            <pc:docMk/>
            <pc:sldMk cId="0" sldId="258"/>
            <ac:spMk id="32" creationId="{00000000-0000-0000-0000-000000000000}"/>
          </ac:spMkLst>
        </pc:spChg>
      </pc:sldChg>
      <pc:sldChg chg="modSp mod">
        <pc:chgData name="Brendan Meara" userId="8c30799446d3e4f6" providerId="LiveId" clId="{B34053D7-44A3-4929-810D-8317594B30B9}" dt="2026-08-06T19:35:25.735" v="520" actId="20577"/>
        <pc:sldMkLst>
          <pc:docMk/>
          <pc:sldMk cId="0" sldId="259"/>
        </pc:sldMkLst>
        <pc:spChg chg="mod">
          <ac:chgData name="Brendan Meara" userId="8c30799446d3e4f6" providerId="LiveId" clId="{B34053D7-44A3-4929-810D-8317594B30B9}" dt="2026-08-06T19:32:40.419" v="270" actId="20577"/>
          <ac:spMkLst>
            <pc:docMk/>
            <pc:sldMk cId="0" sldId="259"/>
            <ac:spMk id="3" creationId="{00000000-0000-0000-0000-000000000000}"/>
          </ac:spMkLst>
        </pc:spChg>
        <pc:spChg chg="mod">
          <ac:chgData name="Brendan Meara" userId="8c30799446d3e4f6" providerId="LiveId" clId="{B34053D7-44A3-4929-810D-8317594B30B9}" dt="2026-08-06T19:35:25.735" v="520" actId="20577"/>
          <ac:spMkLst>
            <pc:docMk/>
            <pc:sldMk cId="0" sldId="259"/>
            <ac:spMk id="4" creationId="{00000000-0000-0000-0000-000000000000}"/>
          </ac:spMkLst>
        </pc:spChg>
        <pc:spChg chg="mod">
          <ac:chgData name="Brendan Meara" userId="8c30799446d3e4f6" providerId="LiveId" clId="{B34053D7-44A3-4929-810D-8317594B30B9}" dt="2026-08-06T19:33:03.711" v="287" actId="20577"/>
          <ac:spMkLst>
            <pc:docMk/>
            <pc:sldMk cId="0" sldId="259"/>
            <ac:spMk id="32" creationId="{00000000-0000-0000-0000-000000000000}"/>
          </ac:spMkLst>
        </pc:spChg>
        <pc:spChg chg="mod">
          <ac:chgData name="Brendan Meara" userId="8c30799446d3e4f6" providerId="LiveId" clId="{B34053D7-44A3-4929-810D-8317594B30B9}" dt="2026-08-06T19:33:31.509" v="363" actId="20577"/>
          <ac:spMkLst>
            <pc:docMk/>
            <pc:sldMk cId="0" sldId="259"/>
            <ac:spMk id="33" creationId="{00000000-0000-0000-0000-000000000000}"/>
          </ac:spMkLst>
        </pc:spChg>
        <pc:spChg chg="mod">
          <ac:chgData name="Brendan Meara" userId="8c30799446d3e4f6" providerId="LiveId" clId="{B34053D7-44A3-4929-810D-8317594B30B9}" dt="2026-08-06T19:33:43.848" v="365" actId="1076"/>
          <ac:spMkLst>
            <pc:docMk/>
            <pc:sldMk cId="0" sldId="259"/>
            <ac:spMk id="34" creationId="{00000000-0000-0000-0000-000000000000}"/>
          </ac:spMkLst>
        </pc:spChg>
        <pc:spChg chg="mod">
          <ac:chgData name="Brendan Meara" userId="8c30799446d3e4f6" providerId="LiveId" clId="{B34053D7-44A3-4929-810D-8317594B30B9}" dt="2026-08-06T19:33:54.776" v="393" actId="20577"/>
          <ac:spMkLst>
            <pc:docMk/>
            <pc:sldMk cId="0" sldId="259"/>
            <ac:spMk id="37" creationId="{00000000-0000-0000-0000-000000000000}"/>
          </ac:spMkLst>
        </pc:spChg>
        <pc:spChg chg="mod">
          <ac:chgData name="Brendan Meara" userId="8c30799446d3e4f6" providerId="LiveId" clId="{B34053D7-44A3-4929-810D-8317594B30B9}" dt="2026-08-06T19:34:14.357" v="455" actId="20577"/>
          <ac:spMkLst>
            <pc:docMk/>
            <pc:sldMk cId="0" sldId="259"/>
            <ac:spMk id="38" creationId="{00000000-0000-0000-0000-000000000000}"/>
          </ac:spMkLst>
        </pc:spChg>
      </pc:sldChg>
      <pc:sldChg chg="addSp delSp modSp mod modNotesTx">
        <pc:chgData name="Brendan Meara" userId="8c30799446d3e4f6" providerId="LiveId" clId="{B34053D7-44A3-4929-810D-8317594B30B9}" dt="2026-08-06T19:42:55.893" v="841" actId="20577"/>
        <pc:sldMkLst>
          <pc:docMk/>
          <pc:sldMk cId="0" sldId="260"/>
        </pc:sldMkLst>
        <pc:spChg chg="mod">
          <ac:chgData name="Brendan Meara" userId="8c30799446d3e4f6" providerId="LiveId" clId="{B34053D7-44A3-4929-810D-8317594B30B9}" dt="2026-08-06T19:38:12.972" v="638" actId="20577"/>
          <ac:spMkLst>
            <pc:docMk/>
            <pc:sldMk cId="0" sldId="260"/>
            <ac:spMk id="3" creationId="{00000000-0000-0000-0000-000000000000}"/>
          </ac:spMkLst>
        </pc:spChg>
        <pc:spChg chg="add del">
          <ac:chgData name="Brendan Meara" userId="8c30799446d3e4f6" providerId="LiveId" clId="{B34053D7-44A3-4929-810D-8317594B30B9}" dt="2026-08-06T19:37:45.540" v="614" actId="478"/>
          <ac:spMkLst>
            <pc:docMk/>
            <pc:sldMk cId="0" sldId="260"/>
            <ac:spMk id="4" creationId="{00000000-0000-0000-0000-000000000000}"/>
          </ac:spMkLst>
        </pc:spChg>
        <pc:spChg chg="add del mod">
          <ac:chgData name="Brendan Meara" userId="8c30799446d3e4f6" providerId="LiveId" clId="{B34053D7-44A3-4929-810D-8317594B30B9}" dt="2026-08-06T19:39:46.339" v="830"/>
          <ac:spMkLst>
            <pc:docMk/>
            <pc:sldMk cId="0" sldId="260"/>
            <ac:spMk id="12" creationId="{56978516-BCA9-6F18-1B4C-F160A07055D0}"/>
          </ac:spMkLst>
        </pc:spChg>
        <pc:spChg chg="mod">
          <ac:chgData name="Brendan Meara" userId="8c30799446d3e4f6" providerId="LiveId" clId="{B34053D7-44A3-4929-810D-8317594B30B9}" dt="2026-08-06T19:39:43.098" v="827" actId="20577"/>
          <ac:spMkLst>
            <pc:docMk/>
            <pc:sldMk cId="0" sldId="260"/>
            <ac:spMk id="42" creationId="{00000000-0000-0000-0000-000000000000}"/>
          </ac:spMkLst>
        </pc:spChg>
      </pc:sldChg>
      <pc:sldChg chg="delSp modSp mod modNotesTx">
        <pc:chgData name="Brendan Meara" userId="8c30799446d3e4f6" providerId="LiveId" clId="{B34053D7-44A3-4929-810D-8317594B30B9}" dt="2026-08-06T19:47:19.222" v="1097" actId="20577"/>
        <pc:sldMkLst>
          <pc:docMk/>
          <pc:sldMk cId="0" sldId="261"/>
        </pc:sldMkLst>
        <pc:spChg chg="mod">
          <ac:chgData name="Brendan Meara" userId="8c30799446d3e4f6" providerId="LiveId" clId="{B34053D7-44A3-4929-810D-8317594B30B9}" dt="2026-08-06T19:43:54.168" v="911" actId="20577"/>
          <ac:spMkLst>
            <pc:docMk/>
            <pc:sldMk cId="0" sldId="261"/>
            <ac:spMk id="3" creationId="{00000000-0000-0000-0000-000000000000}"/>
          </ac:spMkLst>
        </pc:spChg>
        <pc:spChg chg="del">
          <ac:chgData name="Brendan Meara" userId="8c30799446d3e4f6" providerId="LiveId" clId="{B34053D7-44A3-4929-810D-8317594B30B9}" dt="2026-08-06T19:44:02.022" v="912" actId="478"/>
          <ac:spMkLst>
            <pc:docMk/>
            <pc:sldMk cId="0" sldId="261"/>
            <ac:spMk id="4" creationId="{00000000-0000-0000-0000-000000000000}"/>
          </ac:spMkLst>
        </pc:spChg>
        <pc:spChg chg="mod">
          <ac:chgData name="Brendan Meara" userId="8c30799446d3e4f6" providerId="LiveId" clId="{B34053D7-44A3-4929-810D-8317594B30B9}" dt="2026-08-06T19:44:41.697" v="984" actId="5793"/>
          <ac:spMkLst>
            <pc:docMk/>
            <pc:sldMk cId="0" sldId="261"/>
            <ac:spMk id="28" creationId="{00000000-0000-0000-0000-000000000000}"/>
          </ac:spMkLst>
        </pc:spChg>
        <pc:spChg chg="mod">
          <ac:chgData name="Brendan Meara" userId="8c30799446d3e4f6" providerId="LiveId" clId="{B34053D7-44A3-4929-810D-8317594B30B9}" dt="2026-08-06T19:45:33.742" v="1086" actId="20577"/>
          <ac:spMkLst>
            <pc:docMk/>
            <pc:sldMk cId="0" sldId="261"/>
            <ac:spMk id="30" creationId="{00000000-0000-0000-0000-000000000000}"/>
          </ac:spMkLst>
        </pc:spChg>
      </pc:sldChg>
      <pc:sldChg chg="addSp delSp modSp mod modAnim">
        <pc:chgData name="Brendan Meara" userId="8c30799446d3e4f6" providerId="LiveId" clId="{B34053D7-44A3-4929-810D-8317594B30B9}" dt="2026-08-06T18:47:28.814" v="241" actId="1076"/>
        <pc:sldMkLst>
          <pc:docMk/>
          <pc:sldMk cId="0" sldId="264"/>
        </pc:sldMkLst>
        <pc:spChg chg="del">
          <ac:chgData name="Brendan Meara" userId="8c30799446d3e4f6" providerId="LiveId" clId="{B34053D7-44A3-4929-810D-8317594B30B9}" dt="2026-08-06T18:46:16.346" v="232" actId="478"/>
          <ac:spMkLst>
            <pc:docMk/>
            <pc:sldMk cId="0" sldId="264"/>
            <ac:spMk id="55" creationId="{00000000-0000-0000-0000-000000000000}"/>
          </ac:spMkLst>
        </pc:spChg>
        <pc:picChg chg="add mod">
          <ac:chgData name="Brendan Meara" userId="8c30799446d3e4f6" providerId="LiveId" clId="{B34053D7-44A3-4929-810D-8317594B30B9}" dt="2026-08-06T18:47:28.814" v="241" actId="1076"/>
          <ac:picMkLst>
            <pc:docMk/>
            <pc:sldMk cId="0" sldId="264"/>
            <ac:picMk id="30" creationId="{AD2507CA-B7CA-A075-5763-8F9308C7BF8B}"/>
          </ac:picMkLst>
        </pc:picChg>
      </pc:sldChg>
      <pc:sldChg chg="addSp delSp modSp mod">
        <pc:chgData name="Brendan Meara" userId="8c30799446d3e4f6" providerId="LiveId" clId="{B34053D7-44A3-4929-810D-8317594B30B9}" dt="2026-08-06T18:20:09.981" v="226" actId="1038"/>
        <pc:sldMkLst>
          <pc:docMk/>
          <pc:sldMk cId="0" sldId="265"/>
        </pc:sldMkLst>
        <pc:spChg chg="mod">
          <ac:chgData name="Brendan Meara" userId="8c30799446d3e4f6" providerId="LiveId" clId="{B34053D7-44A3-4929-810D-8317594B30B9}" dt="2026-08-06T18:18:33.075" v="84" actId="1076"/>
          <ac:spMkLst>
            <pc:docMk/>
            <pc:sldMk cId="0" sldId="265"/>
            <ac:spMk id="12" creationId="{00000000-0000-0000-0000-000000000000}"/>
          </ac:spMkLst>
        </pc:spChg>
        <pc:spChg chg="mod">
          <ac:chgData name="Brendan Meara" userId="8c30799446d3e4f6" providerId="LiveId" clId="{B34053D7-44A3-4929-810D-8317594B30B9}" dt="2026-08-06T18:19:46.084" v="212" actId="20577"/>
          <ac:spMkLst>
            <pc:docMk/>
            <pc:sldMk cId="0" sldId="265"/>
            <ac:spMk id="16" creationId="{00000000-0000-0000-0000-000000000000}"/>
          </ac:spMkLst>
        </pc:spChg>
        <pc:spChg chg="mod">
          <ac:chgData name="Brendan Meara" userId="8c30799446d3e4f6" providerId="LiveId" clId="{B34053D7-44A3-4929-810D-8317594B30B9}" dt="2026-08-06T18:16:27.589" v="69" actId="1035"/>
          <ac:spMkLst>
            <pc:docMk/>
            <pc:sldMk cId="0" sldId="265"/>
            <ac:spMk id="21" creationId="{00000000-0000-0000-0000-000000000000}"/>
          </ac:spMkLst>
        </pc:spChg>
        <pc:spChg chg="mod">
          <ac:chgData name="Brendan Meara" userId="8c30799446d3e4f6" providerId="LiveId" clId="{B34053D7-44A3-4929-810D-8317594B30B9}" dt="2026-08-06T18:16:23.392" v="65" actId="1036"/>
          <ac:spMkLst>
            <pc:docMk/>
            <pc:sldMk cId="0" sldId="265"/>
            <ac:spMk id="22" creationId="{00000000-0000-0000-0000-000000000000}"/>
          </ac:spMkLst>
        </pc:spChg>
        <pc:cxnChg chg="add del mod">
          <ac:chgData name="Brendan Meara" userId="8c30799446d3e4f6" providerId="LiveId" clId="{B34053D7-44A3-4929-810D-8317594B30B9}" dt="2026-08-06T18:18:27.303" v="82" actId="478"/>
          <ac:cxnSpMkLst>
            <pc:docMk/>
            <pc:sldMk cId="0" sldId="265"/>
            <ac:cxnSpMk id="13" creationId="{28B4E12E-586A-FE6D-B27F-4F992E99E196}"/>
          </ac:cxnSpMkLst>
        </pc:cxnChg>
        <pc:cxnChg chg="add del mod">
          <ac:chgData name="Brendan Meara" userId="8c30799446d3e4f6" providerId="LiveId" clId="{B34053D7-44A3-4929-810D-8317594B30B9}" dt="2026-08-06T18:18:26.309" v="81" actId="478"/>
          <ac:cxnSpMkLst>
            <pc:docMk/>
            <pc:sldMk cId="0" sldId="265"/>
            <ac:cxnSpMk id="14" creationId="{E82A71C6-8DDB-5AA6-69D2-C0C1CCF9D90E}"/>
          </ac:cxnSpMkLst>
        </pc:cxnChg>
        <pc:cxnChg chg="add mod">
          <ac:chgData name="Brendan Meara" userId="8c30799446d3e4f6" providerId="LiveId" clId="{B34053D7-44A3-4929-810D-8317594B30B9}" dt="2026-08-06T18:19:57.643" v="222" actId="1038"/>
          <ac:cxnSpMkLst>
            <pc:docMk/>
            <pc:sldMk cId="0" sldId="265"/>
            <ac:cxnSpMk id="19" creationId="{C9F6125D-7975-31F2-BF9A-E50A43316724}"/>
          </ac:cxnSpMkLst>
        </pc:cxnChg>
        <pc:cxnChg chg="add mod">
          <ac:chgData name="Brendan Meara" userId="8c30799446d3e4f6" providerId="LiveId" clId="{B34053D7-44A3-4929-810D-8317594B30B9}" dt="2026-08-06T18:19:57.643" v="222" actId="1038"/>
          <ac:cxnSpMkLst>
            <pc:docMk/>
            <pc:sldMk cId="0" sldId="265"/>
            <ac:cxnSpMk id="20" creationId="{E9A7BEAB-21B0-41C7-B9D2-7BDCF8F120DC}"/>
          </ac:cxnSpMkLst>
        </pc:cxnChg>
        <pc:cxnChg chg="add mod">
          <ac:chgData name="Brendan Meara" userId="8c30799446d3e4f6" providerId="LiveId" clId="{B34053D7-44A3-4929-810D-8317594B30B9}" dt="2026-08-06T18:20:09.981" v="226" actId="1038"/>
          <ac:cxnSpMkLst>
            <pc:docMk/>
            <pc:sldMk cId="0" sldId="265"/>
            <ac:cxnSpMk id="44" creationId="{0DCEBF7E-0CB3-22DA-D28D-5F73821529FD}"/>
          </ac:cxnSpMkLst>
        </pc:cxnChg>
        <pc:cxnChg chg="add mod">
          <ac:chgData name="Brendan Meara" userId="8c30799446d3e4f6" providerId="LiveId" clId="{B34053D7-44A3-4929-810D-8317594B30B9}" dt="2026-08-06T18:20:09.981" v="226" actId="1038"/>
          <ac:cxnSpMkLst>
            <pc:docMk/>
            <pc:sldMk cId="0" sldId="265"/>
            <ac:cxnSpMk id="45" creationId="{8E0462E6-C678-A0EF-62D7-6B04DEB134C7}"/>
          </ac:cxnSpMkLst>
        </pc:cxnChg>
      </pc:sldChg>
      <pc:sldChg chg="modSp mod">
        <pc:chgData name="Brendan Meara" userId="8c30799446d3e4f6" providerId="LiveId" clId="{B34053D7-44A3-4929-810D-8317594B30B9}" dt="2026-08-06T17:40:45.961" v="5" actId="14734"/>
        <pc:sldMkLst>
          <pc:docMk/>
          <pc:sldMk cId="1273462884" sldId="272"/>
        </pc:sldMkLst>
        <pc:graphicFrameChg chg="modGraphic">
          <ac:chgData name="Brendan Meara" userId="8c30799446d3e4f6" providerId="LiveId" clId="{B34053D7-44A3-4929-810D-8317594B30B9}" dt="2026-08-06T17:40:45.961" v="5" actId="14734"/>
          <ac:graphicFrameMkLst>
            <pc:docMk/>
            <pc:sldMk cId="1273462884" sldId="272"/>
            <ac:graphicFrameMk id="18" creationId="{00000000-0000-0000-0000-000000000000}"/>
          </ac:graphicFrameMkLst>
        </pc:graphicFrameChg>
      </pc:sldChg>
      <pc:sldChg chg="modSp add del mod setBg">
        <pc:chgData name="Brendan Meara" userId="8c30799446d3e4f6" providerId="LiveId" clId="{B34053D7-44A3-4929-810D-8317594B30B9}" dt="2026-08-06T18:20:42.661" v="227" actId="47"/>
        <pc:sldMkLst>
          <pc:docMk/>
          <pc:sldMk cId="0" sldId="280"/>
        </pc:sldMkLst>
        <pc:spChg chg="mod">
          <ac:chgData name="Brendan Meara" userId="8c30799446d3e4f6" providerId="LiveId" clId="{B34053D7-44A3-4929-810D-8317594B30B9}" dt="2026-08-06T18:17:08.429" v="72" actId="1076"/>
          <ac:spMkLst>
            <pc:docMk/>
            <pc:sldMk cId="0" sldId="280"/>
            <ac:spMk id="4" creationId="{00000000-0000-0000-0000-000000000000}"/>
          </ac:spMkLst>
        </pc:spChg>
        <pc:cxnChg chg="mod">
          <ac:chgData name="Brendan Meara" userId="8c30799446d3e4f6" providerId="LiveId" clId="{B34053D7-44A3-4929-810D-8317594B30B9}" dt="2026-08-06T18:17:02.030" v="70" actId="14100"/>
          <ac:cxnSpMkLst>
            <pc:docMk/>
            <pc:sldMk cId="0" sldId="280"/>
            <ac:cxnSpMk id="41" creationId="{47DF6839-4730-2889-D0D4-9E50B040C03F}"/>
          </ac:cxnSpMkLst>
        </pc:cxn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adoption</c:v>
                </c:pt>
              </c:strCache>
            </c:strRef>
          </c:tx>
          <c:spPr>
            <a:ln w="31750">
              <a:solidFill>
                <a:srgbClr val="FF385C"/>
              </a:solidFill>
            </a:ln>
          </c:spPr>
          <c:marker>
            <c:spPr>
              <a:solidFill>
                <a:srgbClr val="FF385C"/>
              </a:solidFill>
              <a:ln>
                <a:solidFill>
                  <a:srgbClr val="FF385C"/>
                </a:solidFill>
              </a:ln>
            </c:spPr>
          </c:marker>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10</c:v>
                </c:pt>
                <c:pt idx="1">
                  <c:v>24</c:v>
                </c:pt>
                <c:pt idx="2">
                  <c:v>38</c:v>
                </c:pt>
                <c:pt idx="3">
                  <c:v>42</c:v>
                </c:pt>
                <c:pt idx="4">
                  <c:v>42</c:v>
                </c:pt>
              </c:numCache>
            </c:numRef>
          </c:val>
          <c:smooth val="0"/>
          <c:extLst>
            <c:ext xmlns:c16="http://schemas.microsoft.com/office/drawing/2014/chart" uri="{C3380CC4-5D6E-409C-BE32-E72D297353CC}">
              <c16:uniqueId val="{00000000-9657-4599-841A-22D3118839C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E6E6E6"/>
            </a:solidFill>
          </a:ln>
        </c:spPr>
        <c:txPr>
          <a:bodyPr/>
          <a:lstStyle/>
          <a:p>
            <a:pPr>
              <a:defRPr sz="1100">
                <a:solidFill>
                  <a:srgbClr val="717171"/>
                </a:solidFill>
              </a:defRPr>
            </a:pPr>
            <a:endParaRPr lang="en-US"/>
          </a:p>
        </c:txPr>
        <c:crossAx val="2140495176"/>
        <c:crosses val="autoZero"/>
        <c:auto val="1"/>
        <c:lblAlgn val="ctr"/>
        <c:lblOffset val="100"/>
        <c:noMultiLvlLbl val="0"/>
      </c:catAx>
      <c:valAx>
        <c:axId val="2140495176"/>
        <c:scaling>
          <c:orientation val="minMax"/>
          <c:max val="50"/>
          <c:min val="0"/>
        </c:scaling>
        <c:delete val="0"/>
        <c:axPos val="l"/>
        <c:majorGridlines>
          <c:spPr>
            <a:ln w="9525">
              <a:solidFill>
                <a:srgbClr val="E6E6E6"/>
              </a:solidFill>
            </a:ln>
          </c:spPr>
        </c:majorGridlines>
        <c:numFmt formatCode="0&quot;%&quot;" sourceLinked="0"/>
        <c:majorTickMark val="out"/>
        <c:minorTickMark val="none"/>
        <c:tickLblPos val="nextTo"/>
        <c:spPr>
          <a:ln>
            <a:noFill/>
          </a:ln>
        </c:spPr>
        <c:txPr>
          <a:bodyPr/>
          <a:lstStyle/>
          <a:p>
            <a:pPr>
              <a:defRPr sz="1100">
                <a:solidFill>
                  <a:srgbClr val="717171"/>
                </a:solidFill>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(~45s).
</a:t>
            </a:r>
            <a:r>
              <a:rPr lang="en-US" sz="1200" kern="1200" dirty="0">
                <a:solidFill>
                  <a:schemeClr val="tx1"/>
                </a:solidFill>
                <a:effectLst/>
                <a:latin typeface="+mn-lt"/>
                <a:ea typeface="+mn-ea"/>
                <a:cs typeface="+mn-cs"/>
              </a:rPr>
              <a:t>“Good afternoon, everyone, and thank you for being here. We are Team 6, and today we are presenting our capstone project, Airbnb Pricing Intelligence. Over the past few months we have focused on one question that sounds simple but is actually hard: As a host, how do you know if an Airbnb listing is priced correctly? Are you maximizing your revenue? We posed as an internal Airbnb team tasked to analyze this problem and make a recommendation. We will walk you through what we found, how we approached it, the product we built, and the impact it could have for Airbnb and its hosts.”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Slide 2: Executive Summary</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"Half the active listings in the five boroughs of New York are priced wrong against comparable listings, and we can now say by how much, and why. If every one of those listings moved to fair market value, that's a $7.6 million a year opportunity in host bookings, and since </a:t>
            </a:r>
            <a:r>
              <a:rPr lang="en-US" sz="1200" kern="1200" dirty="0" err="1">
                <a:solidFill>
                  <a:schemeClr val="tx1"/>
                </a:solidFill>
                <a:effectLst/>
                <a:latin typeface="+mn-lt"/>
                <a:ea typeface="+mn-ea"/>
                <a:cs typeface="+mn-cs"/>
              </a:rPr>
              <a:t>AirBnB</a:t>
            </a:r>
            <a:r>
              <a:rPr lang="en-US" sz="1200" kern="1200" dirty="0">
                <a:solidFill>
                  <a:schemeClr val="tx1"/>
                </a:solidFill>
                <a:effectLst/>
                <a:latin typeface="+mn-lt"/>
                <a:ea typeface="+mn-ea"/>
                <a:cs typeface="+mn-cs"/>
              </a:rPr>
              <a:t> takes a flat 15.5% of host bookings, that’s $1.17 million a year for Airbnb in the NYC pilot market. This gap exists because our existing Smart Pricing tool hands the hosts a number with no reasoning attached. There's nothing behind it for them to check, so hosts either ignore the number or just follow it blindly. What we built gives them a price they can actually question: the comparable listings behind it, and where their amenities fall short against top performers similar to them. They can also slide the price up or down and see the tradeoff with expected occupancy before committing. It is the same recommendation Smart Pricing already gives, now with the reasoning attached."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Jai-- ​​</a:t>
            </a:r>
          </a:p>
          <a:p>
            <a:endParaRPr lang="en-US" dirty="0"/>
          </a:p>
          <a:p>
            <a:r>
              <a:rPr lang="en-US" dirty="0"/>
              <a:t>So when looking at the data, The second thing the data told us is that this is not one market problem, it is two markets, and the dataset splits almost evenly between them. Between 4,008 listings, which is 41% of the market, are short-term stays, renting at a median price of 284 dollars/night. The other 5,744, or 59% of the market, are monthly rentals of 28 nights or longer, at a median price of 131 dollars. ​​</a:t>
            </a:r>
          </a:p>
          <a:p>
            <a:endParaRPr lang="en-US" dirty="0"/>
          </a:p>
          <a:p>
            <a:r>
              <a:rPr lang="en-US" dirty="0"/>
              <a:t>That is more than double the nightly rate, and the reason is that the two halves are not competing with the same thing. Short-term stay competes with hotels while monthly stays compete with apartment sublets. </a:t>
            </a:r>
          </a:p>
          <a:p>
            <a:endParaRPr lang="en-US" dirty="0"/>
          </a:p>
          <a:p>
            <a:r>
              <a:rPr lang="en-US" dirty="0"/>
              <a:t>This shows us that only one of them responds measurably to price. We measured a price elasticity of negative 0.92 on short-term stay listings with the pilot sample, and detected no price response at all in the monthly segment.</a:t>
            </a:r>
          </a:p>
          <a:p>
            <a:endParaRPr lang="en-US" dirty="0"/>
          </a:p>
          <a:p>
            <a:endParaRPr lang="en-US" dirty="0"/>
          </a:p>
          <a:p>
            <a:r>
              <a:rPr lang="en-US" dirty="0"/>
              <a:t> ​​Pooling them would have blurred both signals and distorted every coefficient, so instead we run one model calibrated separately for each market with its own comparables and its own elasticity. Every number you see for the rest of this presentation is market-aware, because the market is.”</a:t>
            </a:r>
          </a:p>
          <a:p>
            <a:endParaRPr lang="en-US" dirty="0"/>
          </a:p>
          <a:p>
            <a:r>
              <a:rPr lang="en-US" dirty="0"/>
              <a:t>​Transition: “That split shapes everything downstream. Next, what else moves demand besides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a:t>
            </a:r>
          </a:p>
          <a:p>
            <a:endParaRPr lang="en-US" dirty="0"/>
          </a:p>
          <a:p>
            <a:r>
              <a:rPr lang="en-US" dirty="0"/>
              <a:t>Here is the relationship that justifies the whole model, let's look at two listings at 200 dollars. These two listings are not the same listing. ​​</a:t>
            </a:r>
          </a:p>
          <a:p>
            <a:endParaRPr lang="en-US" dirty="0"/>
          </a:p>
          <a:p>
            <a:r>
              <a:rPr lang="en-US" dirty="0"/>
              <a:t>Occupancy rises with review count. Listings with zero to ten reviews average about 34% occupancy; 11 to 50 reviews, about 37%; 51 or more reviews, about 42%. </a:t>
            </a:r>
          </a:p>
          <a:p>
            <a:endParaRPr lang="en-US" dirty="0"/>
          </a:p>
          <a:p>
            <a:r>
              <a:rPr lang="en-US" dirty="0"/>
              <a:t>​​It is worth being precise here, because we checked both – host tenure and review count where host tenure shows no such pattern, it is flat at 37 to 39%. Thus It is the reviews driving this occupancy, not the tenure. It is  reputation that moves occupancy on its own, independently of price. ​​</a:t>
            </a:r>
          </a:p>
          <a:p>
            <a:endParaRPr lang="en-US" dirty="0"/>
          </a:p>
          <a:p>
            <a:r>
              <a:rPr lang="en-US" dirty="0"/>
              <a:t>And that means the question ‘is this listing expensive?’ has no answer until you compare it against listings that match on reputation, location, size, and amenities. And this is what we explored in our model where a fair price is suggested against genuinely similar listings, not against the market average.</a:t>
            </a:r>
          </a:p>
          <a:p>
            <a:endParaRPr lang="en-US"/>
          </a:p>
          <a:p>
            <a:r>
              <a:rPr lang="en-US"/>
              <a:t>”</a:t>
            </a:r>
            <a:r>
              <a:rPr lang="en-US" dirty="0"/>
              <a:t>​​Handoff to Manas: “Now I will hand it to Manas to discuss how we moved from exploration to building the product itself.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(~1.5 min).
Our goal was not to build another pricing calculator. Airbnb already has one. Our goal was to help hosts understand the recommendation they are given. The way we thought about it: if someone tells you to change your price, your first question is usually, why? Our product answers that. Instead of a single number, it gives hosts a recommended fair value, shows the comparable listings that support it, highlights differences in amenities, and lets the host explore how changing their price could affect potential revenue. One idea that really shaped our thinking came from our industry coach, Stan. He talked about Commander’s Intent, the idea that people make better decisions when they understand the reasoning behind them, not when they are simply told what to do. That applied perfectly here. Hosts are far more likely to trust and act on a recommendation when they understand where it came from.”</a:t>
            </a:r>
          </a:p>
          <a:p>
            <a:r>
              <a:rPr lang="en-US"/>
              <a:t>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(~2 min).
"To estimate fair market </a:t>
            </a:r>
            <a:r>
              <a:rPr lang="en-US" err="1"/>
              <a:t>value</a:t>
            </a:r>
            <a:r>
              <a:rPr lang="en-US"/>
              <a:t>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more thing to note, half of listings read underpriced against fair value and about half overpriced, and our number counts both, but they pay off differently. Raising an underpriced listing adds margin. Cutting an overpriced one adds volume – it fills nights that were sitting empty. Jai will show the elasticity work behind both.”</a:t>
            </a:r>
          </a:p>
          <a:p>
            <a:br>
              <a:rPr lang="en-US"/>
            </a:br>
            <a:r>
              <a:rPr lang="en-US"/>
              <a: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Francois (~1.5 min), then team fields Q&amp;A.
“Our recommendation is not to replace Smart Pricing. It is to build on it, in three steps. One: enhance, don’t replace – layer the explanations and the comparables onto the Smart Pricing hosts already know. Two: pilot in one market, measuring adoption and how pricing changes move both occupancy and revenue. Three: learn, then scale – use those real-world results to improve the model before expanding to more cities. </a:t>
            </a:r>
          </a:p>
          <a:p>
            <a:br>
              <a:rPr lang="en-US"/>
            </a:br>
            <a:br>
              <a:rPr lang="en-US"/>
            </a:br>
            <a:endParaRPr lang="en-US"/>
          </a:p>
          <a:p>
            <a:r>
              <a:rPr lang="en-US"/>
              <a:t>“As a chess player, I’ve learned the value of the </a:t>
            </a:r>
            <a:r>
              <a:rPr lang="en-US" i="1"/>
              <a:t>why</a:t>
            </a:r>
            <a:r>
              <a:rPr lang="en-US"/>
              <a:t> behind every move. As Cornellians, our group learned to find the </a:t>
            </a:r>
            <a:r>
              <a:rPr lang="en-US" i="1"/>
              <a:t>why</a:t>
            </a:r>
            <a:r>
              <a:rPr lang="en-US"/>
              <a:t> behind every problem. And for Airbnb hosts, we built a way to finally see the </a:t>
            </a:r>
            <a:r>
              <a:rPr lang="en-US" i="1"/>
              <a:t>why</a:t>
            </a:r>
            <a:r>
              <a:rPr lang="en-US"/>
              <a:t> behind every price. Because the right answer can guide you once—but understanding why stays with you for every move that follows.”</a:t>
            </a:r>
          </a:p>
          <a:p>
            <a:br>
              <a:rPr lang="en-US"/>
            </a:br>
            <a:r>
              <a:rPr lang="en-US"/>
              <a:t>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drive.google.com/file/d/1hCU3ttaYtAMZdQ4-WA1-NHPs6yzykCEt/view?usp=sharin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2.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a:solidFill>
                  <a:srgbClr val="FFFFFF"/>
                </a:solidFill>
                <a:latin typeface="Poppins" pitchFamily="34" charset="0"/>
                <a:ea typeface="Poppins" pitchFamily="34" charset="-122"/>
                <a:cs typeface="Poppins" pitchFamily="34" charset="-120"/>
              </a:rPr>
              <a:t>BANA 5160 CAPSTONE  ·  CORNELL UNIVERSITY  ·  TEAM 6</a:t>
            </a:r>
            <a:endParaRPr lang="en-US" sz="120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a:solidFill>
                  <a:srgbClr val="FFFFFF"/>
                </a:solidFill>
                <a:latin typeface="Poppins" pitchFamily="34" charset="0"/>
                <a:ea typeface="Poppins" pitchFamily="34" charset="-122"/>
                <a:cs typeface="Poppins" pitchFamily="34" charset="-120"/>
              </a:rPr>
              <a:t>Airbnb Pricing</a:t>
            </a:r>
            <a:endParaRPr lang="en-US" sz="5600"/>
          </a:p>
          <a:p>
            <a:pPr marL="0" indent="0">
              <a:lnSpc>
                <a:spcPct val="98000"/>
              </a:lnSpc>
              <a:buNone/>
            </a:pPr>
            <a:r>
              <a:rPr lang="en-US" sz="5600" b="1">
                <a:solidFill>
                  <a:srgbClr val="FFFFFF"/>
                </a:solidFill>
                <a:latin typeface="Poppins" pitchFamily="34" charset="0"/>
                <a:ea typeface="Poppins" pitchFamily="34" charset="-122"/>
                <a:cs typeface="Poppins" pitchFamily="34" charset="-120"/>
              </a:rPr>
              <a:t>Intelligence</a:t>
            </a:r>
            <a:endParaRPr lang="en-US" sz="560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a:solidFill>
                  <a:srgbClr val="FFFFFF"/>
                </a:solidFill>
                <a:latin typeface="Poppins" pitchFamily="34" charset="0"/>
                <a:ea typeface="Poppins" pitchFamily="34" charset="-122"/>
                <a:cs typeface="Poppins" pitchFamily="34" charset="-120"/>
              </a:rPr>
              <a:t>Brendan Meara </a:t>
            </a:r>
            <a:r>
              <a:rPr lang="en-US" sz="1250">
                <a:solidFill>
                  <a:srgbClr val="FFFFFF">
                    <a:alpha val="78000"/>
                  </a:srgbClr>
                </a:solidFill>
                <a:latin typeface="Poppins" pitchFamily="34" charset="0"/>
                <a:ea typeface="Poppins" pitchFamily="34" charset="-122"/>
                <a:cs typeface="Poppins" pitchFamily="34" charset="-120"/>
              </a:rPr>
              <a:t>(PM)     </a:t>
            </a:r>
            <a:r>
              <a:rPr lang="en-US" sz="1250" b="1">
                <a:solidFill>
                  <a:srgbClr val="FFFFFF"/>
                </a:solidFill>
                <a:latin typeface="Poppins" pitchFamily="34" charset="0"/>
                <a:ea typeface="Poppins" pitchFamily="34" charset="-122"/>
                <a:cs typeface="Poppins" pitchFamily="34" charset="-120"/>
              </a:rPr>
              <a:t>Jai Manikandan </a:t>
            </a:r>
            <a:r>
              <a:rPr lang="en-US" sz="1250">
                <a:solidFill>
                  <a:srgbClr val="FFFFFF">
                    <a:alpha val="78000"/>
                  </a:srgbClr>
                </a:solidFill>
                <a:latin typeface="Poppins" pitchFamily="34" charset="0"/>
                <a:ea typeface="Poppins" pitchFamily="34" charset="-122"/>
                <a:cs typeface="Poppins" pitchFamily="34" charset="-120"/>
              </a:rPr>
              <a:t>(Data)     </a:t>
            </a:r>
            <a:r>
              <a:rPr lang="en-US" sz="1250" b="1">
                <a:solidFill>
                  <a:srgbClr val="FFFFFF"/>
                </a:solidFill>
                <a:latin typeface="Poppins" pitchFamily="34" charset="0"/>
                <a:ea typeface="Poppins" pitchFamily="34" charset="-122"/>
                <a:cs typeface="Poppins" pitchFamily="34" charset="-120"/>
              </a:rPr>
              <a:t>Manas Manu </a:t>
            </a:r>
            <a:r>
              <a:rPr lang="en-US" sz="1250">
                <a:solidFill>
                  <a:srgbClr val="FFFFFF">
                    <a:alpha val="78000"/>
                  </a:srgbClr>
                </a:solidFill>
                <a:latin typeface="Poppins" pitchFamily="34" charset="0"/>
                <a:ea typeface="Poppins" pitchFamily="34" charset="-122"/>
                <a:cs typeface="Poppins" pitchFamily="34" charset="-120"/>
              </a:rPr>
              <a:t>(Modeling)     </a:t>
            </a:r>
            <a:r>
              <a:rPr lang="en-US" sz="1250" b="1">
                <a:solidFill>
                  <a:srgbClr val="FFFFFF"/>
                </a:solidFill>
                <a:latin typeface="Poppins" pitchFamily="34" charset="0"/>
                <a:ea typeface="Poppins" pitchFamily="34" charset="-122"/>
                <a:cs typeface="Poppins" pitchFamily="34" charset="-120"/>
              </a:rPr>
              <a:t>Rachael Chin </a:t>
            </a:r>
            <a:r>
              <a:rPr lang="en-US" sz="1250">
                <a:solidFill>
                  <a:srgbClr val="FFFFFF">
                    <a:alpha val="78000"/>
                  </a:srgbClr>
                </a:solidFill>
                <a:latin typeface="Poppins" pitchFamily="34" charset="0"/>
                <a:ea typeface="Poppins" pitchFamily="34" charset="-122"/>
                <a:cs typeface="Poppins" pitchFamily="34" charset="-120"/>
              </a:rPr>
              <a:t>(Visualization)</a:t>
            </a:r>
            <a:endParaRPr lang="en-US" sz="1250"/>
          </a:p>
        </p:txBody>
      </p:sp>
      <p:sp>
        <p:nvSpPr>
          <p:cNvPr id="11" name="Text 6"/>
          <p:cNvSpPr/>
          <p:nvPr/>
        </p:nvSpPr>
        <p:spPr>
          <a:xfrm>
            <a:off x="777240" y="5138928"/>
            <a:ext cx="10607040" cy="320040"/>
          </a:xfrm>
          <a:prstGeom prst="rect">
            <a:avLst/>
          </a:prstGeom>
          <a:noFill/>
          <a:ln/>
        </p:spPr>
        <p:txBody>
          <a:bodyPr wrap="square" lIns="0" tIns="0" rIns="0" bIns="0" rtlCol="0" anchor="ctr"/>
          <a:lstStyle/>
          <a:p>
            <a:r>
              <a:rPr lang="en-US" sz="1250" b="1">
                <a:solidFill>
                  <a:srgbClr val="FFFFFF"/>
                </a:solidFill>
                <a:latin typeface="Poppins"/>
                <a:ea typeface="Poppins" pitchFamily="34" charset="-122"/>
                <a:cs typeface="Poppins"/>
              </a:rPr>
              <a:t>Francois </a:t>
            </a:r>
            <a:r>
              <a:rPr lang="en-US" sz="1250" b="1" err="1">
                <a:solidFill>
                  <a:srgbClr val="FFFFFF"/>
                </a:solidFill>
                <a:latin typeface="Poppins"/>
                <a:ea typeface="Poppins" pitchFamily="34" charset="-122"/>
                <a:cs typeface="Poppins"/>
              </a:rPr>
              <a:t>Miaule</a:t>
            </a:r>
            <a:r>
              <a:rPr lang="en-US" sz="1250" b="1">
                <a:solidFill>
                  <a:srgbClr val="FFFFFF"/>
                </a:solidFill>
                <a:latin typeface="Poppins"/>
                <a:ea typeface="Poppins" pitchFamily="34" charset="-122"/>
                <a:cs typeface="Poppins"/>
              </a:rPr>
              <a:t> </a:t>
            </a:r>
            <a:r>
              <a:rPr lang="en-US" sz="1250">
                <a:solidFill>
                  <a:srgbClr val="FFFFFF">
                    <a:alpha val="78000"/>
                  </a:srgbClr>
                </a:solidFill>
                <a:latin typeface="Poppins"/>
                <a:ea typeface="Poppins" pitchFamily="34" charset="-122"/>
                <a:cs typeface="Poppins"/>
              </a:rPr>
              <a:t>(Insights &amp; Presentation)      Industry Coach: </a:t>
            </a:r>
            <a:r>
              <a:rPr lang="en-US" sz="1250" b="1">
                <a:solidFill>
                  <a:srgbClr val="FFFFFF"/>
                </a:solidFill>
                <a:latin typeface="Poppins"/>
                <a:ea typeface="Poppins" pitchFamily="34" charset="-122"/>
                <a:cs typeface="Poppins"/>
              </a:rPr>
              <a:t>Stan Benarick</a:t>
            </a:r>
            <a:endParaRPr lang="en-US" sz="125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01 · EXECUTIVE SUMMARY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a:solidFill>
                  <a:srgbClr val="222222"/>
                </a:solidFill>
                <a:latin typeface="Poppins"/>
                <a:cs typeface="Poppins"/>
              </a:rPr>
              <a:t>Half of all listings in NYC are underpriced</a:t>
            </a:r>
            <a:endParaRPr lang="en-US"/>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$1.17M a year in new Airbnb revenue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Brendan</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2</a:t>
            </a:r>
            <a:endParaRPr lang="en-US" sz="900"/>
          </a:p>
        </p:txBody>
      </p:sp>
      <p:sp>
        <p:nvSpPr>
          <p:cNvPr id="12" name="Shape 8"/>
          <p:cNvSpPr/>
          <p:nvPr/>
        </p:nvSpPr>
        <p:spPr>
          <a:xfrm>
            <a:off x="502920" y="2286000"/>
            <a:ext cx="5468112" cy="1600200"/>
          </a:xfrm>
          <a:prstGeom prst="roundRect">
            <a:avLst>
              <a:gd name="adj" fmla="val 80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487168"/>
            <a:ext cx="363931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problem</a:t>
            </a:r>
            <a:endParaRPr lang="en-US" sz="1500"/>
          </a:p>
        </p:txBody>
      </p:sp>
      <p:sp>
        <p:nvSpPr>
          <p:cNvPr id="16" name="Text 11"/>
          <p:cNvSpPr/>
          <p:nvPr/>
        </p:nvSpPr>
        <p:spPr>
          <a:xfrm>
            <a:off x="777240" y="2999232"/>
            <a:ext cx="4965192" cy="914400"/>
          </a:xfrm>
          <a:prstGeom prst="rect">
            <a:avLst/>
          </a:prstGeom>
          <a:noFill/>
          <a:ln/>
        </p:spPr>
        <p:txBody>
          <a:bodyPr wrap="square" lIns="0" tIns="0" rIns="0" bIns="0" rtlCol="0" anchor="t"/>
          <a:lstStyle/>
          <a:p>
            <a:pPr>
              <a:lnSpc>
                <a:spcPct val="105000"/>
              </a:lnSpc>
            </a:pPr>
            <a:r>
              <a:rPr lang="en-US" sz="1800">
                <a:solidFill>
                  <a:srgbClr val="484848"/>
                </a:solidFill>
                <a:latin typeface="Poppins"/>
                <a:ea typeface="Poppins" pitchFamily="34" charset="-122"/>
                <a:cs typeface="Poppins"/>
              </a:rPr>
              <a:t>Smart Pricing gives a number with no reasoning. Hosts ignore it, or follow it blindly.</a:t>
            </a:r>
            <a:endParaRPr lang="en-US" sz="1200">
              <a:latin typeface="Poppins"/>
              <a:cs typeface="Poppins"/>
            </a:endParaRPr>
          </a:p>
        </p:txBody>
      </p:sp>
      <p:sp>
        <p:nvSpPr>
          <p:cNvPr id="17" name="Shape 12"/>
          <p:cNvSpPr/>
          <p:nvPr/>
        </p:nvSpPr>
        <p:spPr>
          <a:xfrm>
            <a:off x="6217920" y="2286000"/>
            <a:ext cx="5468112" cy="1600200"/>
          </a:xfrm>
          <a:prstGeom prst="roundRect">
            <a:avLst>
              <a:gd name="adj" fmla="val 80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6492240" y="2487168"/>
            <a:ext cx="363931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Our answer</a:t>
            </a:r>
            <a:endParaRPr lang="en-US" sz="1500"/>
          </a:p>
        </p:txBody>
      </p:sp>
      <p:sp>
        <p:nvSpPr>
          <p:cNvPr id="21" name="Text 15"/>
          <p:cNvSpPr/>
          <p:nvPr/>
        </p:nvSpPr>
        <p:spPr>
          <a:xfrm>
            <a:off x="6492240" y="2999232"/>
            <a:ext cx="4965192" cy="91440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A price hosts can interrogate: real comparables, amenity gaps, and a slider to test any price.</a:t>
            </a:r>
            <a:endParaRPr lang="en-US" sz="1200"/>
          </a:p>
        </p:txBody>
      </p:sp>
      <p:sp>
        <p:nvSpPr>
          <p:cNvPr id="22" name="Shape 16"/>
          <p:cNvSpPr/>
          <p:nvPr/>
        </p:nvSpPr>
        <p:spPr>
          <a:xfrm>
            <a:off x="502920"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$7.6M</a:t>
            </a:r>
            <a:endParaRPr lang="en-US" sz="1500"/>
          </a:p>
        </p:txBody>
      </p:sp>
      <p:sp>
        <p:nvSpPr>
          <p:cNvPr id="26" name="Text 19"/>
          <p:cNvSpPr/>
          <p:nvPr/>
        </p:nvSpPr>
        <p:spPr>
          <a:xfrm>
            <a:off x="758952"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a year in additional host bookings</a:t>
            </a:r>
            <a:endParaRPr lang="en-US" sz="1100"/>
          </a:p>
        </p:txBody>
      </p:sp>
      <p:sp>
        <p:nvSpPr>
          <p:cNvPr id="27" name="Shape 20"/>
          <p:cNvSpPr/>
          <p:nvPr/>
        </p:nvSpPr>
        <p:spPr>
          <a:xfrm>
            <a:off x="4315968"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572000"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$1.17M</a:t>
            </a:r>
            <a:endParaRPr lang="en-US" sz="1500"/>
          </a:p>
        </p:txBody>
      </p:sp>
      <p:sp>
        <p:nvSpPr>
          <p:cNvPr id="31" name="Text 23"/>
          <p:cNvSpPr/>
          <p:nvPr/>
        </p:nvSpPr>
        <p:spPr>
          <a:xfrm>
            <a:off x="4572000"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Airbnb's 15.5% share of that</a:t>
            </a:r>
            <a:endParaRPr lang="en-US" sz="1100"/>
          </a:p>
        </p:txBody>
      </p:sp>
      <p:sp>
        <p:nvSpPr>
          <p:cNvPr id="32" name="Shape 24"/>
          <p:cNvSpPr/>
          <p:nvPr/>
        </p:nvSpPr>
        <p:spPr>
          <a:xfrm>
            <a:off x="8119872" y="4160520"/>
            <a:ext cx="3566160"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375904" y="4297680"/>
            <a:ext cx="3054096" cy="676656"/>
          </a:xfrm>
          <a:prstGeom prst="rect">
            <a:avLst/>
          </a:prstGeom>
          <a:noFill/>
          <a:ln/>
        </p:spPr>
        <p:txBody>
          <a:bodyPr wrap="square" lIns="0" tIns="0" rIns="0" bIns="0" rtlCol="0" anchor="ctr"/>
          <a:lstStyle/>
          <a:p>
            <a:pPr marL="0" indent="0">
              <a:buNone/>
            </a:pPr>
            <a:r>
              <a:rPr lang="en-US" sz="4200" b="1">
                <a:solidFill>
                  <a:srgbClr val="222222"/>
                </a:solidFill>
                <a:latin typeface="Poppins" pitchFamily="34" charset="0"/>
                <a:ea typeface="Poppins" pitchFamily="34" charset="-122"/>
                <a:cs typeface="Poppins" pitchFamily="34" charset="-120"/>
              </a:rPr>
              <a:t>77,606</a:t>
            </a:r>
            <a:endParaRPr lang="en-US" sz="1500"/>
          </a:p>
        </p:txBody>
      </p:sp>
      <p:sp>
        <p:nvSpPr>
          <p:cNvPr id="36" name="Text 27"/>
          <p:cNvSpPr/>
          <p:nvPr/>
        </p:nvSpPr>
        <p:spPr>
          <a:xfrm>
            <a:off x="8375904" y="4992624"/>
            <a:ext cx="3054096" cy="530352"/>
          </a:xfrm>
          <a:prstGeom prst="rect">
            <a:avLst/>
          </a:prstGeom>
          <a:noFill/>
          <a:ln/>
        </p:spPr>
        <p:txBody>
          <a:bodyPr wrap="square" lIns="0" tIns="0" rIns="0" bIns="0" rtlCol="0" anchor="t"/>
          <a:lstStyle/>
          <a:p>
            <a:pPr marL="0" indent="0">
              <a:lnSpc>
                <a:spcPct val="103000"/>
              </a:lnSpc>
              <a:buNone/>
            </a:pPr>
            <a:r>
              <a:rPr lang="en-US" sz="1550" b="0">
                <a:solidFill>
                  <a:srgbClr val="484848"/>
                </a:solidFill>
                <a:latin typeface="Poppins" pitchFamily="34" charset="0"/>
                <a:ea typeface="Poppins" pitchFamily="34" charset="-122"/>
                <a:cs typeface="Poppins" pitchFamily="34" charset="-120"/>
              </a:rPr>
              <a:t>booked nights recovered from repricing</a:t>
            </a:r>
            <a:endParaRPr lang="en-US" sz="1100"/>
          </a:p>
        </p:txBody>
      </p:sp>
      <p:sp>
        <p:nvSpPr>
          <p:cNvPr id="23" name="Text 28"/>
          <p:cNvSpPr/>
          <p:nvPr/>
        </p:nvSpPr>
        <p:spPr>
          <a:xfrm>
            <a:off x="502920" y="5779008"/>
            <a:ext cx="11183112" cy="320040"/>
          </a:xfrm>
          <a:prstGeom prst="rect">
            <a:avLst/>
          </a:prstGeom>
          <a:noFill/>
          <a:ln/>
        </p:spPr>
        <p:txBody>
          <a:bodyPr wrap="square" lIns="0" tIns="0" rIns="0" bIns="0" rtlCol="0" anchor="ctr"/>
          <a:lstStyle/>
          <a:p>
            <a:pPr marL="0" indent="0" algn="ctr">
              <a:lnSpc>
                <a:spcPct val="105000"/>
              </a:lnSpc>
              <a:buNone/>
            </a:pPr>
            <a:r>
              <a:rPr lang="en-US" sz="1650" b="1" i="1">
                <a:solidFill>
                  <a:srgbClr val="FF385C"/>
                </a:solidFill>
                <a:latin typeface="Poppins" pitchFamily="34" charset="0"/>
                <a:ea typeface="Poppins" pitchFamily="34" charset="-122"/>
                <a:cs typeface="Poppins" pitchFamily="34" charset="-120"/>
              </a:rPr>
              <a:t>Every underpriced night costs the host and Airbnb both.</a:t>
            </a:r>
            <a:endParaRPr lang="en-US" sz="1450"/>
          </a:p>
        </p:txBody>
      </p:sp>
      <p:sp>
        <p:nvSpPr>
          <p:cNvPr id="3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02 · CONTEXT &amp; PROBLEM</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Hosts price without evidence</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Airbnb's scale makes that gap expensive.</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3</a:t>
            </a:r>
            <a:endParaRPr lang="en-US" sz="900"/>
          </a:p>
        </p:txBody>
      </p:sp>
      <p:sp>
        <p:nvSpPr>
          <p:cNvPr id="12" name="Shape 8"/>
          <p:cNvSpPr/>
          <p:nvPr/>
        </p:nvSpPr>
        <p:spPr>
          <a:xfrm>
            <a:off x="5029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4" name="Text 9"/>
          <p:cNvSpPr/>
          <p:nvPr/>
        </p:nvSpPr>
        <p:spPr>
          <a:xfrm>
            <a:off x="667512" y="2359152"/>
            <a:ext cx="2281428" cy="713232"/>
          </a:xfrm>
          <a:prstGeom prst="rect">
            <a:avLst/>
          </a:prstGeom>
          <a:noFill/>
          <a:ln/>
        </p:spPr>
        <p:txBody>
          <a:bodyPr wrap="square" lIns="0" tIns="0" rIns="0" bIns="0" rtlCol="0" anchor="ctr"/>
          <a:lstStyle/>
          <a:p>
            <a:pPr marL="0" indent="0" algn="l">
              <a:buNone/>
            </a:pPr>
            <a:r>
              <a:rPr lang="en-US" sz="4000" b="1">
                <a:solidFill>
                  <a:srgbClr val="FF385C"/>
                </a:solidFill>
                <a:latin typeface="Poppins" pitchFamily="34" charset="0"/>
                <a:ea typeface="Poppins" pitchFamily="34" charset="-122"/>
                <a:cs typeface="Poppins" pitchFamily="34" charset="-120"/>
              </a:rPr>
              <a:t>$12.2B</a:t>
            </a:r>
            <a:endParaRPr lang="en-US" sz="3000"/>
          </a:p>
        </p:txBody>
      </p:sp>
      <p:sp>
        <p:nvSpPr>
          <p:cNvPr id="15" name="Text 10"/>
          <p:cNvSpPr/>
          <p:nvPr/>
        </p:nvSpPr>
        <p:spPr>
          <a:xfrm>
            <a:off x="649224"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2025 revenue (+10% YoY)</a:t>
            </a:r>
            <a:endParaRPr lang="en-US" sz="1150"/>
          </a:p>
        </p:txBody>
      </p:sp>
      <p:sp>
        <p:nvSpPr>
          <p:cNvPr id="16" name="Shape 11"/>
          <p:cNvSpPr/>
          <p:nvPr/>
        </p:nvSpPr>
        <p:spPr>
          <a:xfrm>
            <a:off x="33604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8" name="Text 12"/>
          <p:cNvSpPr/>
          <p:nvPr/>
        </p:nvSpPr>
        <p:spPr>
          <a:xfrm>
            <a:off x="3525012" y="2359152"/>
            <a:ext cx="2281428" cy="713232"/>
          </a:xfrm>
          <a:prstGeom prst="rect">
            <a:avLst/>
          </a:prstGeom>
          <a:noFill/>
          <a:ln/>
        </p:spPr>
        <p:txBody>
          <a:bodyPr wrap="square" lIns="0" tIns="0" rIns="0" bIns="0" rtlCol="0" anchor="ctr"/>
          <a:lstStyle/>
          <a:p>
            <a:pPr marL="0" indent="0" algn="l">
              <a:buNone/>
            </a:pPr>
            <a:r>
              <a:rPr lang="en-US" sz="4000" b="1">
                <a:solidFill>
                  <a:srgbClr val="00A699"/>
                </a:solidFill>
                <a:latin typeface="Poppins" pitchFamily="34" charset="0"/>
                <a:ea typeface="Poppins" pitchFamily="34" charset="-122"/>
                <a:cs typeface="Poppins" pitchFamily="34" charset="-120"/>
              </a:rPr>
              <a:t>8M+</a:t>
            </a:r>
            <a:endParaRPr lang="en-US" sz="3000"/>
          </a:p>
        </p:txBody>
      </p:sp>
      <p:sp>
        <p:nvSpPr>
          <p:cNvPr id="19" name="Text 13"/>
          <p:cNvSpPr/>
          <p:nvPr/>
        </p:nvSpPr>
        <p:spPr>
          <a:xfrm>
            <a:off x="3543300"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active listings worldwide</a:t>
            </a:r>
            <a:endParaRPr lang="en-US" sz="1150"/>
          </a:p>
        </p:txBody>
      </p:sp>
      <p:sp>
        <p:nvSpPr>
          <p:cNvPr id="20" name="Shape 14"/>
          <p:cNvSpPr/>
          <p:nvPr/>
        </p:nvSpPr>
        <p:spPr>
          <a:xfrm>
            <a:off x="62179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5"/>
          <p:cNvSpPr/>
          <p:nvPr/>
        </p:nvSpPr>
        <p:spPr>
          <a:xfrm>
            <a:off x="6382512" y="2359152"/>
            <a:ext cx="2281428" cy="713232"/>
          </a:xfrm>
          <a:prstGeom prst="rect">
            <a:avLst/>
          </a:prstGeom>
          <a:noFill/>
          <a:ln/>
        </p:spPr>
        <p:txBody>
          <a:bodyPr wrap="square" lIns="0" tIns="0" rIns="0" bIns="0" rtlCol="0" anchor="ctr"/>
          <a:lstStyle/>
          <a:p>
            <a:pPr marL="0" indent="0" algn="l">
              <a:buNone/>
            </a:pPr>
            <a:r>
              <a:rPr lang="en-US" sz="4000" b="1">
                <a:solidFill>
                  <a:srgbClr val="FF385C"/>
                </a:solidFill>
                <a:latin typeface="Poppins" pitchFamily="34" charset="0"/>
                <a:ea typeface="Poppins" pitchFamily="34" charset="-122"/>
                <a:cs typeface="Poppins" pitchFamily="34" charset="-120"/>
              </a:rPr>
              <a:t>5M+</a:t>
            </a:r>
            <a:endParaRPr lang="en-US" sz="3000"/>
          </a:p>
        </p:txBody>
      </p:sp>
      <p:sp>
        <p:nvSpPr>
          <p:cNvPr id="23" name="Text 16"/>
          <p:cNvSpPr/>
          <p:nvPr/>
        </p:nvSpPr>
        <p:spPr>
          <a:xfrm>
            <a:off x="6455664"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hosts on the platform</a:t>
            </a:r>
            <a:endParaRPr lang="en-US" sz="1150"/>
          </a:p>
        </p:txBody>
      </p:sp>
      <p:sp>
        <p:nvSpPr>
          <p:cNvPr id="24" name="Shape 17"/>
          <p:cNvSpPr/>
          <p:nvPr/>
        </p:nvSpPr>
        <p:spPr>
          <a:xfrm>
            <a:off x="9075420" y="2212848"/>
            <a:ext cx="26106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6" name="Text 18"/>
          <p:cNvSpPr/>
          <p:nvPr/>
        </p:nvSpPr>
        <p:spPr>
          <a:xfrm>
            <a:off x="9240012" y="2359152"/>
            <a:ext cx="2281428" cy="713232"/>
          </a:xfrm>
          <a:prstGeom prst="rect">
            <a:avLst/>
          </a:prstGeom>
          <a:noFill/>
          <a:ln/>
        </p:spPr>
        <p:txBody>
          <a:bodyPr wrap="square" lIns="0" tIns="0" rIns="0" bIns="0" rtlCol="0" anchor="ctr"/>
          <a:lstStyle/>
          <a:p>
            <a:pPr marL="0" indent="0" algn="l">
              <a:buNone/>
            </a:pPr>
            <a:r>
              <a:rPr lang="en-US" sz="4000" b="1">
                <a:solidFill>
                  <a:srgbClr val="FC642D"/>
                </a:solidFill>
                <a:latin typeface="Poppins" pitchFamily="34" charset="0"/>
                <a:ea typeface="Poppins" pitchFamily="34" charset="-122"/>
                <a:cs typeface="Poppins" pitchFamily="34" charset="-120"/>
              </a:rPr>
              <a:t>15.5%</a:t>
            </a:r>
            <a:endParaRPr lang="en-US" sz="3000"/>
          </a:p>
        </p:txBody>
      </p:sp>
      <p:sp>
        <p:nvSpPr>
          <p:cNvPr id="27" name="Text 19"/>
          <p:cNvSpPr/>
          <p:nvPr/>
        </p:nvSpPr>
        <p:spPr>
          <a:xfrm>
            <a:off x="9261348" y="3054096"/>
            <a:ext cx="2281428" cy="512064"/>
          </a:xfrm>
          <a:prstGeom prst="rect">
            <a:avLst/>
          </a:prstGeom>
          <a:noFill/>
          <a:ln/>
        </p:spPr>
        <p:txBody>
          <a:bodyPr wrap="square" lIns="0" tIns="0" rIns="0" bIns="0" rtlCol="0" anchor="t"/>
          <a:lstStyle/>
          <a:p>
            <a:pPr marL="0" indent="0" algn="l">
              <a:lnSpc>
                <a:spcPct val="102000"/>
              </a:lnSpc>
              <a:buNone/>
            </a:pPr>
            <a:r>
              <a:rPr lang="en-US" sz="1550">
                <a:solidFill>
                  <a:srgbClr val="484848"/>
                </a:solidFill>
                <a:latin typeface="Poppins" pitchFamily="34" charset="0"/>
                <a:ea typeface="Poppins" pitchFamily="34" charset="-122"/>
                <a:cs typeface="Poppins" pitchFamily="34" charset="-120"/>
              </a:rPr>
              <a:t>host-only service fee</a:t>
            </a:r>
            <a:endParaRPr lang="en-US" sz="1150"/>
          </a:p>
        </p:txBody>
      </p:sp>
      <p:sp>
        <p:nvSpPr>
          <p:cNvPr id="28" name="Shape 20"/>
          <p:cNvSpPr/>
          <p:nvPr/>
        </p:nvSpPr>
        <p:spPr>
          <a:xfrm>
            <a:off x="502920" y="3931920"/>
            <a:ext cx="5468112" cy="2103120"/>
          </a:xfrm>
          <a:prstGeom prst="roundRect">
            <a:avLst>
              <a:gd name="adj" fmla="val 608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1" name="Text 22"/>
          <p:cNvSpPr/>
          <p:nvPr/>
        </p:nvSpPr>
        <p:spPr>
          <a:xfrm>
            <a:off x="777240" y="4224528"/>
            <a:ext cx="42062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missing piece for hosts</a:t>
            </a:r>
            <a:endParaRPr lang="en-US" sz="1500"/>
          </a:p>
        </p:txBody>
      </p:sp>
      <p:sp>
        <p:nvSpPr>
          <p:cNvPr id="32" name="Text 23"/>
          <p:cNvSpPr/>
          <p:nvPr/>
        </p:nvSpPr>
        <p:spPr>
          <a:xfrm>
            <a:off x="777240" y="4846320"/>
            <a:ext cx="4937760" cy="1097280"/>
          </a:xfrm>
          <a:prstGeom prst="rect">
            <a:avLst/>
          </a:prstGeom>
          <a:noFill/>
          <a:ln/>
        </p:spPr>
        <p:txBody>
          <a:bodyPr wrap="square" lIns="0" tIns="0" rIns="0" bIns="0" rtlCol="0" anchor="t"/>
          <a:lstStyle/>
          <a:p>
            <a:pPr>
              <a:lnSpc>
                <a:spcPct val="108000"/>
              </a:lnSpc>
            </a:pPr>
            <a:r>
              <a:rPr lang="en-US" sz="1800" dirty="0">
                <a:solidFill>
                  <a:srgbClr val="484848"/>
                </a:solidFill>
                <a:latin typeface="Poppins"/>
                <a:ea typeface="+mn-lt"/>
                <a:cs typeface="Poppins"/>
              </a:rPr>
              <a:t>Smart Pricing recommends a price but never explains it. </a:t>
            </a:r>
            <a:endParaRPr lang="en-US" sz="1250" dirty="0">
              <a:solidFill>
                <a:srgbClr val="4A4A4A"/>
              </a:solidFill>
              <a:latin typeface="Poppins"/>
              <a:ea typeface="Calibri" panose="020F0502020204030204"/>
              <a:cs typeface="Poppins"/>
            </a:endParaRPr>
          </a:p>
        </p:txBody>
      </p:sp>
      <p:sp>
        <p:nvSpPr>
          <p:cNvPr id="33" name="Shape 24"/>
          <p:cNvSpPr/>
          <p:nvPr/>
        </p:nvSpPr>
        <p:spPr>
          <a:xfrm>
            <a:off x="6217920" y="3931920"/>
            <a:ext cx="5468112" cy="2103120"/>
          </a:xfrm>
          <a:prstGeom prst="roundRect">
            <a:avLst>
              <a:gd name="adj" fmla="val 608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6" name="Text 26"/>
          <p:cNvSpPr/>
          <p:nvPr/>
        </p:nvSpPr>
        <p:spPr>
          <a:xfrm>
            <a:off x="6492240" y="4224528"/>
            <a:ext cx="42062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We reframed the question</a:t>
            </a:r>
            <a:endParaRPr lang="en-US" sz="1500"/>
          </a:p>
        </p:txBody>
      </p:sp>
      <p:sp>
        <p:nvSpPr>
          <p:cNvPr id="37" name="Text 27"/>
          <p:cNvSpPr/>
          <p:nvPr/>
        </p:nvSpPr>
        <p:spPr>
          <a:xfrm>
            <a:off x="6492240" y="4846320"/>
            <a:ext cx="4937760" cy="1097280"/>
          </a:xfrm>
          <a:prstGeom prst="rect">
            <a:avLst/>
          </a:prstGeom>
          <a:noFill/>
          <a:ln/>
        </p:spPr>
        <p:txBody>
          <a:bodyPr wrap="square" lIns="0" tIns="0" rIns="0" bIns="0" rtlCol="0" anchor="t"/>
          <a:lstStyle/>
          <a:p>
            <a:pPr>
              <a:lnSpc>
                <a:spcPct val="108000"/>
              </a:lnSpc>
            </a:pPr>
            <a:r>
              <a:rPr lang="en-US" sz="1800" i="1">
                <a:solidFill>
                  <a:srgbClr val="484848"/>
                </a:solidFill>
                <a:latin typeface="Poppins"/>
                <a:ea typeface="Poppins" pitchFamily="34" charset="-122"/>
                <a:cs typeface="Poppins"/>
              </a:rPr>
              <a:t>Not “can we build another pricing model?” but “can we help hosts price with confidence?”</a:t>
            </a:r>
            <a:endParaRPr lang="en-US" sz="1250">
              <a:latin typeface="Poppins"/>
              <a:cs typeface="Poppins"/>
            </a:endParaRPr>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03 · THE DATASET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dirty="0">
                <a:solidFill>
                  <a:srgbClr val="222222"/>
                </a:solidFill>
                <a:latin typeface="Poppins"/>
                <a:ea typeface="+mn-lt"/>
                <a:cs typeface="Poppins"/>
              </a:rPr>
              <a:t>NYC as a proving ground</a:t>
            </a:r>
            <a:endParaRPr lang="en-US" sz="2900" b="1" dirty="0">
              <a:solidFill>
                <a:srgbClr val="000000"/>
              </a:solidFill>
              <a:latin typeface="Poppins"/>
              <a:ea typeface="Calibri"/>
              <a:cs typeface="Poppins"/>
            </a:endParaRPr>
          </a:p>
        </p:txBody>
      </p:sp>
      <p:sp>
        <p:nvSpPr>
          <p:cNvPr id="4" name="Text 2"/>
          <p:cNvSpPr/>
          <p:nvPr/>
        </p:nvSpPr>
        <p:spPr>
          <a:xfrm>
            <a:off x="521208" y="1591056"/>
            <a:ext cx="10424160" cy="457200"/>
          </a:xfrm>
          <a:prstGeom prst="rect">
            <a:avLst/>
          </a:prstGeom>
          <a:noFill/>
          <a:ln/>
        </p:spPr>
        <p:txBody>
          <a:bodyPr wrap="square" lIns="0" tIns="0" rIns="0" bIns="0" rtlCol="0" anchor="ctr"/>
          <a:lstStyle/>
          <a:p>
            <a:pPr>
              <a:lnSpc>
                <a:spcPct val="105000"/>
              </a:lnSpc>
            </a:pPr>
            <a:r>
              <a:rPr lang="en-US" sz="2000" dirty="0">
                <a:solidFill>
                  <a:srgbClr val="484848"/>
                </a:solidFill>
                <a:latin typeface="Poppins" pitchFamily="34" charset="0"/>
                <a:ea typeface="Poppins" pitchFamily="34" charset="-122"/>
                <a:cs typeface="Poppins" pitchFamily="34" charset="-120"/>
              </a:rPr>
              <a:t>One Market to build, test, and evaluate. Inside Airbnb, public data, June 2026. </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4</a:t>
            </a:r>
            <a:endParaRPr lang="en-US" sz="900"/>
          </a:p>
        </p:txBody>
      </p:sp>
      <p:sp>
        <p:nvSpPr>
          <p:cNvPr id="12" name="Shape 8"/>
          <p:cNvSpPr/>
          <p:nvPr/>
        </p:nvSpPr>
        <p:spPr>
          <a:xfrm>
            <a:off x="8458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941832" y="2523744"/>
            <a:ext cx="2697480" cy="685800"/>
          </a:xfrm>
          <a:prstGeom prst="rect">
            <a:avLst/>
          </a:prstGeom>
          <a:noFill/>
          <a:ln/>
        </p:spPr>
        <p:txBody>
          <a:bodyPr wrap="square" lIns="0" tIns="0" rIns="0" bIns="0" rtlCol="0" anchor="ctr"/>
          <a:lstStyle/>
          <a:p>
            <a:pPr marL="0" indent="0" algn="ctr">
              <a:buNone/>
            </a:pPr>
            <a:r>
              <a:rPr lang="en-US" sz="4000" b="1">
                <a:solidFill>
                  <a:srgbClr val="9AA0A6"/>
                </a:solidFill>
                <a:latin typeface="Poppins" pitchFamily="34" charset="0"/>
                <a:ea typeface="Poppins" pitchFamily="34" charset="-122"/>
                <a:cs typeface="Poppins" pitchFamily="34" charset="-120"/>
              </a:rPr>
              <a:t>30,259</a:t>
            </a:r>
            <a:endParaRPr lang="en-US" sz="3700"/>
          </a:p>
        </p:txBody>
      </p:sp>
      <p:sp>
        <p:nvSpPr>
          <p:cNvPr id="14" name="Text 10"/>
          <p:cNvSpPr/>
          <p:nvPr/>
        </p:nvSpPr>
        <p:spPr>
          <a:xfrm>
            <a:off x="941832"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raw listings scraped</a:t>
            </a:r>
            <a:endParaRPr lang="en-US" sz="1200"/>
          </a:p>
        </p:txBody>
      </p:sp>
      <p:sp>
        <p:nvSpPr>
          <p:cNvPr id="15" name="Text 11"/>
          <p:cNvSpPr/>
          <p:nvPr/>
        </p:nvSpPr>
        <p:spPr>
          <a:xfrm>
            <a:off x="3749039" y="2286000"/>
            <a:ext cx="822960" cy="1371600"/>
          </a:xfrm>
          <a:prstGeom prst="rect">
            <a:avLst/>
          </a:prstGeom>
          <a:noFill/>
          <a:ln/>
        </p:spPr>
        <p:txBody>
          <a:bodyPr wrap="square" lIns="0" tIns="0" rIns="0" bIns="0" rtlCol="0" anchor="ctr"/>
          <a:lstStyle/>
          <a:p>
            <a:pPr marL="0" indent="0" algn="ctr">
              <a:buNone/>
            </a:pPr>
            <a:r>
              <a:rPr lang="en-US" sz="3000" b="1">
                <a:solidFill>
                  <a:srgbClr val="9AA0A6"/>
                </a:solidFill>
                <a:latin typeface="Poppins" pitchFamily="34" charset="0"/>
                <a:ea typeface="Poppins" pitchFamily="34" charset="-122"/>
                <a:cs typeface="Poppins" pitchFamily="34" charset="-120"/>
              </a:rPr>
              <a:t>→</a:t>
            </a:r>
            <a:endParaRPr lang="en-US" sz="2600"/>
          </a:p>
        </p:txBody>
      </p:sp>
      <p:sp>
        <p:nvSpPr>
          <p:cNvPr id="16" name="Shape 12"/>
          <p:cNvSpPr/>
          <p:nvPr/>
        </p:nvSpPr>
        <p:spPr>
          <a:xfrm>
            <a:off x="4658868" y="2286000"/>
            <a:ext cx="2880360" cy="1371600"/>
          </a:xfrm>
          <a:prstGeom prst="roundRect">
            <a:avLst>
              <a:gd name="adj" fmla="val 9333"/>
            </a:avLst>
          </a:prstGeom>
          <a:solidFill>
            <a:srgbClr val="FFFFFF"/>
          </a:solidFill>
          <a:ln w="9525">
            <a:solidFill>
              <a:srgbClr val="DDDDDD"/>
            </a:solidFill>
          </a:ln>
          <a:effectLst/>
        </p:spPr>
        <p:txBody>
          <a:bodyPr/>
          <a:lstStyle/>
          <a:p>
            <a:endParaRPr lang="en-US"/>
          </a:p>
        </p:txBody>
      </p:sp>
      <p:sp>
        <p:nvSpPr>
          <p:cNvPr id="17" name="Text 13"/>
          <p:cNvSpPr/>
          <p:nvPr/>
        </p:nvSpPr>
        <p:spPr>
          <a:xfrm>
            <a:off x="4754880" y="2523744"/>
            <a:ext cx="2697480" cy="685800"/>
          </a:xfrm>
          <a:prstGeom prst="rect">
            <a:avLst/>
          </a:prstGeom>
          <a:noFill/>
          <a:ln/>
        </p:spPr>
        <p:txBody>
          <a:bodyPr wrap="square" lIns="0" tIns="0" rIns="0" bIns="0" rtlCol="0" anchor="ctr"/>
          <a:lstStyle/>
          <a:p>
            <a:pPr marL="0" indent="0" algn="ctr">
              <a:buNone/>
            </a:pPr>
            <a:r>
              <a:rPr lang="en-US" sz="4000" b="1">
                <a:solidFill>
                  <a:srgbClr val="FF385C"/>
                </a:solidFill>
                <a:latin typeface="Poppins" pitchFamily="34" charset="0"/>
                <a:ea typeface="Poppins" pitchFamily="34" charset="-122"/>
                <a:cs typeface="Poppins" pitchFamily="34" charset="-120"/>
              </a:rPr>
              <a:t>9,752</a:t>
            </a:r>
            <a:endParaRPr lang="en-US" sz="3700"/>
          </a:p>
        </p:txBody>
      </p:sp>
      <p:sp>
        <p:nvSpPr>
          <p:cNvPr id="18" name="Text 14"/>
          <p:cNvSpPr/>
          <p:nvPr/>
        </p:nvSpPr>
        <p:spPr>
          <a:xfrm>
            <a:off x="4754880"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active listings (≈9,800)</a:t>
            </a:r>
            <a:endParaRPr lang="en-US" sz="1200"/>
          </a:p>
        </p:txBody>
      </p:sp>
      <p:sp>
        <p:nvSpPr>
          <p:cNvPr id="19" name="Text 15"/>
          <p:cNvSpPr/>
          <p:nvPr/>
        </p:nvSpPr>
        <p:spPr>
          <a:xfrm>
            <a:off x="7562088" y="2286000"/>
            <a:ext cx="822960" cy="1371600"/>
          </a:xfrm>
          <a:prstGeom prst="rect">
            <a:avLst/>
          </a:prstGeom>
          <a:noFill/>
          <a:ln/>
        </p:spPr>
        <p:txBody>
          <a:bodyPr wrap="square" lIns="0" tIns="0" rIns="0" bIns="0" rtlCol="0" anchor="ctr"/>
          <a:lstStyle/>
          <a:p>
            <a:pPr marL="0" indent="0" algn="ctr">
              <a:buNone/>
            </a:pPr>
            <a:r>
              <a:rPr lang="en-US" sz="3000" b="1">
                <a:solidFill>
                  <a:srgbClr val="9AA0A6"/>
                </a:solidFill>
                <a:latin typeface="Poppins" pitchFamily="34" charset="0"/>
                <a:ea typeface="Poppins" pitchFamily="34" charset="-122"/>
                <a:cs typeface="Poppins" pitchFamily="34" charset="-120"/>
              </a:rPr>
              <a:t>→</a:t>
            </a:r>
            <a:endParaRPr lang="en-US" sz="2600"/>
          </a:p>
        </p:txBody>
      </p:sp>
      <p:sp>
        <p:nvSpPr>
          <p:cNvPr id="20" name="Shape 16"/>
          <p:cNvSpPr/>
          <p:nvPr/>
        </p:nvSpPr>
        <p:spPr>
          <a:xfrm>
            <a:off x="8462772" y="2286000"/>
            <a:ext cx="2880360" cy="1371600"/>
          </a:xfrm>
          <a:prstGeom prst="roundRect">
            <a:avLst>
              <a:gd name="adj" fmla="val 9333"/>
            </a:avLst>
          </a:prstGeom>
          <a:solidFill>
            <a:srgbClr val="FFFFFF"/>
          </a:solidFill>
          <a:ln w="9525">
            <a:solidFill>
              <a:srgbClr val="DDDDDD"/>
            </a:solidFill>
          </a:ln>
          <a:effectLst/>
        </p:spPr>
        <p:txBody>
          <a:bodyPr/>
          <a:lstStyle/>
          <a:p>
            <a:endParaRPr lang="en-US"/>
          </a:p>
        </p:txBody>
      </p:sp>
      <p:sp>
        <p:nvSpPr>
          <p:cNvPr id="21" name="Text 17"/>
          <p:cNvSpPr/>
          <p:nvPr/>
        </p:nvSpPr>
        <p:spPr>
          <a:xfrm>
            <a:off x="8558784" y="2523744"/>
            <a:ext cx="2697480" cy="685800"/>
          </a:xfrm>
          <a:prstGeom prst="rect">
            <a:avLst/>
          </a:prstGeom>
          <a:noFill/>
          <a:ln/>
        </p:spPr>
        <p:txBody>
          <a:bodyPr wrap="square" lIns="0" tIns="0" rIns="0" bIns="0" rtlCol="0" anchor="ctr"/>
          <a:lstStyle/>
          <a:p>
            <a:pPr marL="0" indent="0" algn="ctr">
              <a:buNone/>
            </a:pPr>
            <a:r>
              <a:rPr lang="en-US" sz="4000" b="1">
                <a:solidFill>
                  <a:srgbClr val="007A73"/>
                </a:solidFill>
                <a:latin typeface="Poppins" pitchFamily="34" charset="0"/>
                <a:ea typeface="Poppins" pitchFamily="34" charset="-122"/>
                <a:cs typeface="Poppins" pitchFamily="34" charset="-120"/>
              </a:rPr>
              <a:t>80</a:t>
            </a:r>
            <a:endParaRPr lang="en-US" sz="3700"/>
          </a:p>
        </p:txBody>
      </p:sp>
      <p:sp>
        <p:nvSpPr>
          <p:cNvPr id="22" name="Text 18"/>
          <p:cNvSpPr/>
          <p:nvPr/>
        </p:nvSpPr>
        <p:spPr>
          <a:xfrm>
            <a:off x="8558784" y="3200400"/>
            <a:ext cx="2697480" cy="365760"/>
          </a:xfrm>
          <a:prstGeom prst="rect">
            <a:avLst/>
          </a:prstGeom>
          <a:noFill/>
          <a:ln/>
        </p:spPr>
        <p:txBody>
          <a:bodyPr wrap="square" lIns="0" tIns="0" rIns="0" bIns="0" rtlCol="0" anchor="ctr"/>
          <a:lstStyle/>
          <a:p>
            <a:pPr marL="0" indent="0" algn="ctr">
              <a:buNone/>
            </a:pPr>
            <a:r>
              <a:rPr lang="en-US" sz="1550">
                <a:solidFill>
                  <a:srgbClr val="484848"/>
                </a:solidFill>
                <a:latin typeface="Poppins" pitchFamily="34" charset="0"/>
                <a:ea typeface="Poppins" pitchFamily="34" charset="-122"/>
                <a:cs typeface="Poppins" pitchFamily="34" charset="-120"/>
              </a:rPr>
              <a:t>engineered features</a:t>
            </a:r>
            <a:endParaRPr lang="en-US" sz="120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800" b="1" dirty="0">
                <a:solidFill>
                  <a:srgbClr val="484848"/>
                </a:solidFill>
                <a:latin typeface="Poppins" pitchFamily="34" charset="0"/>
                <a:ea typeface="Poppins" pitchFamily="34" charset="-122"/>
                <a:cs typeface="Poppins" pitchFamily="34" charset="-120"/>
              </a:rPr>
              <a:t>For each listing:  </a:t>
            </a:r>
            <a:r>
              <a:rPr lang="en-US" sz="1800" dirty="0">
                <a:solidFill>
                  <a:srgbClr val="484848"/>
                </a:solidFill>
                <a:latin typeface="Poppins" pitchFamily="34" charset="0"/>
                <a:ea typeface="Poppins" pitchFamily="34" charset="-122"/>
                <a:cs typeface="Poppins" pitchFamily="34" charset="-120"/>
              </a:rPr>
              <a:t>nightly price · availability · reviews · amenities · location · host characteristics.</a:t>
            </a:r>
            <a:endParaRPr lang="en-US" sz="1250" dirty="0"/>
          </a:p>
        </p:txBody>
      </p:sp>
      <p:sp>
        <p:nvSpPr>
          <p:cNvPr id="24" name="Shape 20"/>
          <p:cNvSpPr/>
          <p:nvPr/>
        </p:nvSpPr>
        <p:spPr>
          <a:xfrm>
            <a:off x="50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22"/>
          <p:cNvSpPr/>
          <p:nvPr/>
        </p:nvSpPr>
        <p:spPr>
          <a:xfrm>
            <a:off x="777240" y="4526280"/>
            <a:ext cx="2465832" cy="41148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Clean &amp; prepare</a:t>
            </a:r>
            <a:endParaRPr lang="en-US" sz="1350"/>
          </a:p>
        </p:txBody>
      </p:sp>
      <p:sp>
        <p:nvSpPr>
          <p:cNvPr id="28" name="Text 23"/>
          <p:cNvSpPr/>
          <p:nvPr/>
        </p:nvSpPr>
        <p:spPr>
          <a:xfrm>
            <a:off x="777240" y="5029200"/>
            <a:ext cx="3014472" cy="932688"/>
          </a:xfrm>
          <a:prstGeom prst="rect">
            <a:avLst/>
          </a:prstGeom>
          <a:noFill/>
          <a:ln/>
        </p:spPr>
        <p:txBody>
          <a:bodyPr wrap="square" lIns="0" tIns="0" rIns="0" bIns="0" rtlCol="0" anchor="ctr"/>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Missing values handled, amenities parsed, features engineered.</a:t>
            </a:r>
            <a:endParaRPr lang="en-US" sz="1100"/>
          </a:p>
        </p:txBody>
      </p:sp>
      <p:sp>
        <p:nvSpPr>
          <p:cNvPr id="29" name="Shape 24"/>
          <p:cNvSpPr/>
          <p:nvPr/>
        </p:nvSpPr>
        <p:spPr>
          <a:xfrm>
            <a:off x="431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2" name="Text 26"/>
          <p:cNvSpPr/>
          <p:nvPr/>
        </p:nvSpPr>
        <p:spPr>
          <a:xfrm>
            <a:off x="4590288" y="4526280"/>
            <a:ext cx="2465832" cy="411480"/>
          </a:xfrm>
          <a:prstGeom prst="rect">
            <a:avLst/>
          </a:prstGeom>
          <a:noFill/>
          <a:ln/>
        </p:spPr>
        <p:txBody>
          <a:bodyPr wrap="square" lIns="0" tIns="0" rIns="0" bIns="0" rtlCol="0" anchor="ctr"/>
          <a:lstStyle/>
          <a:p>
            <a:pPr marL="0" indent="0">
              <a:buNone/>
            </a:pPr>
            <a:r>
              <a:rPr lang="en-US" sz="2000" b="1" dirty="0">
                <a:solidFill>
                  <a:srgbClr val="222222"/>
                </a:solidFill>
                <a:latin typeface="Poppins" pitchFamily="34" charset="0"/>
                <a:ea typeface="Poppins" pitchFamily="34" charset="-122"/>
                <a:cs typeface="Poppins" pitchFamily="34" charset="-120"/>
              </a:rPr>
              <a:t>Large Limitations</a:t>
            </a:r>
            <a:endParaRPr lang="en-US" sz="1350" dirty="0"/>
          </a:p>
        </p:txBody>
      </p:sp>
      <p:sp>
        <p:nvSpPr>
          <p:cNvPr id="33" name="Text 27"/>
          <p:cNvSpPr/>
          <p:nvPr/>
        </p:nvSpPr>
        <p:spPr>
          <a:xfrm>
            <a:off x="4590288" y="5029200"/>
            <a:ext cx="3014472" cy="932688"/>
          </a:xfrm>
          <a:prstGeom prst="rect">
            <a:avLst/>
          </a:prstGeom>
          <a:noFill/>
          <a:ln/>
        </p:spPr>
        <p:txBody>
          <a:bodyPr wrap="square" lIns="0" tIns="0" rIns="0" bIns="0" rtlCol="0" anchor="ctr"/>
          <a:lstStyle/>
          <a:p>
            <a:pPr marL="0" indent="0">
              <a:lnSpc>
                <a:spcPct val="103000"/>
              </a:lnSpc>
              <a:buNone/>
            </a:pPr>
            <a:r>
              <a:rPr lang="en-US" sz="1800" dirty="0">
                <a:solidFill>
                  <a:srgbClr val="484848"/>
                </a:solidFill>
                <a:latin typeface="Poppins" pitchFamily="34" charset="0"/>
                <a:ea typeface="Poppins" pitchFamily="34" charset="-122"/>
                <a:cs typeface="Poppins" pitchFamily="34" charset="-120"/>
              </a:rPr>
              <a:t>Missing nightly price and occupancy rates from Kaggle dataset.</a:t>
            </a:r>
            <a:endParaRPr lang="en-US" sz="1100" dirty="0"/>
          </a:p>
        </p:txBody>
      </p:sp>
      <p:sp>
        <p:nvSpPr>
          <p:cNvPr id="34" name="Shape 28"/>
          <p:cNvSpPr/>
          <p:nvPr/>
        </p:nvSpPr>
        <p:spPr>
          <a:xfrm>
            <a:off x="8122920" y="4343400"/>
            <a:ext cx="3563112" cy="1691640"/>
          </a:xfrm>
          <a:prstGeom prst="roundRect">
            <a:avLst>
              <a:gd name="adj" fmla="val 75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7" name="Text 30"/>
          <p:cNvSpPr/>
          <p:nvPr/>
        </p:nvSpPr>
        <p:spPr>
          <a:xfrm>
            <a:off x="8394192" y="4526280"/>
            <a:ext cx="2465832" cy="411480"/>
          </a:xfrm>
          <a:prstGeom prst="rect">
            <a:avLst/>
          </a:prstGeom>
          <a:noFill/>
          <a:ln/>
        </p:spPr>
        <p:txBody>
          <a:bodyPr wrap="square" lIns="0" tIns="0" rIns="0" bIns="0" rtlCol="0" anchor="ctr"/>
          <a:lstStyle/>
          <a:p>
            <a:pPr marL="0" indent="0">
              <a:buNone/>
            </a:pPr>
            <a:r>
              <a:rPr lang="en-US" sz="2000" b="1" dirty="0">
                <a:solidFill>
                  <a:srgbClr val="222222"/>
                </a:solidFill>
                <a:latin typeface="Poppins" pitchFamily="34" charset="0"/>
                <a:cs typeface="Poppins" pitchFamily="34" charset="-120"/>
              </a:rPr>
              <a:t>300 Listing Sample</a:t>
            </a:r>
            <a:endParaRPr lang="en-US" sz="1350" dirty="0"/>
          </a:p>
        </p:txBody>
      </p:sp>
      <p:sp>
        <p:nvSpPr>
          <p:cNvPr id="38" name="Text 31"/>
          <p:cNvSpPr/>
          <p:nvPr/>
        </p:nvSpPr>
        <p:spPr>
          <a:xfrm>
            <a:off x="8394192" y="5029200"/>
            <a:ext cx="3014472" cy="932688"/>
          </a:xfrm>
          <a:prstGeom prst="rect">
            <a:avLst/>
          </a:prstGeom>
          <a:noFill/>
          <a:ln/>
        </p:spPr>
        <p:txBody>
          <a:bodyPr wrap="square" lIns="0" tIns="0" rIns="0" bIns="0" rtlCol="0" anchor="ctr"/>
          <a:lstStyle/>
          <a:p>
            <a:pPr marL="0" indent="0">
              <a:lnSpc>
                <a:spcPct val="103000"/>
              </a:lnSpc>
              <a:buNone/>
            </a:pPr>
            <a:r>
              <a:rPr lang="en-US" sz="1800" dirty="0" err="1">
                <a:solidFill>
                  <a:srgbClr val="484848"/>
                </a:solidFill>
                <a:latin typeface="Poppins" pitchFamily="34" charset="0"/>
                <a:ea typeface="Poppins" pitchFamily="34" charset="-122"/>
                <a:cs typeface="Poppins" pitchFamily="34" charset="-120"/>
              </a:rPr>
              <a:t>AirROI</a:t>
            </a:r>
            <a:r>
              <a:rPr lang="en-US" sz="1800" dirty="0">
                <a:solidFill>
                  <a:srgbClr val="484848"/>
                </a:solidFill>
                <a:latin typeface="Poppins" pitchFamily="34" charset="0"/>
                <a:ea typeface="Poppins" pitchFamily="34" charset="-122"/>
                <a:cs typeface="Poppins" pitchFamily="34" charset="-120"/>
              </a:rPr>
              <a:t> included a small sample of night rates/</a:t>
            </a:r>
            <a:r>
              <a:rPr lang="en-US" sz="1800" dirty="0" err="1">
                <a:solidFill>
                  <a:srgbClr val="484848"/>
                </a:solidFill>
                <a:latin typeface="Poppins" pitchFamily="34" charset="0"/>
                <a:ea typeface="Poppins" pitchFamily="34" charset="-122"/>
                <a:cs typeface="Poppins" pitchFamily="34" charset="-120"/>
              </a:rPr>
              <a:t>occupancy</a:t>
            </a:r>
            <a:r>
              <a:rPr lang="en-US" sz="1800" dirty="0">
                <a:solidFill>
                  <a:srgbClr val="484848"/>
                </a:solidFill>
                <a:latin typeface="Poppins" pitchFamily="34" charset="0"/>
                <a:ea typeface="Poppins" pitchFamily="34" charset="-122"/>
                <a:cs typeface="Poppins" pitchFamily="34" charset="-120"/>
              </a:rPr>
              <a:t>.</a:t>
            </a:r>
            <a:endParaRPr lang="en-US" sz="1100" dirty="0"/>
          </a:p>
        </p:txBody>
      </p:sp>
      <p:sp>
        <p:nvSpPr>
          <p:cNvPr id="3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04 · KEY VARIABLES (EDA)</a:t>
            </a:r>
            <a:endParaRPr lang="en-US" sz="1200"/>
          </a:p>
        </p:txBody>
      </p:sp>
      <p:sp>
        <p:nvSpPr>
          <p:cNvPr id="3" name="Text 1"/>
          <p:cNvSpPr/>
          <p:nvPr/>
        </p:nvSpPr>
        <p:spPr>
          <a:xfrm>
            <a:off x="493775" y="768096"/>
            <a:ext cx="11140135" cy="868680"/>
          </a:xfrm>
          <a:prstGeom prst="rect">
            <a:avLst/>
          </a:prstGeom>
          <a:noFill/>
          <a:ln/>
        </p:spPr>
        <p:txBody>
          <a:bodyPr wrap="square" lIns="0" tIns="0" rIns="0" bIns="0" rtlCol="0" anchor="ctr"/>
          <a:lstStyle/>
          <a:p>
            <a:pPr>
              <a:lnSpc>
                <a:spcPct val="102000"/>
              </a:lnSpc>
            </a:pPr>
            <a:r>
              <a:rPr lang="en-US" sz="3400" b="1" dirty="0">
                <a:solidFill>
                  <a:srgbClr val="222222"/>
                </a:solidFill>
                <a:latin typeface="Poppins"/>
                <a:cs typeface="Poppins"/>
              </a:rPr>
              <a:t>One problem, two markets that behave differently</a:t>
            </a:r>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5</a:t>
            </a:r>
            <a:endParaRPr lang="en-US" sz="900"/>
          </a:p>
        </p:txBody>
      </p:sp>
      <p:sp>
        <p:nvSpPr>
          <p:cNvPr id="38" name="Shape 34"/>
          <p:cNvSpPr/>
          <p:nvPr/>
        </p:nvSpPr>
        <p:spPr>
          <a:xfrm>
            <a:off x="8027515" y="1569100"/>
            <a:ext cx="603504" cy="603504"/>
          </a:xfrm>
          <a:prstGeom prst="ellipse">
            <a:avLst/>
          </a:prstGeom>
          <a:solidFill>
            <a:srgbClr val="FFFFFF"/>
          </a:solidFill>
          <a:ln/>
          <a:effectLst/>
        </p:spPr>
        <p:txBody>
          <a:bodyPr/>
          <a:lstStyle/>
          <a:p>
            <a:endParaRPr lang="en-US"/>
          </a:p>
        </p:txBody>
      </p:sp>
      <p:sp>
        <p:nvSpPr>
          <p:cNvPr id="40" name="Text 35"/>
          <p:cNvSpPr/>
          <p:nvPr/>
        </p:nvSpPr>
        <p:spPr>
          <a:xfrm>
            <a:off x="8037953" y="2487168"/>
            <a:ext cx="3816262" cy="411480"/>
          </a:xfrm>
          <a:prstGeom prst="rect">
            <a:avLst/>
          </a:prstGeom>
          <a:noFill/>
          <a:ln/>
        </p:spPr>
        <p:txBody>
          <a:bodyPr wrap="square" lIns="0" tIns="0" rIns="0" bIns="0" rtlCol="0" anchor="ctr"/>
          <a:lstStyle/>
          <a:p>
            <a:r>
              <a:rPr lang="en-US" sz="2000" b="1">
                <a:solidFill>
                  <a:srgbClr val="222222"/>
                </a:solidFill>
                <a:latin typeface="Poppins"/>
                <a:cs typeface="Poppins"/>
              </a:rPr>
              <a:t>Why two markets?</a:t>
            </a:r>
            <a:endParaRPr lang="en-US"/>
          </a:p>
        </p:txBody>
      </p:sp>
      <p:sp>
        <p:nvSpPr>
          <p:cNvPr id="42" name="Text 37"/>
          <p:cNvSpPr/>
          <p:nvPr/>
        </p:nvSpPr>
        <p:spPr>
          <a:xfrm>
            <a:off x="8037953" y="3017520"/>
            <a:ext cx="3816262" cy="2194560"/>
          </a:xfrm>
          <a:prstGeom prst="rect">
            <a:avLst/>
          </a:prstGeom>
          <a:noFill/>
          <a:ln/>
        </p:spPr>
        <p:txBody>
          <a:bodyPr wrap="square" lIns="0" tIns="0" rIns="0" bIns="0" rtlCol="0" anchor="t"/>
          <a:lstStyle/>
          <a:p>
            <a:pPr>
              <a:lnSpc>
                <a:spcPct val="106000"/>
              </a:lnSpc>
            </a:pPr>
            <a:br>
              <a:rPr lang="en-US" sz="1600" dirty="0">
                <a:latin typeface="Poppins"/>
                <a:cs typeface="Poppins"/>
              </a:rPr>
            </a:br>
            <a:r>
              <a:rPr lang="en-US" sz="1800" i="1" dirty="0">
                <a:solidFill>
                  <a:srgbClr val="484848"/>
                </a:solidFill>
                <a:latin typeface="Poppins"/>
                <a:ea typeface="+mn-lt"/>
                <a:cs typeface="Poppins"/>
              </a:rPr>
              <a:t>Short-stay and monthly stays compete with different alternatives and only one responds measurably to price.</a:t>
            </a:r>
            <a:br>
              <a:rPr lang="en-US" sz="1800" i="1" dirty="0">
                <a:solidFill>
                  <a:srgbClr val="484848"/>
                </a:solidFill>
                <a:latin typeface="Poppins"/>
                <a:ea typeface="+mn-lt"/>
                <a:cs typeface="Poppins"/>
              </a:rPr>
            </a:br>
            <a:br>
              <a:rPr lang="en-US" sz="1800" i="1" dirty="0">
                <a:solidFill>
                  <a:srgbClr val="484848"/>
                </a:solidFill>
                <a:latin typeface="Poppins"/>
                <a:ea typeface="+mn-lt"/>
                <a:cs typeface="Poppins"/>
              </a:rPr>
            </a:br>
            <a:r>
              <a:rPr lang="en-US" sz="1800" i="1" dirty="0">
                <a:solidFill>
                  <a:srgbClr val="484848"/>
                </a:solidFill>
                <a:latin typeface="Poppins"/>
                <a:ea typeface="+mn-lt"/>
                <a:cs typeface="Poppins"/>
              </a:rPr>
              <a:t>One model, calibrated separately for each market</a:t>
            </a:r>
            <a:br>
              <a:rPr lang="en-US" sz="1600" i="1" dirty="0">
                <a:latin typeface="Poppins"/>
                <a:ea typeface="+mn-lt"/>
                <a:cs typeface="Poppins"/>
              </a:rPr>
            </a:br>
            <a:br>
              <a:rPr lang="en-US" sz="1600" i="1" dirty="0">
                <a:latin typeface="Poppins"/>
                <a:ea typeface="+mn-lt"/>
                <a:cs typeface="Poppins"/>
              </a:rPr>
            </a:br>
            <a:endParaRPr lang="en-US" sz="1600" i="1" dirty="0">
              <a:latin typeface="Poppins"/>
              <a:ea typeface="+mn-lt"/>
              <a:cs typeface="Poppins"/>
            </a:endParaRPr>
          </a:p>
        </p:txBody>
      </p:sp>
      <p:sp>
        <p:nvSpPr>
          <p:cNvPr id="43" name="Rounded Rectangle 42"/>
          <p:cNvSpPr/>
          <p:nvPr/>
        </p:nvSpPr>
        <p:spPr>
          <a:xfrm>
            <a:off x="640080" y="2240280"/>
            <a:ext cx="3337560" cy="324612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700" b="1">
                <a:solidFill>
                  <a:srgbClr val="FF385C"/>
                </a:solidFill>
                <a:latin typeface="Poppins"/>
              </a:rPr>
              <a:t>SHORT-STAY</a:t>
            </a:r>
          </a:p>
        </p:txBody>
      </p:sp>
      <p:sp>
        <p:nvSpPr>
          <p:cNvPr id="45" name="TextBox 44"/>
          <p:cNvSpPr txBox="1"/>
          <p:nvPr/>
        </p:nvSpPr>
        <p:spPr>
          <a:xfrm>
            <a:off x="932688" y="2999232"/>
            <a:ext cx="2743200" cy="475488"/>
          </a:xfrm>
          <a:prstGeom prst="rect">
            <a:avLst/>
          </a:prstGeom>
          <a:noFill/>
        </p:spPr>
        <p:txBody>
          <a:bodyPr wrap="square" lIns="0" tIns="0" rIns="0" bIns="0">
            <a:spAutoFit/>
          </a:bodyPr>
          <a:lstStyle/>
          <a:p>
            <a:pPr algn="l"/>
            <a:r>
              <a:rPr sz="3000" b="1">
                <a:solidFill>
                  <a:srgbClr val="222222"/>
                </a:solidFill>
                <a:latin typeface="Poppins"/>
              </a:rPr>
              <a:t>4,008</a:t>
            </a:r>
          </a:p>
        </p:txBody>
      </p:sp>
      <p:sp>
        <p:nvSpPr>
          <p:cNvPr id="46" name="TextBox 45"/>
          <p:cNvSpPr txBox="1"/>
          <p:nvPr/>
        </p:nvSpPr>
        <p:spPr>
          <a:xfrm>
            <a:off x="932688" y="3456432"/>
            <a:ext cx="2743200" cy="292608"/>
          </a:xfrm>
          <a:prstGeom prst="rect">
            <a:avLst/>
          </a:prstGeom>
          <a:noFill/>
        </p:spPr>
        <p:txBody>
          <a:bodyPr wrap="square" lIns="0" tIns="0" rIns="0" bIns="0">
            <a:spAutoFit/>
          </a:bodyPr>
          <a:lstStyle/>
          <a:p>
            <a:pPr algn="l"/>
            <a:r>
              <a:rPr sz="1550" b="0">
                <a:solidFill>
                  <a:srgbClr val="484848"/>
                </a:solidFill>
                <a:latin typeface="Poppins"/>
              </a:rPr>
              <a:t>listings  ·  41% of the market</a:t>
            </a:r>
          </a:p>
        </p:txBody>
      </p:sp>
      <p:sp>
        <p:nvSpPr>
          <p:cNvPr id="47" name="TextBox 46"/>
          <p:cNvSpPr txBox="1"/>
          <p:nvPr/>
        </p:nvSpPr>
        <p:spPr>
          <a:xfrm>
            <a:off x="932688" y="3785615"/>
            <a:ext cx="2743200" cy="475488"/>
          </a:xfrm>
          <a:prstGeom prst="rect">
            <a:avLst/>
          </a:prstGeom>
          <a:noFill/>
        </p:spPr>
        <p:txBody>
          <a:bodyPr wrap="square" lIns="0" tIns="0" rIns="0" bIns="0">
            <a:spAutoFit/>
          </a:bodyPr>
          <a:lstStyle/>
          <a:p>
            <a:pPr algn="l"/>
            <a:r>
              <a:rPr sz="3000" b="1">
                <a:solidFill>
                  <a:srgbClr val="222222"/>
                </a:solidFill>
                <a:latin typeface="Poppins"/>
              </a:rPr>
              <a:t>$284</a:t>
            </a:r>
          </a:p>
        </p:txBody>
      </p:sp>
      <p:sp>
        <p:nvSpPr>
          <p:cNvPr id="48" name="TextBox 47"/>
          <p:cNvSpPr txBox="1"/>
          <p:nvPr/>
        </p:nvSpPr>
        <p:spPr>
          <a:xfrm>
            <a:off x="932688" y="4242816"/>
            <a:ext cx="2743200" cy="292608"/>
          </a:xfrm>
          <a:prstGeom prst="rect">
            <a:avLst/>
          </a:prstGeom>
          <a:noFill/>
        </p:spPr>
        <p:txBody>
          <a:bodyPr wrap="square" lIns="0" tIns="0" rIns="0" bIns="0">
            <a:spAutoFit/>
          </a:bodyPr>
          <a:lstStyle/>
          <a:p>
            <a:pPr algn="l"/>
            <a:r>
              <a:rPr sz="1550" b="0">
                <a:solidFill>
                  <a:srgbClr val="484848"/>
                </a:solidFill>
                <a:latin typeface="Poppins"/>
              </a:rPr>
              <a:t>median nightly rate</a:t>
            </a:r>
          </a:p>
        </p:txBody>
      </p:sp>
      <p:sp>
        <p:nvSpPr>
          <p:cNvPr id="49" name="TextBox 48"/>
          <p:cNvSpPr txBox="1"/>
          <p:nvPr/>
        </p:nvSpPr>
        <p:spPr>
          <a:xfrm>
            <a:off x="932688" y="4572000"/>
            <a:ext cx="2743200" cy="475488"/>
          </a:xfrm>
          <a:prstGeom prst="rect">
            <a:avLst/>
          </a:prstGeom>
          <a:noFill/>
        </p:spPr>
        <p:txBody>
          <a:bodyPr wrap="square" lIns="0" tIns="0" rIns="0" bIns="0">
            <a:spAutoFit/>
          </a:bodyPr>
          <a:lstStyle/>
          <a:p>
            <a:pPr algn="l"/>
            <a:r>
              <a:rPr sz="3000" b="1">
                <a:solidFill>
                  <a:srgbClr val="222222"/>
                </a:solidFill>
                <a:latin typeface="Poppins"/>
              </a:rPr>
              <a:t>−0.92</a:t>
            </a:r>
          </a:p>
        </p:txBody>
      </p:sp>
      <p:sp>
        <p:nvSpPr>
          <p:cNvPr id="50" name="TextBox 49"/>
          <p:cNvSpPr txBox="1"/>
          <p:nvPr/>
        </p:nvSpPr>
        <p:spPr>
          <a:xfrm>
            <a:off x="932688" y="5029200"/>
            <a:ext cx="2743200" cy="292608"/>
          </a:xfrm>
          <a:prstGeom prst="rect">
            <a:avLst/>
          </a:prstGeom>
          <a:noFill/>
        </p:spPr>
        <p:txBody>
          <a:bodyPr wrap="square" lIns="0" tIns="0" rIns="0" bIns="0">
            <a:spAutoFit/>
          </a:bodyPr>
          <a:lstStyle/>
          <a:p>
            <a:pPr algn="l"/>
            <a:r>
              <a:rPr sz="1550" b="0">
                <a:solidFill>
                  <a:srgbClr val="484848"/>
                </a:solidFill>
                <a:latin typeface="Poppins"/>
              </a:rPr>
              <a:t>price elasticity</a:t>
            </a:r>
            <a:r>
              <a:rPr lang="en-US" sz="1550" b="0">
                <a:solidFill>
                  <a:srgbClr val="484848"/>
                </a:solidFill>
                <a:latin typeface="Poppins"/>
              </a:rPr>
              <a:t>, </a:t>
            </a:r>
            <a:r>
              <a:rPr sz="1550" b="0">
                <a:solidFill>
                  <a:srgbClr val="484848"/>
                </a:solidFill>
                <a:latin typeface="Poppins"/>
              </a:rPr>
              <a:t>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700" b="1">
                <a:solidFill>
                  <a:srgbClr val="00A699"/>
                </a:solidFill>
                <a:latin typeface="Poppins"/>
              </a:rPr>
              <a:t>MONTHLY  (28+ nights)</a:t>
            </a:r>
          </a:p>
        </p:txBody>
      </p:sp>
      <p:sp>
        <p:nvSpPr>
          <p:cNvPr id="53" name="TextBox 52"/>
          <p:cNvSpPr txBox="1"/>
          <p:nvPr/>
        </p:nvSpPr>
        <p:spPr>
          <a:xfrm>
            <a:off x="4544568" y="2999232"/>
            <a:ext cx="2743200" cy="475488"/>
          </a:xfrm>
          <a:prstGeom prst="rect">
            <a:avLst/>
          </a:prstGeom>
          <a:noFill/>
        </p:spPr>
        <p:txBody>
          <a:bodyPr wrap="square" lIns="0" tIns="0" rIns="0" bIns="0">
            <a:spAutoFit/>
          </a:bodyPr>
          <a:lstStyle/>
          <a:p>
            <a:pPr algn="l"/>
            <a:r>
              <a:rPr sz="3000" b="1">
                <a:solidFill>
                  <a:srgbClr val="222222"/>
                </a:solidFill>
                <a:latin typeface="Poppins"/>
              </a:rPr>
              <a:t>5,744</a:t>
            </a:r>
          </a:p>
        </p:txBody>
      </p:sp>
      <p:sp>
        <p:nvSpPr>
          <p:cNvPr id="54" name="TextBox 53"/>
          <p:cNvSpPr txBox="1"/>
          <p:nvPr/>
        </p:nvSpPr>
        <p:spPr>
          <a:xfrm>
            <a:off x="4544568" y="3456432"/>
            <a:ext cx="2743200" cy="292608"/>
          </a:xfrm>
          <a:prstGeom prst="rect">
            <a:avLst/>
          </a:prstGeom>
          <a:noFill/>
        </p:spPr>
        <p:txBody>
          <a:bodyPr wrap="square" lIns="0" tIns="0" rIns="0" bIns="0">
            <a:spAutoFit/>
          </a:bodyPr>
          <a:lstStyle/>
          <a:p>
            <a:pPr algn="l"/>
            <a:r>
              <a:rPr sz="1550" b="0">
                <a:solidFill>
                  <a:srgbClr val="484848"/>
                </a:solidFill>
                <a:latin typeface="Poppins"/>
              </a:rPr>
              <a:t>listings  ·  59% of the market</a:t>
            </a:r>
          </a:p>
        </p:txBody>
      </p:sp>
      <p:sp>
        <p:nvSpPr>
          <p:cNvPr id="55" name="TextBox 54"/>
          <p:cNvSpPr txBox="1"/>
          <p:nvPr/>
        </p:nvSpPr>
        <p:spPr>
          <a:xfrm>
            <a:off x="4544568" y="3785615"/>
            <a:ext cx="2743200" cy="475488"/>
          </a:xfrm>
          <a:prstGeom prst="rect">
            <a:avLst/>
          </a:prstGeom>
          <a:noFill/>
        </p:spPr>
        <p:txBody>
          <a:bodyPr wrap="square" lIns="0" tIns="0" rIns="0" bIns="0">
            <a:spAutoFit/>
          </a:bodyPr>
          <a:lstStyle/>
          <a:p>
            <a:pPr algn="l"/>
            <a:r>
              <a:rPr sz="3000" b="1">
                <a:solidFill>
                  <a:srgbClr val="222222"/>
                </a:solidFill>
                <a:latin typeface="Poppins"/>
              </a:rPr>
              <a:t>$131</a:t>
            </a:r>
          </a:p>
        </p:txBody>
      </p:sp>
      <p:sp>
        <p:nvSpPr>
          <p:cNvPr id="56" name="TextBox 55"/>
          <p:cNvSpPr txBox="1"/>
          <p:nvPr/>
        </p:nvSpPr>
        <p:spPr>
          <a:xfrm>
            <a:off x="4544568" y="4242816"/>
            <a:ext cx="2743200" cy="292608"/>
          </a:xfrm>
          <a:prstGeom prst="rect">
            <a:avLst/>
          </a:prstGeom>
          <a:noFill/>
        </p:spPr>
        <p:txBody>
          <a:bodyPr wrap="square" lIns="0" tIns="0" rIns="0" bIns="0">
            <a:spAutoFit/>
          </a:bodyPr>
          <a:lstStyle/>
          <a:p>
            <a:pPr algn="l"/>
            <a:r>
              <a:rPr sz="1550" b="0">
                <a:solidFill>
                  <a:srgbClr val="484848"/>
                </a:solidFill>
                <a:latin typeface="Poppins"/>
              </a:rPr>
              <a:t>median nightly rate</a:t>
            </a:r>
          </a:p>
        </p:txBody>
      </p:sp>
      <p:sp>
        <p:nvSpPr>
          <p:cNvPr id="57" name="TextBox 56"/>
          <p:cNvSpPr txBox="1"/>
          <p:nvPr/>
        </p:nvSpPr>
        <p:spPr>
          <a:xfrm>
            <a:off x="4544568" y="4572000"/>
            <a:ext cx="2743200" cy="475488"/>
          </a:xfrm>
          <a:prstGeom prst="rect">
            <a:avLst/>
          </a:prstGeom>
          <a:noFill/>
        </p:spPr>
        <p:txBody>
          <a:bodyPr wrap="square" lIns="0" tIns="0" rIns="0" bIns="0">
            <a:spAutoFit/>
          </a:bodyPr>
          <a:lstStyle/>
          <a:p>
            <a:pPr algn="l"/>
            <a:r>
              <a:rPr sz="3000" b="1">
                <a:solidFill>
                  <a:srgbClr val="222222"/>
                </a:solidFill>
                <a:latin typeface="Poppins"/>
              </a:rPr>
              <a:t>none</a:t>
            </a:r>
          </a:p>
        </p:txBody>
      </p:sp>
      <p:sp>
        <p:nvSpPr>
          <p:cNvPr id="58" name="TextBox 57"/>
          <p:cNvSpPr txBox="1"/>
          <p:nvPr/>
        </p:nvSpPr>
        <p:spPr>
          <a:xfrm>
            <a:off x="4544568" y="5029200"/>
            <a:ext cx="2743200" cy="292608"/>
          </a:xfrm>
          <a:prstGeom prst="rect">
            <a:avLst/>
          </a:prstGeom>
          <a:noFill/>
        </p:spPr>
        <p:txBody>
          <a:bodyPr wrap="square" lIns="0" tIns="0" rIns="0" bIns="0">
            <a:spAutoFit/>
          </a:bodyPr>
          <a:lstStyle/>
          <a:p>
            <a:pPr algn="l"/>
            <a:r>
              <a:rPr sz="1550" b="0">
                <a:solidFill>
                  <a:srgbClr val="484848"/>
                </a:solidFill>
                <a:latin typeface="Poppins"/>
              </a:rPr>
              <a:t>no price response detected</a:t>
            </a:r>
          </a:p>
        </p:txBody>
      </p:sp>
      <p:sp>
        <p:nvSpPr>
          <p:cNvPr id="5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05 · A KEY RELATIONSHIP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a:lnSpc>
                <a:spcPct val="102000"/>
              </a:lnSpc>
            </a:pPr>
            <a:r>
              <a:rPr lang="en-US" sz="3400" b="1" dirty="0">
                <a:solidFill>
                  <a:srgbClr val="222222"/>
                </a:solidFill>
                <a:latin typeface="Poppins"/>
                <a:cs typeface="Poppins"/>
              </a:rPr>
              <a:t>Two listings priced at $200 are NOT comparable</a:t>
            </a:r>
            <a:endParaRPr lang="en-US"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Rachael</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6</a:t>
            </a:r>
            <a:endParaRPr lang="en-US" sz="900"/>
          </a:p>
        </p:txBody>
      </p:sp>
      <p:sp>
        <p:nvSpPr>
          <p:cNvPr id="12" name="Shape 8"/>
          <p:cNvSpPr/>
          <p:nvPr/>
        </p:nvSpPr>
        <p:spPr>
          <a:xfrm>
            <a:off x="502920" y="2240280"/>
            <a:ext cx="5577840" cy="3794760"/>
          </a:xfrm>
          <a:prstGeom prst="roundRect">
            <a:avLst>
              <a:gd name="adj" fmla="val 3373"/>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Occupancy by review count</a:t>
            </a:r>
            <a:endParaRPr lang="en-US" sz="135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34%</a:t>
            </a:r>
            <a:endParaRPr lang="en-US" sz="120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0–10</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37%</a:t>
            </a:r>
            <a:endParaRPr lang="en-US" sz="120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11–50</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500" b="1">
                <a:solidFill>
                  <a:srgbClr val="222222"/>
                </a:solidFill>
                <a:latin typeface="Poppins" pitchFamily="34" charset="0"/>
                <a:ea typeface="Poppins" pitchFamily="34" charset="-122"/>
                <a:cs typeface="Poppins" pitchFamily="34" charset="-120"/>
              </a:rPr>
              <a:t>42%</a:t>
            </a:r>
            <a:endParaRPr lang="en-US" sz="120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51+</a:t>
            </a:r>
            <a:endParaRPr lang="en-US" sz="1050"/>
          </a:p>
          <a:p>
            <a:pPr marL="0" indent="0" algn="ctr">
              <a:lnSpc>
                <a:spcPct val="98000"/>
              </a:lnSpc>
              <a:buNone/>
            </a:pPr>
            <a:r>
              <a:rPr lang="en-US" sz="1250">
                <a:solidFill>
                  <a:srgbClr val="484848"/>
                </a:solidFill>
                <a:latin typeface="Poppins" pitchFamily="34" charset="0"/>
                <a:ea typeface="Poppins" pitchFamily="34" charset="-122"/>
                <a:cs typeface="Poppins" pitchFamily="34" charset="-120"/>
              </a:rPr>
              <a:t>reviews</a:t>
            </a:r>
            <a:endParaRPr lang="en-US" sz="1050"/>
          </a:p>
        </p:txBody>
      </p:sp>
      <p:sp>
        <p:nvSpPr>
          <p:cNvPr id="23" name="Text 19"/>
          <p:cNvSpPr/>
          <p:nvPr/>
        </p:nvSpPr>
        <p:spPr>
          <a:xfrm>
            <a:off x="731520" y="5532120"/>
            <a:ext cx="5120640" cy="566928"/>
          </a:xfrm>
          <a:prstGeom prst="rect">
            <a:avLst/>
          </a:prstGeom>
          <a:noFill/>
          <a:ln/>
        </p:spPr>
        <p:txBody>
          <a:bodyPr wrap="square" lIns="0" tIns="0" rIns="0" bIns="0" rtlCol="0" anchor="ctr"/>
          <a:lstStyle/>
          <a:p>
            <a:pPr marL="0" indent="0">
              <a:buNone/>
            </a:pPr>
            <a:r>
              <a:rPr lang="en-US" sz="1550" i="1">
                <a:solidFill>
                  <a:srgbClr val="484848"/>
                </a:solidFill>
                <a:latin typeface="Poppins" pitchFamily="34" charset="0"/>
                <a:ea typeface="Poppins" pitchFamily="34" charset="-122"/>
                <a:cs typeface="Poppins" pitchFamily="34" charset="-120"/>
              </a:rPr>
              <a:t>Tenure is flat at 37–39%. It is the reviews, not the years.</a:t>
            </a:r>
            <a:endParaRPr lang="en-US" sz="1050"/>
          </a:p>
        </p:txBody>
      </p:sp>
      <p:sp>
        <p:nvSpPr>
          <p:cNvPr id="24" name="Shape 20"/>
          <p:cNvSpPr/>
          <p:nvPr/>
        </p:nvSpPr>
        <p:spPr>
          <a:xfrm>
            <a:off x="6426033" y="2342131"/>
            <a:ext cx="5569596" cy="3799089"/>
          </a:xfrm>
          <a:prstGeom prst="roundRect">
            <a:avLst>
              <a:gd name="adj" fmla="val 3373"/>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22"/>
          <p:cNvSpPr/>
          <p:nvPr/>
        </p:nvSpPr>
        <p:spPr>
          <a:xfrm>
            <a:off x="6556248" y="2560320"/>
            <a:ext cx="4206240" cy="365760"/>
          </a:xfrm>
          <a:prstGeom prst="rect">
            <a:avLst/>
          </a:prstGeom>
          <a:noFill/>
          <a:ln/>
        </p:spPr>
        <p:txBody>
          <a:bodyPr wrap="square" lIns="0" tIns="0" rIns="0" bIns="0" rtlCol="0" anchor="ctr"/>
          <a:lstStyle/>
          <a:p>
            <a:r>
              <a:rPr lang="en-US" sz="2000" b="1">
                <a:solidFill>
                  <a:srgbClr val="222222"/>
                </a:solidFill>
                <a:latin typeface="Poppins"/>
                <a:cs typeface="Poppins"/>
              </a:rPr>
              <a:t>Why we built a model</a:t>
            </a:r>
            <a:endParaRPr lang="en-US"/>
          </a:p>
        </p:txBody>
      </p:sp>
      <p:sp>
        <p:nvSpPr>
          <p:cNvPr id="28" name="Text 23"/>
          <p:cNvSpPr/>
          <p:nvPr/>
        </p:nvSpPr>
        <p:spPr>
          <a:xfrm>
            <a:off x="6683815" y="3154680"/>
            <a:ext cx="4463487" cy="932688"/>
          </a:xfrm>
          <a:prstGeom prst="rect">
            <a:avLst/>
          </a:prstGeom>
          <a:noFill/>
          <a:ln/>
        </p:spPr>
        <p:txBody>
          <a:bodyPr wrap="square" lIns="0" tIns="0" rIns="0" bIns="0" rtlCol="0" anchor="t"/>
          <a:lstStyle/>
          <a:p>
            <a:pPr>
              <a:lnSpc>
                <a:spcPct val="107000"/>
              </a:lnSpc>
            </a:pPr>
            <a:r>
              <a:rPr lang="en-US" dirty="0">
                <a:solidFill>
                  <a:srgbClr val="484848"/>
                </a:solidFill>
                <a:latin typeface="Poppins"/>
                <a:cs typeface="Poppins"/>
              </a:rPr>
              <a:t>Host:  “is this listing expensive?” </a:t>
            </a:r>
            <a:r>
              <a:rPr lang="en-US" dirty="0">
                <a:solidFill>
                  <a:srgbClr val="484848"/>
                </a:solidFill>
                <a:latin typeface="Poppins"/>
                <a:cs typeface="Poppins"/>
                <a:sym typeface="Wingdings" panose="05000000000000000000" pitchFamily="2" charset="2"/>
              </a:rPr>
              <a:t> no answer until…</a:t>
            </a:r>
            <a:endParaRPr lang="en-US" dirty="0">
              <a:solidFill>
                <a:srgbClr val="4A4A4A"/>
              </a:solidFill>
              <a:latin typeface="Poppins"/>
              <a:cs typeface="Poppins"/>
            </a:endParaRPr>
          </a:p>
        </p:txBody>
      </p:sp>
      <p:sp>
        <p:nvSpPr>
          <p:cNvPr id="29" name="Shape 24"/>
          <p:cNvSpPr/>
          <p:nvPr/>
        </p:nvSpPr>
        <p:spPr>
          <a:xfrm>
            <a:off x="6556696" y="4300928"/>
            <a:ext cx="4854567" cy="1453547"/>
          </a:xfrm>
          <a:prstGeom prst="roundRect">
            <a:avLst>
              <a:gd name="adj" fmla="val 11429"/>
            </a:avLst>
          </a:prstGeom>
          <a:solidFill>
            <a:srgbClr val="FFFFFF"/>
          </a:solidFill>
          <a:ln w="9525">
            <a:solidFill>
              <a:srgbClr val="DDDDDD"/>
            </a:solidFill>
          </a:ln>
          <a:effectLst/>
        </p:spPr>
        <p:txBody>
          <a:bodyPr/>
          <a:lstStyle/>
          <a:p>
            <a:endParaRPr lang="en-US"/>
          </a:p>
        </p:txBody>
      </p:sp>
      <p:sp>
        <p:nvSpPr>
          <p:cNvPr id="30" name="Text 25"/>
          <p:cNvSpPr/>
          <p:nvPr/>
        </p:nvSpPr>
        <p:spPr>
          <a:xfrm>
            <a:off x="6997657" y="4350646"/>
            <a:ext cx="4428595" cy="1468536"/>
          </a:xfrm>
          <a:prstGeom prst="rect">
            <a:avLst/>
          </a:prstGeom>
          <a:noFill/>
          <a:ln/>
        </p:spPr>
        <p:txBody>
          <a:bodyPr wrap="square" lIns="0" tIns="0" rIns="0" bIns="0" rtlCol="0" anchor="ctr"/>
          <a:lstStyle/>
          <a:p>
            <a:pPr>
              <a:lnSpc>
                <a:spcPct val="105000"/>
              </a:lnSpc>
            </a:pPr>
            <a:r>
              <a:rPr lang="en-US" sz="1800" b="1" i="1" dirty="0">
                <a:solidFill>
                  <a:srgbClr val="00A699"/>
                </a:solidFill>
                <a:latin typeface="Poppins"/>
                <a:ea typeface="Poppins" pitchFamily="34" charset="-122"/>
                <a:cs typeface="Poppins"/>
              </a:rPr>
              <a:t>Why our model? </a:t>
            </a:r>
            <a:r>
              <a:rPr lang="en-US" b="1" i="1" dirty="0">
                <a:solidFill>
                  <a:srgbClr val="00A699"/>
                </a:solidFill>
                <a:latin typeface="Poppins"/>
                <a:ea typeface="Poppins" pitchFamily="34" charset="-122"/>
                <a:cs typeface="Poppins"/>
                <a:sym typeface="Wingdings" panose="05000000000000000000" pitchFamily="2" charset="2"/>
              </a:rPr>
              <a:t> a fair price against similar listing, not against the market average. </a:t>
            </a:r>
            <a:endParaRPr lang="en-US" sz="1250" dirty="0">
              <a:latin typeface="Poppins"/>
              <a:cs typeface="Poppins"/>
            </a:endParaRPr>
          </a:p>
        </p:txBody>
      </p:sp>
      <p:sp>
        <p:nvSpPr>
          <p:cNvPr id="31"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06 · THE SOLUTION</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We show the reasoning</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Hosts act on a price they can question.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7</a:t>
            </a:r>
            <a:endParaRPr lang="en-US" sz="900"/>
          </a:p>
        </p:txBody>
      </p:sp>
      <p:sp>
        <p:nvSpPr>
          <p:cNvPr id="12" name="Shape 8"/>
          <p:cNvSpPr/>
          <p:nvPr/>
        </p:nvSpPr>
        <p:spPr>
          <a:xfrm>
            <a:off x="502920" y="2286000"/>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58952" y="2578608"/>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 recommended fair value</a:t>
            </a:r>
            <a:endParaRPr lang="en-US" sz="130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One number, calibrated to the listing.</a:t>
            </a:r>
            <a:endParaRPr lang="en-US" sz="1100"/>
          </a:p>
        </p:txBody>
      </p:sp>
      <p:sp>
        <p:nvSpPr>
          <p:cNvPr id="17" name="Shape 12"/>
          <p:cNvSpPr/>
          <p:nvPr/>
        </p:nvSpPr>
        <p:spPr>
          <a:xfrm>
            <a:off x="4146804" y="2286000"/>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4407408" y="2578608"/>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Comparable listings</a:t>
            </a:r>
            <a:endParaRPr lang="en-US" sz="130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The real properties behind it.</a:t>
            </a:r>
            <a:endParaRPr lang="en-US" sz="1100"/>
          </a:p>
        </p:txBody>
      </p:sp>
      <p:sp>
        <p:nvSpPr>
          <p:cNvPr id="22" name="Shape 16"/>
          <p:cNvSpPr/>
          <p:nvPr/>
        </p:nvSpPr>
        <p:spPr>
          <a:xfrm>
            <a:off x="502920" y="4224528"/>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58952" y="4517136"/>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Amenity differences</a:t>
            </a:r>
            <a:endParaRPr lang="en-US" sz="130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What high performers offer that you don't.</a:t>
            </a:r>
            <a:endParaRPr lang="en-US" sz="1100"/>
          </a:p>
        </p:txBody>
      </p:sp>
      <p:sp>
        <p:nvSpPr>
          <p:cNvPr id="27" name="Shape 20"/>
          <p:cNvSpPr/>
          <p:nvPr/>
        </p:nvSpPr>
        <p:spPr>
          <a:xfrm>
            <a:off x="4146804" y="4224528"/>
            <a:ext cx="3396996"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4407408" y="4517136"/>
            <a:ext cx="2880360" cy="502920"/>
          </a:xfrm>
          <a:prstGeom prst="rect">
            <a:avLst/>
          </a:prstGeom>
          <a:noFill/>
          <a:ln/>
        </p:spPr>
        <p:txBody>
          <a:bodyPr wrap="square" lIns="0" tIns="0" rIns="0" bIns="0" rtlCol="0" anchor="ctr"/>
          <a:lstStyle/>
          <a:p>
            <a:pPr marL="0" indent="0">
              <a:lnSpc>
                <a:spcPct val="95000"/>
              </a:lnSpc>
              <a:buNone/>
            </a:pPr>
            <a:r>
              <a:rPr lang="en-US" sz="1900" b="1">
                <a:solidFill>
                  <a:srgbClr val="222222"/>
                </a:solidFill>
                <a:latin typeface="Poppins" pitchFamily="34" charset="0"/>
                <a:ea typeface="Poppins" pitchFamily="34" charset="-122"/>
                <a:cs typeface="Poppins" pitchFamily="34" charset="-120"/>
              </a:rPr>
              <a:t>A revenue what-if</a:t>
            </a:r>
            <a:endParaRPr lang="en-US" sz="130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600">
                <a:solidFill>
                  <a:srgbClr val="484848"/>
                </a:solidFill>
                <a:latin typeface="Poppins" pitchFamily="34" charset="0"/>
                <a:ea typeface="Poppins" pitchFamily="34" charset="-122"/>
                <a:cs typeface="Poppins" pitchFamily="34" charset="-120"/>
              </a:rPr>
              <a:t>Test any price, see projected revenue.</a:t>
            </a:r>
            <a:endParaRPr lang="en-US" sz="1100"/>
          </a:p>
        </p:txBody>
      </p:sp>
      <p:sp>
        <p:nvSpPr>
          <p:cNvPr id="32" name="Shape 24"/>
          <p:cNvSpPr/>
          <p:nvPr/>
        </p:nvSpPr>
        <p:spPr>
          <a:xfrm>
            <a:off x="7772400" y="2286000"/>
            <a:ext cx="3913632" cy="3657600"/>
          </a:xfrm>
          <a:prstGeom prst="roundRect">
            <a:avLst>
              <a:gd name="adj" fmla="val 35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5" name="Text 26"/>
          <p:cNvSpPr/>
          <p:nvPr/>
        </p:nvSpPr>
        <p:spPr>
          <a:xfrm>
            <a:off x="8046720" y="2578608"/>
            <a:ext cx="338328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“Commander's Intent”</a:t>
            </a:r>
            <a:endParaRPr lang="en-US" sz="145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700">
                <a:solidFill>
                  <a:srgbClr val="484848"/>
                </a:solidFill>
                <a:latin typeface="Poppins" pitchFamily="34" charset="0"/>
                <a:ea typeface="Poppins" pitchFamily="34" charset="-122"/>
                <a:cs typeface="Poppins" pitchFamily="34" charset="-120"/>
              </a:rPr>
              <a:t>People make better decisions when they understand the reasoning.</a:t>
            </a:r>
            <a:endParaRPr lang="en-US" sz="125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700" b="1">
                <a:solidFill>
                  <a:srgbClr val="FF385C"/>
                </a:solidFill>
                <a:latin typeface="Poppins" pitchFamily="34" charset="0"/>
                <a:ea typeface="Poppins" pitchFamily="34" charset="-122"/>
                <a:cs typeface="Poppins" pitchFamily="34" charset="-120"/>
              </a:rPr>
              <a:t>Hosts trust a recommendation when they know where it came from.</a:t>
            </a:r>
            <a:endParaRPr lang="en-US" sz="1250"/>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07 · MODEL &amp; INSIGHTS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GBM prices it. KNN explains it.</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Two models, one recommendation.</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8</a:t>
            </a:r>
            <a:endParaRPr lang="en-US" sz="900"/>
          </a:p>
        </p:txBody>
      </p:sp>
      <p:sp>
        <p:nvSpPr>
          <p:cNvPr id="12" name="Shape 8"/>
          <p:cNvSpPr/>
          <p:nvPr/>
        </p:nvSpPr>
        <p:spPr>
          <a:xfrm>
            <a:off x="502920" y="2240280"/>
            <a:ext cx="5468112" cy="2148840"/>
          </a:xfrm>
          <a:prstGeom prst="roundRect">
            <a:avLst>
              <a:gd name="adj" fmla="val 595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300" b="1">
                <a:solidFill>
                  <a:srgbClr val="FFFFFF"/>
                </a:solidFill>
                <a:latin typeface="Poppins" pitchFamily="34" charset="0"/>
                <a:ea typeface="Poppins" pitchFamily="34" charset="-122"/>
                <a:cs typeface="Poppins" pitchFamily="34" charset="-120"/>
              </a:rPr>
              <a:t>GBM</a:t>
            </a:r>
            <a:endParaRPr lang="en-US" sz="1100"/>
          </a:p>
        </p:txBody>
      </p:sp>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Fair market value</a:t>
            </a:r>
            <a:endParaRPr lang="en-US" sz="1500"/>
          </a:p>
        </p:txBody>
      </p:sp>
      <p:sp>
        <p:nvSpPr>
          <p:cNvPr id="17" name="Text 12"/>
          <p:cNvSpPr/>
          <p:nvPr/>
        </p:nvSpPr>
        <p:spPr>
          <a:xfrm>
            <a:off x="777240" y="3483864"/>
            <a:ext cx="4462272" cy="96012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Gradient boosting captures nonlinear interactions and returns a fair price with a confidence interval.</a:t>
            </a:r>
            <a:endParaRPr lang="en-US" sz="1150"/>
          </a:p>
        </p:txBody>
      </p:sp>
      <p:sp>
        <p:nvSpPr>
          <p:cNvPr id="18" name="Shape 13"/>
          <p:cNvSpPr/>
          <p:nvPr/>
        </p:nvSpPr>
        <p:spPr>
          <a:xfrm>
            <a:off x="6217920" y="2240280"/>
            <a:ext cx="5468112" cy="2148840"/>
          </a:xfrm>
          <a:prstGeom prst="roundRect">
            <a:avLst>
              <a:gd name="adj" fmla="val 5957"/>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300" b="1">
                <a:solidFill>
                  <a:srgbClr val="FFFFFF"/>
                </a:solidFill>
                <a:latin typeface="Poppins" pitchFamily="34" charset="0"/>
                <a:ea typeface="Poppins" pitchFamily="34" charset="-122"/>
                <a:cs typeface="Poppins" pitchFamily="34" charset="-120"/>
              </a:rPr>
              <a:t>KNN</a:t>
            </a:r>
            <a:endParaRPr lang="en-US" sz="1100"/>
          </a:p>
        </p:txBody>
      </p:sp>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Comparable listings</a:t>
            </a:r>
            <a:endParaRPr lang="en-US" sz="1500"/>
          </a:p>
        </p:txBody>
      </p:sp>
      <p:sp>
        <p:nvSpPr>
          <p:cNvPr id="23" name="Text 17"/>
          <p:cNvSpPr/>
          <p:nvPr/>
        </p:nvSpPr>
        <p:spPr>
          <a:xfrm>
            <a:off x="6492240" y="3483864"/>
            <a:ext cx="4919472" cy="96012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Nearest-neighbors surfaces the similar listings, and their amenities, behind each recommendation.</a:t>
            </a:r>
            <a:endParaRPr lang="en-US" sz="1150"/>
          </a:p>
        </p:txBody>
      </p:sp>
      <p:sp>
        <p:nvSpPr>
          <p:cNvPr id="24" name="Shape 18"/>
          <p:cNvSpPr/>
          <p:nvPr/>
        </p:nvSpPr>
        <p:spPr>
          <a:xfrm>
            <a:off x="502920" y="4617720"/>
            <a:ext cx="11183112" cy="1417320"/>
          </a:xfrm>
          <a:prstGeom prst="roundRect">
            <a:avLst>
              <a:gd name="adj" fmla="val 9032"/>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4000" b="1">
                <a:solidFill>
                  <a:srgbClr val="FF385C"/>
                </a:solidFill>
                <a:latin typeface="Poppins" pitchFamily="34" charset="0"/>
                <a:ea typeface="Poppins" pitchFamily="34" charset="-122"/>
                <a:cs typeface="Poppins" pitchFamily="34" charset="-120"/>
              </a:rPr>
              <a:t>19.2%</a:t>
            </a:r>
            <a:endParaRPr lang="en-US" sz="340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median error, roughly half the error of a plain regression</a:t>
            </a:r>
            <a:endParaRPr lang="en-US" sz="1050"/>
          </a:p>
        </p:txBody>
      </p:sp>
      <p:sp>
        <p:nvSpPr>
          <p:cNvPr id="27" name="Shape 21"/>
          <p:cNvSpPr/>
          <p:nvPr/>
        </p:nvSpPr>
        <p:spPr>
          <a:xfrm>
            <a:off x="3611880" y="4800600"/>
            <a:ext cx="0" cy="1005840"/>
          </a:xfrm>
          <a:prstGeom prst="line">
            <a:avLst/>
          </a:prstGeom>
          <a:noFill/>
          <a:ln w="12700">
            <a:solidFill>
              <a:srgbClr val="EBEBEB"/>
            </a:solidFill>
            <a:prstDash val="solid"/>
          </a:ln>
          <a:effectLst/>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800" b="1">
                <a:solidFill>
                  <a:srgbClr val="222222"/>
                </a:solidFill>
                <a:latin typeface="Poppins" pitchFamily="34" charset="0"/>
                <a:ea typeface="Poppins" pitchFamily="34" charset="-122"/>
                <a:cs typeface="Poppins" pitchFamily="34" charset="-120"/>
              </a:rPr>
              <a:t>Half of listings read underpriced, half overpriced. Raising underpriced adds margin; cutting overpriced adds volume. Our number counts both.</a:t>
            </a:r>
            <a:endParaRPr lang="en-US" sz="1150"/>
          </a:p>
        </p:txBody>
      </p:sp>
      <p:sp>
        <p:nvSpPr>
          <p:cNvPr id="2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08 · PRODUCT WALKTHROUGH</a:t>
            </a:r>
            <a:endParaRPr lang="en-US" sz="120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400" b="1">
                <a:solidFill>
                  <a:srgbClr val="222222"/>
                </a:solidFill>
                <a:latin typeface="Poppins" pitchFamily="34" charset="0"/>
                <a:ea typeface="Poppins" pitchFamily="34" charset="-122"/>
                <a:cs typeface="Poppins" pitchFamily="34" charset="-120"/>
              </a:rPr>
              <a:t>The dashboard, in three clicks</a:t>
            </a:r>
            <a:endParaRPr lang="en-US" sz="300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Manas</a:t>
            </a:r>
            <a:endParaRPr lang="en-US" sz="950"/>
          </a:p>
        </p:txBody>
      </p:sp>
      <p:sp>
        <p:nvSpPr>
          <p:cNvPr id="7" name="Shape 5"/>
          <p:cNvSpPr/>
          <p:nvPr/>
        </p:nvSpPr>
        <p:spPr>
          <a:xfrm>
            <a:off x="502920" y="1600200"/>
            <a:ext cx="7360920" cy="4160520"/>
          </a:xfrm>
          <a:prstGeom prst="roundRect">
            <a:avLst>
              <a:gd name="adj" fmla="val 3516"/>
            </a:avLst>
          </a:prstGeom>
          <a:solidFill>
            <a:srgbClr val="FFFFFF"/>
          </a:solidFill>
          <a:ln w="9525">
            <a:solidFill>
              <a:srgbClr val="DDDDDD"/>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Airbnb Pricing Intelligence</a:t>
            </a:r>
            <a:endParaRPr lang="en-US" sz="130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a:solidFill>
                  <a:srgbClr val="FFFFFF"/>
                </a:solidFill>
                <a:latin typeface="Poppins" pitchFamily="34" charset="0"/>
                <a:ea typeface="Poppins" pitchFamily="34" charset="-122"/>
                <a:cs typeface="Poppins" pitchFamily="34" charset="-120"/>
              </a:rPr>
              <a:t>Greenpoint Place · Entire home · Brooklyn</a:t>
            </a:r>
            <a:endParaRPr lang="en-US" sz="105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RECOMMENDED FAIR VALUE</a:t>
            </a:r>
            <a:endParaRPr lang="en-US" sz="100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a:solidFill>
                  <a:srgbClr val="222222"/>
                </a:solidFill>
                <a:latin typeface="Poppins" pitchFamily="34" charset="0"/>
                <a:ea typeface="Poppins" pitchFamily="34" charset="-122"/>
                <a:cs typeface="Poppins" pitchFamily="34" charset="-120"/>
              </a:rPr>
              <a:t>$222</a:t>
            </a:r>
            <a:r>
              <a:rPr lang="en-US" sz="1400">
                <a:solidFill>
                  <a:srgbClr val="717171"/>
                </a:solidFill>
                <a:latin typeface="Poppins" pitchFamily="34" charset="0"/>
                <a:ea typeface="Poppins" pitchFamily="34" charset="-122"/>
                <a:cs typeface="Poppins" pitchFamily="34" charset="-120"/>
              </a:rPr>
              <a:t>  /night</a:t>
            </a:r>
            <a:endParaRPr lang="en-US" sz="440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a:solidFill>
                  <a:srgbClr val="717171"/>
                </a:solidFill>
                <a:latin typeface="Poppins" pitchFamily="34" charset="0"/>
                <a:ea typeface="Poppins" pitchFamily="34" charset="-122"/>
                <a:cs typeface="Poppins" pitchFamily="34" charset="-120"/>
              </a:rPr>
              <a:t>Confidence range $188 – $256</a:t>
            </a:r>
            <a:endParaRPr lang="en-US" sz="1100"/>
          </a:p>
        </p:txBody>
      </p:sp>
      <p:sp>
        <p:nvSpPr>
          <p:cNvPr id="17" name="Shape 14"/>
          <p:cNvSpPr/>
          <p:nvPr/>
        </p:nvSpPr>
        <p:spPr>
          <a:xfrm>
            <a:off x="4480560" y="2651760"/>
            <a:ext cx="3063240" cy="914400"/>
          </a:xfrm>
          <a:prstGeom prst="roundRect">
            <a:avLst>
              <a:gd name="adj" fmla="val 12000"/>
            </a:avLst>
          </a:prstGeom>
          <a:solidFill>
            <a:srgbClr val="FFFFFF"/>
          </a:solidFill>
          <a:ln w="9525">
            <a:solidFill>
              <a:srgbClr val="DDDDDD"/>
            </a:solidFill>
          </a:ln>
          <a:effectLst/>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a:solidFill>
                  <a:srgbClr val="222222"/>
                </a:solidFill>
                <a:latin typeface="Poppins" pitchFamily="34" charset="0"/>
                <a:ea typeface="Poppins" pitchFamily="34" charset="-122"/>
                <a:cs typeface="Poppins" pitchFamily="34" charset="-120"/>
              </a:rPr>
              <a:t>YOUR PRICE $138</a:t>
            </a:r>
            <a:endParaRPr lang="en-US" sz="110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a:solidFill>
                  <a:srgbClr val="FF385C"/>
                </a:solidFill>
                <a:latin typeface="Poppins" pitchFamily="34" charset="0"/>
                <a:ea typeface="Poppins" pitchFamily="34" charset="-122"/>
                <a:cs typeface="Poppins" pitchFamily="34" charset="-120"/>
              </a:rPr>
              <a:t>38% below fair value</a:t>
            </a:r>
            <a:endParaRPr lang="en-US" sz="160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a:solidFill>
                  <a:srgbClr val="9AA0A6"/>
                </a:solidFill>
                <a:latin typeface="Poppins" pitchFamily="34" charset="0"/>
                <a:ea typeface="Poppins" pitchFamily="34" charset="-122"/>
                <a:cs typeface="Poppins" pitchFamily="34" charset="-120"/>
              </a:rPr>
              <a:t>PROJECTED REVENUE · DRAG TO EXPLORE</a:t>
            </a:r>
            <a:endParaRPr lang="en-US" sz="100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$138</a:t>
            </a:r>
            <a:endParaRPr lang="en-US" sz="90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$222 (fair)</a:t>
            </a:r>
            <a:endParaRPr lang="en-US" sz="90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a:solidFill>
                  <a:srgbClr val="717171"/>
                </a:solidFill>
                <a:latin typeface="Poppins" pitchFamily="34" charset="0"/>
                <a:ea typeface="Poppins" pitchFamily="34" charset="-122"/>
                <a:cs typeface="Poppins" pitchFamily="34" charset="-120"/>
              </a:rPr>
              <a:t>At $256 (max)</a:t>
            </a:r>
            <a:endParaRPr lang="en-US" sz="90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1300" i="1">
                <a:solidFill>
                  <a:srgbClr val="484848"/>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9</a:t>
            </a:r>
            <a:endParaRPr lang="en-US" sz="900"/>
          </a:p>
        </p:txBody>
      </p:sp>
      <p:sp>
        <p:nvSpPr>
          <p:cNvPr id="53"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1"/>
          <p:cNvSpPr txBox="1"/>
          <p:nvPr/>
        </p:nvSpPr>
        <p:spPr>
          <a:xfrm>
            <a:off x="8019288" y="3081528"/>
            <a:ext cx="4041648" cy="1097280"/>
          </a:xfrm>
          <a:prstGeom prst="rect">
            <a:avLst/>
          </a:prstGeom>
          <a:noFill/>
        </p:spPr>
        <p:txBody>
          <a:bodyPr wrap="square">
            <a:spAutoFit/>
          </a:bodyPr>
          <a:lstStyle/>
          <a:p>
            <a:pPr algn="ctr"/>
            <a:r>
              <a:rPr sz="1500" b="1">
                <a:solidFill>
                  <a:srgbClr val="FF385C"/>
                </a:solidFill>
              </a:rPr>
              <a:t>Recorded product demo</a:t>
            </a:r>
          </a:p>
          <a:p>
            <a:pPr algn="ctr"/>
            <a:r>
              <a:rPr sz="1500">
                <a:solidFill>
                  <a:srgbClr val="717171"/>
                </a:solidFill>
              </a:rPr>
              <a:t>Embedded in the presentation file. Too large for the repository; the link is in the README.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09 · FROM PRICE TO REVENUE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We measured price elasticity</a:t>
            </a:r>
            <a:endParaRPr lang="en-US" sz="27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Measured directly on a real occupancy panel.</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Jai</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10</a:t>
            </a:r>
            <a:endParaRPr lang="en-US" sz="900"/>
          </a:p>
        </p:txBody>
      </p:sp>
      <p:sp>
        <p:nvSpPr>
          <p:cNvPr id="12" name="Shape 8"/>
          <p:cNvSpPr/>
          <p:nvPr/>
        </p:nvSpPr>
        <p:spPr>
          <a:xfrm>
            <a:off x="475488" y="2176272"/>
            <a:ext cx="5468112" cy="210312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340864"/>
            <a:ext cx="3730752" cy="274320"/>
          </a:xfrm>
          <a:prstGeom prst="rect">
            <a:avLst/>
          </a:prstGeom>
          <a:noFill/>
          <a:ln/>
        </p:spPr>
        <p:txBody>
          <a:bodyPr wrap="square" lIns="0" tIns="0" rIns="0" bIns="0" rtlCol="0" anchor="ctr"/>
          <a:lstStyle/>
          <a:p>
            <a:pPr marL="0" indent="0">
              <a:buNone/>
            </a:pPr>
            <a:r>
              <a:rPr lang="en-US" sz="1300" b="1" kern="0" spc="100">
                <a:solidFill>
                  <a:srgbClr val="007A73"/>
                </a:solidFill>
                <a:latin typeface="Poppins" pitchFamily="34" charset="0"/>
                <a:ea typeface="Poppins" pitchFamily="34" charset="-122"/>
                <a:cs typeface="Poppins" pitchFamily="34" charset="-120"/>
              </a:rPr>
              <a:t>THE MEASUREMENT</a:t>
            </a:r>
            <a:endParaRPr lang="en-US" sz="1050"/>
          </a:p>
        </p:txBody>
      </p:sp>
      <p:sp>
        <p:nvSpPr>
          <p:cNvPr id="16" name="Text 11"/>
          <p:cNvSpPr/>
          <p:nvPr/>
        </p:nvSpPr>
        <p:spPr>
          <a:xfrm>
            <a:off x="777240" y="2670048"/>
            <a:ext cx="4965192" cy="685800"/>
          </a:xfrm>
          <a:prstGeom prst="rect">
            <a:avLst/>
          </a:prstGeom>
          <a:noFill/>
          <a:ln/>
        </p:spPr>
        <p:txBody>
          <a:bodyPr wrap="square" lIns="0" tIns="0" rIns="0" bIns="0" rtlCol="0" anchor="ctr"/>
          <a:lstStyle/>
          <a:p>
            <a:r>
              <a:rPr lang="en-US" sz="2000" b="1" dirty="0">
                <a:solidFill>
                  <a:srgbClr val="007A73"/>
                </a:solidFill>
                <a:latin typeface="Poppins"/>
                <a:ea typeface="Poppins" pitchFamily="34" charset="-122"/>
                <a:cs typeface="Poppins"/>
              </a:rPr>
              <a:t>$1%        = −0.92% Occupancy</a:t>
            </a:r>
            <a:endParaRPr lang="en-US" sz="2000" dirty="0">
              <a:solidFill>
                <a:srgbClr val="4A4A4A"/>
              </a:solidFill>
              <a:latin typeface="Poppins"/>
              <a:cs typeface="Poppins"/>
            </a:endParaRPr>
          </a:p>
          <a:p>
            <a:pPr marL="0" indent="0">
              <a:buNone/>
            </a:pPr>
            <a:endParaRPr lang="en-US" sz="1200" dirty="0"/>
          </a:p>
        </p:txBody>
      </p:sp>
      <p:sp>
        <p:nvSpPr>
          <p:cNvPr id="17" name="Text 12"/>
          <p:cNvSpPr/>
          <p:nvPr/>
        </p:nvSpPr>
        <p:spPr>
          <a:xfrm>
            <a:off x="777240" y="3383280"/>
            <a:ext cx="4965192" cy="841248"/>
          </a:xfrm>
          <a:prstGeom prst="rect">
            <a:avLst/>
          </a:prstGeom>
          <a:noFill/>
          <a:ln/>
        </p:spPr>
        <p:txBody>
          <a:bodyPr wrap="square" lIns="0" tIns="0" rIns="0" bIns="0" rtlCol="0" anchor="t"/>
          <a:lstStyle/>
          <a:p>
            <a:pPr marL="0" indent="0">
              <a:lnSpc>
                <a:spcPct val="104000"/>
              </a:lnSpc>
              <a:buNone/>
            </a:pPr>
            <a:r>
              <a:rPr lang="en-US" sz="1800" dirty="0">
                <a:solidFill>
                  <a:srgbClr val="484848"/>
                </a:solidFill>
                <a:latin typeface="Poppins" pitchFamily="34" charset="0"/>
                <a:ea typeface="Poppins" pitchFamily="34" charset="-122"/>
                <a:cs typeface="Poppins" pitchFamily="34" charset="-120"/>
              </a:rPr>
              <a:t>Two-way fixed effects on a third-party occupancy panel. +1% price moves occupancy −0.92%.</a:t>
            </a:r>
            <a:endParaRPr lang="en-US" sz="1100" dirty="0"/>
          </a:p>
        </p:txBody>
      </p:sp>
      <p:sp>
        <p:nvSpPr>
          <p:cNvPr id="18" name="Shape 13"/>
          <p:cNvSpPr/>
          <p:nvPr/>
        </p:nvSpPr>
        <p:spPr>
          <a:xfrm>
            <a:off x="6217920" y="2176272"/>
            <a:ext cx="5468112" cy="210312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1" name="Text 15"/>
          <p:cNvSpPr/>
          <p:nvPr/>
        </p:nvSpPr>
        <p:spPr>
          <a:xfrm>
            <a:off x="6492240" y="2340864"/>
            <a:ext cx="4279392" cy="274320"/>
          </a:xfrm>
          <a:prstGeom prst="rect">
            <a:avLst/>
          </a:prstGeom>
          <a:noFill/>
          <a:ln/>
        </p:spPr>
        <p:txBody>
          <a:bodyPr wrap="square" lIns="0" tIns="0" rIns="0" bIns="0" rtlCol="0" anchor="ctr"/>
          <a:lstStyle/>
          <a:p>
            <a:r>
              <a:rPr lang="en-US" sz="1300" b="1" kern="0" spc="100" dirty="0">
                <a:solidFill>
                  <a:srgbClr val="FF385C"/>
                </a:solidFill>
                <a:latin typeface="Poppins"/>
                <a:ea typeface="Poppins" pitchFamily="34" charset="-122"/>
                <a:cs typeface="Poppins"/>
              </a:rPr>
              <a:t>WHAT IT MEANS FOR REVENUE</a:t>
            </a:r>
            <a:endParaRPr lang="en-US" sz="1050" dirty="0"/>
          </a:p>
        </p:txBody>
      </p:sp>
      <p:sp>
        <p:nvSpPr>
          <p:cNvPr id="22" name="Text 16"/>
          <p:cNvSpPr/>
          <p:nvPr/>
        </p:nvSpPr>
        <p:spPr>
          <a:xfrm>
            <a:off x="6492240" y="2948670"/>
            <a:ext cx="4965192" cy="1188720"/>
          </a:xfrm>
          <a:prstGeom prst="rect">
            <a:avLst/>
          </a:prstGeom>
          <a:noFill/>
          <a:ln/>
        </p:spPr>
        <p:txBody>
          <a:bodyPr wrap="square" lIns="0" tIns="0" rIns="0" bIns="0" rtlCol="0" anchor="ctr"/>
          <a:lstStyle/>
          <a:p>
            <a:r>
              <a:rPr lang="en-US" sz="1700" b="1" dirty="0">
                <a:solidFill>
                  <a:srgbClr val="FF385C"/>
                </a:solidFill>
                <a:latin typeface="Poppins"/>
                <a:ea typeface="+mn-lt"/>
                <a:cs typeface="Poppins"/>
              </a:rPr>
              <a:t>Underpriced → raise price → wins when β &gt; −1 (inelastic)</a:t>
            </a:r>
            <a:endParaRPr lang="en-US" sz="1600" dirty="0">
              <a:ea typeface="Calibri"/>
              <a:cs typeface="Calibri"/>
            </a:endParaRPr>
          </a:p>
          <a:p>
            <a:endParaRPr lang="en-US" sz="1600" b="1" dirty="0">
              <a:solidFill>
                <a:srgbClr val="FF385C"/>
              </a:solidFill>
              <a:latin typeface="Poppins"/>
              <a:ea typeface="+mn-lt"/>
              <a:cs typeface="Poppins"/>
            </a:endParaRPr>
          </a:p>
          <a:p>
            <a:r>
              <a:rPr lang="en-US" sz="1700" b="1" dirty="0">
                <a:solidFill>
                  <a:srgbClr val="FF385C"/>
                </a:solidFill>
                <a:latin typeface="Poppins"/>
                <a:ea typeface="+mn-lt"/>
                <a:cs typeface="Poppins"/>
              </a:rPr>
              <a:t>Overpriced → cut price → wins β &lt; −1 (elastic)</a:t>
            </a:r>
            <a:endParaRPr lang="en-US" sz="1600" dirty="0">
              <a:ea typeface="Calibri"/>
              <a:cs typeface="Calibri"/>
            </a:endParaRPr>
          </a:p>
          <a:p>
            <a:endParaRPr lang="en-US" sz="2000" b="1" dirty="0">
              <a:solidFill>
                <a:srgbClr val="FF385C"/>
              </a:solidFill>
              <a:latin typeface="Poppins"/>
              <a:ea typeface="Calibri"/>
              <a:cs typeface="Poppins"/>
            </a:endParaRPr>
          </a:p>
        </p:txBody>
      </p:sp>
      <p:sp>
        <p:nvSpPr>
          <p:cNvPr id="24" name="Shape 18"/>
          <p:cNvSpPr/>
          <p:nvPr/>
        </p:nvSpPr>
        <p:spPr>
          <a:xfrm>
            <a:off x="502920" y="4407408"/>
            <a:ext cx="11183112" cy="1298448"/>
          </a:xfrm>
          <a:prstGeom prst="roundRect">
            <a:avLst>
              <a:gd name="adj" fmla="val 985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507992"/>
            <a:ext cx="7315200" cy="27432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Where our estimate sits on the elasticity line</a:t>
            </a:r>
            <a:endParaRPr lang="en-US" sz="1200"/>
          </a:p>
        </p:txBody>
      </p:sp>
      <p:sp>
        <p:nvSpPr>
          <p:cNvPr id="26" name="Shape 20"/>
          <p:cNvSpPr/>
          <p:nvPr/>
        </p:nvSpPr>
        <p:spPr>
          <a:xfrm>
            <a:off x="1554480" y="5166360"/>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5166360"/>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276088"/>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5038344"/>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818888"/>
            <a:ext cx="1691640" cy="219456"/>
          </a:xfrm>
          <a:prstGeom prst="rect">
            <a:avLst/>
          </a:prstGeom>
          <a:noFill/>
          <a:ln/>
        </p:spPr>
        <p:txBody>
          <a:bodyPr wrap="square" lIns="0" tIns="0" rIns="0" bIns="0" rtlCol="0" anchor="ctr"/>
          <a:lstStyle/>
          <a:p>
            <a:pPr marL="0" indent="0" algn="r">
              <a:buNone/>
            </a:pPr>
            <a:r>
              <a:rPr lang="en-US" sz="1200" b="1">
                <a:solidFill>
                  <a:srgbClr val="222222"/>
                </a:solidFill>
                <a:latin typeface="Poppins" pitchFamily="34" charset="0"/>
                <a:ea typeface="Poppins" pitchFamily="34" charset="-122"/>
                <a:cs typeface="Poppins" pitchFamily="34" charset="-120"/>
              </a:rPr>
              <a:t>breakeven −1.0</a:t>
            </a:r>
            <a:endParaRPr lang="en-US" sz="950"/>
          </a:p>
        </p:txBody>
      </p:sp>
      <p:sp>
        <p:nvSpPr>
          <p:cNvPr id="31" name="Shape 25"/>
          <p:cNvSpPr/>
          <p:nvPr/>
        </p:nvSpPr>
        <p:spPr>
          <a:xfrm>
            <a:off x="6391656" y="5175504"/>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818888"/>
            <a:ext cx="2560320" cy="219456"/>
          </a:xfrm>
          <a:prstGeom prst="rect">
            <a:avLst/>
          </a:prstGeom>
          <a:noFill/>
          <a:ln/>
        </p:spPr>
        <p:txBody>
          <a:bodyPr wrap="square" lIns="0" tIns="0" rIns="0" bIns="0" rtlCol="0" anchor="ctr"/>
          <a:lstStyle/>
          <a:p>
            <a:pPr marL="0" indent="0" algn="l">
              <a:buNone/>
            </a:pPr>
            <a:r>
              <a:rPr lang="en-US" sz="1200" b="1">
                <a:solidFill>
                  <a:srgbClr val="FF385C"/>
                </a:solidFill>
                <a:latin typeface="Poppins" pitchFamily="34" charset="0"/>
                <a:ea typeface="Poppins" pitchFamily="34" charset="-122"/>
                <a:cs typeface="Poppins" pitchFamily="34" charset="-120"/>
              </a:rPr>
              <a:t>our estimate  β = −0.92</a:t>
            </a:r>
            <a:endParaRPr lang="en-US" sz="950"/>
          </a:p>
        </p:txBody>
      </p:sp>
      <p:sp>
        <p:nvSpPr>
          <p:cNvPr id="33" name="Text 27"/>
          <p:cNvSpPr/>
          <p:nvPr/>
        </p:nvSpPr>
        <p:spPr>
          <a:xfrm>
            <a:off x="1554480" y="5422392"/>
            <a:ext cx="4572000" cy="219456"/>
          </a:xfrm>
          <a:prstGeom prst="rect">
            <a:avLst/>
          </a:prstGeom>
          <a:noFill/>
          <a:ln/>
        </p:spPr>
        <p:txBody>
          <a:bodyPr wrap="square" lIns="0" tIns="0" rIns="0" bIns="0" rtlCol="0" anchor="ctr"/>
          <a:lstStyle/>
          <a:p>
            <a:pPr marL="0" indent="0" algn="ctr">
              <a:buNone/>
            </a:pPr>
            <a:r>
              <a:rPr lang="en-US" sz="1200">
                <a:solidFill>
                  <a:srgbClr val="007A73"/>
                </a:solidFill>
                <a:latin typeface="Poppins" pitchFamily="34" charset="0"/>
                <a:ea typeface="Poppins" pitchFamily="34" charset="-122"/>
                <a:cs typeface="Poppins" pitchFamily="34" charset="-120"/>
              </a:rPr>
              <a:t>ELASTIC  ·  cutting price adds revenue</a:t>
            </a:r>
            <a:endParaRPr lang="en-US" sz="900"/>
          </a:p>
        </p:txBody>
      </p:sp>
      <p:sp>
        <p:nvSpPr>
          <p:cNvPr id="34" name="Text 28"/>
          <p:cNvSpPr/>
          <p:nvPr/>
        </p:nvSpPr>
        <p:spPr>
          <a:xfrm>
            <a:off x="6126480" y="5422392"/>
            <a:ext cx="4572000" cy="219456"/>
          </a:xfrm>
          <a:prstGeom prst="rect">
            <a:avLst/>
          </a:prstGeom>
          <a:noFill/>
          <a:ln/>
        </p:spPr>
        <p:txBody>
          <a:bodyPr wrap="square" lIns="0" tIns="0" rIns="0" bIns="0" rtlCol="0" anchor="ctr"/>
          <a:lstStyle/>
          <a:p>
            <a:pPr marL="0" indent="0" algn="ctr">
              <a:buNone/>
            </a:pPr>
            <a:r>
              <a:rPr lang="en-US" sz="1200">
                <a:solidFill>
                  <a:srgbClr val="FF385C"/>
                </a:solidFill>
                <a:latin typeface="Poppins" pitchFamily="34" charset="0"/>
                <a:ea typeface="Poppins" pitchFamily="34" charset="-122"/>
                <a:cs typeface="Poppins" pitchFamily="34" charset="-120"/>
              </a:rPr>
              <a:t>INELASTIC  ·  raising price adds revenue</a:t>
            </a:r>
            <a:endParaRPr lang="en-US" sz="900"/>
          </a:p>
        </p:txBody>
      </p:sp>
      <p:sp>
        <p:nvSpPr>
          <p:cNvPr id="35" name="Text 29"/>
          <p:cNvSpPr/>
          <p:nvPr/>
        </p:nvSpPr>
        <p:spPr>
          <a:xfrm>
            <a:off x="1234440" y="5166360"/>
            <a:ext cx="274320" cy="219456"/>
          </a:xfrm>
          <a:prstGeom prst="rect">
            <a:avLst/>
          </a:prstGeom>
          <a:noFill/>
          <a:ln/>
        </p:spPr>
        <p:txBody>
          <a:bodyPr wrap="square" lIns="0" tIns="0" rIns="0" bIns="0" rtlCol="0" anchor="ctr"/>
          <a:lstStyle/>
          <a:p>
            <a:pPr marL="0" indent="0" algn="r">
              <a:buNone/>
            </a:pPr>
            <a:r>
              <a:rPr lang="en-US" sz="900">
                <a:solidFill>
                  <a:srgbClr val="9AA0A6"/>
                </a:solidFill>
                <a:latin typeface="Poppins" pitchFamily="34" charset="0"/>
                <a:ea typeface="Poppins" pitchFamily="34" charset="-122"/>
                <a:cs typeface="Poppins" pitchFamily="34" charset="-120"/>
              </a:rPr>
              <a:t>−2</a:t>
            </a:r>
            <a:endParaRPr lang="en-US" sz="900"/>
          </a:p>
        </p:txBody>
      </p:sp>
      <p:sp>
        <p:nvSpPr>
          <p:cNvPr id="36" name="Text 30"/>
          <p:cNvSpPr/>
          <p:nvPr/>
        </p:nvSpPr>
        <p:spPr>
          <a:xfrm>
            <a:off x="10753344" y="5166360"/>
            <a:ext cx="274320" cy="219456"/>
          </a:xfrm>
          <a:prstGeom prst="rect">
            <a:avLst/>
          </a:prstGeom>
          <a:noFill/>
          <a:ln/>
        </p:spPr>
        <p:txBody>
          <a:bodyPr wrap="square" lIns="0" tIns="0" rIns="0" bIns="0" rtlCol="0" anchor="ctr"/>
          <a:lstStyle/>
          <a:p>
            <a:pPr marL="0" indent="0" algn="l">
              <a:buNone/>
            </a:pPr>
            <a:r>
              <a:rPr lang="en-US" sz="900">
                <a:solidFill>
                  <a:srgbClr val="9AA0A6"/>
                </a:solidFill>
                <a:latin typeface="Poppins" pitchFamily="34" charset="0"/>
                <a:ea typeface="Poppins" pitchFamily="34" charset="-122"/>
                <a:cs typeface="Poppins" pitchFamily="34" charset="-120"/>
              </a:rPr>
              <a:t>10</a:t>
            </a:r>
            <a:endParaRPr lang="en-US" sz="900"/>
          </a:p>
        </p:txBody>
      </p:sp>
      <p:sp>
        <p:nvSpPr>
          <p:cNvPr id="37" name="Text 31"/>
          <p:cNvSpPr/>
          <p:nvPr/>
        </p:nvSpPr>
        <p:spPr>
          <a:xfrm>
            <a:off x="502920" y="5852160"/>
            <a:ext cx="11183112" cy="530352"/>
          </a:xfrm>
          <a:prstGeom prst="rect">
            <a:avLst/>
          </a:prstGeom>
          <a:noFill/>
          <a:ln/>
        </p:spPr>
        <p:txBody>
          <a:bodyPr wrap="square" lIns="0" tIns="0" rIns="0" bIns="0" rtlCol="0" anchor="ctr"/>
          <a:lstStyle/>
          <a:p>
            <a:pPr marL="0" indent="0">
              <a:lnSpc>
                <a:spcPct val="100000"/>
              </a:lnSpc>
              <a:buNone/>
            </a:pPr>
            <a:r>
              <a:rPr lang="en-US" sz="1500" b="1" i="1">
                <a:solidFill>
                  <a:srgbClr val="484848"/>
                </a:solidFill>
                <a:latin typeface="Poppins" pitchFamily="34" charset="0"/>
                <a:ea typeface="Poppins" pitchFamily="34" charset="-122"/>
                <a:cs typeface="Poppins" pitchFamily="34" charset="-120"/>
              </a:rPr>
              <a:t>Honest caveat:  measured on 64 established short-stay listings (median 142 reviews). Monthly came back insignificant, so we hold it occupancy-neutral.</a:t>
            </a:r>
            <a:endParaRPr lang="en-US" sz="950"/>
          </a:p>
        </p:txBody>
      </p:sp>
      <p:sp>
        <p:nvSpPr>
          <p:cNvPr id="38"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Straight Arrow Connector 18">
            <a:extLst>
              <a:ext uri="{FF2B5EF4-FFF2-40B4-BE49-F238E27FC236}">
                <a16:creationId xmlns:a16="http://schemas.microsoft.com/office/drawing/2014/main" id="{C9F6125D-7975-31F2-BF9A-E50A43316724}"/>
              </a:ext>
            </a:extLst>
          </p:cNvPr>
          <p:cNvCxnSpPr>
            <a:cxnSpLocks/>
          </p:cNvCxnSpPr>
          <p:nvPr/>
        </p:nvCxnSpPr>
        <p:spPr>
          <a:xfrm flipV="1">
            <a:off x="4625462" y="2748924"/>
            <a:ext cx="0" cy="397688"/>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9A7BEAB-21B0-41C7-B9D2-7BDCF8F120DC}"/>
              </a:ext>
            </a:extLst>
          </p:cNvPr>
          <p:cNvCxnSpPr>
            <a:cxnSpLocks/>
          </p:cNvCxnSpPr>
          <p:nvPr/>
        </p:nvCxnSpPr>
        <p:spPr>
          <a:xfrm>
            <a:off x="4469805" y="2776488"/>
            <a:ext cx="0" cy="370124"/>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0DCEBF7E-0CB3-22DA-D28D-5F73821529FD}"/>
              </a:ext>
            </a:extLst>
          </p:cNvPr>
          <p:cNvCxnSpPr>
            <a:cxnSpLocks/>
          </p:cNvCxnSpPr>
          <p:nvPr/>
        </p:nvCxnSpPr>
        <p:spPr>
          <a:xfrm flipV="1">
            <a:off x="1550563" y="2699619"/>
            <a:ext cx="0" cy="397688"/>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8E0462E6-C678-A0EF-62D7-6B04DEB134C7}"/>
              </a:ext>
            </a:extLst>
          </p:cNvPr>
          <p:cNvCxnSpPr>
            <a:cxnSpLocks/>
          </p:cNvCxnSpPr>
          <p:nvPr/>
        </p:nvCxnSpPr>
        <p:spPr>
          <a:xfrm>
            <a:off x="1394906" y="2727183"/>
            <a:ext cx="0" cy="370124"/>
          </a:xfrm>
          <a:prstGeom prst="straightConnector1">
            <a:avLst/>
          </a:prstGeom>
          <a:ln w="57150">
            <a:solidFill>
              <a:srgbClr val="007A73"/>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10 · THE FINANCIAL CASE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$7.6M in host GBV, $1.17M to Airbnb</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The conservative floor, every assumption rounded against us.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11</a:t>
            </a:r>
            <a:endParaRPr lang="en-US" sz="900"/>
          </a:p>
        </p:txBody>
      </p:sp>
      <p:sp>
        <p:nvSpPr>
          <p:cNvPr id="12" name="Shape 8"/>
          <p:cNvSpPr/>
          <p:nvPr/>
        </p:nvSpPr>
        <p:spPr>
          <a:xfrm>
            <a:off x="502920" y="2194560"/>
            <a:ext cx="11183112" cy="1783080"/>
          </a:xfrm>
          <a:prstGeom prst="roundRect">
            <a:avLst>
              <a:gd name="adj" fmla="val 875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300" b="1" kern="0" spc="5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a:p>
        </p:txBody>
      </p:sp>
      <p:sp>
        <p:nvSpPr>
          <p:cNvPr id="14" name="Text 10"/>
          <p:cNvSpPr/>
          <p:nvPr/>
        </p:nvSpPr>
        <p:spPr>
          <a:xfrm>
            <a:off x="777240" y="2724912"/>
            <a:ext cx="7955280" cy="548640"/>
          </a:xfrm>
          <a:prstGeom prst="rect">
            <a:avLst/>
          </a:prstGeom>
          <a:noFill/>
          <a:ln/>
        </p:spPr>
        <p:txBody>
          <a:bodyPr wrap="square" lIns="0" tIns="0" rIns="0" bIns="0" rtlCol="0" anchor="ctr"/>
          <a:lstStyle/>
          <a:p>
            <a:pPr marL="0" indent="0">
              <a:buNone/>
            </a:pPr>
            <a:r>
              <a:rPr lang="en-US" sz="2200" b="1">
                <a:solidFill>
                  <a:srgbClr val="222222"/>
                </a:solidFill>
                <a:latin typeface="Poppins" pitchFamily="34" charset="0"/>
                <a:ea typeface="Poppins" pitchFamily="34" charset="-122"/>
                <a:cs typeface="Poppins" pitchFamily="34" charset="-120"/>
              </a:rPr>
              <a:t>~$7.6M</a:t>
            </a:r>
            <a:r>
              <a:rPr lang="en-US" sz="2200" b="1">
                <a:solidFill>
                  <a:srgbClr val="4A4A4A"/>
                </a:solidFill>
                <a:latin typeface="Poppins" pitchFamily="34" charset="0"/>
                <a:ea typeface="Poppins" pitchFamily="34" charset="-122"/>
                <a:cs typeface="Poppins" pitchFamily="34" charset="-120"/>
              </a:rPr>
              <a:t> host GBV</a:t>
            </a:r>
            <a:r>
              <a:rPr lang="en-US" sz="2200" b="1">
                <a:solidFill>
                  <a:srgbClr val="9AA0A6"/>
                </a:solidFill>
                <a:latin typeface="Poppins" pitchFamily="34" charset="0"/>
                <a:ea typeface="Poppins" pitchFamily="34" charset="-122"/>
                <a:cs typeface="Poppins" pitchFamily="34" charset="-120"/>
              </a:rPr>
              <a:t>      ×15.5%  →      </a:t>
            </a:r>
            <a:r>
              <a:rPr lang="en-US" sz="2200" b="1">
                <a:solidFill>
                  <a:srgbClr val="FF385C"/>
                </a:solidFill>
                <a:latin typeface="Poppins" pitchFamily="34" charset="0"/>
                <a:ea typeface="Poppins" pitchFamily="34" charset="-122"/>
                <a:cs typeface="Poppins" pitchFamily="34" charset="-120"/>
              </a:rPr>
              <a:t>$1.17M</a:t>
            </a:r>
            <a:r>
              <a:rPr lang="en-US" sz="2200" b="1">
                <a:solidFill>
                  <a:srgbClr val="4A4A4A"/>
                </a:solidFill>
                <a:latin typeface="Poppins" pitchFamily="34" charset="0"/>
                <a:ea typeface="Poppins" pitchFamily="34" charset="-122"/>
                <a:cs typeface="Poppins" pitchFamily="34" charset="-120"/>
              </a:rPr>
              <a:t> / yr Airbnb fee</a:t>
            </a:r>
            <a:endParaRPr lang="en-US" sz="290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95728"/>
            <a:ext cx="2514600" cy="1417320"/>
          </a:xfrm>
          <a:prstGeom prst="rect">
            <a:avLst/>
          </a:prstGeom>
          <a:noFill/>
          <a:ln/>
        </p:spPr>
        <p:txBody>
          <a:bodyPr wrap="square" lIns="0" tIns="0" rIns="0" bIns="0" rtlCol="0" anchor="ctr"/>
          <a:lstStyle/>
          <a:p>
            <a:pPr marL="0" indent="0">
              <a:lnSpc>
                <a:spcPct val="106000"/>
              </a:lnSpc>
              <a:buNone/>
            </a:pPr>
            <a:r>
              <a:rPr lang="en-US" sz="1550" b="1">
                <a:solidFill>
                  <a:srgbClr val="484848"/>
                </a:solidFill>
                <a:latin typeface="Poppins" pitchFamily="34" charset="0"/>
                <a:ea typeface="Poppins" pitchFamily="34" charset="-122"/>
                <a:cs typeface="Poppins" pitchFamily="34" charset="-120"/>
              </a:rPr>
              <a:t>Ceiling (upside): </a:t>
            </a:r>
            <a:r>
              <a:rPr lang="en-US" sz="1550">
                <a:solidFill>
                  <a:srgbClr val="484848"/>
                </a:solidFill>
                <a:latin typeface="Poppins" pitchFamily="34" charset="0"/>
                <a:ea typeface="Poppins" pitchFamily="34" charset="-122"/>
                <a:cs typeface="Poppins" pitchFamily="34" charset="-120"/>
              </a:rPr>
              <a:t>~$4.15M/yr fees, from ~$26.8M GBV, occupancy-neutral. Shown as upside, not the headline.</a:t>
            </a:r>
            <a:endParaRPr lang="en-US" sz="1050"/>
          </a:p>
        </p:txBody>
      </p:sp>
      <p:sp>
        <p:nvSpPr>
          <p:cNvPr id="17" name="Shape 13"/>
          <p:cNvSpPr/>
          <p:nvPr/>
        </p:nvSpPr>
        <p:spPr>
          <a:xfrm>
            <a:off x="50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19" name="Text 14"/>
          <p:cNvSpPr/>
          <p:nvPr/>
        </p:nvSpPr>
        <p:spPr>
          <a:xfrm>
            <a:off x="685800" y="4343400"/>
            <a:ext cx="3197352" cy="603504"/>
          </a:xfrm>
          <a:prstGeom prst="rect">
            <a:avLst/>
          </a:prstGeom>
          <a:noFill/>
          <a:ln/>
        </p:spPr>
        <p:txBody>
          <a:bodyPr wrap="square" lIns="0" tIns="0" rIns="0" bIns="0" rtlCol="0" anchor="ctr"/>
          <a:lstStyle/>
          <a:p>
            <a:pPr marL="0" indent="0">
              <a:buNone/>
            </a:pPr>
            <a:r>
              <a:rPr lang="en-US" sz="3400" b="1">
                <a:solidFill>
                  <a:srgbClr val="007A73"/>
                </a:solidFill>
                <a:latin typeface="Poppins" pitchFamily="34" charset="0"/>
                <a:ea typeface="Poppins" pitchFamily="34" charset="-122"/>
                <a:cs typeface="Poppins" pitchFamily="34" charset="-120"/>
              </a:rPr>
              <a:t>$65K</a:t>
            </a:r>
            <a:endParaRPr lang="en-US" sz="2500"/>
          </a:p>
        </p:txBody>
      </p:sp>
      <p:sp>
        <p:nvSpPr>
          <p:cNvPr id="20" name="Text 15"/>
          <p:cNvSpPr/>
          <p:nvPr/>
        </p:nvSpPr>
        <p:spPr>
          <a:xfrm>
            <a:off x="70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one-time build, incremental on existing stack</a:t>
            </a:r>
            <a:endParaRPr lang="en-US" sz="1000"/>
          </a:p>
        </p:txBody>
      </p:sp>
      <p:sp>
        <p:nvSpPr>
          <p:cNvPr id="21" name="Shape 16"/>
          <p:cNvSpPr/>
          <p:nvPr/>
        </p:nvSpPr>
        <p:spPr>
          <a:xfrm>
            <a:off x="431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23" name="Text 17"/>
          <p:cNvSpPr/>
          <p:nvPr/>
        </p:nvSpPr>
        <p:spPr>
          <a:xfrm>
            <a:off x="4495800" y="4343400"/>
            <a:ext cx="3197352" cy="603504"/>
          </a:xfrm>
          <a:prstGeom prst="rect">
            <a:avLst/>
          </a:prstGeom>
          <a:noFill/>
          <a:ln/>
        </p:spPr>
        <p:txBody>
          <a:bodyPr wrap="square" lIns="0" tIns="0" rIns="0" bIns="0" rtlCol="0" anchor="ctr"/>
          <a:lstStyle/>
          <a:p>
            <a:pPr marL="0" indent="0">
              <a:buNone/>
            </a:pPr>
            <a:r>
              <a:rPr lang="en-US" sz="3400" b="1">
                <a:solidFill>
                  <a:srgbClr val="FF385C"/>
                </a:solidFill>
                <a:latin typeface="Poppins" pitchFamily="34" charset="0"/>
                <a:ea typeface="Poppins" pitchFamily="34" charset="-122"/>
                <a:cs typeface="Poppins" pitchFamily="34" charset="-120"/>
              </a:rPr>
              <a:t>$30K / yr</a:t>
            </a:r>
            <a:endParaRPr lang="en-US" sz="2500"/>
          </a:p>
        </p:txBody>
      </p:sp>
      <p:sp>
        <p:nvSpPr>
          <p:cNvPr id="24" name="Text 18"/>
          <p:cNvSpPr/>
          <p:nvPr/>
        </p:nvSpPr>
        <p:spPr>
          <a:xfrm>
            <a:off x="451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to run: retraining, monitoring, infra</a:t>
            </a:r>
            <a:endParaRPr lang="en-US" sz="1000"/>
          </a:p>
        </p:txBody>
      </p:sp>
      <p:sp>
        <p:nvSpPr>
          <p:cNvPr id="25" name="Shape 19"/>
          <p:cNvSpPr/>
          <p:nvPr/>
        </p:nvSpPr>
        <p:spPr>
          <a:xfrm>
            <a:off x="8122920" y="4160520"/>
            <a:ext cx="3563112" cy="1417320"/>
          </a:xfrm>
          <a:prstGeom prst="roundRect">
            <a:avLst>
              <a:gd name="adj" fmla="val 9032"/>
            </a:avLst>
          </a:prstGeom>
          <a:solidFill>
            <a:srgbClr val="FFFFFF"/>
          </a:solidFill>
          <a:ln w="9525">
            <a:solidFill>
              <a:srgbClr val="DDDDDD"/>
            </a:solidFill>
          </a:ln>
          <a:effectLst/>
        </p:spPr>
        <p:txBody>
          <a:bodyPr/>
          <a:lstStyle/>
          <a:p>
            <a:endParaRPr lang="en-US"/>
          </a:p>
        </p:txBody>
      </p:sp>
      <p:sp>
        <p:nvSpPr>
          <p:cNvPr id="27" name="Text 20"/>
          <p:cNvSpPr/>
          <p:nvPr/>
        </p:nvSpPr>
        <p:spPr>
          <a:xfrm>
            <a:off x="8305800" y="4343400"/>
            <a:ext cx="3197352" cy="603504"/>
          </a:xfrm>
          <a:prstGeom prst="rect">
            <a:avLst/>
          </a:prstGeom>
          <a:noFill/>
          <a:ln/>
        </p:spPr>
        <p:txBody>
          <a:bodyPr wrap="square" lIns="0" tIns="0" rIns="0" bIns="0" rtlCol="0" anchor="ctr"/>
          <a:lstStyle/>
          <a:p>
            <a:pPr marL="0" indent="0">
              <a:buNone/>
            </a:pPr>
            <a:r>
              <a:rPr lang="en-US" sz="3400" b="1">
                <a:solidFill>
                  <a:srgbClr val="007A73"/>
                </a:solidFill>
                <a:latin typeface="Poppins" pitchFamily="34" charset="0"/>
                <a:ea typeface="Poppins" pitchFamily="34" charset="-122"/>
                <a:cs typeface="Poppins" pitchFamily="34" charset="-120"/>
              </a:rPr>
              <a:t>~$215K</a:t>
            </a:r>
            <a:endParaRPr lang="en-US" sz="2500"/>
          </a:p>
        </p:txBody>
      </p:sp>
      <p:sp>
        <p:nvSpPr>
          <p:cNvPr id="28" name="Text 21"/>
          <p:cNvSpPr/>
          <p:nvPr/>
        </p:nvSpPr>
        <p:spPr>
          <a:xfrm>
            <a:off x="8324088" y="4946904"/>
            <a:ext cx="3160776" cy="530352"/>
          </a:xfrm>
          <a:prstGeom prst="rect">
            <a:avLst/>
          </a:prstGeom>
          <a:noFill/>
          <a:ln/>
        </p:spPr>
        <p:txBody>
          <a:bodyPr wrap="square" lIns="0" tIns="0" rIns="0" bIns="0" rtlCol="0" anchor="ctr"/>
          <a:lstStyle/>
          <a:p>
            <a:pPr marL="0" indent="0">
              <a:lnSpc>
                <a:spcPct val="100000"/>
              </a:lnSpc>
              <a:buNone/>
            </a:pPr>
            <a:r>
              <a:rPr lang="en-US" sz="1550">
                <a:solidFill>
                  <a:srgbClr val="484848"/>
                </a:solidFill>
                <a:latin typeface="Poppins" pitchFamily="34" charset="0"/>
                <a:ea typeface="Poppins" pitchFamily="34" charset="-122"/>
                <a:cs typeface="Poppins" pitchFamily="34" charset="-120"/>
              </a:rPr>
              <a:t>total 5-year cost of ownership</a:t>
            </a:r>
            <a:endParaRPr lang="en-US" sz="1000"/>
          </a:p>
        </p:txBody>
      </p:sp>
      <p:sp>
        <p:nvSpPr>
          <p:cNvPr id="29" name="Text 22"/>
          <p:cNvSpPr/>
          <p:nvPr/>
        </p:nvSpPr>
        <p:spPr>
          <a:xfrm>
            <a:off x="502920" y="5797296"/>
            <a:ext cx="11183112" cy="530352"/>
          </a:xfrm>
          <a:prstGeom prst="rect">
            <a:avLst/>
          </a:prstGeom>
          <a:noFill/>
          <a:ln/>
        </p:spPr>
        <p:txBody>
          <a:bodyPr wrap="square" lIns="0" tIns="0" rIns="0" bIns="0" rtlCol="0" anchor="ctr"/>
          <a:lstStyle/>
          <a:p>
            <a:pPr marL="0" indent="0">
              <a:lnSpc>
                <a:spcPct val="104000"/>
              </a:lnSpc>
              <a:buNone/>
            </a:pPr>
            <a:r>
              <a:rPr lang="en-US" sz="1550">
                <a:solidFill>
                  <a:srgbClr val="484848"/>
                </a:solidFill>
                <a:latin typeface="Poppins" pitchFamily="34" charset="0"/>
                <a:ea typeface="Poppins" pitchFamily="34" charset="-122"/>
                <a:cs typeface="Poppins" pitchFamily="34" charset="-120"/>
              </a:rPr>
              <a:t>Costed as an incremental feature on infrastructure Airbnb already owns. A greenfield build (~$190K + $105K/yr) is shown only as a worst case.</a:t>
            </a:r>
            <a:endParaRPr lang="en-US" sz="1050"/>
          </a:p>
        </p:txBody>
      </p:sp>
      <p:sp>
        <p:nvSpPr>
          <p:cNvPr id="30"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11 · ROI &amp; FINANCIAL TIMELINE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Cash-positive in Year 1</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Adoption modeled as a ramp, not a single guess.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12</a:t>
            </a:r>
            <a:endParaRPr lang="en-US" sz="900"/>
          </a:p>
        </p:txBody>
      </p:sp>
      <p:graphicFrame>
        <p:nvGraphicFramePr>
          <p:cNvPr id="13" name="Table 0"/>
          <p:cNvGraphicFramePr>
            <a:graphicFrameLocks noGrp="1"/>
          </p:cNvGraphicFramePr>
          <p:nvPr/>
        </p:nvGraphicFramePr>
        <p:xfrm>
          <a:off x="502920" y="2377440"/>
          <a:ext cx="6858000" cy="27940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Year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Adoption</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Airbnb Fee / yr</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500" b="1">
                          <a:solidFill>
                            <a:srgbClr val="FFFFFF"/>
                          </a:solidFill>
                          <a:latin typeface="Poppins" pitchFamily="34" charset="0"/>
                          <a:ea typeface="Poppins" pitchFamily="34" charset="-122"/>
                          <a:cs typeface="Poppins" pitchFamily="34" charset="-120"/>
                        </a:rPr>
                        <a:t>Cumulative Net (NPV @10%)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1</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10%</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$117K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+$20K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24%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$281K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+$227K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3</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38%</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$445K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+$539K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4</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+$854K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500" b="1">
                          <a:solidFill>
                            <a:srgbClr val="222222"/>
                          </a:solidFill>
                          <a:latin typeface="Poppins" pitchFamily="34" charset="0"/>
                          <a:ea typeface="Poppins" pitchFamily="34" charset="-122"/>
                          <a:cs typeface="Poppins" pitchFamily="34" charset="-120"/>
                        </a:rPr>
                        <a:t>5</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42%</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a:solidFill>
                            <a:srgbClr val="4A4A4A"/>
                          </a:solidFill>
                          <a:latin typeface="Poppins" pitchFamily="34" charset="0"/>
                          <a:ea typeface="Poppins" pitchFamily="34" charset="-122"/>
                          <a:cs typeface="Poppins" pitchFamily="34" charset="-120"/>
                        </a:rPr>
                        <a:t>$491K</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500" b="1">
                          <a:solidFill>
                            <a:srgbClr val="4A4A4A"/>
                          </a:solidFill>
                          <a:latin typeface="Poppins" pitchFamily="34" charset="0"/>
                          <a:ea typeface="Poppins" pitchFamily="34" charset="-122"/>
                          <a:cs typeface="Poppins" pitchFamily="34" charset="-120"/>
                        </a:rPr>
                        <a:t>+$1.14M</a:t>
                      </a:r>
                      <a:endParaRPr lang="en-US" sz="12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550" i="1">
                <a:solidFill>
                  <a:srgbClr val="484848"/>
                </a:solidFill>
                <a:latin typeface="Poppins" pitchFamily="34" charset="0"/>
                <a:ea typeface="Poppins" pitchFamily="34" charset="-122"/>
                <a:cs typeface="Poppins" pitchFamily="34" charset="-120"/>
              </a:rPr>
              <a:t>We build the case on the ramp itself, not a single adoption row.</a:t>
            </a:r>
            <a:endParaRPr lang="en-US" sz="1050"/>
          </a:p>
        </p:txBody>
      </p:sp>
      <p:sp>
        <p:nvSpPr>
          <p:cNvPr id="14" name="Shape 9"/>
          <p:cNvSpPr/>
          <p:nvPr/>
        </p:nvSpPr>
        <p:spPr>
          <a:xfrm>
            <a:off x="7589520" y="2377440"/>
            <a:ext cx="4096512" cy="3063240"/>
          </a:xfrm>
          <a:prstGeom prst="roundRect">
            <a:avLst>
              <a:gd name="adj" fmla="val 4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7" name="Text 11"/>
          <p:cNvSpPr/>
          <p:nvPr/>
        </p:nvSpPr>
        <p:spPr>
          <a:xfrm>
            <a:off x="7863840" y="2651760"/>
            <a:ext cx="356616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Honest about time value</a:t>
            </a:r>
            <a:endParaRPr lang="en-US" sz="1400"/>
          </a:p>
        </p:txBody>
      </p:sp>
      <p:sp>
        <p:nvSpPr>
          <p:cNvPr id="18" name="Text 12"/>
          <p:cNvSpPr/>
          <p:nvPr/>
        </p:nvSpPr>
        <p:spPr>
          <a:xfrm>
            <a:off x="7863840" y="3200400"/>
            <a:ext cx="3566160" cy="2103120"/>
          </a:xfrm>
          <a:prstGeom prst="rect">
            <a:avLst/>
          </a:prstGeom>
          <a:noFill/>
          <a:ln/>
        </p:spPr>
        <p:txBody>
          <a:bodyPr wrap="square" lIns="0" tIns="0" rIns="0" bIns="0" rtlCol="0" anchor="t"/>
          <a:lstStyle/>
          <a:p>
            <a:pPr marL="0" indent="0">
              <a:lnSpc>
                <a:spcPct val="106000"/>
              </a:lnSpc>
              <a:buNone/>
            </a:pPr>
            <a:r>
              <a:rPr lang="en-US" sz="1700" b="1">
                <a:solidFill>
                  <a:srgbClr val="FF385C"/>
                </a:solidFill>
                <a:latin typeface="Poppins" pitchFamily="34" charset="0"/>
                <a:ea typeface="Poppins" pitchFamily="34" charset="-122"/>
                <a:cs typeface="Poppins" pitchFamily="34" charset="-120"/>
              </a:rPr>
              <a:t>Net-positive in Year 1 at 10% adoption. Five-year cumulative net: $1.61M nominal, $1.14M NPV at a 10% discount.</a:t>
            </a:r>
            <a:endParaRPr lang="en-US" sz="115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550" b="1">
                <a:solidFill>
                  <a:srgbClr val="484848"/>
                </a:solidFill>
                <a:latin typeface="Poppins" pitchFamily="34" charset="0"/>
                <a:ea typeface="Poppins" pitchFamily="34" charset="-122"/>
                <a:cs typeface="Poppins" pitchFamily="34" charset="-120"/>
              </a:rPr>
              <a:t>Repricing also unlocks ~77,606 booked nights a year: real marketplace liquidity and host retention for Airbnb.</a:t>
            </a:r>
            <a:endParaRPr lang="en-US" sz="1050"/>
          </a:p>
        </p:txBody>
      </p:sp>
      <p:sp>
        <p:nvSpPr>
          <p:cNvPr id="20"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092064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12 · WHAT WE'D DO WITH MORE</a:t>
            </a:r>
            <a:endParaRPr lang="en-US" sz="1200"/>
          </a:p>
        </p:txBody>
      </p:sp>
      <p:sp>
        <p:nvSpPr>
          <p:cNvPr id="3" name="Text 1"/>
          <p:cNvSpPr/>
          <p:nvPr/>
        </p:nvSpPr>
        <p:spPr>
          <a:xfrm>
            <a:off x="502920" y="836864"/>
            <a:ext cx="10936529" cy="73152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Four asks would lift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Every unmeasured quantity was resolved against us.</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pitchFamily="34" charset="0"/>
                <a:ea typeface="Poppins" pitchFamily="34" charset="-122"/>
                <a:cs typeface="Poppins" pitchFamily="34" charset="-120"/>
              </a:rPr>
              <a:t>PRESENTS  </a:t>
            </a:r>
            <a:r>
              <a:rPr lang="en-US" sz="950" b="1">
                <a:solidFill>
                  <a:srgbClr val="222222"/>
                </a:solidFill>
                <a:latin typeface="Poppins" pitchFamily="34" charset="0"/>
                <a:ea typeface="Poppins" pitchFamily="34" charset="-122"/>
                <a:cs typeface="Poppins" pitchFamily="34" charset="-120"/>
              </a:rPr>
              <a:t>Francois</a:t>
            </a:r>
            <a:endParaRPr lang="en-US" sz="9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13</a:t>
            </a:r>
            <a:endParaRPr lang="en-US" sz="900"/>
          </a:p>
        </p:txBody>
      </p:sp>
      <p:sp>
        <p:nvSpPr>
          <p:cNvPr id="12" name="Shape 8"/>
          <p:cNvSpPr/>
          <p:nvPr/>
        </p:nvSpPr>
        <p:spPr>
          <a:xfrm>
            <a:off x="502920" y="2331720"/>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5" name="Text 10"/>
          <p:cNvSpPr/>
          <p:nvPr/>
        </p:nvSpPr>
        <p:spPr>
          <a:xfrm>
            <a:off x="777240" y="2642616"/>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The full elasticity panel</a:t>
            </a:r>
            <a:endParaRPr lang="en-US" sz="1400"/>
          </a:p>
        </p:txBody>
      </p:sp>
      <p:sp>
        <p:nvSpPr>
          <p:cNvPr id="16" name="Text 11"/>
          <p:cNvSpPr/>
          <p:nvPr/>
        </p:nvSpPr>
        <p:spPr>
          <a:xfrm>
            <a:off x="777240" y="3264408"/>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We measured −0.92 on 64 listings. The full panel would confirm it across every tier.</a:t>
            </a:r>
            <a:endParaRPr lang="en-US" sz="1180"/>
          </a:p>
        </p:txBody>
      </p:sp>
      <p:sp>
        <p:nvSpPr>
          <p:cNvPr id="17" name="Shape 12"/>
          <p:cNvSpPr/>
          <p:nvPr/>
        </p:nvSpPr>
        <p:spPr>
          <a:xfrm>
            <a:off x="6217920" y="2331720"/>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0" name="Text 14"/>
          <p:cNvSpPr/>
          <p:nvPr/>
        </p:nvSpPr>
        <p:spPr>
          <a:xfrm>
            <a:off x="6492240" y="2642616"/>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A real monthly measurement</a:t>
            </a:r>
            <a:endParaRPr lang="en-US" sz="1400"/>
          </a:p>
        </p:txBody>
      </p:sp>
      <p:sp>
        <p:nvSpPr>
          <p:cNvPr id="21" name="Text 15"/>
          <p:cNvSpPr/>
          <p:nvPr/>
        </p:nvSpPr>
        <p:spPr>
          <a:xfrm>
            <a:off x="6492240" y="3264408"/>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No response showed in the pilot, so we assumed none. Measure it properly.</a:t>
            </a:r>
            <a:endParaRPr lang="en-US" sz="1180"/>
          </a:p>
        </p:txBody>
      </p:sp>
      <p:sp>
        <p:nvSpPr>
          <p:cNvPr id="22" name="Shape 16"/>
          <p:cNvSpPr/>
          <p:nvPr/>
        </p:nvSpPr>
        <p:spPr>
          <a:xfrm>
            <a:off x="502920" y="4334256"/>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8"/>
          <p:cNvSpPr/>
          <p:nvPr/>
        </p:nvSpPr>
        <p:spPr>
          <a:xfrm>
            <a:off x="777240" y="4645152"/>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Booking-flow data</a:t>
            </a:r>
            <a:endParaRPr lang="en-US" sz="1400"/>
          </a:p>
        </p:txBody>
      </p:sp>
      <p:sp>
        <p:nvSpPr>
          <p:cNvPr id="26" name="Text 19"/>
          <p:cNvSpPr/>
          <p:nvPr/>
        </p:nvSpPr>
        <p:spPr>
          <a:xfrm>
            <a:off x="777240" y="5266944"/>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We claimed zero credit for guests won back from hotels. Your data would price it.</a:t>
            </a:r>
            <a:endParaRPr lang="en-US" sz="1180"/>
          </a:p>
        </p:txBody>
      </p:sp>
      <p:sp>
        <p:nvSpPr>
          <p:cNvPr id="27" name="Shape 20"/>
          <p:cNvSpPr/>
          <p:nvPr/>
        </p:nvSpPr>
        <p:spPr>
          <a:xfrm>
            <a:off x="6217920" y="4334256"/>
            <a:ext cx="5468112" cy="1783080"/>
          </a:xfrm>
          <a:prstGeom prst="roundRect">
            <a:avLst>
              <a:gd name="adj" fmla="val 7179"/>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2"/>
          <p:cNvSpPr/>
          <p:nvPr/>
        </p:nvSpPr>
        <p:spPr>
          <a:xfrm>
            <a:off x="6492240" y="4645152"/>
            <a:ext cx="4325112" cy="502920"/>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Markets beyond New York</a:t>
            </a:r>
            <a:endParaRPr lang="en-US" sz="1400"/>
          </a:p>
        </p:txBody>
      </p:sp>
      <p:sp>
        <p:nvSpPr>
          <p:cNvPr id="31" name="Text 23"/>
          <p:cNvSpPr/>
          <p:nvPr/>
        </p:nvSpPr>
        <p:spPr>
          <a:xfrm>
            <a:off x="6492240" y="5266944"/>
            <a:ext cx="4937760" cy="777240"/>
          </a:xfrm>
          <a:prstGeom prst="rect">
            <a:avLst/>
          </a:prstGeom>
          <a:noFill/>
          <a:ln/>
        </p:spPr>
        <p:txBody>
          <a:bodyPr wrap="square" lIns="0" tIns="0" rIns="0" bIns="0" rtlCol="0" anchor="t"/>
          <a:lstStyle/>
          <a:p>
            <a:pPr marL="0" indent="0">
              <a:lnSpc>
                <a:spcPct val="105000"/>
              </a:lnSpc>
              <a:buNone/>
            </a:pPr>
            <a:r>
              <a:rPr lang="en-US" sz="1800">
                <a:solidFill>
                  <a:srgbClr val="484848"/>
                </a:solidFill>
                <a:latin typeface="Poppins" pitchFamily="34" charset="0"/>
                <a:ea typeface="Poppins" pitchFamily="34" charset="-122"/>
                <a:cs typeface="Poppins" pitchFamily="34" charset="-120"/>
              </a:rPr>
              <a:t>Coefficients need re-fitting per market. The method transfers; these numbers are New York's.</a:t>
            </a:r>
            <a:endParaRPr lang="en-US" sz="1180"/>
          </a:p>
        </p:txBody>
      </p:sp>
      <p:sp>
        <p:nvSpPr>
          <p:cNvPr id="32"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a:solidFill>
                  <a:srgbClr val="FF385C"/>
                </a:solidFill>
                <a:latin typeface="Poppins" pitchFamily="34" charset="0"/>
                <a:ea typeface="Poppins" pitchFamily="34" charset="-122"/>
                <a:cs typeface="Poppins" pitchFamily="34" charset="-120"/>
              </a:rPr>
              <a:t>13 · RECOMMENDATIONS &amp; CLOSING</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400" b="1">
                <a:solidFill>
                  <a:srgbClr val="222222"/>
                </a:solidFill>
                <a:latin typeface="Poppins" pitchFamily="34" charset="0"/>
                <a:ea typeface="Poppins" pitchFamily="34" charset="-122"/>
                <a:cs typeface="Poppins" pitchFamily="34" charset="-120"/>
              </a:rPr>
              <a:t>Build on Smart Pricing, don't replace it</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2000">
                <a:solidFill>
                  <a:srgbClr val="484848"/>
                </a:solidFill>
                <a:latin typeface="Poppins" pitchFamily="34" charset="0"/>
                <a:ea typeface="Poppins" pitchFamily="34" charset="-122"/>
                <a:cs typeface="Poppins" pitchFamily="34" charset="-120"/>
              </a:rPr>
              <a:t>Hosts act on a recommendation they understand.</a:t>
            </a:r>
            <a:endParaRPr lang="en-US" sz="145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a:solidFill>
                  <a:srgbClr val="9AA0A6"/>
                </a:solidFill>
                <a:latin typeface="Poppins"/>
                <a:ea typeface="Poppins" pitchFamily="34" charset="-122"/>
                <a:cs typeface="Poppins"/>
              </a:rPr>
              <a:t>PRESENTS  </a:t>
            </a:r>
            <a:r>
              <a:rPr lang="en-US" sz="950" b="1">
                <a:solidFill>
                  <a:srgbClr val="222222"/>
                </a:solidFill>
                <a:latin typeface="Poppins"/>
                <a:ea typeface="Poppins" pitchFamily="34" charset="-122"/>
                <a:cs typeface="Poppins"/>
              </a:rPr>
              <a:t>Manas</a:t>
            </a:r>
            <a:endParaRPr lang="en-US" sz="950">
              <a:solidFill>
                <a:srgbClr val="000000"/>
              </a:solidFill>
              <a:latin typeface="Calibri"/>
              <a:ea typeface="Calibri"/>
              <a:cs typeface="Calibri"/>
            </a:endParaRPr>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a:solidFill>
                  <a:srgbClr val="9AA0A6"/>
                </a:solidFill>
                <a:latin typeface="Poppins" pitchFamily="34" charset="0"/>
                <a:ea typeface="Poppins" pitchFamily="34" charset="-122"/>
                <a:cs typeface="Poppins" pitchFamily="34" charset="-120"/>
              </a:rPr>
              <a:t>14</a:t>
            </a:r>
            <a:endParaRPr lang="en-US" sz="900"/>
          </a:p>
        </p:txBody>
      </p:sp>
      <p:sp>
        <p:nvSpPr>
          <p:cNvPr id="12" name="Shape 8"/>
          <p:cNvSpPr/>
          <p:nvPr/>
        </p:nvSpPr>
        <p:spPr>
          <a:xfrm>
            <a:off x="50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395728"/>
            <a:ext cx="566928" cy="566928"/>
          </a:xfrm>
          <a:prstGeom prst="ellipse">
            <a:avLst/>
          </a:prstGeom>
          <a:solidFill>
            <a:srgbClr val="FF385C"/>
          </a:solidFill>
          <a:ln/>
        </p:spPr>
        <p:txBody>
          <a:bodyPr/>
          <a:lstStyle/>
          <a:p>
            <a:endParaRPr lang="en-US"/>
          </a:p>
        </p:txBody>
      </p:sp>
      <p:sp>
        <p:nvSpPr>
          <p:cNvPr id="14" name="Text 10"/>
          <p:cNvSpPr/>
          <p:nvPr/>
        </p:nvSpPr>
        <p:spPr>
          <a:xfrm>
            <a:off x="75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1</a:t>
            </a:r>
            <a:endParaRPr lang="en-US" sz="2000"/>
          </a:p>
        </p:txBody>
      </p:sp>
      <p:sp>
        <p:nvSpPr>
          <p:cNvPr id="15" name="Text 11"/>
          <p:cNvSpPr/>
          <p:nvPr/>
        </p:nvSpPr>
        <p:spPr>
          <a:xfrm>
            <a:off x="146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Enhance, don't replace</a:t>
            </a:r>
            <a:endParaRPr lang="en-US" sz="1350"/>
          </a:p>
        </p:txBody>
      </p:sp>
      <p:sp>
        <p:nvSpPr>
          <p:cNvPr id="16" name="Text 12"/>
          <p:cNvSpPr/>
          <p:nvPr/>
        </p:nvSpPr>
        <p:spPr>
          <a:xfrm>
            <a:off x="777240"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Layer explanations and comparables onto Smart Pricing.</a:t>
            </a:r>
            <a:endParaRPr lang="en-US" sz="1100"/>
          </a:p>
        </p:txBody>
      </p:sp>
      <p:sp>
        <p:nvSpPr>
          <p:cNvPr id="17" name="Shape 13"/>
          <p:cNvSpPr/>
          <p:nvPr/>
        </p:nvSpPr>
        <p:spPr>
          <a:xfrm>
            <a:off x="431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395728"/>
            <a:ext cx="566928" cy="566928"/>
          </a:xfrm>
          <a:prstGeom prst="ellipse">
            <a:avLst/>
          </a:prstGeom>
          <a:solidFill>
            <a:srgbClr val="FF385C"/>
          </a:solidFill>
          <a:ln/>
        </p:spPr>
        <p:txBody>
          <a:bodyPr/>
          <a:lstStyle/>
          <a:p>
            <a:endParaRPr lang="en-US"/>
          </a:p>
        </p:txBody>
      </p:sp>
      <p:sp>
        <p:nvSpPr>
          <p:cNvPr id="19" name="Text 15"/>
          <p:cNvSpPr/>
          <p:nvPr/>
        </p:nvSpPr>
        <p:spPr>
          <a:xfrm>
            <a:off x="456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2</a:t>
            </a:r>
            <a:endParaRPr lang="en-US" sz="2000"/>
          </a:p>
        </p:txBody>
      </p:sp>
      <p:sp>
        <p:nvSpPr>
          <p:cNvPr id="20" name="Text 16"/>
          <p:cNvSpPr/>
          <p:nvPr/>
        </p:nvSpPr>
        <p:spPr>
          <a:xfrm>
            <a:off x="527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Pilot in one market</a:t>
            </a:r>
            <a:endParaRPr lang="en-US" sz="1350"/>
          </a:p>
        </p:txBody>
      </p:sp>
      <p:sp>
        <p:nvSpPr>
          <p:cNvPr id="21" name="Text 17"/>
          <p:cNvSpPr/>
          <p:nvPr/>
        </p:nvSpPr>
        <p:spPr>
          <a:xfrm>
            <a:off x="4590288"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Measure adoption, and how price moves occupancy and revenue.</a:t>
            </a:r>
            <a:endParaRPr lang="en-US" sz="1100"/>
          </a:p>
        </p:txBody>
      </p:sp>
      <p:sp>
        <p:nvSpPr>
          <p:cNvPr id="22" name="Shape 18"/>
          <p:cNvSpPr/>
          <p:nvPr/>
        </p:nvSpPr>
        <p:spPr>
          <a:xfrm>
            <a:off x="8122920" y="2212848"/>
            <a:ext cx="3563112" cy="1755648"/>
          </a:xfrm>
          <a:prstGeom prst="roundRect">
            <a:avLst>
              <a:gd name="adj" fmla="val 8235"/>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395728"/>
            <a:ext cx="566928" cy="566928"/>
          </a:xfrm>
          <a:prstGeom prst="ellipse">
            <a:avLst/>
          </a:prstGeom>
          <a:solidFill>
            <a:srgbClr val="FF385C"/>
          </a:solidFill>
          <a:ln/>
        </p:spPr>
        <p:txBody>
          <a:bodyPr/>
          <a:lstStyle/>
          <a:p>
            <a:endParaRPr lang="en-US"/>
          </a:p>
        </p:txBody>
      </p:sp>
      <p:sp>
        <p:nvSpPr>
          <p:cNvPr id="24" name="Text 20"/>
          <p:cNvSpPr/>
          <p:nvPr/>
        </p:nvSpPr>
        <p:spPr>
          <a:xfrm>
            <a:off x="8378952" y="2395728"/>
            <a:ext cx="566928" cy="566928"/>
          </a:xfrm>
          <a:prstGeom prst="rect">
            <a:avLst/>
          </a:prstGeom>
          <a:noFill/>
          <a:ln/>
        </p:spPr>
        <p:txBody>
          <a:bodyPr wrap="square" lIns="0" tIns="0" rIns="0" bIns="0" rtlCol="0" anchor="ctr"/>
          <a:lstStyle/>
          <a:p>
            <a:pPr marL="0" indent="0" algn="ctr">
              <a:buNone/>
            </a:pPr>
            <a:r>
              <a:rPr lang="en-US" sz="2200" b="1">
                <a:solidFill>
                  <a:srgbClr val="FFFFFF"/>
                </a:solidFill>
                <a:latin typeface="Poppins" pitchFamily="34" charset="0"/>
                <a:ea typeface="Poppins" pitchFamily="34" charset="-122"/>
                <a:cs typeface="Poppins" pitchFamily="34" charset="-120"/>
              </a:rPr>
              <a:t>3</a:t>
            </a:r>
            <a:endParaRPr lang="en-US" sz="2000"/>
          </a:p>
        </p:txBody>
      </p:sp>
      <p:sp>
        <p:nvSpPr>
          <p:cNvPr id="25" name="Text 21"/>
          <p:cNvSpPr/>
          <p:nvPr/>
        </p:nvSpPr>
        <p:spPr>
          <a:xfrm>
            <a:off x="9083040" y="2414016"/>
            <a:ext cx="2420112" cy="658368"/>
          </a:xfrm>
          <a:prstGeom prst="rect">
            <a:avLst/>
          </a:prstGeom>
          <a:noFill/>
          <a:ln/>
        </p:spPr>
        <p:txBody>
          <a:bodyPr wrap="square" lIns="0" tIns="0" rIns="0" bIns="0" rtlCol="0" anchor="ctr"/>
          <a:lstStyle/>
          <a:p>
            <a:pPr marL="0" indent="0">
              <a:lnSpc>
                <a:spcPct val="95000"/>
              </a:lnSpc>
              <a:buNone/>
            </a:pPr>
            <a:r>
              <a:rPr lang="en-US" sz="2000" b="1">
                <a:solidFill>
                  <a:srgbClr val="222222"/>
                </a:solidFill>
                <a:latin typeface="Poppins" pitchFamily="34" charset="0"/>
                <a:ea typeface="Poppins" pitchFamily="34" charset="-122"/>
                <a:cs typeface="Poppins" pitchFamily="34" charset="-120"/>
              </a:rPr>
              <a:t>Learn, then scale</a:t>
            </a:r>
            <a:endParaRPr lang="en-US" sz="1350"/>
          </a:p>
        </p:txBody>
      </p:sp>
      <p:sp>
        <p:nvSpPr>
          <p:cNvPr id="26" name="Text 22"/>
          <p:cNvSpPr/>
          <p:nvPr/>
        </p:nvSpPr>
        <p:spPr>
          <a:xfrm>
            <a:off x="8394192" y="3035808"/>
            <a:ext cx="3014472" cy="914400"/>
          </a:xfrm>
          <a:prstGeom prst="rect">
            <a:avLst/>
          </a:prstGeom>
          <a:noFill/>
          <a:ln/>
        </p:spPr>
        <p:txBody>
          <a:bodyPr wrap="square" lIns="0" tIns="0" rIns="0" bIns="0" rtlCol="0" anchor="t"/>
          <a:lstStyle/>
          <a:p>
            <a:pPr marL="0" indent="0">
              <a:lnSpc>
                <a:spcPct val="103000"/>
              </a:lnSpc>
              <a:buNone/>
            </a:pPr>
            <a:r>
              <a:rPr lang="en-US" sz="1800">
                <a:solidFill>
                  <a:srgbClr val="484848"/>
                </a:solidFill>
                <a:latin typeface="Poppins" pitchFamily="34" charset="0"/>
                <a:ea typeface="Poppins" pitchFamily="34" charset="-122"/>
                <a:cs typeface="Poppins" pitchFamily="34" charset="-120"/>
              </a:rPr>
              <a:t>Use real results to improve the model before expanding.</a:t>
            </a:r>
            <a:endParaRPr lang="en-US" sz="110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Text 25"/>
          <p:cNvSpPr/>
          <p:nvPr/>
        </p:nvSpPr>
        <p:spPr>
          <a:xfrm>
            <a:off x="777240" y="4343400"/>
            <a:ext cx="5486400" cy="365760"/>
          </a:xfrm>
          <a:prstGeom prst="rect">
            <a:avLst/>
          </a:prstGeom>
          <a:noFill/>
          <a:ln/>
        </p:spPr>
        <p:txBody>
          <a:bodyPr wrap="square" lIns="0" tIns="0" rIns="0" bIns="0" rtlCol="0" anchor="ctr"/>
          <a:lstStyle/>
          <a:p>
            <a:pPr marL="0" indent="0">
              <a:buNone/>
            </a:pPr>
            <a:r>
              <a:rPr lang="en-US" sz="2000" b="1">
                <a:solidFill>
                  <a:srgbClr val="222222"/>
                </a:solidFill>
                <a:latin typeface="Poppins" pitchFamily="34" charset="0"/>
                <a:ea typeface="Poppins" pitchFamily="34" charset="-122"/>
                <a:cs typeface="Poppins" pitchFamily="34" charset="-120"/>
              </a:rPr>
              <a:t>The bigger lesson</a:t>
            </a:r>
            <a:endParaRPr lang="en-US" sz="1400"/>
          </a:p>
        </p:txBody>
      </p:sp>
      <p:sp>
        <p:nvSpPr>
          <p:cNvPr id="31" name="Text 26"/>
          <p:cNvSpPr/>
          <p:nvPr/>
        </p:nvSpPr>
        <p:spPr>
          <a:xfrm>
            <a:off x="777240" y="4846320"/>
            <a:ext cx="6537960" cy="1051560"/>
          </a:xfrm>
          <a:prstGeom prst="rect">
            <a:avLst/>
          </a:prstGeom>
          <a:noFill/>
          <a:ln/>
        </p:spPr>
        <p:txBody>
          <a:bodyPr wrap="square" lIns="0" tIns="0" rIns="0" bIns="0" rtlCol="0" anchor="t"/>
          <a:lstStyle/>
          <a:p>
            <a:pPr marL="0" indent="0">
              <a:lnSpc>
                <a:spcPct val="106000"/>
              </a:lnSpc>
              <a:buNone/>
            </a:pPr>
            <a:r>
              <a:rPr lang="en-US" sz="1700">
                <a:solidFill>
                  <a:srgbClr val="484848"/>
                </a:solidFill>
                <a:latin typeface="Poppins" pitchFamily="34" charset="0"/>
                <a:ea typeface="Poppins" pitchFamily="34" charset="-122"/>
                <a:cs typeface="Poppins" pitchFamily="34" charset="-120"/>
              </a:rPr>
              <a:t>Good analytics means more than accurate models. It means solving the right business problem and presenting insight people will actually use.</a:t>
            </a:r>
            <a:endParaRPr lang="en-US" sz="1180"/>
          </a:p>
        </p:txBody>
      </p:sp>
      <p:sp>
        <p:nvSpPr>
          <p:cNvPr id="32" name="Shape 27"/>
          <p:cNvSpPr/>
          <p:nvPr/>
        </p:nvSpPr>
        <p:spPr>
          <a:xfrm>
            <a:off x="7726680" y="4069080"/>
            <a:ext cx="3959352" cy="1965960"/>
          </a:xfrm>
          <a:prstGeom prst="roundRect">
            <a:avLst>
              <a:gd name="adj" fmla="val 6512"/>
            </a:avLst>
          </a:prstGeom>
          <a:solidFill>
            <a:srgbClr val="FF385C"/>
          </a:solidFill>
          <a:ln/>
          <a:effectLst/>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a:solidFill>
                  <a:srgbClr val="FFFFFF"/>
                </a:solidFill>
                <a:latin typeface="Poppins" pitchFamily="34" charset="0"/>
                <a:ea typeface="Poppins" pitchFamily="34" charset="-122"/>
                <a:cs typeface="Poppins" pitchFamily="34" charset="-120"/>
              </a:rPr>
              <a:t>Thank you</a:t>
            </a:r>
            <a:endParaRPr lang="en-US" sz="2600"/>
          </a:p>
        </p:txBody>
      </p:sp>
      <p:sp>
        <p:nvSpPr>
          <p:cNvPr id="34" name="Text 29"/>
          <p:cNvSpPr/>
          <p:nvPr/>
        </p:nvSpPr>
        <p:spPr>
          <a:xfrm>
            <a:off x="7973568" y="4983480"/>
            <a:ext cx="3474720" cy="566928"/>
          </a:xfrm>
          <a:prstGeom prst="rect">
            <a:avLst/>
          </a:prstGeom>
          <a:noFill/>
          <a:ln/>
        </p:spPr>
        <p:txBody>
          <a:bodyPr wrap="square" lIns="0" tIns="0" rIns="0" bIns="0" rtlCol="0" anchor="ctr"/>
          <a:lstStyle/>
          <a:p>
            <a:pPr marL="0" indent="0">
              <a:buNone/>
            </a:pPr>
            <a:r>
              <a:rPr lang="en-US" sz="1500">
                <a:solidFill>
                  <a:srgbClr val="FFFFFF"/>
                </a:solidFill>
                <a:latin typeface="Poppins" pitchFamily="34" charset="0"/>
                <a:ea typeface="Poppins" pitchFamily="34" charset="-122"/>
                <a:cs typeface="Poppins" pitchFamily="34" charset="-120"/>
              </a:rPr>
              <a:t>We'd be happy to answer any questions.</a:t>
            </a:r>
            <a:endParaRPr lang="en-US" sz="1250"/>
          </a:p>
        </p:txBody>
      </p:sp>
      <p:sp>
        <p:nvSpPr>
          <p:cNvPr id="35" name="Text 30"/>
          <p:cNvSpPr/>
          <p:nvPr/>
        </p:nvSpPr>
        <p:spPr>
          <a:xfrm>
            <a:off x="7973568" y="5596128"/>
            <a:ext cx="3566160" cy="384048"/>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GitHub: mkdn007/Cornell-Airbnb-Capstone</a:t>
            </a:r>
            <a:endParaRPr lang="en-US" sz="1000"/>
          </a:p>
        </p:txBody>
      </p:sp>
      <p:sp>
        <p:nvSpPr>
          <p:cNvPr id="36"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w="9525">
            <a:solidFill>
              <a:srgbClr val="DDDDDD"/>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200" b="1">
                <a:solidFill>
                  <a:srgbClr val="FFFFFF"/>
                </a:solidFill>
                <a:latin typeface="Poppins" pitchFamily="34" charset="0"/>
                <a:ea typeface="Poppins" pitchFamily="34" charset="-122"/>
                <a:cs typeface="Poppins" pitchFamily="34" charset="-120"/>
              </a:rPr>
              <a:t>BACKUP</a:t>
            </a:r>
            <a:endParaRPr lang="en-US" sz="6000"/>
          </a:p>
        </p:txBody>
      </p:sp>
      <p:sp>
        <p:nvSpPr>
          <p:cNvPr id="8" name="Text 3"/>
          <p:cNvSpPr/>
          <p:nvPr/>
        </p:nvSpPr>
        <p:spPr>
          <a:xfrm>
            <a:off x="804672" y="3108960"/>
            <a:ext cx="9601200" cy="658368"/>
          </a:xfrm>
          <a:prstGeom prst="rect">
            <a:avLst/>
          </a:prstGeom>
          <a:noFill/>
          <a:ln/>
        </p:spPr>
        <p:txBody>
          <a:bodyPr wrap="square" lIns="0" tIns="0" rIns="0" bIns="0" rtlCol="0" anchor="ctr"/>
          <a:lstStyle/>
          <a:p>
            <a:pPr marL="0" indent="0">
              <a:buNone/>
            </a:pPr>
            <a:r>
              <a:rPr lang="en-US" sz="1900">
                <a:solidFill>
                  <a:srgbClr val="FFFFFF">
                    <a:alpha val="92000"/>
                  </a:srgbClr>
                </a:solidFill>
                <a:latin typeface="Poppins" pitchFamily="34" charset="0"/>
                <a:ea typeface="Poppins" pitchFamily="34" charset="-122"/>
                <a:cs typeface="Poppins" pitchFamily="34" charset="-120"/>
              </a:rPr>
              <a:t>Not presented; held in reserve to answer questions. The full technical write-up lives in the appendix document.</a:t>
            </a:r>
            <a:endParaRPr lang="en-US" sz="170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B1  Model bake-off</a:t>
            </a:r>
            <a:endParaRPr lang="en-US" sz="110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B2  How the $7.6M is built</a:t>
            </a:r>
            <a:endParaRPr lang="en-US" sz="110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B3  Why we split at 142 reviews</a:t>
            </a:r>
            <a:endParaRPr lang="en-US" sz="110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B4  Revenue by confidence</a:t>
            </a:r>
            <a:endParaRPr lang="en-US" sz="110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0" name="Shape 14"/>
          <p:cNvSpPr/>
          <p:nvPr/>
        </p:nvSpPr>
        <p:spPr>
          <a:xfrm>
            <a:off x="35478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2" name="Shape 18"/>
          <p:cNvSpPr/>
          <p:nvPr/>
        </p:nvSpPr>
        <p:spPr>
          <a:xfrm>
            <a:off x="90342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23" name="Shape 16"/>
          <p:cNvSpPr/>
          <p:nvPr/>
        </p:nvSpPr>
        <p:spPr>
          <a:xfrm>
            <a:off x="6291072" y="4590288"/>
            <a:ext cx="2606040" cy="457200"/>
          </a:xfrm>
          <a:prstGeom prst="roundRect">
            <a:avLst>
              <a:gd name="adj" fmla="val 20000"/>
            </a:avLst>
          </a:prstGeom>
          <a:solidFill>
            <a:srgbClr val="FFFFFF">
              <a:alpha val="16000"/>
            </a:srgbClr>
          </a:solidFill>
          <a:ln w="9525">
            <a:solidFill>
              <a:srgbClr val="DDDDDD"/>
            </a:solidFill>
          </a:ln>
          <a:effectLst/>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B5  Validation &amp; methodology</a:t>
            </a:r>
            <a:endParaRPr lang="en-US" sz="1100"/>
          </a:p>
        </p:txBody>
      </p:sp>
      <p:sp>
        <p:nvSpPr>
          <p:cNvPr id="21" name="Text 15"/>
          <p:cNvSpPr/>
          <p:nvPr/>
        </p:nvSpPr>
        <p:spPr>
          <a:xfrm>
            <a:off x="36850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B6  The adoption ramp</a:t>
            </a:r>
            <a:endParaRPr lang="en-US" sz="1100"/>
          </a:p>
        </p:txBody>
      </p:sp>
      <p:sp>
        <p:nvSpPr>
          <p:cNvPr id="24" name="Text 19"/>
          <p:cNvSpPr/>
          <p:nvPr/>
        </p:nvSpPr>
        <p:spPr>
          <a:xfrm>
            <a:off x="91714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B8  Market opportunity</a:t>
            </a:r>
            <a:endParaRPr lang="en-US" sz="1100"/>
          </a:p>
        </p:txBody>
      </p:sp>
      <p:sp>
        <p:nvSpPr>
          <p:cNvPr id="25" name="Text 17"/>
          <p:cNvSpPr/>
          <p:nvPr/>
        </p:nvSpPr>
        <p:spPr>
          <a:xfrm>
            <a:off x="6428232" y="4590288"/>
            <a:ext cx="2377440" cy="457200"/>
          </a:xfrm>
          <a:prstGeom prst="rect">
            <a:avLst/>
          </a:prstGeom>
          <a:noFill/>
          <a:ln/>
        </p:spPr>
        <p:txBody>
          <a:bodyPr wrap="square" lIns="0" tIns="0" rIns="0" bIns="0" rtlCol="0" anchor="ctr"/>
          <a:lstStyle/>
          <a:p>
            <a:pPr marL="0" indent="0">
              <a:buNone/>
            </a:pPr>
            <a:r>
              <a:rPr lang="en-US" sz="1300" b="1">
                <a:solidFill>
                  <a:srgbClr val="FFFFFF"/>
                </a:solidFill>
                <a:latin typeface="Poppins" pitchFamily="34" charset="0"/>
                <a:ea typeface="Poppins" pitchFamily="34" charset="-122"/>
                <a:cs typeface="Poppins" pitchFamily="34" charset="-120"/>
              </a:rPr>
              <a:t>B7  Why not already</a:t>
            </a:r>
            <a:endParaRPr lang="en-US" sz="1100"/>
          </a:p>
        </p:txBody>
      </p:sp>
      <p:sp>
        <p:nvSpPr>
          <p:cNvPr id="1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B1 · MODEL BAKE-OFF</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Models tested, held-out performance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16</a:t>
            </a:r>
            <a:endParaRPr lang="en-US" sz="900"/>
          </a:p>
        </p:txBody>
      </p:sp>
      <p:graphicFrame>
        <p:nvGraphicFramePr>
          <p:cNvPr id="18" name="Table 0"/>
          <p:cNvGraphicFramePr>
            <a:graphicFrameLocks noGrp="1"/>
          </p:cNvGraphicFramePr>
          <p:nvPr>
            <p:extLst>
              <p:ext uri="{D42A27DB-BD31-4B8C-83A1-F6EECF244321}">
                <p14:modId xmlns:p14="http://schemas.microsoft.com/office/powerpoint/2010/main" val="1013248168"/>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12333">
                  <a:extLst>
                    <a:ext uri="{9D8B030D-6E8A-4147-A177-3AD203B41FA5}">
                      <a16:colId xmlns:a16="http://schemas.microsoft.com/office/drawing/2014/main" val="20002"/>
                    </a:ext>
                  </a:extLst>
                </a:gridCol>
                <a:gridCol w="1388534">
                  <a:extLst>
                    <a:ext uri="{9D8B030D-6E8A-4147-A177-3AD203B41FA5}">
                      <a16:colId xmlns:a16="http://schemas.microsoft.com/office/drawing/2014/main" val="20003"/>
                    </a:ext>
                  </a:extLst>
                </a:gridCol>
                <a:gridCol w="1244600">
                  <a:extLst>
                    <a:ext uri="{9D8B030D-6E8A-4147-A177-3AD203B41FA5}">
                      <a16:colId xmlns:a16="http://schemas.microsoft.com/office/drawing/2014/main" val="20004"/>
                    </a:ext>
                  </a:extLst>
                </a:gridCol>
                <a:gridCol w="2939965">
                  <a:extLst>
                    <a:ext uri="{9D8B030D-6E8A-4147-A177-3AD203B41FA5}">
                      <a16:colId xmlns:a16="http://schemas.microsoft.com/office/drawing/2014/main" val="20005"/>
                    </a:ext>
                  </a:extLst>
                </a:gridCol>
              </a:tblGrid>
              <a:tr h="384048">
                <a:tc>
                  <a:txBody>
                    <a:bodyPr/>
                    <a:lstStyle/>
                    <a:p>
                      <a:pPr marL="0" indent="0" algn="l">
                        <a:buNone/>
                      </a:pPr>
                      <a:r>
                        <a:rPr lang="en-US" sz="1300" b="1">
                          <a:solidFill>
                            <a:srgbClr val="FFFFFF"/>
                          </a:solidFill>
                          <a:latin typeface="Poppins" pitchFamily="34" charset="0"/>
                          <a:ea typeface="Poppins" pitchFamily="34" charset="-122"/>
                          <a:cs typeface="Poppins" pitchFamily="34" charset="-120"/>
                        </a:rPr>
                        <a:t>Model</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Median APE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MAE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300" b="1">
                          <a:solidFill>
                            <a:srgbClr val="FFFFFF"/>
                          </a:solidFill>
                          <a:latin typeface="Poppins" pitchFamily="34" charset="0"/>
                          <a:ea typeface="Poppins" pitchFamily="34" charset="-122"/>
                          <a:cs typeface="Poppins" pitchFamily="34" charset="-120"/>
                        </a:rPr>
                        <a:t>R² (log)</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3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V1  Log-linear OLS (baseline)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39.2%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$113.22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0.243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0.486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V1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29.3%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$92.94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0.506</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0.619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manas_model_metrics.csv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OLS (expanded features)</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23.7%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$81.20</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0.751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Ridge</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23.8%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$81.03</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0.539</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V2  Random Forest</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20.8%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$75.07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0.574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0.782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master_metrics.csv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V4  GBM short-stay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19.2%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$102.81</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0.528</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0.714</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a:solidFill>
                            <a:srgbClr val="4A4A4A"/>
                          </a:solidFill>
                          <a:latin typeface="Poppins" pitchFamily="34" charset="0"/>
                          <a:ea typeface="Poppins" pitchFamily="34" charset="-122"/>
                          <a:cs typeface="Poppins" pitchFamily="34" charset="-120"/>
                        </a:rPr>
                        <a:t>v3_gbm_segment_metrics.csv</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300" b="1">
                          <a:solidFill>
                            <a:srgbClr val="222222"/>
                          </a:solidFill>
                          <a:latin typeface="Poppins" pitchFamily="34" charset="0"/>
                          <a:ea typeface="Poppins" pitchFamily="34" charset="-122"/>
                          <a:cs typeface="Poppins" pitchFamily="34" charset="-120"/>
                        </a:rPr>
                        <a:t>V4  GBM monthly (prod.)</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b="1">
                          <a:solidFill>
                            <a:srgbClr val="4A4A4A"/>
                          </a:solidFill>
                          <a:latin typeface="Poppins" pitchFamily="34" charset="0"/>
                          <a:ea typeface="Poppins" pitchFamily="34" charset="-122"/>
                          <a:cs typeface="Poppins" pitchFamily="34" charset="-120"/>
                        </a:rPr>
                        <a:t>15.2%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$39.92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0.532</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300">
                          <a:solidFill>
                            <a:srgbClr val="4A4A4A"/>
                          </a:solidFill>
                          <a:latin typeface="Poppins" pitchFamily="34" charset="0"/>
                          <a:ea typeface="Poppins" pitchFamily="34" charset="-122"/>
                          <a:cs typeface="Poppins" pitchFamily="34" charset="-120"/>
                        </a:rPr>
                        <a:t>0.777</a:t>
                      </a:r>
                      <a:endParaRPr lang="en-US" sz="110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3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300" b="1">
                <a:solidFill>
                  <a:srgbClr val="222222"/>
                </a:solidFill>
                <a:latin typeface="Poppins" pitchFamily="34" charset="0"/>
                <a:ea typeface="Poppins" pitchFamily="34" charset="-122"/>
                <a:cs typeface="Poppins" pitchFamily="34" charset="-120"/>
              </a:rPr>
              <a:t>How to read it.  </a:t>
            </a:r>
            <a:r>
              <a:rPr lang="en-US" sz="130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V2 Ridge scored 25.1% on short-stay alone and 20.9% on monthly. Two distinct stages of gain: richer features took pooled error from 39.2% to 23.7%, then the segment-split GBM took short-stay to 19.2% and monthly to 15.2%.</a:t>
            </a:r>
            <a:endParaRPr lang="en-US" sz="1100"/>
          </a:p>
        </p:txBody>
      </p:sp>
      <p:sp>
        <p:nvSpPr>
          <p:cNvPr id="1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73462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B2 · HOW THE $7.6M IS BUILT</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How we built the business case</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17</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Revenue floor</a:t>
            </a:r>
            <a:endParaRPr lang="en-US" sz="1300"/>
          </a:p>
        </p:txBody>
      </p:sp>
      <p:sp>
        <p:nvSpPr>
          <p:cNvPr id="11" name="Text 7"/>
          <p:cNvSpPr/>
          <p:nvPr/>
        </p:nvSpPr>
        <p:spPr>
          <a:xfrm>
            <a:off x="74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 at full adoption.</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Ceiling (upside)</a:t>
            </a:r>
            <a:endParaRPr lang="en-US" sz="1300"/>
          </a:p>
        </p:txBody>
      </p:sp>
      <p:sp>
        <p:nvSpPr>
          <p:cNvPr id="14" name="Text 10"/>
          <p:cNvSpPr/>
          <p:nvPr/>
        </p:nvSpPr>
        <p:spPr>
          <a:xfrm>
            <a:off x="455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Incremental cost</a:t>
            </a:r>
            <a:endParaRPr lang="en-US" sz="1300"/>
          </a:p>
        </p:txBody>
      </p:sp>
      <p:sp>
        <p:nvSpPr>
          <p:cNvPr id="17" name="Text 13"/>
          <p:cNvSpPr/>
          <p:nvPr/>
        </p:nvSpPr>
        <p:spPr>
          <a:xfrm>
            <a:off x="836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a:p>
        </p:txBody>
      </p:sp>
      <p:sp>
        <p:nvSpPr>
          <p:cNvPr id="18" name="Shape 14"/>
          <p:cNvSpPr/>
          <p:nvPr/>
        </p:nvSpPr>
        <p:spPr>
          <a:xfrm>
            <a:off x="50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ROI &amp; payback</a:t>
            </a:r>
            <a:endParaRPr lang="en-US" sz="1300"/>
          </a:p>
        </p:txBody>
      </p:sp>
      <p:sp>
        <p:nvSpPr>
          <p:cNvPr id="20" name="Text 16"/>
          <p:cNvSpPr/>
          <p:nvPr/>
        </p:nvSpPr>
        <p:spPr>
          <a:xfrm>
            <a:off x="74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Modeled as an adoption ramp (Rogers' Diffusion), not a flat guess: ~10% in Year 1 climbing to ~42% by Year 4. Cash-positive in Year 1, at $117K revenue against $95K cost.</a:t>
            </a:r>
            <a:endParaRPr lang="en-US" sz="1080"/>
          </a:p>
        </p:txBody>
      </p:sp>
      <p:sp>
        <p:nvSpPr>
          <p:cNvPr id="21" name="Shape 17"/>
          <p:cNvSpPr/>
          <p:nvPr/>
        </p:nvSpPr>
        <p:spPr>
          <a:xfrm>
            <a:off x="431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NPV-honest</a:t>
            </a:r>
            <a:endParaRPr lang="en-US" sz="1300"/>
          </a:p>
        </p:txBody>
      </p:sp>
      <p:sp>
        <p:nvSpPr>
          <p:cNvPr id="23" name="Text 19"/>
          <p:cNvSpPr/>
          <p:nvPr/>
        </p:nvSpPr>
        <p:spPr>
          <a:xfrm>
            <a:off x="455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Discounted at 10% (CFI standard). 5-yr cumulative net $1.61M nominal → $1.14M NPV (~29% haircut), still net-positive in Year 1. We show both.</a:t>
            </a:r>
            <a:endParaRPr lang="en-US" sz="1080"/>
          </a:p>
        </p:txBody>
      </p:sp>
      <p:sp>
        <p:nvSpPr>
          <p:cNvPr id="24" name="Shape 20"/>
          <p:cNvSpPr/>
          <p:nvPr/>
        </p:nvSpPr>
        <p:spPr>
          <a:xfrm>
            <a:off x="812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Floor of the floor</a:t>
            </a:r>
            <a:endParaRPr lang="en-US" sz="1300"/>
          </a:p>
        </p:txBody>
      </p:sp>
      <p:sp>
        <p:nvSpPr>
          <p:cNvPr id="26" name="Text 22"/>
          <p:cNvSpPr/>
          <p:nvPr/>
        </p:nvSpPr>
        <p:spPr>
          <a:xfrm>
            <a:off x="836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No overpriced upside: we book its loss, not its potential gain. No hotel win-back nights, no churn / LTV, no cross-market scaling. Every input rounds against us, so the real return is higher.</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6269238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B3 · WHY WE SPLIT AT 142 REVIEWS</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100" b="1">
                <a:solidFill>
                  <a:srgbClr val="222222"/>
                </a:solidFill>
                <a:latin typeface="Poppins" pitchFamily="34" charset="0"/>
                <a:ea typeface="Poppins" pitchFamily="34" charset="-122"/>
                <a:cs typeface="Poppins" pitchFamily="34" charset="-120"/>
              </a:rPr>
              <a:t>We apply the coefficient only where we measured it</a:t>
            </a:r>
            <a:endParaRPr lang="en-US" sz="29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β = −0.92 came from established hosts. Most listings are not.</a:t>
            </a:r>
            <a:endParaRPr lang="en-US" sz="145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18</a:t>
            </a:r>
            <a:endParaRPr lang="en-US" sz="900"/>
          </a:p>
        </p:txBody>
      </p:sp>
      <p:sp>
        <p:nvSpPr>
          <p:cNvPr id="37" name="Shape 33"/>
          <p:cNvSpPr/>
          <p:nvPr/>
        </p:nvSpPr>
        <p:spPr>
          <a:xfrm>
            <a:off x="8001000" y="2240280"/>
            <a:ext cx="3685032" cy="3703320"/>
          </a:xfrm>
          <a:prstGeom prst="roundRect">
            <a:avLst>
              <a:gd name="adj" fmla="val 3500"/>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40" name="Text 35"/>
          <p:cNvSpPr/>
          <p:nvPr/>
        </p:nvSpPr>
        <p:spPr>
          <a:xfrm>
            <a:off x="9006840" y="2487168"/>
            <a:ext cx="2560320" cy="566928"/>
          </a:xfrm>
          <a:prstGeom prst="rect">
            <a:avLst/>
          </a:prstGeom>
          <a:noFill/>
          <a:ln/>
        </p:spPr>
        <p:txBody>
          <a:bodyPr wrap="square" lIns="0" tIns="0" rIns="0" bIns="0" rtlCol="0" anchor="ctr"/>
          <a:lstStyle/>
          <a:p>
            <a:pPr marL="0" indent="0">
              <a:buNone/>
            </a:pPr>
            <a:r>
              <a:rPr lang="en-US" sz="1700" b="1">
                <a:solidFill>
                  <a:srgbClr val="222222"/>
                </a:solidFill>
                <a:latin typeface="Poppins" pitchFamily="34" charset="0"/>
                <a:ea typeface="Poppins" pitchFamily="34" charset="-122"/>
                <a:cs typeface="Poppins" pitchFamily="34" charset="-120"/>
              </a:rPr>
              <a:t>Why we refuse to extrapolate</a:t>
            </a:r>
            <a:endParaRPr lang="en-US" sz="1500"/>
          </a:p>
        </p:txBody>
      </p:sp>
      <p:sp>
        <p:nvSpPr>
          <p:cNvPr id="41" name="Text 36"/>
          <p:cNvSpPr/>
          <p:nvPr/>
        </p:nvSpPr>
        <p:spPr>
          <a:xfrm>
            <a:off x="8275320" y="3127248"/>
            <a:ext cx="3200400" cy="1298448"/>
          </a:xfrm>
          <a:prstGeom prst="rect">
            <a:avLst/>
          </a:prstGeom>
          <a:noFill/>
          <a:ln/>
        </p:spPr>
        <p:txBody>
          <a:bodyPr wrap="square" lIns="0" tIns="0" rIns="0" bIns="0" rtlCol="0" anchor="t"/>
          <a:lstStyle/>
          <a:p>
            <a:pPr marL="0" indent="0">
              <a:lnSpc>
                <a:spcPct val="106000"/>
              </a:lnSpc>
              <a:buNone/>
            </a:pPr>
            <a:r>
              <a:rPr lang="en-US" sz="145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a:p>
        </p:txBody>
      </p:sp>
      <p:sp>
        <p:nvSpPr>
          <p:cNvPr id="42" name="Text 37"/>
          <p:cNvSpPr/>
          <p:nvPr/>
        </p:nvSpPr>
        <p:spPr>
          <a:xfrm>
            <a:off x="8275320" y="4526280"/>
            <a:ext cx="3200400" cy="1325880"/>
          </a:xfrm>
          <a:prstGeom prst="rect">
            <a:avLst/>
          </a:prstGeom>
          <a:noFill/>
          <a:ln/>
        </p:spPr>
        <p:txBody>
          <a:bodyPr wrap="square" lIns="0" tIns="0" rIns="0" bIns="0" rtlCol="0" anchor="t"/>
          <a:lstStyle/>
          <a:p>
            <a:pPr marL="0" indent="0">
              <a:lnSpc>
                <a:spcPct val="106000"/>
              </a:lnSpc>
              <a:buNone/>
            </a:pPr>
            <a:r>
              <a:rPr lang="en-US" sz="1450" b="1">
                <a:solidFill>
                  <a:srgbClr val="222222"/>
                </a:solidFill>
                <a:latin typeface="Poppins" pitchFamily="34" charset="0"/>
                <a:ea typeface="Poppins" pitchFamily="34" charset="-122"/>
                <a:cs typeface="Poppins" pitchFamily="34" charset="-120"/>
              </a:rPr>
              <a:t>At −1.0 the answer is zero by algebra. </a:t>
            </a:r>
            <a:r>
              <a:rPr lang="en-US" sz="145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we claim nothing.</a:t>
            </a:r>
            <a:endParaRPr lang="en-US" sz="1250"/>
          </a:p>
        </p:txBody>
      </p:sp>
      <p:sp>
        <p:nvSpPr>
          <p:cNvPr id="43" name="Rounded Rectangle 42"/>
          <p:cNvSpPr/>
          <p:nvPr/>
        </p:nvSpPr>
        <p:spPr>
          <a:xfrm>
            <a:off x="640080" y="2240280"/>
            <a:ext cx="3337560" cy="365760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700" b="1">
                <a:solidFill>
                  <a:srgbClr val="FF385C"/>
                </a:solidFill>
                <a:latin typeface="Poppins"/>
              </a:rPr>
              <a:t>≥142 REVIEWS</a:t>
            </a:r>
          </a:p>
        </p:txBody>
      </p:sp>
      <p:sp>
        <p:nvSpPr>
          <p:cNvPr id="45" name="TextBox 44"/>
          <p:cNvSpPr txBox="1"/>
          <p:nvPr/>
        </p:nvSpPr>
        <p:spPr>
          <a:xfrm>
            <a:off x="932688" y="3063240"/>
            <a:ext cx="2743200" cy="475488"/>
          </a:xfrm>
          <a:prstGeom prst="rect">
            <a:avLst/>
          </a:prstGeom>
          <a:noFill/>
        </p:spPr>
        <p:txBody>
          <a:bodyPr wrap="square" lIns="0" tIns="0" rIns="0" bIns="0">
            <a:spAutoFit/>
          </a:bodyPr>
          <a:lstStyle/>
          <a:p>
            <a:pPr algn="l"/>
            <a:r>
              <a:rPr sz="2700" b="1">
                <a:solidFill>
                  <a:srgbClr val="222222"/>
                </a:solidFill>
                <a:latin typeface="Poppins"/>
              </a:rPr>
              <a:t>488</a:t>
            </a:r>
          </a:p>
        </p:txBody>
      </p:sp>
      <p:sp>
        <p:nvSpPr>
          <p:cNvPr id="46" name="TextBox 45"/>
          <p:cNvSpPr txBox="1"/>
          <p:nvPr/>
        </p:nvSpPr>
        <p:spPr>
          <a:xfrm>
            <a:off x="932688" y="3557016"/>
            <a:ext cx="2743200" cy="438912"/>
          </a:xfrm>
          <a:prstGeom prst="rect">
            <a:avLst/>
          </a:prstGeom>
          <a:noFill/>
        </p:spPr>
        <p:txBody>
          <a:bodyPr wrap="square" lIns="0" tIns="0" rIns="0" bIns="0">
            <a:spAutoFit/>
          </a:bodyPr>
          <a:lstStyle/>
          <a:p>
            <a:pPr algn="l"/>
            <a:r>
              <a:rPr sz="1300" b="0">
                <a:solidFill>
                  <a:srgbClr val="717171"/>
                </a:solidFill>
                <a:latin typeface="Poppins"/>
              </a:rPr>
              <a:t>underpriced short-stay listings</a:t>
            </a:r>
          </a:p>
        </p:txBody>
      </p:sp>
      <p:sp>
        <p:nvSpPr>
          <p:cNvPr id="47" name="TextBox 46"/>
          <p:cNvSpPr txBox="1"/>
          <p:nvPr/>
        </p:nvSpPr>
        <p:spPr>
          <a:xfrm>
            <a:off x="932688" y="3931920"/>
            <a:ext cx="2743200" cy="475488"/>
          </a:xfrm>
          <a:prstGeom prst="rect">
            <a:avLst/>
          </a:prstGeom>
          <a:noFill/>
        </p:spPr>
        <p:txBody>
          <a:bodyPr wrap="square" lIns="0" tIns="0" rIns="0" bIns="0">
            <a:spAutoFit/>
          </a:bodyPr>
          <a:lstStyle/>
          <a:p>
            <a:pPr algn="l"/>
            <a:r>
              <a:rPr sz="2700" b="1">
                <a:solidFill>
                  <a:srgbClr val="222222"/>
                </a:solidFill>
                <a:latin typeface="Poppins"/>
              </a:rPr>
              <a:t>−0.92</a:t>
            </a:r>
          </a:p>
        </p:txBody>
      </p:sp>
      <p:sp>
        <p:nvSpPr>
          <p:cNvPr id="48" name="TextBox 47"/>
          <p:cNvSpPr txBox="1"/>
          <p:nvPr/>
        </p:nvSpPr>
        <p:spPr>
          <a:xfrm>
            <a:off x="932688" y="4425696"/>
            <a:ext cx="2743200" cy="292608"/>
          </a:xfrm>
          <a:prstGeom prst="rect">
            <a:avLst/>
          </a:prstGeom>
          <a:noFill/>
        </p:spPr>
        <p:txBody>
          <a:bodyPr wrap="square" lIns="0" tIns="0" rIns="0" bIns="0">
            <a:spAutoFit/>
          </a:bodyPr>
          <a:lstStyle/>
          <a:p>
            <a:pPr algn="l"/>
            <a:r>
              <a:rPr sz="1300" b="0">
                <a:solidFill>
                  <a:srgbClr val="717171"/>
                </a:solidFill>
                <a:latin typeface="Poppins"/>
              </a:rPr>
              <a:t>measured elasticity</a:t>
            </a:r>
            <a:r>
              <a:rPr lang="en-US" sz="1300" b="0">
                <a:solidFill>
                  <a:srgbClr val="717171"/>
                </a:solidFill>
                <a:latin typeface="Poppins"/>
              </a:rPr>
              <a:t>, </a:t>
            </a:r>
            <a:r>
              <a:rPr sz="1300" b="0">
                <a:solidFill>
                  <a:srgbClr val="717171"/>
                </a:solidFill>
                <a:latin typeface="Poppins"/>
              </a:rPr>
              <a:t>applied</a:t>
            </a:r>
          </a:p>
        </p:txBody>
      </p:sp>
      <p:sp>
        <p:nvSpPr>
          <p:cNvPr id="49" name="TextBox 48"/>
          <p:cNvSpPr txBox="1"/>
          <p:nvPr/>
        </p:nvSpPr>
        <p:spPr>
          <a:xfrm>
            <a:off x="932688" y="4800600"/>
            <a:ext cx="2743200" cy="475488"/>
          </a:xfrm>
          <a:prstGeom prst="rect">
            <a:avLst/>
          </a:prstGeom>
          <a:noFill/>
        </p:spPr>
        <p:txBody>
          <a:bodyPr wrap="square" lIns="0" tIns="0" rIns="0" bIns="0">
            <a:spAutoFit/>
          </a:bodyPr>
          <a:lstStyle/>
          <a:p>
            <a:pPr algn="l"/>
            <a:r>
              <a:rPr sz="2700" b="1">
                <a:solidFill>
                  <a:srgbClr val="222222"/>
                </a:solidFill>
                <a:latin typeface="Poppins"/>
              </a:rPr>
              <a:t>+$0.35M</a:t>
            </a:r>
          </a:p>
        </p:txBody>
      </p:sp>
      <p:sp>
        <p:nvSpPr>
          <p:cNvPr id="50" name="TextBox 49"/>
          <p:cNvSpPr txBox="1"/>
          <p:nvPr/>
        </p:nvSpPr>
        <p:spPr>
          <a:xfrm>
            <a:off x="932688" y="5294376"/>
            <a:ext cx="2743200" cy="292608"/>
          </a:xfrm>
          <a:prstGeom prst="rect">
            <a:avLst/>
          </a:prstGeom>
          <a:noFill/>
        </p:spPr>
        <p:txBody>
          <a:bodyPr wrap="square" lIns="0" tIns="0" rIns="0" bIns="0">
            <a:spAutoFit/>
          </a:bodyPr>
          <a:lstStyle/>
          <a:p>
            <a:pPr algn="l"/>
            <a:r>
              <a:rPr sz="1300" b="0">
                <a:solidFill>
                  <a:srgbClr val="717171"/>
                </a:solidFill>
                <a:latin typeface="Poppins"/>
              </a:rPr>
              <a:t>revenue contribution</a:t>
            </a:r>
          </a:p>
        </p:txBody>
      </p:sp>
      <p:sp>
        <p:nvSpPr>
          <p:cNvPr id="51" name="Rounded Rectangle 50"/>
          <p:cNvSpPr/>
          <p:nvPr/>
        </p:nvSpPr>
        <p:spPr>
          <a:xfrm>
            <a:off x="4251960" y="2240280"/>
            <a:ext cx="3337560" cy="3657600"/>
          </a:xfrm>
          <a:prstGeom prst="roundRect">
            <a:avLst>
              <a:gd name="adj" fmla="val 5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700" b="1">
                <a:solidFill>
                  <a:srgbClr val="00A699"/>
                </a:solidFill>
                <a:latin typeface="Poppins"/>
              </a:rPr>
              <a:t>UNDER 142 REVIEWS</a:t>
            </a:r>
          </a:p>
        </p:txBody>
      </p:sp>
      <p:sp>
        <p:nvSpPr>
          <p:cNvPr id="53" name="TextBox 52"/>
          <p:cNvSpPr txBox="1"/>
          <p:nvPr/>
        </p:nvSpPr>
        <p:spPr>
          <a:xfrm>
            <a:off x="4544568" y="3063240"/>
            <a:ext cx="2743200" cy="475488"/>
          </a:xfrm>
          <a:prstGeom prst="rect">
            <a:avLst/>
          </a:prstGeom>
          <a:noFill/>
        </p:spPr>
        <p:txBody>
          <a:bodyPr wrap="square" lIns="0" tIns="0" rIns="0" bIns="0">
            <a:spAutoFit/>
          </a:bodyPr>
          <a:lstStyle/>
          <a:p>
            <a:pPr algn="l"/>
            <a:r>
              <a:rPr sz="2700" b="1">
                <a:solidFill>
                  <a:srgbClr val="222222"/>
                </a:solidFill>
                <a:latin typeface="Poppins"/>
              </a:rPr>
              <a:t>1,511</a:t>
            </a:r>
          </a:p>
        </p:txBody>
      </p:sp>
      <p:sp>
        <p:nvSpPr>
          <p:cNvPr id="54" name="TextBox 53"/>
          <p:cNvSpPr txBox="1"/>
          <p:nvPr/>
        </p:nvSpPr>
        <p:spPr>
          <a:xfrm>
            <a:off x="4544568" y="3557016"/>
            <a:ext cx="2743200" cy="438912"/>
          </a:xfrm>
          <a:prstGeom prst="rect">
            <a:avLst/>
          </a:prstGeom>
          <a:noFill/>
        </p:spPr>
        <p:txBody>
          <a:bodyPr wrap="square" lIns="0" tIns="0" rIns="0" bIns="0">
            <a:spAutoFit/>
          </a:bodyPr>
          <a:lstStyle/>
          <a:p>
            <a:pPr algn="l"/>
            <a:r>
              <a:rPr sz="1300" b="0">
                <a:solidFill>
                  <a:srgbClr val="717171"/>
                </a:solidFill>
                <a:latin typeface="Poppins"/>
              </a:rPr>
              <a:t>underpriced short-stay listings</a:t>
            </a:r>
            <a:r>
              <a:rPr lang="en-US" sz="1300" b="0">
                <a:solidFill>
                  <a:srgbClr val="717171"/>
                </a:solidFill>
                <a:latin typeface="Poppins"/>
              </a:rPr>
              <a:t>, </a:t>
            </a:r>
            <a:r>
              <a:rPr sz="1300" b="0">
                <a:solidFill>
                  <a:srgbClr val="717171"/>
                </a:solidFill>
                <a:latin typeface="Poppins"/>
              </a:rPr>
              <a:t>76%</a:t>
            </a:r>
          </a:p>
        </p:txBody>
      </p:sp>
      <p:sp>
        <p:nvSpPr>
          <p:cNvPr id="55" name="TextBox 54"/>
          <p:cNvSpPr txBox="1"/>
          <p:nvPr/>
        </p:nvSpPr>
        <p:spPr>
          <a:xfrm>
            <a:off x="4544568" y="3931920"/>
            <a:ext cx="2743200" cy="475488"/>
          </a:xfrm>
          <a:prstGeom prst="rect">
            <a:avLst/>
          </a:prstGeom>
          <a:noFill/>
        </p:spPr>
        <p:txBody>
          <a:bodyPr wrap="square" lIns="0" tIns="0" rIns="0" bIns="0">
            <a:spAutoFit/>
          </a:bodyPr>
          <a:lstStyle/>
          <a:p>
            <a:pPr algn="l"/>
            <a:r>
              <a:rPr sz="2700" b="1">
                <a:solidFill>
                  <a:srgbClr val="222222"/>
                </a:solidFill>
                <a:latin typeface="Poppins"/>
              </a:rPr>
              <a:t>−1.0</a:t>
            </a:r>
          </a:p>
        </p:txBody>
      </p:sp>
      <p:sp>
        <p:nvSpPr>
          <p:cNvPr id="56" name="TextBox 55"/>
          <p:cNvSpPr txBox="1"/>
          <p:nvPr/>
        </p:nvSpPr>
        <p:spPr>
          <a:xfrm>
            <a:off x="4544568" y="4425696"/>
            <a:ext cx="2743200" cy="292608"/>
          </a:xfrm>
          <a:prstGeom prst="rect">
            <a:avLst/>
          </a:prstGeom>
          <a:noFill/>
        </p:spPr>
        <p:txBody>
          <a:bodyPr wrap="square" lIns="0" tIns="0" rIns="0" bIns="0">
            <a:spAutoFit/>
          </a:bodyPr>
          <a:lstStyle/>
          <a:p>
            <a:pPr algn="l"/>
            <a:r>
              <a:rPr sz="1300" b="0">
                <a:solidFill>
                  <a:srgbClr val="717171"/>
                </a:solidFill>
                <a:latin typeface="Poppins"/>
              </a:rPr>
              <a:t>breakeven assumed</a:t>
            </a:r>
            <a:r>
              <a:rPr lang="en-US" sz="1300" b="0">
                <a:solidFill>
                  <a:srgbClr val="717171"/>
                </a:solidFill>
                <a:latin typeface="Poppins"/>
              </a:rPr>
              <a:t>, </a:t>
            </a:r>
            <a:r>
              <a:rPr sz="1300" b="0">
                <a:solidFill>
                  <a:srgbClr val="717171"/>
                </a:solidFill>
                <a:latin typeface="Poppins"/>
              </a:rPr>
              <a:t>not measured</a:t>
            </a:r>
          </a:p>
        </p:txBody>
      </p:sp>
      <p:sp>
        <p:nvSpPr>
          <p:cNvPr id="57" name="TextBox 56"/>
          <p:cNvSpPr txBox="1"/>
          <p:nvPr/>
        </p:nvSpPr>
        <p:spPr>
          <a:xfrm>
            <a:off x="4544568" y="4800600"/>
            <a:ext cx="2743200" cy="475488"/>
          </a:xfrm>
          <a:prstGeom prst="rect">
            <a:avLst/>
          </a:prstGeom>
          <a:noFill/>
        </p:spPr>
        <p:txBody>
          <a:bodyPr wrap="square" lIns="0" tIns="0" rIns="0" bIns="0">
            <a:spAutoFit/>
          </a:bodyPr>
          <a:lstStyle/>
          <a:p>
            <a:pPr algn="l"/>
            <a:r>
              <a:rPr sz="2700" b="1">
                <a:solidFill>
                  <a:srgbClr val="222222"/>
                </a:solidFill>
                <a:latin typeface="Poppins"/>
              </a:rPr>
              <a:t>$0</a:t>
            </a:r>
          </a:p>
        </p:txBody>
      </p:sp>
      <p:sp>
        <p:nvSpPr>
          <p:cNvPr id="58" name="TextBox 57"/>
          <p:cNvSpPr txBox="1"/>
          <p:nvPr/>
        </p:nvSpPr>
        <p:spPr>
          <a:xfrm>
            <a:off x="4544568" y="5294376"/>
            <a:ext cx="2743200" cy="438912"/>
          </a:xfrm>
          <a:prstGeom prst="rect">
            <a:avLst/>
          </a:prstGeom>
          <a:noFill/>
        </p:spPr>
        <p:txBody>
          <a:bodyPr wrap="square" lIns="0" tIns="0" rIns="0" bIns="0">
            <a:spAutoFit/>
          </a:bodyPr>
          <a:lstStyle/>
          <a:p>
            <a:pPr algn="l"/>
            <a:r>
              <a:rPr sz="1300" b="0">
                <a:solidFill>
                  <a:srgbClr val="717171"/>
                </a:solidFill>
                <a:latin typeface="Poppins"/>
              </a:rPr>
              <a:t>revenue contribution</a:t>
            </a:r>
            <a:r>
              <a:rPr lang="en-US" sz="1300" b="0">
                <a:solidFill>
                  <a:srgbClr val="717171"/>
                </a:solidFill>
                <a:latin typeface="Poppins"/>
              </a:rPr>
              <a:t>, </a:t>
            </a:r>
            <a:r>
              <a:rPr sz="1300" b="0">
                <a:solidFill>
                  <a:srgbClr val="717171"/>
                </a:solidFill>
                <a:latin typeface="Poppins"/>
              </a:rPr>
              <a:t>claimed nothing</a:t>
            </a:r>
          </a:p>
        </p:txBody>
      </p:sp>
      <p:sp>
        <p:nvSpPr>
          <p:cNvPr id="5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B4 · REVENUE BY MODEL CONFIDENCE</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How much rests on a confident call</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19</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Confident: raise price</a:t>
            </a:r>
            <a:endParaRPr lang="en-US" sz="1300"/>
          </a:p>
        </p:txBody>
      </p:sp>
      <p:sp>
        <p:nvSpPr>
          <p:cNvPr id="11" name="Text 7"/>
          <p:cNvSpPr/>
          <p:nvPr/>
        </p:nvSpPr>
        <p:spPr>
          <a:xfrm>
            <a:off x="74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449 listings: the model puts their price entirely below its calibrated band. Worth +$2.79M in host GBV.</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Confident: lower price</a:t>
            </a:r>
            <a:endParaRPr lang="en-US" sz="1300"/>
          </a:p>
        </p:txBody>
      </p:sp>
      <p:sp>
        <p:nvSpPr>
          <p:cNvPr id="14" name="Text 10"/>
          <p:cNvSpPr/>
          <p:nvPr/>
        </p:nvSpPr>
        <p:spPr>
          <a:xfrm>
            <a:off x="455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Uncertain</a:t>
            </a:r>
            <a:endParaRPr lang="en-US" sz="1300"/>
          </a:p>
        </p:txBody>
      </p:sp>
      <p:sp>
        <p:nvSpPr>
          <p:cNvPr id="17" name="Text 13"/>
          <p:cNvSpPr/>
          <p:nvPr/>
        </p:nvSpPr>
        <p:spPr>
          <a:xfrm>
            <a:off x="8360664" y="2926080"/>
            <a:ext cx="3105912" cy="1207008"/>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3,192 listings whose current price sits inside the band. Worth +$5.21M, 69% of the total.</a:t>
            </a:r>
            <a:endParaRPr lang="en-US" sz="1080"/>
          </a:p>
        </p:txBody>
      </p:sp>
      <p:sp>
        <p:nvSpPr>
          <p:cNvPr id="18" name="Shape 14"/>
          <p:cNvSpPr/>
          <p:nvPr/>
        </p:nvSpPr>
        <p:spPr>
          <a:xfrm>
            <a:off x="50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The confident subset alone</a:t>
            </a:r>
            <a:endParaRPr lang="en-US" sz="1300"/>
          </a:p>
        </p:txBody>
      </p:sp>
      <p:sp>
        <p:nvSpPr>
          <p:cNvPr id="20" name="Text 16"/>
          <p:cNvSpPr/>
          <p:nvPr/>
        </p:nvSpPr>
        <p:spPr>
          <a:xfrm>
            <a:off x="74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a:p>
        </p:txBody>
      </p:sp>
      <p:sp>
        <p:nvSpPr>
          <p:cNvPr id="21" name="Shape 17"/>
          <p:cNvSpPr/>
          <p:nvPr/>
        </p:nvSpPr>
        <p:spPr>
          <a:xfrm>
            <a:off x="431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It still funds itself</a:t>
            </a:r>
            <a:endParaRPr lang="en-US" sz="1300"/>
          </a:p>
        </p:txBody>
      </p:sp>
      <p:sp>
        <p:nvSpPr>
          <p:cNvPr id="23" name="Text 19"/>
          <p:cNvSpPr/>
          <p:nvPr/>
        </p:nvSpPr>
        <p:spPr>
          <a:xfrm>
            <a:off x="455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a:p>
        </p:txBody>
      </p:sp>
      <p:sp>
        <p:nvSpPr>
          <p:cNvPr id="24" name="Shape 20"/>
          <p:cNvSpPr/>
          <p:nvPr/>
        </p:nvSpPr>
        <p:spPr>
          <a:xfrm>
            <a:off x="8122920" y="4297680"/>
            <a:ext cx="3563112" cy="182880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498848"/>
            <a:ext cx="3105912" cy="365760"/>
          </a:xfrm>
          <a:prstGeom prst="rect">
            <a:avLst/>
          </a:prstGeom>
          <a:noFill/>
          <a:ln/>
        </p:spPr>
        <p:txBody>
          <a:bodyPr wrap="square" lIns="0" tIns="0" rIns="0" bIns="0" rtlCol="0" anchor="ctr"/>
          <a:lstStyle/>
          <a:p>
            <a:pPr marL="0" indent="0">
              <a:buNone/>
            </a:pPr>
            <a:r>
              <a:rPr lang="en-US" sz="1500" b="1">
                <a:solidFill>
                  <a:srgbClr val="FF385C"/>
                </a:solidFill>
                <a:latin typeface="Poppins" pitchFamily="34" charset="0"/>
                <a:ea typeface="Poppins" pitchFamily="34" charset="-122"/>
                <a:cs typeface="Poppins" pitchFamily="34" charset="-120"/>
              </a:rPr>
              <a:t>What “Uncertain” means</a:t>
            </a:r>
            <a:endParaRPr lang="en-US" sz="1300"/>
          </a:p>
        </p:txBody>
      </p:sp>
      <p:sp>
        <p:nvSpPr>
          <p:cNvPr id="26" name="Text 22"/>
          <p:cNvSpPr/>
          <p:nvPr/>
        </p:nvSpPr>
        <p:spPr>
          <a:xfrm>
            <a:off x="8360664" y="4919472"/>
            <a:ext cx="3105912" cy="1188720"/>
          </a:xfrm>
          <a:prstGeom prst="rect">
            <a:avLst/>
          </a:prstGeom>
          <a:noFill/>
          <a:ln/>
        </p:spPr>
        <p:txBody>
          <a:bodyPr wrap="square" lIns="0" tIns="0" rIns="0" bIns="0" rtlCol="0" anchor="t"/>
          <a:lstStyle/>
          <a:p>
            <a:pPr marL="0" indent="0">
              <a:lnSpc>
                <a:spcPct val="105000"/>
              </a:lnSpc>
              <a:buNone/>
            </a:pPr>
            <a:r>
              <a:rPr lang="en-US" sz="128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and the model-noise discount already haircuts it.</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B5 · VALIDATION &amp; METHODOLOGY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Why we trust the number</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The statistical guardrails behind the recommendation.</a:t>
            </a:r>
            <a:endParaRPr lang="en-US" sz="145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20</a:t>
            </a:r>
            <a:endParaRPr lang="en-US" sz="900"/>
          </a:p>
        </p:txBody>
      </p:sp>
      <p:sp>
        <p:nvSpPr>
          <p:cNvPr id="9" name="Shape 5"/>
          <p:cNvSpPr/>
          <p:nvPr/>
        </p:nvSpPr>
        <p:spPr>
          <a:xfrm>
            <a:off x="50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2" name="Text 7"/>
          <p:cNvSpPr/>
          <p:nvPr/>
        </p:nvSpPr>
        <p:spPr>
          <a:xfrm>
            <a:off x="758952"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80/20 + 5-fold out-of-fold</a:t>
            </a:r>
            <a:endParaRPr lang="en-US" sz="125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Every listing scored by a model that never trained on it, genuinely out-of-sample.</a:t>
            </a:r>
            <a:endParaRPr lang="en-US" sz="1050"/>
          </a:p>
        </p:txBody>
      </p:sp>
      <p:sp>
        <p:nvSpPr>
          <p:cNvPr id="14" name="Shape 9"/>
          <p:cNvSpPr/>
          <p:nvPr/>
        </p:nvSpPr>
        <p:spPr>
          <a:xfrm>
            <a:off x="431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7" name="Text 11"/>
          <p:cNvSpPr/>
          <p:nvPr/>
        </p:nvSpPr>
        <p:spPr>
          <a:xfrm>
            <a:off x="4572000"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Duan smearing correction</a:t>
            </a:r>
            <a:endParaRPr lang="en-US" sz="125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a:p>
        </p:txBody>
      </p:sp>
      <p:sp>
        <p:nvSpPr>
          <p:cNvPr id="19" name="Shape 13"/>
          <p:cNvSpPr/>
          <p:nvPr/>
        </p:nvSpPr>
        <p:spPr>
          <a:xfrm>
            <a:off x="8122920" y="2331720"/>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5"/>
          <p:cNvSpPr/>
          <p:nvPr/>
        </p:nvSpPr>
        <p:spPr>
          <a:xfrm>
            <a:off x="8375904" y="2606040"/>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HC3 robust standard errors</a:t>
            </a:r>
            <a:endParaRPr lang="en-US" sz="125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Heteroskedasticity-consistent errors on every coefficient.</a:t>
            </a:r>
            <a:endParaRPr lang="en-US" sz="1050"/>
          </a:p>
        </p:txBody>
      </p:sp>
      <p:sp>
        <p:nvSpPr>
          <p:cNvPr id="24" name="Shape 17"/>
          <p:cNvSpPr/>
          <p:nvPr/>
        </p:nvSpPr>
        <p:spPr>
          <a:xfrm>
            <a:off x="50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27" name="Text 19"/>
          <p:cNvSpPr/>
          <p:nvPr/>
        </p:nvSpPr>
        <p:spPr>
          <a:xfrm>
            <a:off x="758952"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Ridge multicollinearity check</a:t>
            </a:r>
            <a:endParaRPr lang="en-US" sz="125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a:p>
        </p:txBody>
      </p:sp>
      <p:sp>
        <p:nvSpPr>
          <p:cNvPr id="29" name="Shape 21"/>
          <p:cNvSpPr/>
          <p:nvPr/>
        </p:nvSpPr>
        <p:spPr>
          <a:xfrm>
            <a:off x="431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2" name="Text 23"/>
          <p:cNvSpPr/>
          <p:nvPr/>
        </p:nvSpPr>
        <p:spPr>
          <a:xfrm>
            <a:off x="4572000"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Segment split</a:t>
            </a:r>
            <a:endParaRPr lang="en-US" sz="125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Short-stay ($376.82 mean) vs monthly ($162.73) modeled separately.</a:t>
            </a:r>
            <a:endParaRPr lang="en-US" sz="1050"/>
          </a:p>
        </p:txBody>
      </p:sp>
      <p:sp>
        <p:nvSpPr>
          <p:cNvPr id="34" name="Shape 25"/>
          <p:cNvSpPr/>
          <p:nvPr/>
        </p:nvSpPr>
        <p:spPr>
          <a:xfrm>
            <a:off x="8122920" y="4288536"/>
            <a:ext cx="3563112" cy="173736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37" name="Text 27"/>
          <p:cNvSpPr/>
          <p:nvPr/>
        </p:nvSpPr>
        <p:spPr>
          <a:xfrm>
            <a:off x="8375904" y="4562856"/>
            <a:ext cx="3054096" cy="502920"/>
          </a:xfrm>
          <a:prstGeom prst="rect">
            <a:avLst/>
          </a:prstGeom>
          <a:noFill/>
          <a:ln/>
        </p:spPr>
        <p:txBody>
          <a:bodyPr wrap="square" lIns="0" tIns="0" rIns="0" bIns="0" rtlCol="0" anchor="ctr"/>
          <a:lstStyle/>
          <a:p>
            <a:pPr marL="0" indent="0">
              <a:lnSpc>
                <a:spcPct val="95000"/>
              </a:lnSpc>
              <a:buNone/>
            </a:pPr>
            <a:r>
              <a:rPr lang="en-US" sz="1450" b="1">
                <a:solidFill>
                  <a:srgbClr val="222222"/>
                </a:solidFill>
                <a:latin typeface="Poppins" pitchFamily="34" charset="0"/>
                <a:ea typeface="Poppins" pitchFamily="34" charset="-122"/>
                <a:cs typeface="Poppins" pitchFamily="34" charset="-120"/>
              </a:rPr>
              <a:t>Known limit</a:t>
            </a:r>
            <a:endParaRPr lang="en-US" sz="125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25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a:p>
        </p:txBody>
      </p:sp>
      <p:sp>
        <p:nvSpPr>
          <p:cNvPr id="39"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58413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B6 · THE ADOPTION RAMP</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Why we didn't assume 35% adoption on day one</a:t>
            </a:r>
            <a:endParaRPr lang="en-US" sz="2800"/>
          </a:p>
        </p:txBody>
      </p:sp>
      <p:sp>
        <p:nvSpPr>
          <p:cNvPr id="4" name="Text 2"/>
          <p:cNvSpPr/>
          <p:nvPr/>
        </p:nvSpPr>
        <p:spPr>
          <a:xfrm>
            <a:off x="521208" y="1591056"/>
            <a:ext cx="10424160" cy="841248"/>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Modeled on Rogers' Diffusion of Innovation, recalibrated to real SaaS feature-adoption benchmarks (Product Metrics Benchmark Report 2024, 181 companies) rather than Bass's classical durable-goods parameters, which assume 10-15+ year adoption cycles, too slow for a digital tool.</a:t>
            </a:r>
            <a:endParaRPr lang="en-US" sz="1450"/>
          </a:p>
        </p:txBody>
      </p:sp>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sp>
        <p:nvSpPr>
          <p:cNvPr id="8" name="TextBox 7"/>
          <p:cNvSpPr txBox="1"/>
          <p:nvPr/>
        </p:nvSpPr>
        <p:spPr>
          <a:xfrm>
            <a:off x="502920" y="5650000"/>
            <a:ext cx="10883112" cy="457200"/>
          </a:xfrm>
          <a:prstGeom prst="rect">
            <a:avLst/>
          </a:prstGeom>
          <a:noFill/>
        </p:spPr>
        <p:txBody>
          <a:bodyPr wrap="none">
            <a:spAutoFit/>
          </a:bodyPr>
          <a:lstStyle/>
          <a:p>
            <a:r>
              <a:rPr sz="1600">
                <a:solidFill>
                  <a:srgbClr val="717171"/>
                </a:solidFill>
              </a:rPr>
              <a:t>Same ramp drives Slide 2, the financial slides, and Backup B2: one adoption curve, not a per-slide guess.</a:t>
            </a:r>
          </a:p>
        </p:txBody>
      </p:sp>
      <p:graphicFrame>
        <p:nvGraphicFramePr>
          <p:cNvPr id="9" name="Chart 8"/>
          <p:cNvGraphicFramePr>
            <a:graphicFrameLocks noGrp="1"/>
          </p:cNvGraphicFramePr>
          <p:nvPr/>
        </p:nvGraphicFramePr>
        <p:xfrm>
          <a:off x="502920" y="2249424"/>
          <a:ext cx="10881360" cy="3300984"/>
        </p:xfrm>
        <a:graphic>
          <a:graphicData uri="http://schemas.openxmlformats.org/drawingml/2006/chart">
            <c:chart xmlns:c="http://schemas.openxmlformats.org/drawingml/2006/chart" xmlns:r="http://schemas.openxmlformats.org/officeDocument/2006/relationships" r:id="rId2"/>
          </a:graphicData>
        </a:graphic>
      </p:graphicFrame>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0"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21</a:t>
            </a:r>
            <a:endParaRPr lang="en-US" sz="900"/>
          </a:p>
        </p:txBody>
      </p:sp>
      <p:sp>
        <p:nvSpPr>
          <p:cNvPr id="11"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2425506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B7 · WHY NOT ALREADY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Three reasons, and one real risk</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dirty="0">
                <a:solidFill>
                  <a:srgbClr val="717171"/>
                </a:solidFill>
                <a:latin typeface="Poppins" pitchFamily="34" charset="0"/>
                <a:ea typeface="Poppins" pitchFamily="34" charset="-122"/>
                <a:cs typeface="Poppins" pitchFamily="34" charset="-120"/>
              </a:rPr>
              <a:t>Smart Pricing could do this. It does not.</a:t>
            </a:r>
            <a:endParaRPr lang="en-US" sz="1450" dirty="0"/>
          </a:p>
        </p:txBody>
      </p:sp>
      <p:pic>
        <p:nvPicPr>
          <p:cNvPr id="5" name="Image 0" descr="/sessions/dreamy-trusting-noether/mnt/outputs/build/assets/cornell_dark.png"/>
          <p:cNvPicPr>
            <a:picLocks noChangeAspect="1"/>
          </p:cNvPicPr>
          <p:nvPr/>
        </p:nvPicPr>
        <p:blipFill>
          <a:blip r:embed="rId2"/>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22</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It serves Airbnb</a:t>
            </a:r>
            <a:endParaRPr lang="en-US" sz="1300"/>
          </a:p>
        </p:txBody>
      </p:sp>
      <p:sp>
        <p:nvSpPr>
          <p:cNvPr id="11" name="Text 7"/>
          <p:cNvSpPr/>
          <p:nvPr/>
        </p:nvSpPr>
        <p:spPr>
          <a:xfrm>
            <a:off x="740664" y="2980944"/>
            <a:ext cx="3105912" cy="1097280"/>
          </a:xfrm>
          <a:prstGeom prst="rect">
            <a:avLst/>
          </a:prstGeom>
          <a:noFill/>
          <a:ln/>
        </p:spPr>
        <p:txBody>
          <a:bodyPr wrap="square" lIns="0" tIns="0" rIns="0" bIns="0" rtlCol="0" anchor="t"/>
          <a:lstStyle/>
          <a:p>
            <a:pPr marL="0" indent="0">
              <a:lnSpc>
                <a:spcPct val="105000"/>
              </a:lnSpc>
              <a:buNone/>
            </a:pPr>
            <a:r>
              <a:rPr lang="en-US" sz="1500" dirty="0">
                <a:solidFill>
                  <a:srgbClr val="484848"/>
                </a:solidFill>
                <a:latin typeface="Poppins" pitchFamily="34" charset="0"/>
                <a:ea typeface="Poppins" pitchFamily="34" charset="-122"/>
                <a:cs typeface="Poppins" pitchFamily="34" charset="-120"/>
              </a:rPr>
              <a:t>Smart Pricing </a:t>
            </a:r>
            <a:r>
              <a:rPr lang="en-US" sz="1500" dirty="0" err="1">
                <a:solidFill>
                  <a:srgbClr val="484848"/>
                </a:solidFill>
                <a:latin typeface="Poppins" pitchFamily="34" charset="0"/>
                <a:ea typeface="Poppins" pitchFamily="34" charset="-122"/>
                <a:cs typeface="Poppins" pitchFamily="34" charset="-120"/>
              </a:rPr>
              <a:t>optimises</a:t>
            </a:r>
            <a:r>
              <a:rPr lang="en-US" sz="1500" dirty="0">
                <a:solidFill>
                  <a:srgbClr val="484848"/>
                </a:solidFill>
                <a:latin typeface="Poppins" pitchFamily="34" charset="0"/>
                <a:ea typeface="Poppins" pitchFamily="34" charset="-122"/>
                <a:cs typeface="Poppins" pitchFamily="34" charset="-120"/>
              </a:rPr>
              <a:t> occupancy and conversion, not host revenue.</a:t>
            </a:r>
            <a:endParaRPr lang="en-US" sz="1080" dirty="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It invites argument</a:t>
            </a:r>
            <a:endParaRPr lang="en-US" sz="1300"/>
          </a:p>
        </p:txBody>
      </p:sp>
      <p:sp>
        <p:nvSpPr>
          <p:cNvPr id="14" name="Text 10"/>
          <p:cNvSpPr/>
          <p:nvPr/>
        </p:nvSpPr>
        <p:spPr>
          <a:xfrm>
            <a:off x="4550664" y="2980944"/>
            <a:ext cx="3105912" cy="1097280"/>
          </a:xfrm>
          <a:prstGeom prst="rect">
            <a:avLst/>
          </a:prstGeom>
          <a:noFill/>
          <a:ln/>
        </p:spPr>
        <p:txBody>
          <a:bodyPr wrap="square" lIns="0" tIns="0" rIns="0" bIns="0" rtlCol="0" anchor="t"/>
          <a:lstStyle/>
          <a:p>
            <a:pPr marL="0" indent="0">
              <a:lnSpc>
                <a:spcPct val="105000"/>
              </a:lnSpc>
              <a:buNone/>
            </a:pPr>
            <a:r>
              <a:rPr lang="en-US" sz="1500" dirty="0">
                <a:solidFill>
                  <a:srgbClr val="484848"/>
                </a:solidFill>
                <a:latin typeface="Poppins" pitchFamily="34" charset="0"/>
                <a:ea typeface="Poppins" pitchFamily="34" charset="-122"/>
                <a:cs typeface="Poppins" pitchFamily="34" charset="-120"/>
              </a:rPr>
              <a:t>Published logic can be disputed, and reverse-engineered.</a:t>
            </a:r>
            <a:endParaRPr lang="en-US" sz="1080" dirty="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05456"/>
            <a:ext cx="3105912" cy="384048"/>
          </a:xfrm>
          <a:prstGeom prst="rect">
            <a:avLst/>
          </a:prstGeom>
          <a:noFill/>
          <a:ln/>
        </p:spPr>
        <p:txBody>
          <a:bodyPr wrap="square" lIns="0" tIns="0" rIns="0" bIns="0" rtlCol="0" anchor="ctr"/>
          <a:lstStyle/>
          <a:p>
            <a:pPr marL="0" indent="0">
              <a:buNone/>
            </a:pPr>
            <a:r>
              <a:rPr lang="en-US" sz="1700" b="1">
                <a:solidFill>
                  <a:srgbClr val="FF385C"/>
                </a:solidFill>
                <a:latin typeface="Poppins" pitchFamily="34" charset="0"/>
                <a:ea typeface="Poppins" pitchFamily="34" charset="-122"/>
                <a:cs typeface="Poppins" pitchFamily="34" charset="-120"/>
              </a:rPr>
              <a:t>Price-coordination risk</a:t>
            </a:r>
            <a:endParaRPr lang="en-US" sz="1300"/>
          </a:p>
        </p:txBody>
      </p:sp>
      <p:sp>
        <p:nvSpPr>
          <p:cNvPr id="17" name="Text 13"/>
          <p:cNvSpPr/>
          <p:nvPr/>
        </p:nvSpPr>
        <p:spPr>
          <a:xfrm>
            <a:off x="8360664" y="2980944"/>
            <a:ext cx="3105912" cy="109728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Showing peer prices and nudging up resembles the RealPage theory.</a:t>
            </a:r>
            <a:endParaRPr lang="en-US" sz="1080"/>
          </a:p>
        </p:txBody>
      </p:sp>
      <p:sp>
        <p:nvSpPr>
          <p:cNvPr id="18" name="Shape 14"/>
          <p:cNvSpPr/>
          <p:nvPr/>
        </p:nvSpPr>
        <p:spPr>
          <a:xfrm>
            <a:off x="502920" y="4434840"/>
            <a:ext cx="11183112" cy="86868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77240" y="4709160"/>
            <a:ext cx="10607040" cy="411480"/>
          </a:xfrm>
          <a:prstGeom prst="rect">
            <a:avLst/>
          </a:prstGeom>
          <a:noFill/>
          <a:ln/>
        </p:spPr>
        <p:txBody>
          <a:bodyPr wrap="square" lIns="0" tIns="0" rIns="0" bIns="0" rtlCol="0" anchor="ctr"/>
          <a:lstStyle/>
          <a:p>
            <a:pPr marL="0" indent="0">
              <a:buNone/>
            </a:pPr>
            <a:r>
              <a:rPr lang="en-US" sz="1800" b="1">
                <a:solidFill>
                  <a:srgbClr val="222222"/>
                </a:solidFill>
                <a:latin typeface="Poppins" pitchFamily="34" charset="0"/>
                <a:ea typeface="Poppins" pitchFamily="34" charset="-122"/>
                <a:cs typeface="Poppins" pitchFamily="34" charset="-120"/>
              </a:rPr>
              <a:t>Our answer: public prices, both directions, and the host decides.</a:t>
            </a:r>
            <a:endParaRPr lang="en-US" sz="130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400" b="1" kern="0" spc="200">
                <a:solidFill>
                  <a:srgbClr val="FF385C"/>
                </a:solidFill>
                <a:latin typeface="Poppins" pitchFamily="34" charset="0"/>
                <a:ea typeface="Poppins" pitchFamily="34" charset="-122"/>
                <a:cs typeface="Poppins" pitchFamily="34" charset="-120"/>
              </a:rPr>
              <a:t>BACKUP B8 · MARKET OPPORTUNITY</a:t>
            </a:r>
            <a:endParaRPr lang="en-US" sz="120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3000" b="1">
                <a:solidFill>
                  <a:srgbClr val="222222"/>
                </a:solidFill>
                <a:latin typeface="Poppins" pitchFamily="34" charset="0"/>
                <a:ea typeface="Poppins" pitchFamily="34" charset="-122"/>
                <a:cs typeface="Poppins" pitchFamily="34" charset="-120"/>
              </a:rPr>
              <a:t>What this is worth beyond New York</a:t>
            </a:r>
            <a:endParaRPr lang="en-US" sz="280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650">
                <a:solidFill>
                  <a:srgbClr val="717171"/>
                </a:solidFill>
                <a:latin typeface="Poppins" pitchFamily="34" charset="0"/>
                <a:ea typeface="Poppins" pitchFamily="34" charset="-122"/>
                <a:cs typeface="Poppins" pitchFamily="34" charset="-120"/>
              </a:rPr>
              <a:t>Scaled on the share of host GBV we recover in NYC.</a:t>
            </a:r>
            <a:endParaRPr lang="en-US" sz="1450"/>
          </a:p>
        </p:txBody>
      </p:sp>
      <p:pic>
        <p:nvPicPr>
          <p:cNvPr id="5" name="Image 0" descr="/sessions/dreamy-trusting-noether/mnt/outputs/build/assets/cornell_dark.png"/>
          <p:cNvPicPr>
            <a:picLocks noChangeAspect="1"/>
          </p:cNvPicPr>
          <p:nvPr/>
        </p:nvPicPr>
        <p:blipFill>
          <a:blip r:embed="rId2"/>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1100" b="1">
                <a:solidFill>
                  <a:srgbClr val="9AA0A6"/>
                </a:solidFill>
                <a:latin typeface="Poppins" pitchFamily="34" charset="0"/>
                <a:ea typeface="Poppins" pitchFamily="34" charset="-122"/>
                <a:cs typeface="Poppins" pitchFamily="34" charset="-120"/>
              </a:rPr>
              <a:t>23</a:t>
            </a:r>
            <a:endParaRPr lang="en-US" sz="900"/>
          </a:p>
        </p:txBody>
      </p:sp>
      <p:sp>
        <p:nvSpPr>
          <p:cNvPr id="9" name="Shape 5"/>
          <p:cNvSpPr/>
          <p:nvPr/>
        </p:nvSpPr>
        <p:spPr>
          <a:xfrm>
            <a:off x="50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42032"/>
            <a:ext cx="3105912" cy="640080"/>
          </a:xfrm>
          <a:prstGeom prst="rect">
            <a:avLst/>
          </a:prstGeom>
          <a:noFill/>
          <a:ln/>
        </p:spPr>
        <p:txBody>
          <a:bodyPr wrap="square" lIns="0" tIns="0" rIns="0" bIns="0" rtlCol="0" anchor="ctr"/>
          <a:lstStyle/>
          <a:p>
            <a:pPr marL="0" indent="0">
              <a:buNone/>
            </a:pPr>
            <a:r>
              <a:rPr lang="en-US" sz="3600" b="1">
                <a:solidFill>
                  <a:srgbClr val="222222"/>
                </a:solidFill>
                <a:latin typeface="Poppins" pitchFamily="34" charset="0"/>
                <a:ea typeface="Poppins" pitchFamily="34" charset="-122"/>
                <a:cs typeface="Poppins" pitchFamily="34" charset="-120"/>
              </a:rPr>
              <a:t>2.34%</a:t>
            </a:r>
            <a:endParaRPr lang="en-US" sz="1300"/>
          </a:p>
        </p:txBody>
      </p:sp>
      <p:sp>
        <p:nvSpPr>
          <p:cNvPr id="11" name="Text 7"/>
          <p:cNvSpPr/>
          <p:nvPr/>
        </p:nvSpPr>
        <p:spPr>
          <a:xfrm>
            <a:off x="74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of host GBV recovered in NYC</a:t>
            </a:r>
            <a:endParaRPr lang="en-US" sz="1080"/>
          </a:p>
        </p:txBody>
      </p:sp>
      <p:sp>
        <p:nvSpPr>
          <p:cNvPr id="12" name="Shape 8"/>
          <p:cNvSpPr/>
          <p:nvPr/>
        </p:nvSpPr>
        <p:spPr>
          <a:xfrm>
            <a:off x="431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42032"/>
            <a:ext cx="3105912" cy="640080"/>
          </a:xfrm>
          <a:prstGeom prst="rect">
            <a:avLst/>
          </a:prstGeom>
          <a:noFill/>
          <a:ln/>
        </p:spPr>
        <p:txBody>
          <a:bodyPr wrap="square" lIns="0" tIns="0" rIns="0" bIns="0" rtlCol="0" anchor="ctr"/>
          <a:lstStyle/>
          <a:p>
            <a:pPr marL="0" indent="0">
              <a:buNone/>
            </a:pPr>
            <a:r>
              <a:rPr lang="en-US" sz="3600" b="1">
                <a:solidFill>
                  <a:srgbClr val="FF385C"/>
                </a:solidFill>
                <a:latin typeface="Poppins" pitchFamily="34" charset="0"/>
                <a:ea typeface="Poppins" pitchFamily="34" charset="-122"/>
                <a:cs typeface="Poppins" pitchFamily="34" charset="-120"/>
              </a:rPr>
              <a:t>~$55M</a:t>
            </a:r>
            <a:endParaRPr lang="en-US" sz="1300"/>
          </a:p>
        </p:txBody>
      </p:sp>
      <p:sp>
        <p:nvSpPr>
          <p:cNvPr id="14" name="Text 10"/>
          <p:cNvSpPr/>
          <p:nvPr/>
        </p:nvSpPr>
        <p:spPr>
          <a:xfrm>
            <a:off x="455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a year, North America, at 42% adoption</a:t>
            </a:r>
            <a:endParaRPr lang="en-US" sz="1080"/>
          </a:p>
        </p:txBody>
      </p:sp>
      <p:sp>
        <p:nvSpPr>
          <p:cNvPr id="15" name="Shape 11"/>
          <p:cNvSpPr/>
          <p:nvPr/>
        </p:nvSpPr>
        <p:spPr>
          <a:xfrm>
            <a:off x="8122920" y="2286000"/>
            <a:ext cx="3563112" cy="1874519"/>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42032"/>
            <a:ext cx="3105912" cy="640080"/>
          </a:xfrm>
          <a:prstGeom prst="rect">
            <a:avLst/>
          </a:prstGeom>
          <a:noFill/>
          <a:ln/>
        </p:spPr>
        <p:txBody>
          <a:bodyPr wrap="square" lIns="0" tIns="0" rIns="0" bIns="0" rtlCol="0" anchor="ctr"/>
          <a:lstStyle/>
          <a:p>
            <a:pPr marL="0" indent="0">
              <a:buNone/>
            </a:pPr>
            <a:r>
              <a:rPr lang="en-US" sz="3600" b="1">
                <a:solidFill>
                  <a:srgbClr val="007A73"/>
                </a:solidFill>
                <a:latin typeface="Poppins" pitchFamily="34" charset="0"/>
                <a:ea typeface="Poppins" pitchFamily="34" charset="-122"/>
                <a:cs typeface="Poppins" pitchFamily="34" charset="-120"/>
              </a:rPr>
              <a:t>~$139M</a:t>
            </a:r>
            <a:endParaRPr lang="en-US" sz="1300"/>
          </a:p>
        </p:txBody>
      </p:sp>
      <p:sp>
        <p:nvSpPr>
          <p:cNvPr id="17" name="Text 13"/>
          <p:cNvSpPr/>
          <p:nvPr/>
        </p:nvSpPr>
        <p:spPr>
          <a:xfrm>
            <a:off x="8360664" y="3246120"/>
            <a:ext cx="3105912" cy="685800"/>
          </a:xfrm>
          <a:prstGeom prst="rect">
            <a:avLst/>
          </a:prstGeom>
          <a:noFill/>
          <a:ln/>
        </p:spPr>
        <p:txBody>
          <a:bodyPr wrap="square" lIns="0" tIns="0" rIns="0" bIns="0" rtlCol="0" anchor="t"/>
          <a:lstStyle/>
          <a:p>
            <a:pPr marL="0" indent="0">
              <a:lnSpc>
                <a:spcPct val="105000"/>
              </a:lnSpc>
              <a:buNone/>
            </a:pPr>
            <a:r>
              <a:rPr lang="en-US" sz="1500">
                <a:solidFill>
                  <a:srgbClr val="484848"/>
                </a:solidFill>
                <a:latin typeface="Poppins" pitchFamily="34" charset="0"/>
                <a:ea typeface="Poppins" pitchFamily="34" charset="-122"/>
                <a:cs typeface="Poppins" pitchFamily="34" charset="-120"/>
              </a:rPr>
              <a:t>a year, global, at 42% adoption</a:t>
            </a:r>
            <a:endParaRPr lang="en-US" sz="1080"/>
          </a:p>
        </p:txBody>
      </p:sp>
      <p:sp>
        <p:nvSpPr>
          <p:cNvPr id="18" name="Shape 14"/>
          <p:cNvSpPr/>
          <p:nvPr/>
        </p:nvSpPr>
        <p:spPr>
          <a:xfrm>
            <a:off x="502920" y="4434840"/>
            <a:ext cx="11183112" cy="1234440"/>
          </a:xfrm>
          <a:prstGeom prst="roundRect">
            <a:avLst>
              <a:gd name="adj" fmla="val 7368"/>
            </a:avLst>
          </a:prstGeom>
          <a:solidFill>
            <a:srgbClr val="FFFFFF"/>
          </a:solidFill>
          <a:ln w="9525">
            <a:solidFill>
              <a:srgbClr val="DDDDDD"/>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77240" y="4663440"/>
            <a:ext cx="10607040" cy="411480"/>
          </a:xfrm>
          <a:prstGeom prst="rect">
            <a:avLst/>
          </a:prstGeom>
          <a:noFill/>
          <a:ln/>
        </p:spPr>
        <p:txBody>
          <a:bodyPr wrap="square" lIns="0" tIns="0" rIns="0" bIns="0" rtlCol="0" anchor="ctr"/>
          <a:lstStyle/>
          <a:p>
            <a:pPr marL="0" indent="0">
              <a:buNone/>
            </a:pPr>
            <a:r>
              <a:rPr lang="en-US" sz="1700" b="1">
                <a:solidFill>
                  <a:srgbClr val="222222"/>
                </a:solidFill>
                <a:latin typeface="Poppins" pitchFamily="34" charset="0"/>
                <a:ea typeface="Poppins" pitchFamily="34" charset="-122"/>
                <a:cs typeface="Poppins" pitchFamily="34" charset="-120"/>
              </a:rPr>
              <a:t>Treat as a ceiling. NYC's long-stay mix is a regulatory artifact, and it carries our number.</a:t>
            </a:r>
            <a:endParaRPr lang="en-US" sz="1300"/>
          </a:p>
        </p:txBody>
      </p:sp>
      <p:sp>
        <p:nvSpPr>
          <p:cNvPr id="20" name="Text 16"/>
          <p:cNvSpPr/>
          <p:nvPr/>
        </p:nvSpPr>
        <p:spPr>
          <a:xfrm>
            <a:off x="777240" y="5138928"/>
            <a:ext cx="10607040" cy="365760"/>
          </a:xfrm>
          <a:prstGeom prst="rect">
            <a:avLst/>
          </a:prstGeom>
          <a:noFill/>
          <a:ln/>
        </p:spPr>
        <p:txBody>
          <a:bodyPr wrap="square" lIns="0" tIns="0" rIns="0" bIns="0" rtlCol="0" anchor="t"/>
          <a:lstStyle/>
          <a:p>
            <a:pPr marL="0" indent="0">
              <a:lnSpc>
                <a:spcPct val="105000"/>
              </a:lnSpc>
              <a:buNone/>
            </a:pPr>
            <a:r>
              <a:rPr lang="en-US" sz="1300">
                <a:solidFill>
                  <a:srgbClr val="484848"/>
                </a:solidFill>
                <a:latin typeface="Poppins" pitchFamily="34" charset="0"/>
                <a:ea typeface="Poppins" pitchFamily="34" charset="-122"/>
                <a:cs typeface="Poppins" pitchFamily="34" charset="-120"/>
              </a:rPr>
              <a:t>Airbnb FY2025: $91.3B gross booking value; North America ~42% of revenue.</a:t>
            </a:r>
            <a:endParaRPr lang="en-US" sz="1080"/>
          </a:p>
        </p:txBody>
      </p:sp>
      <p:sp>
        <p:nvSpPr>
          <p:cNvPr id="27" name="Accent Bar"/>
          <p:cNvSpPr/>
          <p:nvPr/>
        </p:nvSpPr>
        <p:spPr>
          <a:xfrm>
            <a:off x="0" y="6793992"/>
            <a:ext cx="12191695" cy="64008"/>
          </a:xfrm>
          <a:prstGeom prst="rect">
            <a:avLst/>
          </a:prstGeom>
          <a:gradFill rotWithShape="1">
            <a:gsLst>
              <a:gs pos="0">
                <a:srgbClr val="FF595F"/>
              </a:gs>
              <a:gs pos="100000">
                <a:srgbClr val="C31561"/>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72</TotalTime>
  <Words>5725</Words>
  <Application>Microsoft Office PowerPoint</Application>
  <PresentationFormat>Widescreen</PresentationFormat>
  <Paragraphs>470</Paragraphs>
  <Slides>23</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Calibri</vt:lpstr>
      <vt:lpstr>Aptos</vt:lpstr>
      <vt:lpstr>Arial</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Brendan Meara</cp:lastModifiedBy>
  <cp:revision>11</cp:revision>
  <dcterms:created xsi:type="dcterms:W3CDTF">2026-07-29T22:50:08Z</dcterms:created>
  <dcterms:modified xsi:type="dcterms:W3CDTF">2026-08-06T19:47:20Z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