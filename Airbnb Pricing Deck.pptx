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7" r:id="rId19"/>
    <p:sldId id="278" r:id="rId20"/>
    <p:sldId id="276" r:id="rId21"/>
  </p:sldIdLst>
  <p:sldSz cx="12192000" cy="6858000"/>
  <p:notesSz cx="6858000" cy="12192000"/>
  <p:embeddedFontLst>
    <p:embeddedFont>
      <p:font typeface="Poppins" panose="00000500000000000000" pitchFamily="2" charset="0"/>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4459766-7F3D-414A-BF06-80034270BD7A}" v="1" dt="2026-08-01T13:59:40.7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a:t>
            </a:r>
            <a:r>
              <a:rPr lang="en-US"/>
              <a:t>problem ,  </a:t>
            </a:r>
            <a:r>
              <a:rPr lang="en-US" dirty="0"/>
              <a:t>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(~1.5 min).
"Most Airbnb hosts want to maximize revenue, but pricing isn't easy. Some price on experience, some copy nearby listings, some use Airbnb's Smart Pricing. The catch: Smart Pricing gives a recommendation but doesn't really explain </a:t>
            </a:r>
            <a:r>
              <a:rPr lang="en-US"/>
              <a:t>why ,  </a:t>
            </a:r>
            <a:r>
              <a:rPr lang="en-US" dirty="0"/>
              <a:t>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a:t>
            </a:r>
            <a:r>
              <a:rPr lang="en-US"/>
              <a:t>Pricing ,  </a:t>
            </a:r>
            <a:r>
              <a:rPr lang="en-US" dirty="0"/>
              <a:t>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a:t>
            </a:r>
            <a:r>
              <a:rPr lang="en-US"/>
              <a:t>piece ,  </a:t>
            </a:r>
            <a:r>
              <a:rPr lang="en-US" dirty="0"/>
              <a:t>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"We intentionally focused on New York City. Rather than model Airbnb's entire global marketplace, we wanted one market where we could build, test and evaluate. We used the public Inside Airbnb </a:t>
            </a:r>
            <a:r>
              <a:rPr lang="en-US"/>
              <a:t>dataset ,  </a:t>
            </a:r>
            <a:r>
              <a:rPr lang="en-US" dirty="0"/>
              <a:t>nearly 9,800 active listings with nightly price, availability, reviews, amenities, location and host characteristics. We cleaned the data, handled missing values, engineered features, and prepared it for analysis. Then, importantly, we didn't jump straight into machine </a:t>
            </a:r>
            <a:r>
              <a:rPr lang="en-US"/>
              <a:t>learning ,  </a:t>
            </a:r>
            <a:r>
              <a:rPr lang="en-US" dirty="0"/>
              <a:t>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a:t>
            </a:r>
            <a:r>
              <a:rPr lang="en-US"/>
              <a:t>own ,  </a:t>
            </a:r>
            <a:r>
              <a:rPr lang="en-US" dirty="0"/>
              <a:t>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"One of the most interesting relationships was between host quality and occupancy. More experienced, highly reviewed hosts maintain noticeably higher </a:t>
            </a:r>
            <a:r>
              <a:rPr lang="en-US"/>
              <a:t>occupancy ,  </a:t>
            </a:r>
            <a:r>
              <a:rPr lang="en-US" dirty="0"/>
              <a:t>listings with 51+ reviews average about 42% occupancy versus 34% for those with under ten, and superhosts run higher than regular hosts. That tells us pricing isn't the only thing driving </a:t>
            </a:r>
            <a:r>
              <a:rPr lang="en-US"/>
              <a:t>demand ,  </a:t>
            </a:r>
            <a:r>
              <a:rPr lang="en-US" dirty="0"/>
              <a:t>reviews, reputation and listing quality matter too, so we shouldn't treat price as the only lever. We also saw that some listings were priced close to what we'd expect while others were clearly above or below similar properties. That raised the real question: instead of asking whether a listing is expensive or cheap, could we estimate what a fair market price should be? Answering that became the focus of our model."
TRANSITION: "So we moved from exploration to building the product itself. Over to Manas." [Hand to Manas]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(~1.5 min).
"Our goal wasn't to build another pricing </a:t>
            </a:r>
            <a:r>
              <a:rPr lang="en-US"/>
              <a:t>calculator ,  </a:t>
            </a:r>
            <a:r>
              <a:rPr lang="en-US" dirty="0"/>
              <a:t>Airbnb already has one. It was to help hosts understand the recommendation they're given. If someone tells you to change your price, your first question is usually 'why?' Our product answers that: instead of a single number, it gives a recommended fair value, shows comparable listings that support it, highlights amenity differences, and lets the host explore how changing price could affect revenue. One idea from our coach really shaped </a:t>
            </a:r>
            <a:r>
              <a:rPr lang="en-US"/>
              <a:t>this ,  </a:t>
            </a:r>
            <a:r>
              <a:rPr lang="en-US" dirty="0"/>
              <a:t>Commander's Intent: people make better decisions when they understand the reasoning, not when they're just told what to do. That applies perfectly here. So the product isn't only about predicting a </a:t>
            </a:r>
            <a:r>
              <a:rPr lang="en-US"/>
              <a:t>price ,  </a:t>
            </a:r>
            <a:r>
              <a:rPr lang="en-US" dirty="0"/>
              <a:t>it's about helping hosts price with confidence."
TRANSITION: "Of course, that only works if the recommendation is </a:t>
            </a:r>
            <a:r>
              <a:rPr lang="en-US"/>
              <a:t>accurate ,  </a:t>
            </a:r>
            <a:r>
              <a:rPr lang="en-US" dirty="0"/>
              <a:t>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(~2 min).
"To estimate fair market value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important nuance on the split: about half of listings read underpriced and about half overpriced, but the two halves are NOT symmetric. Because demand is close to unit-elastic, cutting price on the overpriced side is actually revenue-negative for the host, so we treat that half as a fairness and peer-benchmarking signal, not a second revenue lever. The real revenue opportunity is the underpriced side, and Jai will show the elasticity work that proves it."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then team fields Q&amp;A.
"Our recommendation isn't to replace Smart </a:t>
            </a:r>
            <a:r>
              <a:rPr lang="en-US"/>
              <a:t>Pricing ,  </a:t>
            </a:r>
            <a:r>
              <a:rPr lang="en-US" dirty="0"/>
              <a:t>it's to build on it. The opportunity isn't simply another price recommendation; it's helping hosts understand, trust and act on it. As a next step we'd launch this as a pilot in a single market, measuring how hosts interact with the platform, how often they adopt the recommendations, and how pricing changes influence occupancy and revenue. Those real-world results would let Airbnb keep improving the model before expanding to more cities. Looking back, the biggest lesson is that successful analytics isn't just about accurate </a:t>
            </a:r>
            <a:r>
              <a:rPr lang="en-US"/>
              <a:t>models ,  </a:t>
            </a:r>
            <a:r>
              <a:rPr lang="en-US" dirty="0"/>
              <a:t>it's about solving the right business problem and presenting insights people are willing to use. For us this project combined machine learning, product thinking, business strategy and data storytelling. Thank you for your </a:t>
            </a:r>
            <a:r>
              <a:rPr lang="en-US"/>
              <a:t>time ,  </a:t>
            </a:r>
            <a:r>
              <a:rPr lang="en-US" dirty="0"/>
              <a:t>we'd be happy to take questions."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  </a:t>
            </a:r>
            <a:r>
              <a:rPr lang="en-US" dirty="0"/>
              <a:t>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a:t>
            </a:r>
            <a:r>
              <a:rPr lang="en-US"/>
              <a:t>own ,  </a:t>
            </a:r>
            <a:r>
              <a:rPr lang="en-US" dirty="0"/>
              <a:t>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2.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3.png"/><Relationship Id="rId6" Type="http://schemas.openxmlformats.org/officeDocument/2006/relationships/image" Target="../media/image19.png"/><Relationship Id="rId7" Type="http://schemas.openxmlformats.org/officeDocument/2006/relationships/image" Target="../media/image34.png"/><Relationship Id="rId8" Type="http://schemas.openxmlformats.org/officeDocument/2006/relationships/image" Target="../media/image16.png"/><Relationship Id="rId9" Type="http://schemas.openxmlformats.org/officeDocument/2006/relationships/image" Target="../media/image28.png"/><Relationship Id="rId10"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dirty="0">
                <a:solidFill>
                  <a:srgbClr val="FFFFFF"/>
                </a:solidFill>
                <a:latin typeface="Poppins" pitchFamily="34" charset="0"/>
                <a:ea typeface="Poppins" pitchFamily="34" charset="-122"/>
                <a:cs typeface="Poppins" pitchFamily="34" charset="-120"/>
              </a:rPr>
              <a:t>BANA 5160 CAPSTONE  ·  CORNELL UNIVERSITY  ·  TEAM 6</a:t>
            </a:r>
            <a:endParaRPr lang="en-US" sz="1200" dirty="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Airbnb Pricing</a:t>
            </a:r>
            <a:endParaRPr lang="en-US" sz="5600" dirty="0"/>
          </a:p>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Intelligence</a:t>
            </a:r>
            <a:endParaRPr lang="en-US" sz="5600" dirty="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dirty="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dirty="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Brendan Meara </a:t>
            </a:r>
            <a:r>
              <a:rPr lang="en-US" sz="1250" dirty="0">
                <a:solidFill>
                  <a:srgbClr val="FFFFFF">
                    <a:alpha val="78000"/>
                  </a:srgbClr>
                </a:solidFill>
                <a:latin typeface="Poppins" pitchFamily="34" charset="0"/>
                <a:ea typeface="Poppins" pitchFamily="34" charset="-122"/>
                <a:cs typeface="Poppins" pitchFamily="34" charset="-120"/>
              </a:rPr>
              <a:t>(PM)     </a:t>
            </a:r>
            <a:r>
              <a:rPr lang="en-US" sz="1250" b="1" dirty="0">
                <a:solidFill>
                  <a:srgbClr val="FFFFFF"/>
                </a:solidFill>
                <a:latin typeface="Poppins" pitchFamily="34" charset="0"/>
                <a:ea typeface="Poppins" pitchFamily="34" charset="-122"/>
                <a:cs typeface="Poppins" pitchFamily="34" charset="-120"/>
              </a:rPr>
              <a:t>Jai Manikandan </a:t>
            </a:r>
            <a:r>
              <a:rPr lang="en-US" sz="1250" dirty="0">
                <a:solidFill>
                  <a:srgbClr val="FFFFFF">
                    <a:alpha val="78000"/>
                  </a:srgbClr>
                </a:solidFill>
                <a:latin typeface="Poppins" pitchFamily="34" charset="0"/>
                <a:ea typeface="Poppins" pitchFamily="34" charset="-122"/>
                <a:cs typeface="Poppins" pitchFamily="34" charset="-120"/>
              </a:rPr>
              <a:t>(Data)     </a:t>
            </a:r>
            <a:r>
              <a:rPr lang="en-US" sz="1250" b="1" dirty="0">
                <a:solidFill>
                  <a:srgbClr val="FFFFFF"/>
                </a:solidFill>
                <a:latin typeface="Poppins" pitchFamily="34" charset="0"/>
                <a:ea typeface="Poppins" pitchFamily="34" charset="-122"/>
                <a:cs typeface="Poppins" pitchFamily="34" charset="-120"/>
              </a:rPr>
              <a:t>Manas Manu </a:t>
            </a:r>
            <a:r>
              <a:rPr lang="en-US" sz="1250" dirty="0">
                <a:solidFill>
                  <a:srgbClr val="FFFFFF">
                    <a:alpha val="78000"/>
                  </a:srgbClr>
                </a:solidFill>
                <a:latin typeface="Poppins" pitchFamily="34" charset="0"/>
                <a:ea typeface="Poppins" pitchFamily="34" charset="-122"/>
                <a:cs typeface="Poppins" pitchFamily="34" charset="-120"/>
              </a:rPr>
              <a:t>(Modeling)     </a:t>
            </a:r>
            <a:r>
              <a:rPr lang="en-US" sz="1250" b="1" dirty="0">
                <a:solidFill>
                  <a:srgbClr val="FFFFFF"/>
                </a:solidFill>
                <a:latin typeface="Poppins" pitchFamily="34" charset="0"/>
                <a:ea typeface="Poppins" pitchFamily="34" charset="-122"/>
                <a:cs typeface="Poppins" pitchFamily="34" charset="-120"/>
              </a:rPr>
              <a:t>Rachael Chin </a:t>
            </a:r>
            <a:r>
              <a:rPr lang="en-US" sz="1250" dirty="0">
                <a:solidFill>
                  <a:srgbClr val="FFFFFF">
                    <a:alpha val="78000"/>
                  </a:srgbClr>
                </a:solidFill>
                <a:latin typeface="Poppins" pitchFamily="34" charset="0"/>
                <a:ea typeface="Poppins" pitchFamily="34" charset="-122"/>
                <a:cs typeface="Poppins" pitchFamily="34" charset="-120"/>
              </a:rPr>
              <a:t>(Visualization)</a:t>
            </a:r>
            <a:endParaRPr lang="en-US" sz="1250" dirty="0"/>
          </a:p>
        </p:txBody>
      </p:sp>
      <p:sp>
        <p:nvSpPr>
          <p:cNvPr id="11" name="Text 6"/>
          <p:cNvSpPr/>
          <p:nvPr/>
        </p:nvSpPr>
        <p:spPr>
          <a:xfrm>
            <a:off x="777240" y="5138928"/>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Francois Miaule </a:t>
            </a:r>
            <a:r>
              <a:rPr lang="en-US" sz="1250" dirty="0">
                <a:solidFill>
                  <a:srgbClr val="FFFFFF">
                    <a:alpha val="78000"/>
                  </a:srgbClr>
                </a:solidFill>
                <a:latin typeface="Poppins" pitchFamily="34" charset="0"/>
                <a:ea typeface="Poppins" pitchFamily="34" charset="-122"/>
                <a:cs typeface="Poppins" pitchFamily="34" charset="-120"/>
              </a:rPr>
              <a:t>(Insights &amp; Presentation)      Industry Coach: </a:t>
            </a:r>
            <a:r>
              <a:rPr lang="en-US" sz="1250" b="1" dirty="0">
                <a:solidFill>
                  <a:srgbClr val="FFFFFF"/>
                </a:solidFill>
                <a:latin typeface="Poppins" pitchFamily="34" charset="0"/>
                <a:ea typeface="Poppins" pitchFamily="34" charset="-122"/>
                <a:cs typeface="Poppins" pitchFamily="34" charset="-120"/>
              </a:rPr>
              <a:t>Stan</a:t>
            </a:r>
            <a:endParaRPr lang="en-US" sz="1250" dirty="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dirty="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dirty="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dirty="0">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01 · EXECUTIVE SUMMARY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$1.17M a year, for a $65K build</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Half of NYC’s listings are priced wrong. We show hosts by how much and why, and Airbnb earns on every correction.</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Brendan</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a:t>
            </a:r>
            <a:endParaRPr lang="en-US" sz="900" dirty="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632399" y="2373783"/>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777875" y="2507102"/>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problem</a:t>
            </a:r>
            <a:endParaRPr lang="en-US" sz="1500" dirty="0"/>
          </a:p>
        </p:txBody>
      </p:sp>
      <p:sp>
        <p:nvSpPr>
          <p:cNvPr id="16" name="Text 11"/>
          <p:cNvSpPr/>
          <p:nvPr/>
        </p:nvSpPr>
        <p:spPr>
          <a:xfrm>
            <a:off x="777240" y="3108960"/>
            <a:ext cx="4965192" cy="685800"/>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Smart Pricing hands hosts a number with no reasoning: no comparables, no drivers, nothing to explore. So hosts ignore it, or follow it blindly.</a:t>
            </a:r>
            <a:endParaRPr lang="en-US" sz="1200" dirty="0"/>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335329" y="2373783"/>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492240" y="2518624"/>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Our answer</a:t>
            </a:r>
            <a:endParaRPr lang="en-US" sz="1500" dirty="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A fair price a host can actually interrogate: the comparable listings behind it, the amenity gaps against high performers, and a slider to test any price.</a:t>
            </a:r>
            <a:endParaRPr lang="en-US" sz="1200" dirty="0"/>
          </a:p>
        </p:txBody>
      </p:sp>
      <p:sp>
        <p:nvSpPr>
          <p:cNvPr id="22" name="Shape 16"/>
          <p:cNvSpPr/>
          <p:nvPr/>
        </p:nvSpPr>
        <p:spPr>
          <a:xfrm>
            <a:off x="502920"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462272"/>
            <a:ext cx="3054096"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$1.17M</a:t>
            </a:r>
            <a:endParaRPr lang="en-US" sz="1500" dirty="0"/>
          </a:p>
        </p:txBody>
      </p:sp>
      <p:sp>
        <p:nvSpPr>
          <p:cNvPr id="26" name="Text 19"/>
          <p:cNvSpPr/>
          <p:nvPr/>
        </p:nvSpPr>
        <p:spPr>
          <a:xfrm>
            <a:off x="758952" y="5047488"/>
            <a:ext cx="3054096" cy="548640"/>
          </a:xfrm>
          <a:prstGeom prst="rect">
            <a:avLst/>
          </a:prstGeom>
          <a:noFill/>
          <a:ln/>
        </p:spPr>
        <p:txBody>
          <a:bodyPr wrap="square" lIns="0" tIns="0" rIns="0" bIns="0" rtlCol="0" anchor="t"/>
          <a:lstStyle/>
          <a:p>
            <a:pPr marL="0" indent="0">
              <a:lnSpc>
                <a:spcPct val="103000"/>
              </a:lnSpc>
              <a:buNone/>
            </a:pPr>
            <a:r>
              <a:rPr lang="en-US" sz="1100" dirty="0" b="0">
                <a:solidFill>
                  <a:srgbClr val="717171"/>
                </a:solidFill>
                <a:latin typeface="Poppins" pitchFamily="34" charset="0"/>
                <a:ea typeface="Poppins" pitchFamily="34" charset="-122"/>
                <a:cs typeface="Poppins" pitchFamily="34" charset="-120"/>
              </a:rPr>
              <a:t>a year in new Airbnb fees, from the NYC pilot alone</a:t>
            </a:r>
            <a:endParaRPr lang="en-US" sz="1100" dirty="0"/>
          </a:p>
        </p:txBody>
      </p:sp>
      <p:sp>
        <p:nvSpPr>
          <p:cNvPr id="27" name="Shape 20"/>
          <p:cNvSpPr/>
          <p:nvPr/>
        </p:nvSpPr>
        <p:spPr>
          <a:xfrm>
            <a:off x="4315968"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462272"/>
            <a:ext cx="3054096"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~3 months</a:t>
            </a:r>
            <a:endParaRPr lang="en-US" sz="1500" dirty="0"/>
          </a:p>
        </p:txBody>
      </p:sp>
      <p:sp>
        <p:nvSpPr>
          <p:cNvPr id="31" name="Text 23"/>
          <p:cNvSpPr/>
          <p:nvPr/>
        </p:nvSpPr>
        <p:spPr>
          <a:xfrm>
            <a:off x="4572000" y="5047488"/>
            <a:ext cx="3054096" cy="548640"/>
          </a:xfrm>
          <a:prstGeom prst="rect">
            <a:avLst/>
          </a:prstGeom>
          <a:noFill/>
          <a:ln/>
        </p:spPr>
        <p:txBody>
          <a:bodyPr wrap="square" lIns="0" tIns="0" rIns="0" bIns="0" rtlCol="0" anchor="t"/>
          <a:lstStyle/>
          <a:p>
            <a:pPr marL="0" indent="0">
              <a:lnSpc>
                <a:spcPct val="103000"/>
              </a:lnSpc>
              <a:buNone/>
            </a:pPr>
            <a:r>
              <a:rPr lang="en-US" sz="1100" dirty="0" b="0">
                <a:solidFill>
                  <a:srgbClr val="717171"/>
                </a:solidFill>
                <a:latin typeface="Poppins" pitchFamily="34" charset="0"/>
                <a:ea typeface="Poppins" pitchFamily="34" charset="-122"/>
                <a:cs typeface="Poppins" pitchFamily="34" charset="-120"/>
              </a:rPr>
              <a:t>to pay the build back, at a realistic 35% adoption</a:t>
            </a:r>
            <a:endParaRPr lang="en-US" sz="1100" dirty="0"/>
          </a:p>
        </p:txBody>
      </p:sp>
      <p:sp>
        <p:nvSpPr>
          <p:cNvPr id="32" name="Shape 24"/>
          <p:cNvSpPr/>
          <p:nvPr/>
        </p:nvSpPr>
        <p:spPr>
          <a:xfrm>
            <a:off x="8119872"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462272"/>
            <a:ext cx="3054096"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$65K</a:t>
            </a:r>
            <a:endParaRPr lang="en-US" sz="1500" dirty="0"/>
          </a:p>
        </p:txBody>
      </p:sp>
      <p:sp>
        <p:nvSpPr>
          <p:cNvPr id="36" name="Text 27"/>
          <p:cNvSpPr/>
          <p:nvPr/>
        </p:nvSpPr>
        <p:spPr>
          <a:xfrm>
            <a:off x="8375904" y="5047488"/>
            <a:ext cx="3054096" cy="548640"/>
          </a:xfrm>
          <a:prstGeom prst="rect">
            <a:avLst/>
          </a:prstGeom>
          <a:noFill/>
          <a:ln/>
        </p:spPr>
        <p:txBody>
          <a:bodyPr wrap="square" lIns="0" tIns="0" rIns="0" bIns="0" rtlCol="0" anchor="t"/>
          <a:lstStyle/>
          <a:p>
            <a:pPr marL="0" indent="0">
              <a:lnSpc>
                <a:spcPct val="103000"/>
              </a:lnSpc>
              <a:buNone/>
            </a:pPr>
            <a:r>
              <a:rPr lang="en-US" sz="1100" dirty="0" b="0">
                <a:solidFill>
                  <a:srgbClr val="717171"/>
                </a:solidFill>
                <a:latin typeface="Poppins" pitchFamily="34" charset="0"/>
                <a:ea typeface="Poppins" pitchFamily="34" charset="-122"/>
                <a:cs typeface="Poppins" pitchFamily="34" charset="-120"/>
              </a:rPr>
              <a:t>one-time build, then $30K a year to run</a:t>
            </a:r>
            <a:endParaRPr lang="en-US" sz="1100" dirty="0"/>
          </a:p>
        </p:txBody>
      </p:sp>
      <p:sp>
        <p:nvSpPr>
          <p:cNvPr id="4" name="Text 28"/>
          <p:cNvSpPr/>
          <p:nvPr/>
        </p:nvSpPr>
        <p:spPr>
          <a:xfrm>
            <a:off x="502920" y="5779008"/>
            <a:ext cx="11183112" cy="320040"/>
          </a:xfrm>
          <a:prstGeom prst="rect">
            <a:avLst/>
          </a:prstGeom>
          <a:noFill/>
          <a:ln/>
        </p:spPr>
        <p:txBody>
          <a:bodyPr wrap="square" lIns="0" tIns="0" rIns="0" bIns="0" rtlCol="0" anchor="ctr"/>
          <a:lstStyle/>
          <a:p>
            <a:pPr marL="0" indent="0" algn="ctr">
              <a:lnSpc>
                <a:spcPct val="105000"/>
              </a:lnSpc>
              <a:buNone/>
            </a:pPr>
            <a:r>
              <a:rPr lang="en-US" sz="1250" dirty="0" b="1" i="1">
                <a:solidFill>
                  <a:srgbClr val="FF385C"/>
                </a:solidFill>
                <a:latin typeface="Poppins" pitchFamily="34" charset="0"/>
                <a:ea typeface="Poppins" pitchFamily="34" charset="-122"/>
                <a:cs typeface="Poppins" pitchFamily="34" charset="-120"/>
              </a:rPr>
              <a:t>Every underpriced night costs the host and Airbnb both. We build on Smart Pricing, not replace it.</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02 · CONTEXT &amp; PROBLEM</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A huge marketplace with a transparency gap</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Airbnb connects millions of hosts and guests, and pricing moves both sides of the market.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3</a:t>
            </a:r>
            <a:endParaRPr lang="en-US" sz="900" dirty="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619209" y="2281428"/>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$12.2B</a:t>
            </a:r>
            <a:endParaRPr lang="en-US" sz="3000" dirty="0"/>
          </a:p>
        </p:txBody>
      </p:sp>
      <p:sp>
        <p:nvSpPr>
          <p:cNvPr id="15" name="Text 10"/>
          <p:cNvSpPr/>
          <p:nvPr/>
        </p:nvSpPr>
        <p:spPr>
          <a:xfrm>
            <a:off x="649224" y="3218688"/>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2025 revenue (+10% YoY)</a:t>
            </a:r>
            <a:endParaRPr lang="en-US" sz="1150" dirty="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495294" y="2278815"/>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dirty="0">
                <a:solidFill>
                  <a:srgbClr val="00A699"/>
                </a:solidFill>
                <a:latin typeface="Poppins" pitchFamily="34" charset="0"/>
                <a:ea typeface="Poppins" pitchFamily="34" charset="-122"/>
                <a:cs typeface="Poppins" pitchFamily="34" charset="-120"/>
              </a:rPr>
              <a:t>8M+</a:t>
            </a:r>
            <a:endParaRPr lang="en-US" sz="3000" dirty="0"/>
          </a:p>
        </p:txBody>
      </p:sp>
      <p:sp>
        <p:nvSpPr>
          <p:cNvPr id="19" name="Text 13"/>
          <p:cNvSpPr/>
          <p:nvPr/>
        </p:nvSpPr>
        <p:spPr>
          <a:xfrm>
            <a:off x="3543300" y="3204413"/>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active listings worldwide</a:t>
            </a:r>
            <a:endParaRPr lang="en-US" sz="1150" dirty="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298877" y="2281428"/>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5M+</a:t>
            </a:r>
            <a:endParaRPr lang="en-US" sz="3000" dirty="0"/>
          </a:p>
        </p:txBody>
      </p:sp>
      <p:sp>
        <p:nvSpPr>
          <p:cNvPr id="23" name="Text 16"/>
          <p:cNvSpPr/>
          <p:nvPr/>
        </p:nvSpPr>
        <p:spPr>
          <a:xfrm>
            <a:off x="6455664" y="3205345"/>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hosts on the platform</a:t>
            </a:r>
            <a:endParaRPr lang="en-US" sz="1150" dirty="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165031" y="2274803"/>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dirty="0">
                <a:solidFill>
                  <a:srgbClr val="FC642D"/>
                </a:solidFill>
                <a:latin typeface="Poppins" pitchFamily="34" charset="0"/>
                <a:ea typeface="Poppins" pitchFamily="34" charset="-122"/>
                <a:cs typeface="Poppins" pitchFamily="34" charset="-120"/>
              </a:rPr>
              <a:t>15.5%</a:t>
            </a:r>
            <a:endParaRPr lang="en-US" sz="3000" dirty="0"/>
          </a:p>
        </p:txBody>
      </p:sp>
      <p:sp>
        <p:nvSpPr>
          <p:cNvPr id="27" name="Text 19"/>
          <p:cNvSpPr/>
          <p:nvPr/>
        </p:nvSpPr>
        <p:spPr>
          <a:xfrm>
            <a:off x="9261348" y="3201519"/>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host-only service fee</a:t>
            </a:r>
            <a:endParaRPr lang="en-US" sz="1150" dirty="0"/>
          </a:p>
        </p:txBody>
      </p:sp>
      <p:sp>
        <p:nvSpPr>
          <p:cNvPr id="28" name="Shape 20"/>
          <p:cNvSpPr/>
          <p:nvPr/>
        </p:nvSpPr>
        <p:spPr>
          <a:xfrm>
            <a:off x="502920" y="3947969"/>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missing piece for hosts</a:t>
            </a:r>
            <a:endParaRPr lang="en-US" sz="1500" dirty="0"/>
          </a:p>
        </p:txBody>
      </p:sp>
      <p:sp>
        <p:nvSpPr>
          <p:cNvPr id="32" name="Text 23"/>
          <p:cNvSpPr/>
          <p:nvPr/>
        </p:nvSpPr>
        <p:spPr>
          <a:xfrm>
            <a:off x="768096" y="4908089"/>
            <a:ext cx="4937760" cy="1005840"/>
          </a:xfrm>
          <a:prstGeom prst="rect">
            <a:avLst/>
          </a:prstGeom>
          <a:noFill/>
          <a:ln/>
        </p:spPr>
        <p:txBody>
          <a:bodyPr wrap="square" lIns="0" tIns="0" rIns="0" bIns="0" rtlCol="0" anchor="t"/>
          <a:lstStyle/>
          <a:p>
            <a:pPr marL="0" indent="0">
              <a:lnSpc>
                <a:spcPct val="108000"/>
              </a:lnSpc>
              <a:buNone/>
            </a:pPr>
            <a:r>
              <a:rPr lang="en-US" sz="1250" dirty="0">
                <a:solidFill>
                  <a:srgbClr val="4A4A4A"/>
                </a:solidFill>
                <a:latin typeface="Poppins" pitchFamily="34" charset="0"/>
                <a:ea typeface="Poppins" pitchFamily="34" charset="-122"/>
                <a:cs typeface="Poppins" pitchFamily="34" charset="-120"/>
              </a:rPr>
              <a:t>You get a recommended price, but not where it came from. With little transparency, some hosts ignore it entirely and others follow it without knowing if it's right for their listing.</a:t>
            </a:r>
            <a:endParaRPr lang="en-US" sz="1250" dirty="0"/>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We reframed the question</a:t>
            </a:r>
            <a:endParaRPr lang="en-US" sz="1500" dirty="0"/>
          </a:p>
        </p:txBody>
      </p:sp>
      <p:sp>
        <p:nvSpPr>
          <p:cNvPr id="37" name="Text 27"/>
          <p:cNvSpPr/>
          <p:nvPr/>
        </p:nvSpPr>
        <p:spPr>
          <a:xfrm>
            <a:off x="6492240" y="4903237"/>
            <a:ext cx="4937760" cy="1051560"/>
          </a:xfrm>
          <a:prstGeom prst="rect">
            <a:avLst/>
          </a:prstGeom>
          <a:noFill/>
          <a:ln/>
        </p:spPr>
        <p:txBody>
          <a:bodyPr wrap="square" lIns="0" tIns="0" rIns="0" bIns="0" rtlCol="0" anchor="t"/>
          <a:lstStyle/>
          <a:p>
            <a:pPr marL="0" indent="0">
              <a:lnSpc>
                <a:spcPct val="108000"/>
              </a:lnSpc>
              <a:buNone/>
            </a:pPr>
            <a:r>
              <a:rPr lang="en-US" sz="1250" i="1" dirty="0">
                <a:solidFill>
                  <a:srgbClr val="222222"/>
                </a:solidFill>
                <a:latin typeface="Poppins" pitchFamily="34" charset="0"/>
                <a:ea typeface="Poppins" pitchFamily="34" charset="-122"/>
                <a:cs typeface="Poppins" pitchFamily="34" charset="-120"/>
              </a:rPr>
              <a:t>Not “can we build another pricing model?” but “can we help hosts make better pricing decisions by combining accurate recommendations with clear explanations and real market comparisons?”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03 · THE DATASET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done properly: New York City</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Inside Airbnb: public, open-source data. We chose one market to build, test and evaluate.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4</a:t>
            </a:r>
            <a:endParaRPr lang="en-US" sz="900" dirty="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dirty="0">
                <a:solidFill>
                  <a:srgbClr val="9AA0A6"/>
                </a:solidFill>
                <a:latin typeface="Poppins" pitchFamily="34" charset="0"/>
                <a:ea typeface="Poppins" pitchFamily="34" charset="-122"/>
                <a:cs typeface="Poppins" pitchFamily="34" charset="-120"/>
              </a:rPr>
              <a:t>30,259</a:t>
            </a:r>
            <a:endParaRPr lang="en-US" sz="3700" dirty="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raw listings scraped</a:t>
            </a:r>
            <a:endParaRPr lang="en-US" sz="1200" dirty="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dirty="0">
                <a:solidFill>
                  <a:srgbClr val="FF385C"/>
                </a:solidFill>
                <a:latin typeface="Poppins" pitchFamily="34" charset="0"/>
                <a:ea typeface="Poppins" pitchFamily="34" charset="-122"/>
                <a:cs typeface="Poppins" pitchFamily="34" charset="-120"/>
              </a:rPr>
              <a:t>9,752</a:t>
            </a:r>
            <a:endParaRPr lang="en-US" sz="3700" dirty="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active listings (≈9,800)</a:t>
            </a:r>
            <a:endParaRPr lang="en-US" sz="1200" dirty="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dirty="0">
                <a:solidFill>
                  <a:srgbClr val="007A73"/>
                </a:solidFill>
                <a:latin typeface="Poppins" pitchFamily="34" charset="0"/>
                <a:ea typeface="Poppins" pitchFamily="34" charset="-122"/>
                <a:cs typeface="Poppins" pitchFamily="34" charset="-120"/>
              </a:rPr>
              <a:t>80</a:t>
            </a:r>
            <a:endParaRPr lang="en-US" sz="3700" dirty="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engineered features</a:t>
            </a:r>
            <a:endParaRPr lang="en-US" sz="1200" dirty="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dirty="0">
                <a:solidFill>
                  <a:srgbClr val="222222"/>
                </a:solidFill>
                <a:latin typeface="Poppins" pitchFamily="34" charset="0"/>
                <a:ea typeface="Poppins" pitchFamily="34" charset="-122"/>
                <a:cs typeface="Poppins" pitchFamily="34" charset="-120"/>
              </a:rPr>
              <a:t>For each listing:  </a:t>
            </a:r>
            <a:r>
              <a:rPr lang="en-US" sz="1250" dirty="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dirty="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Clean &amp; prepare</a:t>
            </a:r>
            <a:endParaRPr lang="en-US" sz="1350" dirty="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dirty="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Understand first</a:t>
            </a:r>
            <a:endParaRPr lang="en-US" sz="1350" dirty="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dirty="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Then model</a:t>
            </a:r>
            <a:endParaRPr lang="en-US" sz="1350" dirty="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Only once we understood the data did we move to machine learning, starting with EDA.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04 · KEY VARIABLES (EDA)</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or two?</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dataset splits almost evenly, and the two halves behave nothing alike.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5</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this decides everything</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 monthly renter commits to one property and barely shops on nightly rate. A weekend guest compares five listings in an hour.</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So we model them separately. </a:t>
            </a:r>
            <a:r>
              <a:rPr lang="en-US" sz="1250" dirty="0">
                <a:solidFill>
                  <a:srgbClr val="4A4A4A"/>
                </a:solidFill>
                <a:latin typeface="Poppins" pitchFamily="34" charset="0"/>
                <a:ea typeface="Poppins" pitchFamily="34" charset="-122"/>
                <a:cs typeface="Poppins" pitchFamily="34" charset="-120"/>
              </a:rPr>
              <a:t>Two engines, two sets of comparables, two elasticities. Every number that follows is segment-aware.</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169277"/>
          </a:xfrm>
          <a:prstGeom prst="rect">
            <a:avLst/>
          </a:prstGeom>
          <a:noFill/>
        </p:spPr>
        <p:txBody>
          <a:bodyPr wrap="square" lIns="0" tIns="0" rIns="0" bIns="0">
            <a:spAutoFit/>
          </a:bodyPr>
          <a:lstStyle/>
          <a:p>
            <a:pPr algn="l"/>
            <a:r>
              <a:rPr sz="1100" b="0" dirty="0">
                <a:solidFill>
                  <a:srgbClr val="717171"/>
                </a:solidFill>
                <a:latin typeface="Poppins"/>
              </a:rPr>
              <a:t>price elasticity</a:t>
            </a:r>
            <a:r>
              <a:rPr lang="en-US" sz="1100" b="0" dirty="0">
                <a:solidFill>
                  <a:srgbClr val="717171"/>
                </a:solidFill>
                <a:latin typeface="Poppins"/>
              </a:rPr>
              <a:t>, </a:t>
            </a:r>
            <a:r>
              <a:rPr sz="1100" b="0" dirty="0">
                <a:solidFill>
                  <a:srgbClr val="717171"/>
                </a:solidFill>
                <a:latin typeface="Poppins"/>
              </a:rPr>
              <a:t>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05 · A KEY RELATIONSHIP</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Pricing isn't the only thing driving demand</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Reputation and quality move occupancy too, so we shouldn't treat price as the only lever.</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6</a:t>
            </a:r>
            <a:endParaRPr lang="en-US" sz="900" dirty="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Occupancy rises with a host's track record</a:t>
            </a:r>
            <a:endParaRPr lang="en-US" sz="1350" dirty="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34%</a:t>
            </a:r>
            <a:endParaRPr lang="en-US" sz="1200" dirty="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0–10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37%</a:t>
            </a:r>
            <a:endParaRPr lang="en-US" sz="1200" dirty="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11–50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42%</a:t>
            </a:r>
            <a:endParaRPr lang="en-US" sz="1200" dirty="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51+</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dirty="0">
                <a:solidFill>
                  <a:srgbClr val="717171"/>
                </a:solidFill>
                <a:latin typeface="Poppins" pitchFamily="34" charset="0"/>
                <a:ea typeface="Poppins" pitchFamily="34" charset="-122"/>
                <a:cs typeface="Poppins" pitchFamily="34" charset="-120"/>
              </a:rPr>
              <a:t>Superhosts average 39% occupancy vs 36% for regular hosts.</a:t>
            </a:r>
            <a:endParaRPr lang="en-US" sz="1050" dirty="0"/>
          </a:p>
        </p:txBody>
      </p:sp>
      <p:sp>
        <p:nvSpPr>
          <p:cNvPr id="24" name="Shape 20"/>
          <p:cNvSpPr/>
          <p:nvPr/>
        </p:nvSpPr>
        <p:spPr>
          <a:xfrm>
            <a:off x="6263640" y="2240280"/>
            <a:ext cx="5422392" cy="3794760"/>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Which raises the real question</a:t>
            </a:r>
            <a:endParaRPr lang="en-US" sz="1500" dirty="0"/>
          </a:p>
        </p:txBody>
      </p:sp>
      <p:sp>
        <p:nvSpPr>
          <p:cNvPr id="28" name="Text 23"/>
          <p:cNvSpPr/>
          <p:nvPr/>
        </p:nvSpPr>
        <p:spPr>
          <a:xfrm>
            <a:off x="6537960" y="3246120"/>
            <a:ext cx="4892040" cy="1371600"/>
          </a:xfrm>
          <a:prstGeom prst="rect">
            <a:avLst/>
          </a:prstGeom>
          <a:noFill/>
          <a:ln/>
        </p:spPr>
        <p:txBody>
          <a:bodyPr wrap="square" lIns="0" tIns="0" rIns="0" bIns="0" rtlCol="0" anchor="t"/>
          <a:lstStyle/>
          <a:p>
            <a:pPr marL="0" indent="0">
              <a:lnSpc>
                <a:spcPct val="107000"/>
              </a:lnSpc>
              <a:buNone/>
            </a:pPr>
            <a:r>
              <a:rPr lang="en-US" sz="1250" dirty="0">
                <a:solidFill>
                  <a:srgbClr val="4A4A4A"/>
                </a:solidFill>
                <a:latin typeface="Poppins" pitchFamily="34" charset="0"/>
                <a:ea typeface="Poppins" pitchFamily="34" charset="-122"/>
                <a:cs typeface="Poppins" pitchFamily="34" charset="-120"/>
              </a:rPr>
              <a:t>Reviews, reputation and listing quality all shape whether guests book, not just price. And when we looked at the market, some listings sat close to what we'd expect while others were clearly above or below similar properties.</a:t>
            </a:r>
            <a:endParaRPr lang="en-US" sz="1250" dirty="0"/>
          </a:p>
        </p:txBody>
      </p:sp>
      <p:sp>
        <p:nvSpPr>
          <p:cNvPr id="29" name="Shape 24"/>
          <p:cNvSpPr/>
          <p:nvPr/>
        </p:nvSpPr>
        <p:spPr>
          <a:xfrm>
            <a:off x="6537960" y="4800600"/>
            <a:ext cx="4892040" cy="960120"/>
          </a:xfrm>
          <a:prstGeom prst="roundRect">
            <a:avLst>
              <a:gd name="adj" fmla="val 11429"/>
            </a:avLst>
          </a:prstGeom>
          <a:solidFill>
            <a:srgbClr val="FFFFFF"/>
          </a:solidFill>
          <a:ln/>
        </p:spPr>
        <p:txBody>
          <a:bodyPr/>
          <a:lstStyle/>
          <a:p>
            <a:endParaRPr lang="en-US"/>
          </a:p>
        </p:txBody>
      </p:sp>
      <p:sp>
        <p:nvSpPr>
          <p:cNvPr id="30" name="Text 25"/>
          <p:cNvSpPr/>
          <p:nvPr/>
        </p:nvSpPr>
        <p:spPr>
          <a:xfrm>
            <a:off x="6766560" y="4937760"/>
            <a:ext cx="4434840" cy="731520"/>
          </a:xfrm>
          <a:prstGeom prst="rect">
            <a:avLst/>
          </a:prstGeom>
          <a:noFill/>
          <a:ln/>
        </p:spPr>
        <p:txBody>
          <a:bodyPr wrap="square" lIns="0" tIns="0" rIns="0" bIns="0" rtlCol="0" anchor="ctr"/>
          <a:lstStyle/>
          <a:p>
            <a:pPr marL="0" indent="0">
              <a:lnSpc>
                <a:spcPct val="105000"/>
              </a:lnSpc>
              <a:buNone/>
            </a:pPr>
            <a:r>
              <a:rPr lang="en-US" sz="1250" b="1" i="1" dirty="0">
                <a:solidFill>
                  <a:srgbClr val="007A73"/>
                </a:solidFill>
                <a:latin typeface="Poppins" pitchFamily="34" charset="0"/>
                <a:ea typeface="Poppins" pitchFamily="34" charset="-122"/>
                <a:cs typeface="Poppins" pitchFamily="34" charset="-120"/>
              </a:rPr>
              <a:t>So instead of asking “is this listing expensive or cheap?”, we asked: “what should a fair market price actually be?”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06 · THE SOLUTION</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Not another calculator: an explanation</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7</a:t>
            </a:r>
            <a:endParaRPr lang="en-US" sz="900" dirty="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recommended fair value</a:t>
            </a:r>
            <a:endParaRPr lang="en-US" sz="1300" dirty="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One clear number, calibrated to the listing.</a:t>
            </a:r>
            <a:endParaRPr lang="en-US" sz="1100" dirty="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Comparable listings</a:t>
            </a:r>
            <a:endParaRPr lang="en-US" sz="1300" dirty="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real, similar properties that support it.</a:t>
            </a:r>
            <a:endParaRPr lang="en-US" sz="1100" dirty="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Amenity differences</a:t>
            </a:r>
            <a:endParaRPr lang="en-US" sz="1300" dirty="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What comparable high performers offer that you don't.</a:t>
            </a:r>
            <a:endParaRPr lang="en-US" sz="1100" dirty="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revenue what-if</a:t>
            </a:r>
            <a:endParaRPr lang="en-US" sz="1300" dirty="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Explore how changing price could affect revenue.</a:t>
            </a:r>
            <a:endParaRPr lang="en-US" sz="1100" dirty="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dirty="0">
                <a:solidFill>
                  <a:srgbClr val="222222"/>
                </a:solidFill>
                <a:latin typeface="Poppins" pitchFamily="34" charset="0"/>
                <a:ea typeface="Poppins" pitchFamily="34" charset="-122"/>
                <a:cs typeface="Poppins" pitchFamily="34" charset="-120"/>
              </a:rPr>
              <a:t>“Commander's Intent”</a:t>
            </a:r>
            <a:endParaRPr lang="en-US" sz="1450" dirty="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An idea from our coach: people make better decisions when they understand the reasoning, not when they're simply told what to do.</a:t>
            </a:r>
            <a:endParaRPr lang="en-US" sz="1250" dirty="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dirty="0">
                <a:solidFill>
                  <a:srgbClr val="FF385C"/>
                </a:solidFill>
                <a:latin typeface="Poppins" pitchFamily="34" charset="0"/>
                <a:ea typeface="Poppins" pitchFamily="34" charset="-122"/>
                <a:cs typeface="Poppins" pitchFamily="34" charset="-120"/>
              </a:rPr>
              <a:t>Hosts trust and act on a recommendation when they understand where it came from. So this is about pricing with confidence, not just predicting a price.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07 · MODEL &amp; INSIGHTS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A price you can trust, and the reason behind it</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8</a:t>
            </a:r>
            <a:endParaRPr lang="en-US" sz="900" dirty="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GBM</a:t>
            </a:r>
            <a:endParaRPr lang="en-US" sz="1100" dirty="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Fair market value</a:t>
            </a:r>
            <a:endParaRPr lang="en-US" sz="1500" dirty="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then returns a fair price with a confidence interval.</a:t>
            </a:r>
            <a:endParaRPr lang="en-US" sz="1150" dirty="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KNN</a:t>
            </a:r>
            <a:endParaRPr lang="en-US" sz="1100" dirty="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Comparable listings</a:t>
            </a:r>
            <a:endParaRPr lang="en-US" sz="1500" dirty="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The price isn't a black box: nearest-neighbors surfaces the similar listings, and their amenities, that stand behind each recommendation.</a:t>
            </a:r>
            <a:endParaRPr lang="en-US" sz="1150" dirty="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dirty="0">
                <a:solidFill>
                  <a:srgbClr val="FF385C"/>
                </a:solidFill>
                <a:latin typeface="Poppins" pitchFamily="34" charset="0"/>
                <a:ea typeface="Poppins" pitchFamily="34" charset="-122"/>
                <a:cs typeface="Poppins" pitchFamily="34" charset="-120"/>
              </a:rPr>
              <a:t>19.2%</a:t>
            </a:r>
            <a:endParaRPr lang="en-US" sz="3400" dirty="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dirty="0">
                <a:solidFill>
                  <a:srgbClr val="717171"/>
                </a:solidFill>
                <a:latin typeface="Poppins" pitchFamily="34" charset="0"/>
                <a:ea typeface="Poppins" pitchFamily="34" charset="-122"/>
                <a:cs typeface="Poppins" pitchFamily="34" charset="-120"/>
              </a:rPr>
              <a:t>median error, roughly half the error of a plain regression</a:t>
            </a:r>
            <a:endParaRPr lang="en-US" sz="1050" dirty="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dirty="0">
                <a:solidFill>
                  <a:srgbClr val="222222"/>
                </a:solidFill>
                <a:latin typeface="Poppins" pitchFamily="34" charset="0"/>
                <a:ea typeface="Poppins" pitchFamily="34" charset="-122"/>
                <a:cs typeface="Poppins" pitchFamily="34" charset="-120"/>
              </a:rPr>
              <a:t>Two halves, and both pay off differently.  </a:t>
            </a:r>
            <a:r>
              <a:rPr lang="en-US" sz="1150" dirty="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it fills nights that were sitting empty. Our number counts both.</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08 · PRODUCT WALKTHROUGH</a:t>
            </a:r>
            <a:endParaRPr lang="en-US" sz="1200" dirty="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The dashboard, in three clicks</a:t>
            </a:r>
            <a:endParaRPr lang="en-US" sz="3000" dirty="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dirty="0">
                <a:solidFill>
                  <a:srgbClr val="FFFFFF"/>
                </a:solidFill>
                <a:latin typeface="Poppins" pitchFamily="34" charset="0"/>
                <a:ea typeface="Poppins" pitchFamily="34" charset="-122"/>
                <a:cs typeface="Poppins" pitchFamily="34" charset="-120"/>
              </a:rPr>
              <a:t>Airbnb Pricing Intelligence</a:t>
            </a:r>
            <a:endParaRPr lang="en-US" sz="1300" dirty="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dirty="0">
                <a:solidFill>
                  <a:srgbClr val="FFFFFF"/>
                </a:solidFill>
                <a:latin typeface="Poppins" pitchFamily="34" charset="0"/>
                <a:ea typeface="Poppins" pitchFamily="34" charset="-122"/>
                <a:cs typeface="Poppins" pitchFamily="34" charset="-120"/>
              </a:rPr>
              <a:t>Greenpoint Place · Entire home · Brooklyn</a:t>
            </a:r>
            <a:endParaRPr lang="en-US" sz="1050" dirty="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RECOMMENDED FAIR VALUE</a:t>
            </a:r>
            <a:endParaRPr lang="en-US" sz="1000" dirty="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dirty="0">
                <a:solidFill>
                  <a:srgbClr val="222222"/>
                </a:solidFill>
                <a:latin typeface="Poppins" pitchFamily="34" charset="0"/>
                <a:ea typeface="Poppins" pitchFamily="34" charset="-122"/>
                <a:cs typeface="Poppins" pitchFamily="34" charset="-120"/>
              </a:rPr>
              <a:t>$222</a:t>
            </a:r>
            <a:r>
              <a:rPr lang="en-US" sz="1400" dirty="0">
                <a:solidFill>
                  <a:srgbClr val="717171"/>
                </a:solidFill>
                <a:latin typeface="Poppins" pitchFamily="34" charset="0"/>
                <a:ea typeface="Poppins" pitchFamily="34" charset="-122"/>
                <a:cs typeface="Poppins" pitchFamily="34" charset="-120"/>
              </a:rPr>
              <a:t>  /night</a:t>
            </a:r>
            <a:endParaRPr lang="en-US" sz="4400" dirty="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dirty="0">
                <a:solidFill>
                  <a:srgbClr val="717171"/>
                </a:solidFill>
                <a:latin typeface="Poppins" pitchFamily="34" charset="0"/>
                <a:ea typeface="Poppins" pitchFamily="34" charset="-122"/>
                <a:cs typeface="Poppins" pitchFamily="34" charset="-120"/>
              </a:rPr>
              <a:t>Confidence range $188 – $256</a:t>
            </a:r>
            <a:endParaRPr lang="en-US" sz="1100" dirty="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YOUR PRICE $138</a:t>
            </a:r>
            <a:endParaRPr lang="en-US" sz="1100" dirty="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dirty="0">
                <a:solidFill>
                  <a:srgbClr val="FF385C"/>
                </a:solidFill>
                <a:latin typeface="Poppins" pitchFamily="34" charset="0"/>
                <a:ea typeface="Poppins" pitchFamily="34" charset="-122"/>
                <a:cs typeface="Poppins" pitchFamily="34" charset="-120"/>
              </a:rPr>
              <a:t>38% below fair value</a:t>
            </a:r>
            <a:endParaRPr lang="en-US" sz="1600" dirty="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PROJECTED REVENUE · DRAG TO EXPLORE</a:t>
            </a:r>
            <a:endParaRPr lang="en-US" sz="1000" dirty="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$138</a:t>
            </a:r>
            <a:endParaRPr lang="en-US" sz="900" dirty="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$222 (fair)</a:t>
            </a:r>
            <a:endParaRPr lang="en-US" sz="900" dirty="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$256 (max)</a:t>
            </a:r>
            <a:endParaRPr lang="en-US" sz="900" dirty="0"/>
          </a:p>
        </p:txBody>
      </p:sp>
      <p:sp>
        <p:nvSpPr>
          <p:cNvPr id="30" name="Shape 27"/>
          <p:cNvSpPr/>
          <p:nvPr/>
        </p:nvSpPr>
        <p:spPr>
          <a:xfrm>
            <a:off x="8046720" y="1600200"/>
            <a:ext cx="3639312" cy="4160520"/>
          </a:xfrm>
          <a:prstGeom prst="roundRect">
            <a:avLst>
              <a:gd name="adj" fmla="val 4020"/>
            </a:avLst>
          </a:prstGeom>
          <a:solidFill>
            <a:srgbClr val="FFFFFF"/>
          </a:solidFill>
          <a:ln w="12700">
            <a:solidFill>
              <a:srgbClr val="EBEBEB"/>
            </a:solidFill>
            <a:prstDash val="solid"/>
          </a:ln>
          <a:effectLst>
            <a:outerShdw blurRad="127000" dist="25400" dir="5400000" algn="bl" rotWithShape="0">
              <a:srgbClr val="9AA0A6">
                <a:alpha val="18000"/>
              </a:srgbClr>
            </a:outerShdw>
          </a:effectLst>
        </p:spPr>
        <p:txBody>
          <a:bodyPr/>
          <a:lstStyle/>
          <a:p>
            <a:endParaRPr lang="en-US"/>
          </a:p>
        </p:txBody>
      </p:sp>
      <p:sp>
        <p:nvSpPr>
          <p:cNvPr id="31" name="Text 28"/>
          <p:cNvSpPr/>
          <p:nvPr/>
        </p:nvSpPr>
        <p:spPr>
          <a:xfrm>
            <a:off x="8302752" y="1819656"/>
            <a:ext cx="3182112" cy="274320"/>
          </a:xfrm>
          <a:prstGeom prst="rect">
            <a:avLst/>
          </a:prstGeom>
          <a:noFill/>
          <a:ln/>
        </p:spPr>
        <p:txBody>
          <a:bodyPr wrap="square" lIns="0" tIns="0" rIns="0" bIns="0" rtlCol="0" anchor="ctr"/>
          <a:lstStyle/>
          <a:p>
            <a:pPr marL="0" indent="0">
              <a:buNone/>
            </a:pPr>
            <a:r>
              <a:rPr lang="en-US" sz="1050" b="1" kern="0" spc="100" dirty="0">
                <a:solidFill>
                  <a:srgbClr val="9AA0A6"/>
                </a:solidFill>
                <a:latin typeface="Poppins" pitchFamily="34" charset="0"/>
                <a:ea typeface="Poppins" pitchFamily="34" charset="-122"/>
                <a:cs typeface="Poppins" pitchFamily="34" charset="-120"/>
              </a:rPr>
              <a:t>COMPARABLE LISTINGS</a:t>
            </a:r>
            <a:endParaRPr lang="en-US" sz="1050" dirty="0"/>
          </a:p>
        </p:txBody>
      </p:sp>
      <p:sp>
        <p:nvSpPr>
          <p:cNvPr id="32" name="Shape 29"/>
          <p:cNvSpPr/>
          <p:nvPr/>
        </p:nvSpPr>
        <p:spPr>
          <a:xfrm>
            <a:off x="8266176" y="2203704"/>
            <a:ext cx="3200400" cy="914400"/>
          </a:xfrm>
          <a:prstGeom prst="roundRect">
            <a:avLst>
              <a:gd name="adj" fmla="val 10000"/>
            </a:avLst>
          </a:prstGeom>
          <a:solidFill>
            <a:srgbClr val="F7F7F7"/>
          </a:solidFill>
          <a:ln/>
        </p:spPr>
        <p:txBody>
          <a:bodyPr/>
          <a:lstStyle/>
          <a:p>
            <a:endParaRPr lang="en-US"/>
          </a:p>
        </p:txBody>
      </p:sp>
      <p:sp>
        <p:nvSpPr>
          <p:cNvPr id="33" name="Text 30"/>
          <p:cNvSpPr/>
          <p:nvPr/>
        </p:nvSpPr>
        <p:spPr>
          <a:xfrm>
            <a:off x="8430768" y="2313432"/>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Sunny Greenpoint 1BR</a:t>
            </a:r>
            <a:endParaRPr lang="en-US" sz="1100" dirty="0"/>
          </a:p>
        </p:txBody>
      </p:sp>
      <p:sp>
        <p:nvSpPr>
          <p:cNvPr id="34" name="Text 31"/>
          <p:cNvSpPr/>
          <p:nvPr/>
        </p:nvSpPr>
        <p:spPr>
          <a:xfrm>
            <a:off x="10634472" y="2313432"/>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$229</a:t>
            </a:r>
            <a:endParaRPr lang="en-US" sz="1300" dirty="0"/>
          </a:p>
        </p:txBody>
      </p:sp>
      <p:sp>
        <p:nvSpPr>
          <p:cNvPr id="35" name="Shape 32"/>
          <p:cNvSpPr/>
          <p:nvPr/>
        </p:nvSpPr>
        <p:spPr>
          <a:xfrm>
            <a:off x="8430768" y="2706624"/>
            <a:ext cx="2651760" cy="310896"/>
          </a:xfrm>
          <a:prstGeom prst="roundRect">
            <a:avLst>
              <a:gd name="adj" fmla="val 50000"/>
            </a:avLst>
          </a:prstGeom>
          <a:solidFill>
            <a:srgbClr val="FFEEF2"/>
          </a:solidFill>
          <a:ln/>
        </p:spPr>
        <p:txBody>
          <a:bodyPr/>
          <a:lstStyle/>
          <a:p>
            <a:endParaRPr lang="en-US"/>
          </a:p>
        </p:txBody>
      </p:sp>
      <p:sp>
        <p:nvSpPr>
          <p:cNvPr id="36" name="Text 33"/>
          <p:cNvSpPr/>
          <p:nvPr/>
        </p:nvSpPr>
        <p:spPr>
          <a:xfrm>
            <a:off x="8430768" y="2706624"/>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Self check-in</a:t>
            </a:r>
            <a:endParaRPr lang="en-US" sz="950" dirty="0"/>
          </a:p>
        </p:txBody>
      </p:sp>
      <p:sp>
        <p:nvSpPr>
          <p:cNvPr id="37" name="Shape 34"/>
          <p:cNvSpPr/>
          <p:nvPr/>
        </p:nvSpPr>
        <p:spPr>
          <a:xfrm>
            <a:off x="8266176" y="3282696"/>
            <a:ext cx="3200400" cy="914400"/>
          </a:xfrm>
          <a:prstGeom prst="roundRect">
            <a:avLst>
              <a:gd name="adj" fmla="val 10000"/>
            </a:avLst>
          </a:prstGeom>
          <a:solidFill>
            <a:srgbClr val="F7F7F7"/>
          </a:solidFill>
          <a:ln/>
        </p:spPr>
        <p:txBody>
          <a:bodyPr/>
          <a:lstStyle/>
          <a:p>
            <a:endParaRPr lang="en-US"/>
          </a:p>
        </p:txBody>
      </p:sp>
      <p:sp>
        <p:nvSpPr>
          <p:cNvPr id="38" name="Text 35"/>
          <p:cNvSpPr/>
          <p:nvPr/>
        </p:nvSpPr>
        <p:spPr>
          <a:xfrm>
            <a:off x="8430768" y="3392424"/>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Bright Williamsburg flat</a:t>
            </a:r>
            <a:endParaRPr lang="en-US" sz="1100" dirty="0"/>
          </a:p>
        </p:txBody>
      </p:sp>
      <p:sp>
        <p:nvSpPr>
          <p:cNvPr id="39" name="Text 36"/>
          <p:cNvSpPr/>
          <p:nvPr/>
        </p:nvSpPr>
        <p:spPr>
          <a:xfrm>
            <a:off x="10634472" y="3392424"/>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$241</a:t>
            </a:r>
            <a:endParaRPr lang="en-US" sz="1300" dirty="0"/>
          </a:p>
        </p:txBody>
      </p:sp>
      <p:sp>
        <p:nvSpPr>
          <p:cNvPr id="40" name="Shape 37"/>
          <p:cNvSpPr/>
          <p:nvPr/>
        </p:nvSpPr>
        <p:spPr>
          <a:xfrm>
            <a:off x="8430768" y="3785616"/>
            <a:ext cx="2651760" cy="310896"/>
          </a:xfrm>
          <a:prstGeom prst="roundRect">
            <a:avLst>
              <a:gd name="adj" fmla="val 50000"/>
            </a:avLst>
          </a:prstGeom>
          <a:solidFill>
            <a:srgbClr val="FFEEF2"/>
          </a:solidFill>
          <a:ln/>
        </p:spPr>
        <p:txBody>
          <a:bodyPr/>
          <a:lstStyle/>
          <a:p>
            <a:endParaRPr lang="en-US"/>
          </a:p>
        </p:txBody>
      </p:sp>
      <p:sp>
        <p:nvSpPr>
          <p:cNvPr id="41" name="Text 38"/>
          <p:cNvSpPr/>
          <p:nvPr/>
        </p:nvSpPr>
        <p:spPr>
          <a:xfrm>
            <a:off x="8430768" y="3785616"/>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Dedicated workspace</a:t>
            </a:r>
            <a:endParaRPr lang="en-US" sz="950" dirty="0"/>
          </a:p>
        </p:txBody>
      </p:sp>
      <p:sp>
        <p:nvSpPr>
          <p:cNvPr id="42" name="Shape 39"/>
          <p:cNvSpPr/>
          <p:nvPr/>
        </p:nvSpPr>
        <p:spPr>
          <a:xfrm>
            <a:off x="8266176" y="4361688"/>
            <a:ext cx="3200400" cy="914400"/>
          </a:xfrm>
          <a:prstGeom prst="roundRect">
            <a:avLst>
              <a:gd name="adj" fmla="val 10000"/>
            </a:avLst>
          </a:prstGeom>
          <a:solidFill>
            <a:srgbClr val="F7F7F7"/>
          </a:solidFill>
          <a:ln/>
        </p:spPr>
        <p:txBody>
          <a:bodyPr/>
          <a:lstStyle/>
          <a:p>
            <a:endParaRPr lang="en-US"/>
          </a:p>
        </p:txBody>
      </p:sp>
      <p:sp>
        <p:nvSpPr>
          <p:cNvPr id="43" name="Text 40"/>
          <p:cNvSpPr/>
          <p:nvPr/>
        </p:nvSpPr>
        <p:spPr>
          <a:xfrm>
            <a:off x="8430768" y="4471416"/>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Modern McCarren loft</a:t>
            </a:r>
            <a:endParaRPr lang="en-US" sz="1100" dirty="0"/>
          </a:p>
        </p:txBody>
      </p:sp>
      <p:sp>
        <p:nvSpPr>
          <p:cNvPr id="44" name="Text 41"/>
          <p:cNvSpPr/>
          <p:nvPr/>
        </p:nvSpPr>
        <p:spPr>
          <a:xfrm>
            <a:off x="10634472" y="4471416"/>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$208</a:t>
            </a:r>
            <a:endParaRPr lang="en-US" sz="1300" dirty="0"/>
          </a:p>
        </p:txBody>
      </p:sp>
      <p:sp>
        <p:nvSpPr>
          <p:cNvPr id="45" name="Shape 42"/>
          <p:cNvSpPr/>
          <p:nvPr/>
        </p:nvSpPr>
        <p:spPr>
          <a:xfrm>
            <a:off x="8430768" y="4864608"/>
            <a:ext cx="2651760" cy="310896"/>
          </a:xfrm>
          <a:prstGeom prst="roundRect">
            <a:avLst>
              <a:gd name="adj" fmla="val 50000"/>
            </a:avLst>
          </a:prstGeom>
          <a:solidFill>
            <a:srgbClr val="FFEEF2"/>
          </a:solidFill>
          <a:ln/>
        </p:spPr>
        <p:txBody>
          <a:bodyPr/>
          <a:lstStyle/>
          <a:p>
            <a:endParaRPr lang="en-US"/>
          </a:p>
        </p:txBody>
      </p:sp>
      <p:sp>
        <p:nvSpPr>
          <p:cNvPr id="46" name="Text 43"/>
          <p:cNvSpPr/>
          <p:nvPr/>
        </p:nvSpPr>
        <p:spPr>
          <a:xfrm>
            <a:off x="8430768" y="4864608"/>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Air conditioning</a:t>
            </a:r>
            <a:endParaRPr lang="en-US" sz="950" dirty="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dirty="0">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dirty="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09 · FROM PRICE TO REVENUE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Does moving the price actually make money?</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10</a:t>
            </a:r>
            <a:endParaRPr lang="en-US" sz="900" dirty="0"/>
          </a:p>
        </p:txBody>
      </p:sp>
      <p:sp>
        <p:nvSpPr>
          <p:cNvPr id="12" name="Shape 8"/>
          <p:cNvSpPr/>
          <p:nvPr/>
        </p:nvSpPr>
        <p:spPr>
          <a:xfrm>
            <a:off x="502920" y="219456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450592"/>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5"/>
          <a:stretch>
            <a:fillRect/>
          </a:stretch>
        </p:blipFill>
        <p:spPr>
          <a:xfrm>
            <a:off x="908914" y="2582266"/>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dirty="0">
                <a:solidFill>
                  <a:srgbClr val="007A73"/>
                </a:solidFill>
                <a:latin typeface="Poppins" pitchFamily="34" charset="0"/>
                <a:ea typeface="Poppins" pitchFamily="34" charset="-122"/>
                <a:cs typeface="Poppins" pitchFamily="34" charset="-120"/>
              </a:rPr>
              <a:t>THE MEASUREMENT</a:t>
            </a:r>
            <a:endParaRPr lang="en-US" sz="1050" dirty="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dirty="0">
                <a:solidFill>
                  <a:srgbClr val="007A73"/>
                </a:solidFill>
                <a:latin typeface="Poppins" pitchFamily="34" charset="0"/>
                <a:ea typeface="Poppins" pitchFamily="34" charset="-122"/>
                <a:cs typeface="Poppins" pitchFamily="34" charset="-120"/>
              </a:rPr>
              <a:t>β = −0.92</a:t>
            </a:r>
            <a:r>
              <a:rPr lang="en-US" sz="1150" dirty="0">
                <a:solidFill>
                  <a:srgbClr val="4A4A4A"/>
                </a:solidFill>
                <a:latin typeface="Poppins" pitchFamily="34" charset="0"/>
                <a:ea typeface="Poppins" pitchFamily="34" charset="-122"/>
                <a:cs typeface="Poppins" pitchFamily="34" charset="-120"/>
              </a:rPr>
              <a:t>    95% CI  −1.30 to −0.54</a:t>
            </a:r>
            <a:endParaRPr lang="en-US" sz="2900" dirty="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dirty="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450592"/>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6"/>
          <a:stretch>
            <a:fillRect/>
          </a:stretch>
        </p:blipFill>
        <p:spPr>
          <a:xfrm>
            <a:off x="6623914" y="2582266"/>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pPr marL="0" indent="0">
              <a:buNone/>
            </a:pPr>
            <a:r>
              <a:rPr lang="en-US" sz="1050" b="1" kern="0" spc="100" dirty="0">
                <a:solidFill>
                  <a:srgbClr val="FF385C"/>
                </a:solidFill>
                <a:latin typeface="Poppins" pitchFamily="34" charset="0"/>
                <a:ea typeface="Poppins" pitchFamily="34" charset="-122"/>
                <a:cs typeface="Poppins" pitchFamily="34" charset="-120"/>
              </a:rPr>
              <a:t>WHAT IT MEANS FOR REVENUE</a:t>
            </a:r>
            <a:endParaRPr lang="en-US" sz="1050" dirty="0"/>
          </a:p>
        </p:txBody>
      </p:sp>
      <p:sp>
        <p:nvSpPr>
          <p:cNvPr id="22" name="Text 16"/>
          <p:cNvSpPr/>
          <p:nvPr/>
        </p:nvSpPr>
        <p:spPr>
          <a:xfrm>
            <a:off x="6492240" y="2852928"/>
            <a:ext cx="4965192" cy="457200"/>
          </a:xfrm>
          <a:prstGeom prst="rect">
            <a:avLst/>
          </a:prstGeom>
          <a:noFill/>
          <a:ln/>
        </p:spPr>
        <p:txBody>
          <a:bodyPr wrap="square" lIns="0" tIns="0" rIns="0" bIns="0" rtlCol="0" anchor="ctr"/>
          <a:lstStyle/>
          <a:p>
            <a:pPr marL="0" indent="0">
              <a:buNone/>
            </a:pPr>
            <a:r>
              <a:rPr lang="en-US" sz="2000" b="1" dirty="0">
                <a:solidFill>
                  <a:srgbClr val="FF385C"/>
                </a:solidFill>
                <a:latin typeface="Poppins" pitchFamily="34" charset="0"/>
                <a:ea typeface="Poppins" pitchFamily="34" charset="-122"/>
                <a:cs typeface="Poppins" pitchFamily="34" charset="-120"/>
              </a:rPr>
              <a:t>revenue elasticity = 1 + β ≈ 0.08</a:t>
            </a:r>
            <a:endParaRPr lang="en-US" sz="2000" dirty="0"/>
          </a:p>
        </p:txBody>
      </p:sp>
      <p:sp>
        <p:nvSpPr>
          <p:cNvPr id="23" name="Text 17"/>
          <p:cNvSpPr/>
          <p:nvPr/>
        </p:nvSpPr>
        <p:spPr>
          <a:xfrm>
            <a:off x="6492240" y="3310128"/>
            <a:ext cx="491947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Revenue barely moves with price at the margin. Breakeven is β = −1.0: cutting price only wins if demand is more elastic than that. So the real lift is raising underpriced listings; cutting overpriced ones is near revenue-neutral for the host.</a:t>
            </a:r>
            <a:endParaRPr lang="en-US" sz="1100" dirty="0"/>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dirty="0">
                <a:solidFill>
                  <a:srgbClr val="222222"/>
                </a:solidFill>
                <a:latin typeface="Poppins" pitchFamily="34" charset="0"/>
                <a:ea typeface="Poppins" pitchFamily="34" charset="-122"/>
                <a:cs typeface="Poppins" pitchFamily="34" charset="-120"/>
              </a:rPr>
              <a:t>Where our estimate sits on the elasticity line</a:t>
            </a:r>
            <a:endParaRPr lang="en-US" sz="1200" dirty="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dirty="0">
                <a:solidFill>
                  <a:srgbClr val="222222"/>
                </a:solidFill>
                <a:latin typeface="Poppins" pitchFamily="34" charset="0"/>
                <a:ea typeface="Poppins" pitchFamily="34" charset="-122"/>
                <a:cs typeface="Poppins" pitchFamily="34" charset="-120"/>
              </a:rPr>
              <a:t>breakeven −1.0</a:t>
            </a:r>
            <a:endParaRPr lang="en-US" sz="950" dirty="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dirty="0">
                <a:solidFill>
                  <a:srgbClr val="FF385C"/>
                </a:solidFill>
                <a:latin typeface="Poppins" pitchFamily="34" charset="0"/>
                <a:ea typeface="Poppins" pitchFamily="34" charset="-122"/>
                <a:cs typeface="Poppins" pitchFamily="34" charset="-120"/>
              </a:rPr>
              <a:t>our estimate  β = −0.92</a:t>
            </a:r>
            <a:endParaRPr lang="en-US" sz="950" dirty="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dirty="0">
                <a:solidFill>
                  <a:srgbClr val="007A73"/>
                </a:solidFill>
                <a:latin typeface="Poppins" pitchFamily="34" charset="0"/>
                <a:ea typeface="Poppins" pitchFamily="34" charset="-122"/>
                <a:cs typeface="Poppins" pitchFamily="34" charset="-120"/>
              </a:rPr>
              <a:t>ELASTIC  ·  cutting price adds revenue</a:t>
            </a:r>
            <a:endParaRPr lang="en-US" sz="900" dirty="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dirty="0">
                <a:solidFill>
                  <a:srgbClr val="FF385C"/>
                </a:solidFill>
                <a:latin typeface="Poppins" pitchFamily="34" charset="0"/>
                <a:ea typeface="Poppins" pitchFamily="34" charset="-122"/>
                <a:cs typeface="Poppins" pitchFamily="34" charset="-120"/>
              </a:rPr>
              <a:t>INELASTIC  ·  raising price adds revenue</a:t>
            </a:r>
            <a:endParaRPr lang="en-US" sz="900" dirty="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dirty="0">
                <a:solidFill>
                  <a:srgbClr val="9AA0A6"/>
                </a:solidFill>
                <a:latin typeface="Poppins" pitchFamily="34" charset="0"/>
                <a:ea typeface="Poppins" pitchFamily="34" charset="-122"/>
                <a:cs typeface="Poppins" pitchFamily="34" charset="-120"/>
              </a:rPr>
              <a:t>−2</a:t>
            </a:r>
            <a:endParaRPr lang="en-US" sz="900" dirty="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dirty="0">
                <a:solidFill>
                  <a:srgbClr val="9AA0A6"/>
                </a:solidFill>
                <a:latin typeface="Poppins" pitchFamily="34" charset="0"/>
                <a:ea typeface="Poppins" pitchFamily="34" charset="-122"/>
                <a:cs typeface="Poppins" pitchFamily="34" charset="-120"/>
              </a:rPr>
              <a:t>10</a:t>
            </a:r>
            <a:endParaRPr lang="en-US" sz="900" dirty="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dirty="0">
                <a:solidFill>
                  <a:srgbClr val="717171"/>
                </a:solidFill>
                <a:latin typeface="Poppins" pitchFamily="34" charset="0"/>
                <a:ea typeface="Poppins" pitchFamily="34" charset="-122"/>
                <a:cs typeface="Poppins" pitchFamily="34" charset="-120"/>
              </a:rPr>
              <a:t>Honest caveat:  </a:t>
            </a:r>
            <a:r>
              <a:rPr lang="en-US" sz="950" i="1" dirty="0">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AirROI data ask.</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10 · THE FINANCIAL CASE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What it is worth, and what it costs</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11</a:t>
            </a:r>
            <a:endParaRPr lang="en-US" sz="900" dirty="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dirty="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dirty="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dirty="0">
                <a:solidFill>
                  <a:srgbClr val="222222"/>
                </a:solidFill>
                <a:latin typeface="Poppins" pitchFamily="34" charset="0"/>
                <a:ea typeface="Poppins" pitchFamily="34" charset="-122"/>
                <a:cs typeface="Poppins" pitchFamily="34" charset="-120"/>
              </a:rPr>
              <a:t>~$7.6M</a:t>
            </a:r>
            <a:r>
              <a:rPr lang="en-US" sz="1300" dirty="0">
                <a:solidFill>
                  <a:srgbClr val="4A4A4A"/>
                </a:solidFill>
                <a:latin typeface="Poppins" pitchFamily="34" charset="0"/>
                <a:ea typeface="Poppins" pitchFamily="34" charset="-122"/>
                <a:cs typeface="Poppins" pitchFamily="34" charset="-120"/>
              </a:rPr>
              <a:t> host GBV</a:t>
            </a:r>
            <a:r>
              <a:rPr lang="en-US" sz="1250" dirty="0">
                <a:solidFill>
                  <a:srgbClr val="9AA0A6"/>
                </a:solidFill>
                <a:latin typeface="Poppins" pitchFamily="34" charset="0"/>
                <a:ea typeface="Poppins" pitchFamily="34" charset="-122"/>
                <a:cs typeface="Poppins" pitchFamily="34" charset="-120"/>
              </a:rPr>
              <a:t>      ×15.5%  →      </a:t>
            </a:r>
            <a:r>
              <a:rPr lang="en-US" sz="2900" b="1" dirty="0">
                <a:solidFill>
                  <a:srgbClr val="FF385C"/>
                </a:solidFill>
                <a:latin typeface="Poppins" pitchFamily="34" charset="0"/>
                <a:ea typeface="Poppins" pitchFamily="34" charset="-122"/>
                <a:cs typeface="Poppins" pitchFamily="34" charset="-120"/>
              </a:rPr>
              <a:t>$1.17M</a:t>
            </a:r>
            <a:r>
              <a:rPr lang="en-US" sz="1300" dirty="0">
                <a:solidFill>
                  <a:srgbClr val="4A4A4A"/>
                </a:solidFill>
                <a:latin typeface="Poppins" pitchFamily="34" charset="0"/>
                <a:ea typeface="Poppins" pitchFamily="34" charset="-122"/>
                <a:cs typeface="Poppins" pitchFamily="34" charset="-120"/>
              </a:rPr>
              <a:t> / yr Airbnb fee</a:t>
            </a:r>
            <a:endParaRPr lang="en-US" sz="2900" dirty="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dirty="0">
                <a:solidFill>
                  <a:srgbClr val="222222"/>
                </a:solidFill>
                <a:latin typeface="Poppins" pitchFamily="34" charset="0"/>
                <a:ea typeface="Poppins" pitchFamily="34" charset="-122"/>
                <a:cs typeface="Poppins" pitchFamily="34" charset="-120"/>
              </a:rPr>
              <a:t>Ceiling (upside): </a:t>
            </a:r>
            <a:r>
              <a:rPr lang="en-US" sz="1050" dirty="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dirty="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$65K</a:t>
            </a:r>
            <a:endParaRPr lang="en-US" sz="2500" dirty="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dirty="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dirty="0">
                <a:solidFill>
                  <a:srgbClr val="FF385C"/>
                </a:solidFill>
                <a:latin typeface="Poppins" pitchFamily="34" charset="0"/>
                <a:ea typeface="Poppins" pitchFamily="34" charset="-122"/>
                <a:cs typeface="Poppins" pitchFamily="34" charset="-120"/>
              </a:rPr>
              <a:t>$30K / yr</a:t>
            </a:r>
            <a:endParaRPr lang="en-US" sz="2500" dirty="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 run (retraining, monitoring, ~$3K infra)</a:t>
            </a:r>
            <a:endParaRPr lang="en-US" sz="1000" dirty="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~$215K</a:t>
            </a:r>
            <a:endParaRPr lang="en-US" sz="2500" dirty="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total 5-year cost of ownership</a:t>
            </a:r>
            <a:endParaRPr lang="en-US" sz="1000" dirty="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dirty="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dirty="0">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11 · ROI &amp; FINANCIAL TIMELINE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Payback in months, not years</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Adoption sensitivity on the $1.17M floor and the incremental cost. Even 15% adoption clears 300% ROI.</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6858000" cy="2688336"/>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Adoption</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Airbnb fee / yr</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Payback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5-yr ROI</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15%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$176K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~6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308%</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25%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$292K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580%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35%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$410K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~3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852%</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50%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$585K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1,260%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75%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$878K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1,941%</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dirty="0">
                <a:solidFill>
                  <a:srgbClr val="9AA0A6"/>
                </a:solidFill>
                <a:latin typeface="Poppins" pitchFamily="34" charset="0"/>
                <a:ea typeface="Poppins" pitchFamily="34" charset="-122"/>
                <a:cs typeface="Poppins" pitchFamily="34" charset="-120"/>
              </a:rPr>
              <a:t>We headline the 25% and 35% rows: the conservative and expected cases.</a:t>
            </a:r>
            <a:endParaRPr lang="en-US" sz="1050" dirty="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Honest about time value</a:t>
            </a:r>
            <a:endParaRPr lang="en-US" sz="1400" dirty="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dirty="0">
                <a:solidFill>
                  <a:srgbClr val="FF385C"/>
                </a:solidFill>
                <a:latin typeface="Poppins" pitchFamily="34" charset="0"/>
                <a:ea typeface="Poppins" pitchFamily="34" charset="-122"/>
                <a:cs typeface="Poppins" pitchFamily="34" charset="-120"/>
              </a:rPr>
              <a:t>Net-positive in Year 1</a:t>
            </a:r>
            <a:r>
              <a:rPr lang="en-US" sz="1150" dirty="0">
                <a:solidFill>
                  <a:srgbClr val="4A4A4A"/>
                </a:solidFill>
                <a:latin typeface="Poppins" pitchFamily="34" charset="0"/>
                <a:ea typeface="Poppins" pitchFamily="34" charset="-122"/>
                <a:cs typeface="Poppins" pitchFamily="34" charset="-120"/>
              </a:rPr>
              <a:t>, even at 10% first-year adoption.
5-year net: </a:t>
            </a:r>
            <a:r>
              <a:rPr lang="en-US" sz="1150" b="1" dirty="0">
                <a:solidFill>
                  <a:srgbClr val="222222"/>
                </a:solidFill>
                <a:latin typeface="Poppins" pitchFamily="34" charset="0"/>
                <a:ea typeface="Poppins" pitchFamily="34" charset="-122"/>
                <a:cs typeface="Poppins" pitchFamily="34" charset="-120"/>
              </a:rPr>
              <a:t>$5.63M nominal → $4.26M NPV</a:t>
            </a:r>
            <a:r>
              <a:rPr lang="en-US" sz="1150" dirty="0">
                <a:solidFill>
                  <a:srgbClr val="4A4A4A"/>
                </a:solidFill>
                <a:latin typeface="Poppins" pitchFamily="34" charset="0"/>
                <a:ea typeface="Poppins" pitchFamily="34" charset="-122"/>
                <a:cs typeface="Poppins" pitchFamily="34" charset="-120"/>
              </a:rPr>
              <a:t> at a 10% discount (~24% haircut).
</a:t>
            </a:r>
            <a:r>
              <a:rPr lang="en-US" sz="1150" dirty="0">
                <a:solidFill>
                  <a:srgbClr val="717171"/>
                </a:solidFill>
                <a:latin typeface="Poppins" pitchFamily="34" charset="0"/>
                <a:ea typeface="Poppins" pitchFamily="34" charset="-122"/>
                <a:cs typeface="Poppins" pitchFamily="34" charset="-120"/>
              </a:rPr>
              <a:t>We discount at 10% and show both, rather than present nominal sums under an NPV banner.</a:t>
            </a:r>
            <a:endParaRPr lang="en-US" sz="1150" dirty="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dirty="0">
                <a:solidFill>
                  <a:srgbClr val="222222"/>
                </a:solidFill>
                <a:latin typeface="Poppins" pitchFamily="34" charset="0"/>
                <a:ea typeface="Poppins" pitchFamily="34" charset="-122"/>
                <a:cs typeface="Poppins" pitchFamily="34" charset="-120"/>
              </a:rPr>
              <a:t>And on the overpriced side: </a:t>
            </a:r>
            <a:r>
              <a:rPr lang="en-US" sz="1050" dirty="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12 · WHAT WE'D DO WITH MORE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The number is a floor. Here is what lifts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Every unmeasured quantity was resolved against us. Four asks would let us prove how much bigger this is.</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13</a:t>
            </a:r>
            <a:endParaRPr lang="en-US" sz="900" dirty="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Give us the full elasticity panel</a:t>
            </a:r>
            <a:endParaRPr lang="en-US" sz="1400" dirty="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proved the mechanism on 64 established short-stay listings and measured −0.92. The full panel would confirm it across every segment and review tier, and likely raises the number, since newer listings are more price-sensitive.</a:t>
            </a:r>
            <a:endParaRPr lang="en-US" sz="1180" dirty="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Let us measure the monthly segment</a:t>
            </a:r>
            <a:endParaRPr lang="en-US" sz="1400" dirty="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No significant price response showed up in the pilot, so we assumed none and let the full price gap flow through. With more within-listing price variation we could measure it properly instead of assuming it.</a:t>
            </a:r>
            <a:endParaRPr lang="en-US" sz="1180" dirty="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Open the booking-flow data</a:t>
            </a:r>
            <a:endParaRPr lang="en-US" sz="1400" dirty="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counted zero credit for guests won back from hotels and competitors. Airbnb's own conversion data would price that, along with the churn and lifetime-value effects we can describe but not yet quantify.</a:t>
            </a:r>
            <a:endParaRPr lang="en-US" sz="1180" dirty="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Then take it beyond New York</a:t>
            </a:r>
            <a:endParaRPr lang="en-US" sz="1400" dirty="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Coefficients need re-fitting per market: tourism, regulation and seasonality all differ. The method transfers; these particular numbers are New York's.</a:t>
            </a:r>
            <a:endParaRPr lang="en-US" sz="11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13 · RECOMMENDATIONS &amp; CLOSING</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Build on Smart Pricing, don't replace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14</a:t>
            </a:r>
            <a:endParaRPr lang="en-US" sz="900" dirty="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1</a:t>
            </a:r>
            <a:endParaRPr lang="en-US" sz="2000" dirty="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Enhance, don't replace</a:t>
            </a:r>
            <a:endParaRPr lang="en-US" sz="1350" dirty="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dirty="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2</a:t>
            </a:r>
            <a:endParaRPr lang="en-US" sz="2000" dirty="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Pilot in one market</a:t>
            </a:r>
            <a:endParaRPr lang="en-US" sz="1350" dirty="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dirty="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3</a:t>
            </a:r>
            <a:endParaRPr lang="en-US" sz="2000" dirty="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Learn, then scale</a:t>
            </a:r>
            <a:endParaRPr lang="en-US" sz="1350" dirty="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dirty="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The bigger lesson</a:t>
            </a:r>
            <a:endParaRPr lang="en-US" sz="1400" dirty="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dirty="0">
                <a:solidFill>
                  <a:srgbClr val="4A4A4A"/>
                </a:solidFill>
                <a:latin typeface="Poppins" pitchFamily="34" charset="0"/>
                <a:ea typeface="Poppins" pitchFamily="34" charset="-122"/>
                <a:cs typeface="Poppins" pitchFamily="34" charset="-120"/>
              </a:rPr>
              <a:t>Good analytics means more than accurate models. It means solving the right business problem and presenting insight people will actually use. This project brought together machine learning, product thinking, business strategy and data storytelling in one solution, skills that carry directly into our careers.</a:t>
            </a:r>
            <a:endParaRPr lang="en-US" sz="1180" dirty="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dirty="0">
                <a:solidFill>
                  <a:srgbClr val="FFFFFF"/>
                </a:solidFill>
                <a:latin typeface="Poppins" pitchFamily="34" charset="0"/>
                <a:ea typeface="Poppins" pitchFamily="34" charset="-122"/>
                <a:cs typeface="Poppins" pitchFamily="34" charset="-120"/>
              </a:rPr>
              <a:t>Thank you</a:t>
            </a:r>
            <a:endParaRPr lang="en-US" sz="2600" dirty="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dirty="0">
                <a:solidFill>
                  <a:srgbClr val="FFFFFF"/>
                </a:solidFill>
                <a:latin typeface="Poppins" pitchFamily="34" charset="0"/>
                <a:ea typeface="Poppins" pitchFamily="34" charset="-122"/>
                <a:cs typeface="Poppins" pitchFamily="34" charset="-120"/>
              </a:rPr>
              <a:t>We'd be happy to answer any questions.</a:t>
            </a:r>
            <a:endParaRPr lang="en-US" sz="1250" dirty="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dirty="0">
                <a:solidFill>
                  <a:srgbClr val="FFFFFF"/>
                </a:solidFill>
                <a:latin typeface="Poppins" pitchFamily="34" charset="0"/>
                <a:ea typeface="Poppins" pitchFamily="34" charset="-122"/>
                <a:cs typeface="Poppins" pitchFamily="34" charset="-120"/>
              </a:rPr>
              <a:t>GitHub: mkdn007/Cornell-Airbnb-Capstone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dirty="0">
                <a:solidFill>
                  <a:srgbClr val="FFFFFF"/>
                </a:solidFill>
                <a:latin typeface="Poppins" pitchFamily="34" charset="0"/>
                <a:ea typeface="Poppins" pitchFamily="34" charset="-122"/>
                <a:cs typeface="Poppins" pitchFamily="34" charset="-120"/>
              </a:rPr>
              <a:t>BACKUP</a:t>
            </a:r>
            <a:endParaRPr lang="en-US" sz="6000" dirty="0"/>
          </a:p>
        </p:txBody>
      </p:sp>
      <p:sp>
        <p:nvSpPr>
          <p:cNvPr id="8" name="Text 3"/>
          <p:cNvSpPr/>
          <p:nvPr/>
        </p:nvSpPr>
        <p:spPr>
          <a:xfrm>
            <a:off x="804672" y="3108960"/>
            <a:ext cx="9601200" cy="457200"/>
          </a:xfrm>
          <a:prstGeom prst="rect">
            <a:avLst/>
          </a:prstGeom>
          <a:noFill/>
          <a:ln/>
        </p:spPr>
        <p:txBody>
          <a:bodyPr wrap="square" lIns="0" tIns="0" rIns="0" bIns="0" rtlCol="0" anchor="ctr"/>
          <a:lstStyle/>
          <a:p>
            <a:pPr marL="0" indent="0">
              <a:buNone/>
            </a:pPr>
            <a:r>
              <a:rPr lang="en-US" sz="1700" dirty="0">
                <a:solidFill>
                  <a:srgbClr val="FFFFFF">
                    <a:alpha val="92000"/>
                  </a:srgbClr>
                </a:solidFill>
                <a:latin typeface="Poppins" pitchFamily="34" charset="0"/>
                <a:ea typeface="Poppins" pitchFamily="34" charset="-122"/>
                <a:cs typeface="Poppins" pitchFamily="34" charset="-120"/>
              </a:rPr>
              <a:t>Not presented; held in reserve to answer questions. The full technical write-up lives in the appendix document.</a:t>
            </a:r>
            <a:endParaRPr lang="en-US" sz="1700" dirty="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B1  Model bake-off</a:t>
            </a:r>
            <a:endParaRPr lang="en-US" sz="1100" dirty="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B2  How the $7.6M is built</a:t>
            </a:r>
            <a:endParaRPr lang="en-US" sz="1100" dirty="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B3  Why we split at 142 reviews</a:t>
            </a:r>
            <a:endParaRPr lang="en-US" sz="1100" dirty="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B4  Revenue by confidence</a:t>
            </a:r>
            <a:endParaRPr lang="en-US" sz="1100" dirty="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B5  Validation &amp; methodology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B1 · MODEL BAKE-OFF</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Models tested, held-out performance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16</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Model</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Median APE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MAE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(log)</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Log-linear OLS (baseline)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39.2%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$113.22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0.243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0.486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29.3%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$92.94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0.506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0.619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OLS (expanded features)</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$81.20</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Ridge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$81.03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20.8%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$75.07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0.574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0.782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short-stay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$102.81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0.528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0.714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monthly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$39.92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0.777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dirty="0">
                <a:solidFill>
                  <a:srgbClr val="222222"/>
                </a:solidFill>
                <a:latin typeface="Poppins" pitchFamily="34" charset="0"/>
                <a:ea typeface="Poppins" pitchFamily="34" charset="-122"/>
                <a:cs typeface="Poppins" pitchFamily="34" charset="-120"/>
              </a:rPr>
              <a:t>How to read it.  </a:t>
            </a:r>
            <a:r>
              <a:rPr lang="en-US" sz="1100" dirty="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V2 Ridge scored 25.1% on short-stay alone and 20.9% on monthly. Two distinct stages of gain: richer features took pooled error from 39.2% to 23.7%, then the segment-split GBM took short-stay to 19.2% and monthly to 15.2%.</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B2 · HOW THE $7.6M IS BUILT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we built the business case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17</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Revenue floor</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Ceiling (upside)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Incremental cost</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ROI &amp; payback</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On the $1.17M floor: 25% adoption → ~4 mo payback, 580% 5-yr ROI; 35% → ~3 mo, 852%. Even 15% pays back in ~6 mo and clears 300%.</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NPV-honest</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Discounted at 10% (CFI standard). 5-yr net $5.63M nominal → $4.26M NPV (~24% haircut), still net-positive in Year 1. We show both.</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Floor of the floor</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 overpriced upside: we book its loss, not its potential gain. No hotel win-back nights, no churn / LTV, no cross-market scaling. Every input rounds against us, so the real return is higher.</a:t>
            </a:r>
            <a:endParaRPr lang="en-US" sz="10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B3 · WHY WE SPLIT AT 142 REVIEWS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We apply the coefficient only where we measured it</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β = −0.92 came from established hosts. Most listings are not.</a:t>
            </a:r>
            <a:endParaRPr lang="en-US" sz="14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18</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we refuse to extrapolate</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At −1.0 the answer is zero by algebra. </a:t>
            </a:r>
            <a:r>
              <a:rPr lang="en-US" sz="1250" dirty="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we claim nothing.</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169277"/>
          </a:xfrm>
          <a:prstGeom prst="rect">
            <a:avLst/>
          </a:prstGeom>
          <a:noFill/>
        </p:spPr>
        <p:txBody>
          <a:bodyPr wrap="square" lIns="0" tIns="0" rIns="0" bIns="0">
            <a:spAutoFit/>
          </a:bodyPr>
          <a:lstStyle/>
          <a:p>
            <a:pPr algn="l"/>
            <a:r>
              <a:rPr sz="1100" b="0" dirty="0">
                <a:solidFill>
                  <a:srgbClr val="717171"/>
                </a:solidFill>
                <a:latin typeface="Poppins"/>
              </a:rPr>
              <a:t>measured elasticity</a:t>
            </a:r>
            <a:r>
              <a:rPr lang="en-US" sz="1100" b="0" dirty="0">
                <a:solidFill>
                  <a:srgbClr val="717171"/>
                </a:solidFill>
                <a:latin typeface="Poppins"/>
              </a:rPr>
              <a:t>, </a:t>
            </a:r>
            <a:r>
              <a:rPr sz="1100" b="0" dirty="0">
                <a:solidFill>
                  <a:srgbClr val="717171"/>
                </a:solidFill>
                <a:latin typeface="Poppins"/>
              </a:rPr>
              <a:t>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169277"/>
          </a:xfrm>
          <a:prstGeom prst="rect">
            <a:avLst/>
          </a:prstGeom>
          <a:noFill/>
        </p:spPr>
        <p:txBody>
          <a:bodyPr wrap="square" lIns="0" tIns="0" rIns="0" bIns="0">
            <a:spAutoFit/>
          </a:bodyPr>
          <a:lstStyle/>
          <a:p>
            <a:pPr algn="l"/>
            <a:r>
              <a:rPr sz="1100" b="0" dirty="0">
                <a:solidFill>
                  <a:srgbClr val="717171"/>
                </a:solidFill>
                <a:latin typeface="Poppins"/>
              </a:rPr>
              <a:t>underpriced short-stay listings</a:t>
            </a:r>
            <a:r>
              <a:rPr lang="en-US" sz="1100" b="0" dirty="0">
                <a:solidFill>
                  <a:srgbClr val="717171"/>
                </a:solidFill>
                <a:latin typeface="Poppins"/>
              </a:rPr>
              <a:t>, </a:t>
            </a:r>
            <a:r>
              <a:rPr sz="1100" b="0" dirty="0">
                <a:solidFill>
                  <a:srgbClr val="717171"/>
                </a:solidFill>
                <a:latin typeface="Poppins"/>
              </a:rPr>
              <a:t>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169277"/>
          </a:xfrm>
          <a:prstGeom prst="rect">
            <a:avLst/>
          </a:prstGeom>
          <a:noFill/>
        </p:spPr>
        <p:txBody>
          <a:bodyPr wrap="square" lIns="0" tIns="0" rIns="0" bIns="0">
            <a:spAutoFit/>
          </a:bodyPr>
          <a:lstStyle/>
          <a:p>
            <a:pPr algn="l"/>
            <a:r>
              <a:rPr sz="1100" b="0" dirty="0">
                <a:solidFill>
                  <a:srgbClr val="717171"/>
                </a:solidFill>
                <a:latin typeface="Poppins"/>
              </a:rPr>
              <a:t>breakeven assumed</a:t>
            </a:r>
            <a:r>
              <a:rPr lang="en-US" sz="1100" b="0" dirty="0">
                <a:solidFill>
                  <a:srgbClr val="717171"/>
                </a:solidFill>
                <a:latin typeface="Poppins"/>
              </a:rPr>
              <a:t>, </a:t>
            </a:r>
            <a:r>
              <a:rPr sz="1100" b="0" dirty="0">
                <a:solidFill>
                  <a:srgbClr val="717171"/>
                </a:solidFill>
                <a:latin typeface="Poppins"/>
              </a:rPr>
              <a:t>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169277"/>
          </a:xfrm>
          <a:prstGeom prst="rect">
            <a:avLst/>
          </a:prstGeom>
          <a:noFill/>
        </p:spPr>
        <p:txBody>
          <a:bodyPr wrap="square" lIns="0" tIns="0" rIns="0" bIns="0">
            <a:spAutoFit/>
          </a:bodyPr>
          <a:lstStyle/>
          <a:p>
            <a:pPr algn="l"/>
            <a:r>
              <a:rPr sz="1100" b="0" dirty="0">
                <a:solidFill>
                  <a:srgbClr val="717171"/>
                </a:solidFill>
                <a:latin typeface="Poppins"/>
              </a:rPr>
              <a:t>revenue contribution</a:t>
            </a:r>
            <a:r>
              <a:rPr lang="en-US" sz="1100" b="0" dirty="0">
                <a:solidFill>
                  <a:srgbClr val="717171"/>
                </a:solidFill>
                <a:latin typeface="Poppins"/>
              </a:rPr>
              <a:t>, </a:t>
            </a:r>
            <a:r>
              <a:rPr sz="1100" b="0" dirty="0">
                <a:solidFill>
                  <a:srgbClr val="717171"/>
                </a:solidFill>
                <a:latin typeface="Poppins"/>
              </a:rPr>
              <a:t>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B4 · REVENUE BY MODEL CONFIDENCE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much rests on a confident call</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19</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raise price</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449 listings: the model puts their price entirely below its calibrated band. Worth +$2.79M in host GBV.</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lower price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Uncertain</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3,192 listings whose current price sits inside the band. Worth +$5.21M, 69% of the total.</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The confident subset alone</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It still funds itself</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What “Uncertain” means</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and the model-noise discount already haircuts it.</a:t>
            </a:r>
            <a:endParaRPr lang="en-US" sz="1080" dirty="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B5 · VALIDATION &amp; METHODOLOGY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Why we trust the number</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statistical guardrails behind the recommendation.</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20</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80/20 + 5-fold out-of-fold</a:t>
            </a:r>
            <a:endParaRPr lang="en-US" sz="1250" dirty="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Every listing scored by a model that never trained on it, genuinely out-of-sample.</a:t>
            </a:r>
            <a:endParaRPr lang="en-US" sz="1050" dirty="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Duan smearing correction</a:t>
            </a:r>
            <a:endParaRPr lang="en-US" sz="1250" dirty="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dirty="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HC3 robust standard errors</a:t>
            </a:r>
            <a:endParaRPr lang="en-US" sz="1250" dirty="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Heteroskedasticity-consistent errors on every coefficient.</a:t>
            </a:r>
            <a:endParaRPr lang="en-US" sz="1050" dirty="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Ridge multicollinearity check</a:t>
            </a:r>
            <a:endParaRPr lang="en-US" sz="1250" dirty="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dirty="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Segment split</a:t>
            </a:r>
            <a:endParaRPr lang="en-US" sz="1250" dirty="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Short-stay ($376.82 mean) vs monthly ($162.73) modeled separately.</a:t>
            </a:r>
            <a:endParaRPr lang="en-US" sz="1050" dirty="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Known limit</a:t>
            </a:r>
            <a:endParaRPr lang="en-US" sz="1250" dirty="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30</TotalTime>
  <Words>5924</Words>
  <Application>Microsoft Office PowerPoint</Application>
  <PresentationFormat>Widescreen</PresentationFormat>
  <Paragraphs>422</Paragraphs>
  <Slides>20</Slides>
  <Notes>20</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Francois Miaule</cp:lastModifiedBy>
  <cp:revision>4</cp:revision>
  <dcterms:created xsi:type="dcterms:W3CDTF">2026-07-29T22:50:08Z</dcterms:created>
  <dcterms:modified xsi:type="dcterms:W3CDTF">2026-08-01T14:09:39Z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