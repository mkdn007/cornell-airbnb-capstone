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 id="279" r:id="rId33"/>
  </p:sldIdLst>
  <p:sldSz cx="12192000" cy="6858000"/>
  <p:notesSz cx="6858000" cy="12192000"/>
  <p:embeddedFontLst>
    <p:embeddedFont>
      <p:font typeface="Poppins"/>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7ED431-A36E-5246-BA68-9A28E96FD5F9}" v="187" dt="2026-08-01T15:54:40.285"/>
    <p1510:client id="{1190C936-1C69-D525-5532-20334E3615C6}" v="46" dt="2026-08-01T14:40:37.824"/>
    <p1510:client id="{51B8CC3D-048D-53CB-B45F-0DB0D9AB71BE}" v="242" dt="2026-08-01T15:42:01.386"/>
    <p1510:client id="{5966FAF6-CDAA-5149-9790-274323ABB908}" v="99" dt="2026-08-01T14:40:22.027"/>
    <p1510:client id="{F4459766-7F3D-414A-BF06-80034270BD7A}" v="1" dt="2026-08-01T13:59:40.7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5966FAF6-CDAA-5149-9790-274323ABB908}"/>
    <pc:docChg chg="modSld">
      <pc:chgData name="Guest User" userId="" providerId="Windows Live" clId="Web-{5966FAF6-CDAA-5149-9790-274323ABB908}" dt="2026-08-01T14:40:18.168" v="96" actId="20577"/>
      <pc:docMkLst>
        <pc:docMk/>
      </pc:docMkLst>
      <pc:sldChg chg="modSp">
        <pc:chgData name="Guest User" userId="" providerId="Windows Live" clId="Web-{5966FAF6-CDAA-5149-9790-274323ABB908}" dt="2026-08-01T14:40:18.168" v="96" actId="20577"/>
        <pc:sldMkLst>
          <pc:docMk/>
          <pc:sldMk cId="0" sldId="258"/>
        </pc:sldMkLst>
        <pc:spChg chg="mod">
          <ac:chgData name="Guest User" userId="" providerId="Windows Live" clId="Web-{5966FAF6-CDAA-5149-9790-274323ABB908}" dt="2026-08-01T14:40:18.168" v="96" actId="20577"/>
          <ac:spMkLst>
            <pc:docMk/>
            <pc:sldMk cId="0" sldId="258"/>
            <ac:spMk id="32" creationId="{00000000-0000-0000-0000-000000000000}"/>
          </ac:spMkLst>
        </pc:spChg>
      </pc:sldChg>
    </pc:docChg>
  </pc:docChgLst>
  <pc:docChgLst>
    <pc:chgData name="Guest User" providerId="Windows Live" clId="Web-{1190C936-1C69-D525-5532-20334E3615C6}"/>
    <pc:docChg chg="modSld">
      <pc:chgData name="Guest User" userId="" providerId="Windows Live" clId="Web-{1190C936-1C69-D525-5532-20334E3615C6}" dt="2026-08-01T14:40:37.824" v="44" actId="1076"/>
      <pc:docMkLst>
        <pc:docMk/>
      </pc:docMkLst>
      <pc:sldChg chg="delSp modSp">
        <pc:chgData name="Guest User" userId="" providerId="Windows Live" clId="Web-{1190C936-1C69-D525-5532-20334E3615C6}" dt="2026-08-01T14:26:52.623" v="6"/>
        <pc:sldMkLst>
          <pc:docMk/>
          <pc:sldMk cId="0" sldId="257"/>
        </pc:sldMkLst>
        <pc:spChg chg="mod">
          <ac:chgData name="Guest User" userId="" providerId="Windows Live" clId="Web-{1190C936-1C69-D525-5532-20334E3615C6}" dt="2026-08-01T14:25:51.415" v="0" actId="20577"/>
          <ac:spMkLst>
            <pc:docMk/>
            <pc:sldMk cId="0" sldId="257"/>
            <ac:spMk id="3" creationId="{00000000-0000-0000-0000-000000000000}"/>
          </ac:spMkLst>
        </pc:spChg>
        <pc:spChg chg="mod">
          <ac:chgData name="Guest User" userId="" providerId="Windows Live" clId="Web-{1190C936-1C69-D525-5532-20334E3615C6}" dt="2026-08-01T14:26:46.888" v="5" actId="20577"/>
          <ac:spMkLst>
            <pc:docMk/>
            <pc:sldMk cId="0" sldId="257"/>
            <ac:spMk id="16" creationId="{00000000-0000-0000-0000-000000000000}"/>
          </ac:spMkLst>
        </pc:spChg>
        <pc:spChg chg="del">
          <ac:chgData name="Guest User" userId="" providerId="Windows Live" clId="Web-{1190C936-1C69-D525-5532-20334E3615C6}" dt="2026-08-01T14:26:52.623" v="6"/>
          <ac:spMkLst>
            <pc:docMk/>
            <pc:sldMk cId="0" sldId="257"/>
            <ac:spMk id="23" creationId="{00000000-0000-0000-0000-000000000000}"/>
          </ac:spMkLst>
        </pc:spChg>
      </pc:sldChg>
      <pc:sldChg chg="modSp">
        <pc:chgData name="Guest User" userId="" providerId="Windows Live" clId="Web-{1190C936-1C69-D525-5532-20334E3615C6}" dt="2026-08-01T14:40:37.824" v="44" actId="1076"/>
        <pc:sldMkLst>
          <pc:docMk/>
          <pc:sldMk cId="0" sldId="258"/>
        </pc:sldMkLst>
        <pc:spChg chg="mod">
          <ac:chgData name="Guest User" userId="" providerId="Windows Live" clId="Web-{1190C936-1C69-D525-5532-20334E3615C6}" dt="2026-08-01T14:40:37.824" v="44" actId="1076"/>
          <ac:spMkLst>
            <pc:docMk/>
            <pc:sldMk cId="0" sldId="258"/>
            <ac:spMk id="28" creationId="{00000000-0000-0000-0000-000000000000}"/>
          </ac:spMkLst>
        </pc:spChg>
        <pc:spChg chg="mod">
          <ac:chgData name="Guest User" userId="" providerId="Windows Live" clId="Web-{1190C936-1C69-D525-5532-20334E3615C6}" dt="2026-08-01T14:40:14.571" v="43" actId="20577"/>
          <ac:spMkLst>
            <pc:docMk/>
            <pc:sldMk cId="0" sldId="258"/>
            <ac:spMk id="32" creationId="{00000000-0000-0000-0000-000000000000}"/>
          </ac:spMkLst>
        </pc:spChg>
        <pc:spChg chg="mod">
          <ac:chgData name="Guest User" userId="" providerId="Windows Live" clId="Web-{1190C936-1C69-D525-5532-20334E3615C6}" dt="2026-08-01T14:35:47.686" v="36" actId="20577"/>
          <ac:spMkLst>
            <pc:docMk/>
            <pc:sldMk cId="0" sldId="258"/>
            <ac:spMk id="37" creationId="{00000000-0000-0000-0000-000000000000}"/>
          </ac:spMkLst>
        </pc:spChg>
      </pc:sldChg>
    </pc:docChg>
  </pc:docChgLst>
  <pc:docChgLst>
    <pc:chgData name="Guest User" providerId="Windows Live" clId="Web-{51B8CC3D-048D-53CB-B45F-0DB0D9AB71BE}"/>
    <pc:docChg chg="modSld">
      <pc:chgData name="Guest User" userId="" providerId="Windows Live" clId="Web-{51B8CC3D-048D-53CB-B45F-0DB0D9AB71BE}" dt="2026-08-01T15:42:01.386" v="240" actId="20577"/>
      <pc:docMkLst>
        <pc:docMk/>
      </pc:docMkLst>
      <pc:sldChg chg="modSp">
        <pc:chgData name="Guest User" userId="" providerId="Windows Live" clId="Web-{51B8CC3D-048D-53CB-B45F-0DB0D9AB71BE}" dt="2026-08-01T14:42:45.200" v="24" actId="1076"/>
        <pc:sldMkLst>
          <pc:docMk/>
          <pc:sldMk cId="0" sldId="258"/>
        </pc:sldMkLst>
        <pc:spChg chg="mod">
          <ac:chgData name="Guest User" userId="" providerId="Windows Live" clId="Web-{51B8CC3D-048D-53CB-B45F-0DB0D9AB71BE}" dt="2026-08-01T14:42:45.200" v="24" actId="1076"/>
          <ac:spMkLst>
            <pc:docMk/>
            <pc:sldMk cId="0" sldId="258"/>
            <ac:spMk id="32" creationId="{00000000-0000-0000-0000-000000000000}"/>
          </ac:spMkLst>
        </pc:spChg>
      </pc:sldChg>
      <pc:sldChg chg="modSp">
        <pc:chgData name="Guest User" userId="" providerId="Windows Live" clId="Web-{51B8CC3D-048D-53CB-B45F-0DB0D9AB71BE}" dt="2026-08-01T14:44:03.343" v="42" actId="20577"/>
        <pc:sldMkLst>
          <pc:docMk/>
          <pc:sldMk cId="0" sldId="259"/>
        </pc:sldMkLst>
        <pc:spChg chg="mod">
          <ac:chgData name="Guest User" userId="" providerId="Windows Live" clId="Web-{51B8CC3D-048D-53CB-B45F-0DB0D9AB71BE}" dt="2026-08-01T14:44:03.343" v="42" actId="20577"/>
          <ac:spMkLst>
            <pc:docMk/>
            <pc:sldMk cId="0" sldId="259"/>
            <ac:spMk id="3" creationId="{00000000-0000-0000-0000-000000000000}"/>
          </ac:spMkLst>
        </pc:spChg>
      </pc:sldChg>
      <pc:sldChg chg="delSp modSp">
        <pc:chgData name="Guest User" userId="" providerId="Windows Live" clId="Web-{51B8CC3D-048D-53CB-B45F-0DB0D9AB71BE}" dt="2026-08-01T15:42:01.386" v="240" actId="20577"/>
        <pc:sldMkLst>
          <pc:docMk/>
          <pc:sldMk cId="0" sldId="260"/>
        </pc:sldMkLst>
        <pc:spChg chg="mod">
          <ac:chgData name="Guest User" userId="" providerId="Windows Live" clId="Web-{51B8CC3D-048D-53CB-B45F-0DB0D9AB71BE}" dt="2026-08-01T14:48:03.164" v="117" actId="20577"/>
          <ac:spMkLst>
            <pc:docMk/>
            <pc:sldMk cId="0" sldId="260"/>
            <ac:spMk id="3" creationId="{00000000-0000-0000-0000-000000000000}"/>
          </ac:spMkLst>
        </pc:spChg>
        <pc:spChg chg="mod">
          <ac:chgData name="Guest User" userId="" providerId="Windows Live" clId="Web-{51B8CC3D-048D-53CB-B45F-0DB0D9AB71BE}" dt="2026-08-01T15:37:26.469" v="200" actId="20577"/>
          <ac:spMkLst>
            <pc:docMk/>
            <pc:sldMk cId="0" sldId="260"/>
            <ac:spMk id="4" creationId="{00000000-0000-0000-0000-000000000000}"/>
          </ac:spMkLst>
        </pc:spChg>
        <pc:spChg chg="del mod">
          <ac:chgData name="Guest User" userId="" providerId="Windows Live" clId="Web-{51B8CC3D-048D-53CB-B45F-0DB0D9AB71BE}" dt="2026-08-01T15:40:32.149" v="233"/>
          <ac:spMkLst>
            <pc:docMk/>
            <pc:sldMk cId="0" sldId="260"/>
            <ac:spMk id="37" creationId="{00000000-0000-0000-0000-000000000000}"/>
          </ac:spMkLst>
        </pc:spChg>
        <pc:spChg chg="del">
          <ac:chgData name="Guest User" userId="" providerId="Windows Live" clId="Web-{51B8CC3D-048D-53CB-B45F-0DB0D9AB71BE}" dt="2026-08-01T15:37:34.235" v="202"/>
          <ac:spMkLst>
            <pc:docMk/>
            <pc:sldMk cId="0" sldId="260"/>
            <ac:spMk id="41" creationId="{00000000-0000-0000-0000-000000000000}"/>
          </ac:spMkLst>
        </pc:spChg>
        <pc:spChg chg="mod">
          <ac:chgData name="Guest User" userId="" providerId="Windows Live" clId="Web-{51B8CC3D-048D-53CB-B45F-0DB0D9AB71BE}" dt="2026-08-01T15:42:01.386" v="240" actId="20577"/>
          <ac:spMkLst>
            <pc:docMk/>
            <pc:sldMk cId="0" sldId="260"/>
            <ac:spMk id="42" creationId="{00000000-0000-0000-0000-000000000000}"/>
          </ac:spMkLst>
        </pc:spChg>
      </pc:sldChg>
      <pc:sldChg chg="modSp">
        <pc:chgData name="Guest User" userId="" providerId="Windows Live" clId="Web-{51B8CC3D-048D-53CB-B45F-0DB0D9AB71BE}" dt="2026-08-01T15:26:14.365" v="160" actId="20577"/>
        <pc:sldMkLst>
          <pc:docMk/>
          <pc:sldMk cId="0" sldId="261"/>
        </pc:sldMkLst>
        <pc:spChg chg="mod">
          <ac:chgData name="Guest User" userId="" providerId="Windows Live" clId="Web-{51B8CC3D-048D-53CB-B45F-0DB0D9AB71BE}" dt="2026-08-01T15:26:14.365" v="160" actId="20577"/>
          <ac:spMkLst>
            <pc:docMk/>
            <pc:sldMk cId="0" sldId="261"/>
            <ac:spMk id="4" creationId="{00000000-0000-0000-0000-000000000000}"/>
          </ac:spMkLst>
        </pc:spChg>
        <pc:spChg chg="mod">
          <ac:chgData name="Guest User" userId="" providerId="Windows Live" clId="Web-{51B8CC3D-048D-53CB-B45F-0DB0D9AB71BE}" dt="2026-08-01T15:25:34.567" v="155" actId="20577"/>
          <ac:spMkLst>
            <pc:docMk/>
            <pc:sldMk cId="0" sldId="261"/>
            <ac:spMk id="28" creationId="{00000000-0000-0000-0000-000000000000}"/>
          </ac:spMkLst>
        </pc:spChg>
      </pc:sldChg>
    </pc:docChg>
  </pc:docChgLst>
  <pc:docChgLst>
    <pc:chgData name="Guest User" providerId="Windows Live" clId="Web-{067ED431-A36E-5246-BA68-9A28E96FD5F9}"/>
    <pc:docChg chg="modSld">
      <pc:chgData name="Guest User" userId="" providerId="Windows Live" clId="Web-{067ED431-A36E-5246-BA68-9A28E96FD5F9}" dt="2026-08-01T15:54:40.285" v="185" actId="20577"/>
      <pc:docMkLst>
        <pc:docMk/>
      </pc:docMkLst>
      <pc:sldChg chg="addSp delSp modSp">
        <pc:chgData name="Guest User" userId="" providerId="Windows Live" clId="Web-{067ED431-A36E-5246-BA68-9A28E96FD5F9}" dt="2026-08-01T15:45:18.609" v="47" actId="20577"/>
        <pc:sldMkLst>
          <pc:docMk/>
          <pc:sldMk cId="0" sldId="260"/>
        </pc:sldMkLst>
        <pc:spChg chg="add del">
          <ac:chgData name="Guest User" userId="" providerId="Windows Live" clId="Web-{067ED431-A36E-5246-BA68-9A28E96FD5F9}" dt="2026-08-01T15:42:58.729" v="4"/>
          <ac:spMkLst>
            <pc:docMk/>
            <pc:sldMk cId="0" sldId="260"/>
            <ac:spMk id="12" creationId="{4386B7B6-217F-B2A2-D7D0-DC7A7F3F890F}"/>
          </ac:spMkLst>
        </pc:spChg>
        <pc:spChg chg="mod">
          <ac:chgData name="Guest User" userId="" providerId="Windows Live" clId="Web-{067ED431-A36E-5246-BA68-9A28E96FD5F9}" dt="2026-08-01T15:44:27.404" v="36" actId="20577"/>
          <ac:spMkLst>
            <pc:docMk/>
            <pc:sldMk cId="0" sldId="260"/>
            <ac:spMk id="40" creationId="{00000000-0000-0000-0000-000000000000}"/>
          </ac:spMkLst>
        </pc:spChg>
        <pc:spChg chg="mod">
          <ac:chgData name="Guest User" userId="" providerId="Windows Live" clId="Web-{067ED431-A36E-5246-BA68-9A28E96FD5F9}" dt="2026-08-01T15:45:18.609" v="47" actId="20577"/>
          <ac:spMkLst>
            <pc:docMk/>
            <pc:sldMk cId="0" sldId="260"/>
            <ac:spMk id="42" creationId="{00000000-0000-0000-0000-000000000000}"/>
          </ac:spMkLst>
        </pc:spChg>
        <pc:picChg chg="mod">
          <ac:chgData name="Guest User" userId="" providerId="Windows Live" clId="Web-{067ED431-A36E-5246-BA68-9A28E96FD5F9}" dt="2026-08-01T15:44:30.514" v="37" actId="1076"/>
          <ac:picMkLst>
            <pc:docMk/>
            <pc:sldMk cId="0" sldId="260"/>
            <ac:picMk id="39" creationId="{00000000-0000-0000-0000-000000000000}"/>
          </ac:picMkLst>
        </pc:picChg>
      </pc:sldChg>
      <pc:sldChg chg="addSp delSp modSp">
        <pc:chgData name="Guest User" userId="" providerId="Windows Live" clId="Web-{067ED431-A36E-5246-BA68-9A28E96FD5F9}" dt="2026-08-01T15:54:40.285" v="185" actId="20577"/>
        <pc:sldMkLst>
          <pc:docMk/>
          <pc:sldMk cId="0" sldId="261"/>
        </pc:sldMkLst>
        <pc:spChg chg="mod">
          <ac:chgData name="Guest User" userId="" providerId="Windows Live" clId="Web-{067ED431-A36E-5246-BA68-9A28E96FD5F9}" dt="2026-08-01T15:47:31.348" v="66" actId="1076"/>
          <ac:spMkLst>
            <pc:docMk/>
            <pc:sldMk cId="0" sldId="261"/>
            <ac:spMk id="3" creationId="{00000000-0000-0000-0000-000000000000}"/>
          </ac:spMkLst>
        </pc:spChg>
        <pc:spChg chg="add del mod">
          <ac:chgData name="Guest User" userId="" providerId="Windows Live" clId="Web-{067ED431-A36E-5246-BA68-9A28E96FD5F9}" dt="2026-08-01T15:52:35.218" v="148" actId="20577"/>
          <ac:spMkLst>
            <pc:docMk/>
            <pc:sldMk cId="0" sldId="261"/>
            <ac:spMk id="4" creationId="{00000000-0000-0000-0000-000000000000}"/>
          </ac:spMkLst>
        </pc:spChg>
        <pc:spChg chg="mod">
          <ac:chgData name="Guest User" userId="" providerId="Windows Live" clId="Web-{067ED431-A36E-5246-BA68-9A28E96FD5F9}" dt="2026-08-01T15:54:40.285" v="185" actId="20577"/>
          <ac:spMkLst>
            <pc:docMk/>
            <pc:sldMk cId="0" sldId="261"/>
            <ac:spMk id="27" creationId="{00000000-0000-0000-0000-000000000000}"/>
          </ac:spMkLst>
        </pc:spChg>
        <pc:spChg chg="mod">
          <ac:chgData name="Guest User" userId="" providerId="Windows Live" clId="Web-{067ED431-A36E-5246-BA68-9A28E96FD5F9}" dt="2026-08-01T15:54:06.644" v="173" actId="20577"/>
          <ac:spMkLst>
            <pc:docMk/>
            <pc:sldMk cId="0" sldId="261"/>
            <ac:spMk id="3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Cumulative adoption</c:v>
                </c:pt>
              </c:strCache>
            </c:strRef>
          </c:tx>
          <c:spPr>
            <a:ln w="31750">
              <a:solidFill>
                <a:srgbClr val="FF385C"/>
              </a:solidFill>
            </a:ln>
          </c:spPr>
          <c:marker>
            <c:spPr>
              <a:solidFill>
                <a:srgbClr val="FF385C"/>
              </a:solidFill>
              <a:ln>
                <a:solidFill>
                  <a:srgbClr val="FF385C"/>
                </a:solidFill>
              </a:ln>
            </c:spPr>
          </c:marke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10.0</c:v>
                </c:pt>
                <c:pt idx="1">
                  <c:v>24.0</c:v>
                </c:pt>
                <c:pt idx="2">
                  <c:v>38.0</c:v>
                </c:pt>
                <c:pt idx="3">
                  <c:v>42.0</c:v>
                </c:pt>
                <c:pt idx="4">
                  <c:v>42.0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6E6E6"/>
            </a:solidFill>
          </a:ln>
        </c:spPr>
        <c:txPr>
          <a:bodyPr/>
          <a:lstStyle/>
          <a:p>
            <a:pPr>
              <a:defRPr sz="1100">
                <a:solidFill>
                  <a:srgbClr val="717171"/>
                </a:solidFill>
              </a:defRPr>
            </a:pPr>
          </a:p>
        </c:txPr>
        <c:crossAx val="2140495176"/>
        <c:crosses val="autoZero"/>
        <c:auto val="1"/>
        <c:lblAlgn val="ctr"/>
        <c:lblOffset val="100"/>
        <c:noMultiLvlLbl val="0"/>
      </c:catAx>
      <c:valAx>
        <c:axId val="2140495176"/>
        <c:scaling>
          <c:max val="50.0"/>
          <c:min val="0.0"/>
        </c:scaling>
        <c:delete val="0"/>
        <c:axPos val="l"/>
        <c:majorGridlines>
          <c:spPr>
            <a:ln w="9525">
              <a:solidFill>
                <a:srgbClr val="E6E6E6"/>
              </a:solidFill>
            </a:ln>
          </c:spPr>
        </c:majorGridlines>
        <c:numFmt formatCode="0&quot;%&quot;" sourceLinked="0"/>
        <c:majorTickMark val="out"/>
        <c:minorTickMark val="none"/>
        <c:tickLblPos val="nextTo"/>
        <c:spPr>
          <a:ln>
            <a:noFill/>
          </a:ln>
        </c:spPr>
        <c:txPr>
          <a:bodyPr/>
          <a:lstStyle/>
          <a:p>
            <a:pPr>
              <a:defRPr sz="1100">
                <a:solidFill>
                  <a:srgbClr val="717171"/>
                </a:solidFill>
              </a:defRPr>
            </a:pPr>
          </a:p>
        </c:txPr>
        <c:crossAx val="2118791784"/>
        <c:crosses val="autoZero"/>
        <c:majorUnit val="10.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"One of the most interesting relationships was between host quality and occupancy. More experienced, highly reviewed hosts maintain noticeably higher occupancy ,  listings with 51+ reviews average about 42% occupancy versus 34% for those with under ten, and superhosts run higher than regular hosts. That tells us pricing isn't the only thing driving demand ,  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(~1.5 min).
"Our goal wasn't to build another pricing calculator ,  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this ,  Commander's Intent: people make better decisions when they understand the reasoning, not when they're just told what to do. That applies perfectly here. So the product isn't only about predicting a price ,  it's about helping hosts price with confidence."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then team fields Q&amp;A.
"Our recommendation isn't to replace Smart Pricing ,  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models ,  it's about solving the right business problem and presenting insights people are willing to use. For us this project combined machine learning, product thinking, business strategy and data storytelling. Thank you for your time ,  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2.png"/><Relationship Id="rId6" Type="http://schemas.openxmlformats.org/officeDocument/2006/relationships/image" Target="../media/image15.png"/><Relationship Id="rId7" Type="http://schemas.openxmlformats.org/officeDocument/2006/relationships/image" Target="../media/image33.png"/><Relationship Id="rId8" Type="http://schemas.openxmlformats.org/officeDocument/2006/relationships/image" Target="../media/image12.png"/><Relationship Id="rId9" Type="http://schemas.openxmlformats.org/officeDocument/2006/relationships/image" Target="../media/image27.png"/><Relationship Id="rId10" Type="http://schemas.openxmlformats.org/officeDocument/2006/relationships/image" Target="../media/image2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a:solidFill>
                  <a:srgbClr val="FFFFFF"/>
                </a:solidFill>
                <a:latin typeface="Poppins" pitchFamily="34" charset="0"/>
                <a:ea typeface="Poppins" pitchFamily="34" charset="-122"/>
                <a:cs typeface="Poppins" pitchFamily="34" charset="-120"/>
              </a:rPr>
              <a:t>BANA 5160 CAPSTONE  ·  CORNELL UNIVERSITY  ·  TEAM 6</a:t>
            </a:r>
            <a:endParaRPr lang="en-US" sz="120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a:solidFill>
                  <a:srgbClr val="FFFFFF"/>
                </a:solidFill>
                <a:latin typeface="Poppins" pitchFamily="34" charset="0"/>
                <a:ea typeface="Poppins" pitchFamily="34" charset="-122"/>
                <a:cs typeface="Poppins" pitchFamily="34" charset="-120"/>
              </a:rPr>
              <a:t>Airbnb Pricing</a:t>
            </a:r>
            <a:endParaRPr lang="en-US" sz="5600"/>
          </a:p>
          <a:p>
            <a:pPr marL="0" indent="0">
              <a:lnSpc>
                <a:spcPct val="98000"/>
              </a:lnSpc>
              <a:buNone/>
            </a:pPr>
            <a:r>
              <a:rPr lang="en-US" sz="5600" b="1">
                <a:solidFill>
                  <a:srgbClr val="FFFFFF"/>
                </a:solidFill>
                <a:latin typeface="Poppins" pitchFamily="34" charset="0"/>
                <a:ea typeface="Poppins" pitchFamily="34" charset="-122"/>
                <a:cs typeface="Poppins" pitchFamily="34" charset="-120"/>
              </a:rPr>
              <a:t>Intelligence</a:t>
            </a:r>
            <a:endParaRPr lang="en-US" sz="560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Brendan Meara </a:t>
            </a:r>
            <a:r>
              <a:rPr lang="en-US" sz="1250">
                <a:solidFill>
                  <a:srgbClr val="FFFFFF">
                    <a:alpha val="78000"/>
                  </a:srgbClr>
                </a:solidFill>
                <a:latin typeface="Poppins" pitchFamily="34" charset="0"/>
                <a:ea typeface="Poppins" pitchFamily="34" charset="-122"/>
                <a:cs typeface="Poppins" pitchFamily="34" charset="-120"/>
              </a:rPr>
              <a:t>(PM)     </a:t>
            </a:r>
            <a:r>
              <a:rPr lang="en-US" sz="1250" b="1">
                <a:solidFill>
                  <a:srgbClr val="FFFFFF"/>
                </a:solidFill>
                <a:latin typeface="Poppins" pitchFamily="34" charset="0"/>
                <a:ea typeface="Poppins" pitchFamily="34" charset="-122"/>
                <a:cs typeface="Poppins" pitchFamily="34" charset="-120"/>
              </a:rPr>
              <a:t>Jai Manikandan </a:t>
            </a:r>
            <a:r>
              <a:rPr lang="en-US" sz="1250">
                <a:solidFill>
                  <a:srgbClr val="FFFFFF">
                    <a:alpha val="78000"/>
                  </a:srgbClr>
                </a:solidFill>
                <a:latin typeface="Poppins" pitchFamily="34" charset="0"/>
                <a:ea typeface="Poppins" pitchFamily="34" charset="-122"/>
                <a:cs typeface="Poppins" pitchFamily="34" charset="-120"/>
              </a:rPr>
              <a:t>(Data)     </a:t>
            </a:r>
            <a:r>
              <a:rPr lang="en-US" sz="1250" b="1">
                <a:solidFill>
                  <a:srgbClr val="FFFFFF"/>
                </a:solidFill>
                <a:latin typeface="Poppins" pitchFamily="34" charset="0"/>
                <a:ea typeface="Poppins" pitchFamily="34" charset="-122"/>
                <a:cs typeface="Poppins" pitchFamily="34" charset="-120"/>
              </a:rPr>
              <a:t>Manas Manu </a:t>
            </a:r>
            <a:r>
              <a:rPr lang="en-US" sz="1250">
                <a:solidFill>
                  <a:srgbClr val="FFFFFF">
                    <a:alpha val="78000"/>
                  </a:srgbClr>
                </a:solidFill>
                <a:latin typeface="Poppins" pitchFamily="34" charset="0"/>
                <a:ea typeface="Poppins" pitchFamily="34" charset="-122"/>
                <a:cs typeface="Poppins" pitchFamily="34" charset="-120"/>
              </a:rPr>
              <a:t>(Modeling)     </a:t>
            </a:r>
            <a:r>
              <a:rPr lang="en-US" sz="1250" b="1">
                <a:solidFill>
                  <a:srgbClr val="FFFFFF"/>
                </a:solidFill>
                <a:latin typeface="Poppins" pitchFamily="34" charset="0"/>
                <a:ea typeface="Poppins" pitchFamily="34" charset="-122"/>
                <a:cs typeface="Poppins" pitchFamily="34" charset="-120"/>
              </a:rPr>
              <a:t>Rachael Chin </a:t>
            </a:r>
            <a:r>
              <a:rPr lang="en-US" sz="1250">
                <a:solidFill>
                  <a:srgbClr val="FFFFFF">
                    <a:alpha val="78000"/>
                  </a:srgbClr>
                </a:solidFill>
                <a:latin typeface="Poppins" pitchFamily="34" charset="0"/>
                <a:ea typeface="Poppins" pitchFamily="34" charset="-122"/>
                <a:cs typeface="Poppins" pitchFamily="34" charset="-120"/>
              </a:rPr>
              <a:t>(Visualization)</a:t>
            </a:r>
            <a:endParaRPr lang="en-US" sz="125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Francois Miaule </a:t>
            </a:r>
            <a:r>
              <a:rPr lang="en-US" sz="125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a:solidFill>
                  <a:srgbClr val="FFFFFF"/>
                </a:solidFill>
                <a:latin typeface="Poppins" pitchFamily="34" charset="0"/>
                <a:ea typeface="Poppins" pitchFamily="34" charset="-122"/>
                <a:cs typeface="Poppins" pitchFamily="34" charset="-120"/>
              </a:rPr>
              <a:t>Stan</a:t>
            </a:r>
            <a:endParaRPr lang="en-US" sz="125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01 · EXECUTIVE SUMMARY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A $7.6M opportunity, a $65K build</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Half of NYC’s listings are priced wrong. We show hosts by how much and why, and Airbnb earns on every correction.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Brendan</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a:t>
            </a:r>
            <a:endParaRPr lang="en-US" sz="90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632399" y="2373783"/>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777875" y="2507102"/>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The problem</a:t>
            </a:r>
            <a:endParaRPr lang="en-US" sz="1500"/>
          </a:p>
        </p:txBody>
      </p:sp>
      <p:sp>
        <p:nvSpPr>
          <p:cNvPr id="16" name="Text 11"/>
          <p:cNvSpPr/>
          <p:nvPr/>
        </p:nvSpPr>
        <p:spPr>
          <a:xfrm>
            <a:off x="777240" y="3108960"/>
            <a:ext cx="4965192" cy="685800"/>
          </a:xfrm>
          <a:prstGeom prst="rect">
            <a:avLst/>
          </a:prstGeom>
          <a:noFill/>
          <a:ln/>
        </p:spPr>
        <p:txBody>
          <a:bodyPr wrap="square" lIns="0" tIns="0" rIns="0" bIns="0" rtlCol="0" anchor="t"/>
          <a:lstStyle/>
          <a:p>
            <a:pPr>
              <a:lnSpc>
                <a:spcPct val="105000"/>
              </a:lnSpc>
            </a:pPr>
            <a:r>
              <a:rPr lang="en-US" sz="1200">
                <a:solidFill>
                  <a:srgbClr val="4A4A4A"/>
                </a:solidFill>
                <a:latin typeface="Poppins"/>
                <a:ea typeface="Poppins" pitchFamily="34" charset="-122"/>
                <a:cs typeface="Poppins"/>
              </a:rPr>
              <a:t>Smart Pricing hands hosts a number with no reasoning: no comparables, no drivers, nothing to explore. So hosts ignore it, or follow it blindly.</a:t>
            </a:r>
            <a:r>
              <a:rPr lang="en-US" sz="1200" err="1">
                <a:solidFill>
                  <a:srgbClr val="4A4A4A"/>
                </a:solidFill>
                <a:latin typeface="Poppins"/>
                <a:ea typeface="Poppins" pitchFamily="34" charset="-122"/>
                <a:cs typeface="Poppins"/>
              </a:rPr>
              <a:t/>
            </a:r>
            <a:r>
              <a:rPr lang="en-US" sz="1200">
                <a:solidFill>
                  <a:srgbClr val="4A4A4A"/>
                </a:solidFill>
                <a:latin typeface="Poppins"/>
                <a:ea typeface="Poppins" pitchFamily="34" charset="-122"/>
                <a:cs typeface="Poppins"/>
              </a:rPr>
              <a:t/>
            </a:r>
            <a:endParaRPr lang="en-US" sz="1200">
              <a:latin typeface="Poppins"/>
              <a:cs typeface="Poppins"/>
            </a:endParaRPr>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335329" y="2373783"/>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492240" y="2518624"/>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Our answer</a:t>
            </a:r>
            <a:endParaRPr lang="en-US" sz="150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a:solidFill>
                  <a:srgbClr val="4A4A4A"/>
                </a:solidFill>
                <a:latin typeface="Poppins" pitchFamily="34" charset="0"/>
                <a:ea typeface="Poppins" pitchFamily="34" charset="-122"/>
                <a:cs typeface="Poppins" pitchFamily="34" charset="-120"/>
              </a:rPr>
              <a:t>A fair price a host can actually interrogate: the comparable listings behind it, the amenity gaps against high performers, and a slider to test any price.</a:t>
            </a:r>
            <a:endParaRPr lang="en-US" sz="1200"/>
          </a:p>
        </p:txBody>
      </p:sp>
      <p:sp>
        <p:nvSpPr>
          <p:cNvPr id="22" name="Shape 16"/>
          <p:cNvSpPr/>
          <p:nvPr/>
        </p:nvSpPr>
        <p:spPr>
          <a:xfrm>
            <a:off x="502920"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$7.6M</a:t>
            </a:r>
            <a:endParaRPr lang="en-US" sz="1500"/>
          </a:p>
        </p:txBody>
      </p:sp>
      <p:sp>
        <p:nvSpPr>
          <p:cNvPr id="26" name="Text 19"/>
          <p:cNvSpPr/>
          <p:nvPr/>
        </p:nvSpPr>
        <p:spPr>
          <a:xfrm>
            <a:off x="758952"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a year in host GBV if every mispriced listing is corrected. $1.17M in Airbnb fees.</a:t>
            </a:r>
            <a:endParaRPr lang="en-US" sz="1100"/>
          </a:p>
        </p:txBody>
      </p:sp>
      <p:sp>
        <p:nvSpPr>
          <p:cNvPr id="27" name="Shape 20"/>
          <p:cNvSpPr/>
          <p:nvPr/>
        </p:nvSpPr>
        <p:spPr>
          <a:xfrm>
            <a:off x="4315968"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Year 1</a:t>
            </a:r>
            <a:endParaRPr lang="en-US" sz="1500"/>
          </a:p>
        </p:txBody>
      </p:sp>
      <p:sp>
        <p:nvSpPr>
          <p:cNvPr id="31" name="Text 23"/>
          <p:cNvSpPr/>
          <p:nvPr/>
        </p:nvSpPr>
        <p:spPr>
          <a:xfrm>
            <a:off x="4572000"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to turn cash-positive, on a modeled adoption ramp</a:t>
            </a:r>
            <a:endParaRPr lang="en-US" sz="1100"/>
          </a:p>
        </p:txBody>
      </p:sp>
      <p:sp>
        <p:nvSpPr>
          <p:cNvPr id="32" name="Shape 24"/>
          <p:cNvSpPr/>
          <p:nvPr/>
        </p:nvSpPr>
        <p:spPr>
          <a:xfrm>
            <a:off x="8119872"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$65K</a:t>
            </a:r>
            <a:endParaRPr lang="en-US" sz="1500"/>
          </a:p>
        </p:txBody>
      </p:sp>
      <p:sp>
        <p:nvSpPr>
          <p:cNvPr id="36" name="Text 27"/>
          <p:cNvSpPr/>
          <p:nvPr/>
        </p:nvSpPr>
        <p:spPr>
          <a:xfrm>
            <a:off x="8375904"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one-time build, then $30K a year to run</a:t>
            </a:r>
            <a:endParaRPr lang="en-US" sz="1100"/>
          </a:p>
        </p:txBody>
      </p:sp>
      <p:sp>
        <p:nvSpPr>
          <p:cNvPr id="4"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250" b="1" i="1">
                <a:solidFill>
                  <a:srgbClr val="FF385C"/>
                </a:solidFill>
                <a:latin typeface="Poppins" pitchFamily="34" charset="0"/>
                <a:ea typeface="Poppins" pitchFamily="34" charset="-122"/>
                <a:cs typeface="Poppins" pitchFamily="34" charset="-120"/>
              </a:rPr>
              <a:t>Every underpriced night costs the host and Airbnb both. We build on Smart Pricing, not replace it.</a:t>
            </a:r>
            <a:endParaRPr lang="en-US" sz="14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02 · CONTEXT &amp; PROBLEM</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A huge marketplace with a transparency gap</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Airbnb connects millions of hosts and guests, and pricing moves both sides of the market.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3</a:t>
            </a:r>
            <a:endParaRPr lang="en-US" sz="90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619209" y="2281428"/>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a:solidFill>
                  <a:srgbClr val="FF385C"/>
                </a:solidFill>
                <a:latin typeface="Poppins" pitchFamily="34" charset="0"/>
                <a:ea typeface="Poppins" pitchFamily="34" charset="-122"/>
                <a:cs typeface="Poppins" pitchFamily="34" charset="-120"/>
              </a:rPr>
              <a:t>$12.2B</a:t>
            </a:r>
            <a:endParaRPr lang="en-US" sz="3000"/>
          </a:p>
        </p:txBody>
      </p:sp>
      <p:sp>
        <p:nvSpPr>
          <p:cNvPr id="15" name="Text 10"/>
          <p:cNvSpPr/>
          <p:nvPr/>
        </p:nvSpPr>
        <p:spPr>
          <a:xfrm>
            <a:off x="649224" y="3218688"/>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2025 revenue (+10% YoY)</a:t>
            </a:r>
            <a:endParaRPr lang="en-US" sz="115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495294" y="2278815"/>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a:solidFill>
                  <a:srgbClr val="00A699"/>
                </a:solidFill>
                <a:latin typeface="Poppins" pitchFamily="34" charset="0"/>
                <a:ea typeface="Poppins" pitchFamily="34" charset="-122"/>
                <a:cs typeface="Poppins" pitchFamily="34" charset="-120"/>
              </a:rPr>
              <a:t>8M+</a:t>
            </a:r>
            <a:endParaRPr lang="en-US" sz="3000"/>
          </a:p>
        </p:txBody>
      </p:sp>
      <p:sp>
        <p:nvSpPr>
          <p:cNvPr id="19" name="Text 13"/>
          <p:cNvSpPr/>
          <p:nvPr/>
        </p:nvSpPr>
        <p:spPr>
          <a:xfrm>
            <a:off x="3543300" y="3204413"/>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active listings worldwide</a:t>
            </a:r>
            <a:endParaRPr lang="en-US" sz="115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298877" y="2281428"/>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a:solidFill>
                  <a:srgbClr val="FF385C"/>
                </a:solidFill>
                <a:latin typeface="Poppins" pitchFamily="34" charset="0"/>
                <a:ea typeface="Poppins" pitchFamily="34" charset="-122"/>
                <a:cs typeface="Poppins" pitchFamily="34" charset="-120"/>
              </a:rPr>
              <a:t>5M+</a:t>
            </a:r>
            <a:endParaRPr lang="en-US" sz="3000"/>
          </a:p>
        </p:txBody>
      </p:sp>
      <p:sp>
        <p:nvSpPr>
          <p:cNvPr id="23" name="Text 16"/>
          <p:cNvSpPr/>
          <p:nvPr/>
        </p:nvSpPr>
        <p:spPr>
          <a:xfrm>
            <a:off x="6455664" y="3205345"/>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hosts on the platform</a:t>
            </a:r>
            <a:endParaRPr lang="en-US" sz="115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165031" y="2274803"/>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a:solidFill>
                  <a:srgbClr val="FC642D"/>
                </a:solidFill>
                <a:latin typeface="Poppins" pitchFamily="34" charset="0"/>
                <a:ea typeface="Poppins" pitchFamily="34" charset="-122"/>
                <a:cs typeface="Poppins" pitchFamily="34" charset="-120"/>
              </a:rPr>
              <a:t>15.5%</a:t>
            </a:r>
            <a:endParaRPr lang="en-US" sz="3000"/>
          </a:p>
        </p:txBody>
      </p:sp>
      <p:sp>
        <p:nvSpPr>
          <p:cNvPr id="27" name="Text 19"/>
          <p:cNvSpPr/>
          <p:nvPr/>
        </p:nvSpPr>
        <p:spPr>
          <a:xfrm>
            <a:off x="9261348" y="3201519"/>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host-only service fee</a:t>
            </a:r>
            <a:endParaRPr lang="en-US" sz="1150"/>
          </a:p>
        </p:txBody>
      </p:sp>
      <p:sp>
        <p:nvSpPr>
          <p:cNvPr id="28" name="Shape 20"/>
          <p:cNvSpPr/>
          <p:nvPr/>
        </p:nvSpPr>
        <p:spPr>
          <a:xfrm>
            <a:off x="753441" y="4062791"/>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The missing piece for hosts</a:t>
            </a:r>
            <a:endParaRPr lang="en-US" sz="1500"/>
          </a:p>
        </p:txBody>
      </p:sp>
      <p:sp>
        <p:nvSpPr>
          <p:cNvPr id="32" name="Text 23"/>
          <p:cNvSpPr/>
          <p:nvPr/>
        </p:nvSpPr>
        <p:spPr>
          <a:xfrm>
            <a:off x="893356" y="4908089"/>
            <a:ext cx="4937760" cy="1005840"/>
          </a:xfrm>
          <a:prstGeom prst="rect">
            <a:avLst/>
          </a:prstGeom>
          <a:noFill/>
          <a:ln/>
        </p:spPr>
        <p:txBody>
          <a:bodyPr wrap="square" lIns="0" tIns="0" rIns="0" bIns="0" rtlCol="0" anchor="t"/>
          <a:lstStyle/>
          <a:p>
            <a:pPr>
              <a:lnSpc>
                <a:spcPct val="108000"/>
              </a:lnSpc>
            </a:pPr>
            <a:r>
              <a:rPr lang="en-US" sz="1250">
                <a:solidFill>
                  <a:srgbClr val="4A4A4A"/>
                </a:solidFill>
                <a:latin typeface="Poppins"/>
                <a:ea typeface="+mn-lt"/>
                <a:cs typeface="Poppins"/>
              </a:rPr>
              <a:t>Smart Pricing recommends a nightly price but offers no explanation for how it got there. With no transparency into the logic, hosts either ignore the recommendation entirely or follow it blindly, with no way of knowing if it fits their listing.</a:t>
            </a:r>
            <a:endParaRPr lang="en-US" sz="1250">
              <a:solidFill>
                <a:srgbClr val="000000"/>
              </a:solidFill>
              <a:latin typeface="Poppins"/>
              <a:ea typeface="+mn-lt"/>
              <a:cs typeface="Poppins"/>
            </a:endParaRPr>
          </a:p>
          <a:p>
            <a:pPr>
              <a:lnSpc>
                <a:spcPct val="108000"/>
              </a:lnSpc>
            </a:pPr>
            <a:endParaRPr lang="en-US" sz="1250">
              <a:solidFill>
                <a:srgbClr val="4A4A4A"/>
              </a:solidFill>
              <a:latin typeface="Poppins"/>
              <a:ea typeface="Calibri" panose="020F0502020204030204"/>
              <a:cs typeface="Poppins"/>
            </a:endParaRPr>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We reframed the question</a:t>
            </a:r>
            <a:endParaRPr lang="en-US" sz="1500"/>
          </a:p>
        </p:txBody>
      </p:sp>
      <p:sp>
        <p:nvSpPr>
          <p:cNvPr id="37" name="Text 27"/>
          <p:cNvSpPr/>
          <p:nvPr/>
        </p:nvSpPr>
        <p:spPr>
          <a:xfrm>
            <a:off x="6492240" y="4903237"/>
            <a:ext cx="4937760" cy="1051560"/>
          </a:xfrm>
          <a:prstGeom prst="rect">
            <a:avLst/>
          </a:prstGeom>
          <a:noFill/>
          <a:ln/>
        </p:spPr>
        <p:txBody>
          <a:bodyPr wrap="square" lIns="0" tIns="0" rIns="0" bIns="0" rtlCol="0" anchor="t"/>
          <a:lstStyle/>
          <a:p>
            <a:pPr>
              <a:lnSpc>
                <a:spcPct val="108000"/>
              </a:lnSpc>
            </a:pPr>
            <a:r>
              <a:rPr lang="en-US" sz="1250" i="1">
                <a:solidFill>
                  <a:srgbClr val="222222"/>
                </a:solidFill>
                <a:latin typeface="Poppins"/>
                <a:ea typeface="Poppins" pitchFamily="34" charset="-122"/>
                <a:cs typeface="Poppins"/>
              </a:rPr>
              <a:t>Not “can we build another pricing model?” but “can we help hosts make smarter pricing decisions by combining accurate recommendations with clear explanations and real market comparisons?”</a:t>
            </a:r>
            <a:endParaRPr lang="en-US" sz="1250">
              <a:latin typeface="Poppins"/>
              <a:cs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03 · THE DATASET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ea typeface="+mn-lt"/>
                <a:cs typeface="Poppins"/>
              </a:rPr>
              <a:t>New York City as a proving ground</a:t>
            </a:r>
            <a:endParaRPr lang="en-US" sz="2900" b="1">
              <a:solidFill>
                <a:srgbClr val="000000"/>
              </a:solidFill>
              <a:latin typeface="Poppins"/>
              <a:ea typeface="Calibri"/>
              <a:cs typeface="Poppins"/>
            </a:endParaRP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Inside Airbnb: public, open-source data. We chose one market to build, test and evaluate.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4</a:t>
            </a:r>
            <a:endParaRPr lang="en-US" sz="90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a:solidFill>
                  <a:srgbClr val="9AA0A6"/>
                </a:solidFill>
                <a:latin typeface="Poppins" pitchFamily="34" charset="0"/>
                <a:ea typeface="Poppins" pitchFamily="34" charset="-122"/>
                <a:cs typeface="Poppins" pitchFamily="34" charset="-120"/>
              </a:rPr>
              <a:t>30,259</a:t>
            </a:r>
            <a:endParaRPr lang="en-US" sz="370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raw listings scraped</a:t>
            </a:r>
            <a:endParaRPr lang="en-US" sz="120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a:solidFill>
                  <a:srgbClr val="9AA0A6"/>
                </a:solidFill>
                <a:latin typeface="Poppins" pitchFamily="34" charset="0"/>
                <a:ea typeface="Poppins" pitchFamily="34" charset="-122"/>
                <a:cs typeface="Poppins" pitchFamily="34" charset="-120"/>
              </a:rPr>
              <a:t>→</a:t>
            </a:r>
            <a:endParaRPr lang="en-US" sz="260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a:solidFill>
                  <a:srgbClr val="FF385C"/>
                </a:solidFill>
                <a:latin typeface="Poppins" pitchFamily="34" charset="0"/>
                <a:ea typeface="Poppins" pitchFamily="34" charset="-122"/>
                <a:cs typeface="Poppins" pitchFamily="34" charset="-120"/>
              </a:rPr>
              <a:t>9,752</a:t>
            </a:r>
            <a:endParaRPr lang="en-US" sz="370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active listings (≈9,800)</a:t>
            </a:r>
            <a:endParaRPr lang="en-US" sz="120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a:solidFill>
                  <a:srgbClr val="9AA0A6"/>
                </a:solidFill>
                <a:latin typeface="Poppins" pitchFamily="34" charset="0"/>
                <a:ea typeface="Poppins" pitchFamily="34" charset="-122"/>
                <a:cs typeface="Poppins" pitchFamily="34" charset="-120"/>
              </a:rPr>
              <a:t>→</a:t>
            </a:r>
            <a:endParaRPr lang="en-US" sz="260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a:solidFill>
                  <a:srgbClr val="007A73"/>
                </a:solidFill>
                <a:latin typeface="Poppins" pitchFamily="34" charset="0"/>
                <a:ea typeface="Poppins" pitchFamily="34" charset="-122"/>
                <a:cs typeface="Poppins" pitchFamily="34" charset="-120"/>
              </a:rPr>
              <a:t>80</a:t>
            </a:r>
            <a:endParaRPr lang="en-US" sz="370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engineered features</a:t>
            </a:r>
            <a:endParaRPr lang="en-US" sz="120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a:solidFill>
                  <a:srgbClr val="222222"/>
                </a:solidFill>
                <a:latin typeface="Poppins" pitchFamily="34" charset="0"/>
                <a:ea typeface="Poppins" pitchFamily="34" charset="-122"/>
                <a:cs typeface="Poppins" pitchFamily="34" charset="-120"/>
              </a:rPr>
              <a:t>For each listing:  </a:t>
            </a:r>
            <a:r>
              <a:rPr lang="en-US" sz="125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Clean &amp; prepare</a:t>
            </a:r>
            <a:endParaRPr lang="en-US" sz="135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Understand first</a:t>
            </a:r>
            <a:endParaRPr lang="en-US" sz="135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Then model</a:t>
            </a:r>
            <a:endParaRPr lang="en-US" sz="135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Only once we understood the data did we move to machine learning, starting with EDA.</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04 · KEY VARIABLES (EDA)</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One problem, two markets</a:t>
            </a: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a:ea typeface="Poppins" pitchFamily="34" charset="-122"/>
                <a:cs typeface="Poppins"/>
              </a:rPr>
              <a:t>The dataset splits almost evenly, and the two halves behave differently.</a:t>
            </a:r>
            <a:endParaRPr lang="en-US" sz="1450">
              <a:latin typeface="Poppins"/>
              <a:cs typeface="Poppins"/>
            </a:endParaRP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5</a:t>
            </a:r>
            <a:endParaRPr lang="en-US" sz="900"/>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7960874" y="2778229"/>
            <a:ext cx="313822" cy="313822"/>
          </a:xfrm>
          <a:prstGeom prst="rect">
            <a:avLst/>
          </a:prstGeom>
        </p:spPr>
      </p:pic>
      <p:sp>
        <p:nvSpPr>
          <p:cNvPr id="40" name="Text 35"/>
          <p:cNvSpPr/>
          <p:nvPr/>
        </p:nvSpPr>
        <p:spPr>
          <a:xfrm>
            <a:off x="8422290" y="2776937"/>
            <a:ext cx="3531087" cy="470143"/>
          </a:xfrm>
          <a:prstGeom prst="rect">
            <a:avLst/>
          </a:prstGeom>
          <a:noFill/>
          <a:ln/>
        </p:spPr>
        <p:txBody>
          <a:bodyPr wrap="square" lIns="0" tIns="0" rIns="0" bIns="0" rtlCol="0" anchor="ctr"/>
          <a:lstStyle/>
          <a:p>
            <a:r>
              <a:rPr lang="en-US" b="1">
                <a:solidFill>
                  <a:srgbClr val="222222"/>
                </a:solidFill>
                <a:latin typeface="Poppins"/>
                <a:cs typeface="Poppins"/>
              </a:rPr>
              <a:t>Why two markets?</a:t>
            </a:r>
            <a:endParaRPr lang="en-US"/>
          </a:p>
        </p:txBody>
      </p:sp>
      <p:sp>
        <p:nvSpPr>
          <p:cNvPr id="42" name="Text 37"/>
          <p:cNvSpPr/>
          <p:nvPr/>
        </p:nvSpPr>
        <p:spPr>
          <a:xfrm>
            <a:off x="8285758" y="3161360"/>
            <a:ext cx="3816262" cy="1945709"/>
          </a:xfrm>
          <a:prstGeom prst="rect">
            <a:avLst/>
          </a:prstGeom>
          <a:noFill/>
          <a:ln/>
        </p:spPr>
        <p:txBody>
          <a:bodyPr wrap="square" lIns="0" tIns="0" rIns="0" bIns="0" rtlCol="0" anchor="t"/>
          <a:lstStyle/>
          <a:p>
            <a:pPr>
              <a:lnSpc>
                <a:spcPct val="106000"/>
              </a:lnSpc>
            </a:pPr>
            <a:br>
              <a:rPr lang="en-US" sz="1600">
                <a:latin typeface="Poppins"/>
                <a:ea typeface="Poppins" pitchFamily="34" charset="-122"/>
                <a:cs typeface="Poppins"/>
              </a:rPr>
            </a:br>
            <a:br>
              <a:rPr lang="en-US" sz="1600">
                <a:latin typeface="Poppins"/>
                <a:cs typeface="Poppins"/>
              </a:rPr>
            </a:br>
            <a:r>
              <a:rPr lang="en-US" sz="1600" i="1">
                <a:latin typeface="Poppins"/>
                <a:ea typeface="+mn-lt"/>
                <a:cs typeface="Poppins"/>
              </a:rPr>
              <a:t>Short-stay competes with hotels. Monthly competes with apartment sublets. Different alternatives, and only one responds measurably to price.</a:t>
            </a:r>
            <a:br>
              <a:rPr lang="en-US" sz="1600" i="1">
                <a:latin typeface="Poppins"/>
                <a:ea typeface="+mn-lt"/>
                <a:cs typeface="Poppins"/>
              </a:rPr>
            </a:br>
            <a:br>
              <a:rPr lang="en-US" sz="1600" i="1">
                <a:latin typeface="Poppins"/>
                <a:ea typeface="+mn-lt"/>
                <a:cs typeface="Poppins"/>
              </a:rPr>
            </a:br>
            <a:r>
              <a:rPr lang="en-US" sz="1600" i="1">
                <a:latin typeface="Poppins"/>
                <a:ea typeface="+mn-lt"/>
                <a:cs typeface="Poppins"/>
              </a:rPr>
              <a:t>One engine, calibrated separately for each market: its own comparables, its own elasticity. Every number that follows is market-aware.</a:t>
            </a:r>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169277"/>
          </a:xfrm>
          <a:prstGeom prst="rect">
            <a:avLst/>
          </a:prstGeom>
          <a:noFill/>
        </p:spPr>
        <p:txBody>
          <a:bodyPr wrap="square" lIns="0" tIns="0" rIns="0" bIns="0">
            <a:spAutoFit/>
          </a:bodyPr>
          <a:lstStyle/>
          <a:p>
            <a:pPr algn="l"/>
            <a:r>
              <a:rPr sz="1100" b="0">
                <a:solidFill>
                  <a:srgbClr val="717171"/>
                </a:solidFill>
                <a:latin typeface="Poppins"/>
              </a:rPr>
              <a:t>price elasticity</a:t>
            </a:r>
            <a:r>
              <a:rPr lang="en-US" sz="1100" b="0">
                <a:solidFill>
                  <a:srgbClr val="717171"/>
                </a:solidFill>
                <a:latin typeface="Poppins"/>
              </a:rPr>
              <a:t>, </a:t>
            </a:r>
            <a:r>
              <a:rPr sz="1100" b="0">
                <a:solidFill>
                  <a:srgbClr val="717171"/>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05 · A KEY RELATIONSHIP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Two listings at $200 aren’t the same listing</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a:lnSpc>
                <a:spcPct val="105000"/>
              </a:lnSpc>
            </a:pPr>
            <a:r>
              <a:rPr lang="en-US" sz="1450">
                <a:solidFill>
                  <a:srgbClr val="717171"/>
                </a:solidFill>
                <a:latin typeface="Poppins"/>
                <a:cs typeface="Poppins"/>
              </a:rPr>
              <a:t>Reputation moves occupancy on its own. Until you hold it constant, a price comparison tells you nothing.</a:t>
            </a: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6</a:t>
            </a:r>
            <a:endParaRPr lang="en-US" sz="90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Occupancy rises with review count</a:t>
            </a:r>
            <a:endParaRPr lang="en-US" sz="135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34%</a:t>
            </a:r>
            <a:endParaRPr lang="en-US" sz="120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0–10</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37%</a:t>
            </a:r>
            <a:endParaRPr lang="en-US" sz="120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11–50</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42%</a:t>
            </a:r>
            <a:endParaRPr lang="en-US" sz="120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51+</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a:solidFill>
                  <a:srgbClr val="717171"/>
                </a:solidFill>
                <a:latin typeface="Poppins" pitchFamily="34" charset="0"/>
                <a:ea typeface="Poppins" pitchFamily="34" charset="-122"/>
                <a:cs typeface="Poppins" pitchFamily="34" charset="-120"/>
              </a:rPr>
              <a:t>Host tenure shows no such pattern: flat at 37–39%. It’s the reviews, not the years.</a:t>
            </a:r>
            <a:endParaRPr lang="en-US" sz="105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r>
              <a:rPr lang="en-US" sz="1500" b="1">
                <a:solidFill>
                  <a:srgbClr val="222222"/>
                </a:solidFill>
                <a:latin typeface="Poppins"/>
                <a:cs typeface="Poppins"/>
              </a:rPr>
              <a:t>Which is why we built a model</a:t>
            </a:r>
            <a:endParaRPr lang="en-US"/>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a:solidFill>
                  <a:srgbClr val="4A4A4A"/>
                </a:solidFill>
                <a:latin typeface="Poppins"/>
                <a:ea typeface="Poppins" pitchFamily="34" charset="-122"/>
                <a:cs typeface="Poppins"/>
              </a:rPr>
              <a:t>Reviews move occupancy independently of price. So “is this listing expensive?” has no answer until you compare it to listings that match on reputation, location, size and amenities.</a:t>
            </a:r>
            <a:r>
              <a:rPr lang="en-US" sz="1250" err="1">
                <a:solidFill>
                  <a:srgbClr val="4A4A4A"/>
                </a:solidFill>
                <a:latin typeface="Poppins"/>
                <a:ea typeface="Poppins" pitchFamily="34" charset="-122"/>
                <a:cs typeface="Poppins"/>
              </a:rPr>
              <a:t/>
            </a:r>
            <a:r>
              <a:rPr lang="en-US" sz="1250">
                <a:solidFill>
                  <a:srgbClr val="4A4A4A"/>
                </a:solidFill>
                <a:latin typeface="Poppins"/>
                <a:ea typeface="Poppins" pitchFamily="34" charset="-122"/>
                <a:cs typeface="Poppins"/>
              </a:rPr>
              <a:t/>
            </a:r>
            <a:endParaRPr lang="en-US" sz="1250">
              <a:latin typeface="Poppins"/>
              <a:cs typeface="Poppins"/>
            </a:endParaRPr>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a:lnSpc>
                <a:spcPct val="105000"/>
              </a:lnSpc>
            </a:pPr>
            <a:r>
              <a:rPr lang="en-US" sz="1250" b="1" i="1">
                <a:solidFill>
                  <a:srgbClr val="007A73"/>
                </a:solidFill>
                <a:latin typeface="Poppins"/>
                <a:ea typeface="Poppins" pitchFamily="34" charset="-122"/>
                <a:cs typeface="Poppins"/>
              </a:rPr>
              <a:t>That’s the model’s whole job: a fair price against genuinely similar listings, not against the market average.</a:t>
            </a:r>
            <a:endParaRPr lang="en-US" sz="1250">
              <a:latin typeface="Poppins"/>
              <a:cs typeface="Poppi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06 · THE SOLUTION</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Not another calculator: an explanation</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7</a:t>
            </a:r>
            <a:endParaRPr lang="en-US" sz="90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 recommended fair value</a:t>
            </a:r>
            <a:endParaRPr lang="en-US" sz="130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One clear number, calibrated to the listing.</a:t>
            </a:r>
            <a:endParaRPr lang="en-US" sz="110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Comparable listings</a:t>
            </a:r>
            <a:endParaRPr lang="en-US" sz="130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The real, similar properties that support it.</a:t>
            </a:r>
            <a:endParaRPr lang="en-US" sz="110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Amenity differences</a:t>
            </a:r>
            <a:endParaRPr lang="en-US" sz="130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What comparable high performers offer that you don't.</a:t>
            </a:r>
            <a:endParaRPr lang="en-US" sz="110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 revenue what-if</a:t>
            </a:r>
            <a:endParaRPr lang="en-US" sz="130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Explore how changing price could affect revenue.</a:t>
            </a:r>
            <a:endParaRPr lang="en-US" sz="110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a:solidFill>
                  <a:srgbClr val="222222"/>
                </a:solidFill>
                <a:latin typeface="Poppins" pitchFamily="34" charset="0"/>
                <a:ea typeface="Poppins" pitchFamily="34" charset="-122"/>
                <a:cs typeface="Poppins" pitchFamily="34" charset="-120"/>
              </a:rPr>
              <a:t>“Commander's Intent”</a:t>
            </a:r>
            <a:endParaRPr lang="en-US" sz="145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a:solidFill>
                  <a:srgbClr val="4A4A4A"/>
                </a:solidFill>
                <a:latin typeface="Poppins" pitchFamily="34" charset="0"/>
                <a:ea typeface="Poppins" pitchFamily="34" charset="-122"/>
                <a:cs typeface="Poppins" pitchFamily="34" charset="-120"/>
              </a:rPr>
              <a:t>An idea from our coach: people make better decisions when they understand the reasoning, not when they're simply told what to do.</a:t>
            </a:r>
            <a:endParaRPr lang="en-US" sz="125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a:solidFill>
                  <a:srgbClr val="FF385C"/>
                </a:solidFill>
                <a:latin typeface="Poppins" pitchFamily="34" charset="0"/>
                <a:ea typeface="Poppins" pitchFamily="34" charset="-122"/>
                <a:cs typeface="Poppins" pitchFamily="34" charset="-120"/>
              </a:rPr>
              <a:t>Hosts trust a recommendation when they understand where it came from. This is about pricing with confidence, not just predicting a price.</a:t>
            </a:r>
            <a:endParaRPr lang="en-US" sz="12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07 · MODEL &amp; INSIGHTS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a:solidFill>
                  <a:srgbClr val="222222"/>
                </a:solidFill>
                <a:latin typeface="Poppins" pitchFamily="34" charset="0"/>
                <a:ea typeface="Poppins" pitchFamily="34" charset="-122"/>
                <a:cs typeface="Poppins" pitchFamily="34" charset="-120"/>
              </a:rPr>
              <a:t>A price you can trust, and the reason behind it</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8</a:t>
            </a:r>
            <a:endParaRPr lang="en-US" sz="90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a:solidFill>
                  <a:srgbClr val="FFFFFF"/>
                </a:solidFill>
                <a:latin typeface="Poppins" pitchFamily="34" charset="0"/>
                <a:ea typeface="Poppins" pitchFamily="34" charset="-122"/>
                <a:cs typeface="Poppins" pitchFamily="34" charset="-120"/>
              </a:rPr>
              <a:t>GBM</a:t>
            </a:r>
            <a:endParaRPr lang="en-US" sz="110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Fair market value</a:t>
            </a:r>
            <a:endParaRPr lang="en-US" sz="150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then returns a fair price with a confidence interval.</a:t>
            </a:r>
            <a:endParaRPr lang="en-US" sz="115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a:solidFill>
                  <a:srgbClr val="FFFFFF"/>
                </a:solidFill>
                <a:latin typeface="Poppins" pitchFamily="34" charset="0"/>
                <a:ea typeface="Poppins" pitchFamily="34" charset="-122"/>
                <a:cs typeface="Poppins" pitchFamily="34" charset="-120"/>
              </a:rPr>
              <a:t>KNN</a:t>
            </a:r>
            <a:endParaRPr lang="en-US" sz="110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Comparable listings</a:t>
            </a:r>
            <a:endParaRPr lang="en-US" sz="150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a:solidFill>
                  <a:srgbClr val="4A4A4A"/>
                </a:solidFill>
                <a:latin typeface="Poppins" pitchFamily="34" charset="0"/>
                <a:ea typeface="Poppins" pitchFamily="34" charset="-122"/>
                <a:cs typeface="Poppins" pitchFamily="34" charset="-120"/>
              </a:rPr>
              <a:t>The price isn't a black box: nearest-neighbors surfaces the similar listings, and their amenities, that stand behind each recommendation.</a:t>
            </a:r>
            <a:endParaRPr lang="en-US" sz="115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a:solidFill>
                  <a:srgbClr val="FF385C"/>
                </a:solidFill>
                <a:latin typeface="Poppins" pitchFamily="34" charset="0"/>
                <a:ea typeface="Poppins" pitchFamily="34" charset="-122"/>
                <a:cs typeface="Poppins" pitchFamily="34" charset="-120"/>
              </a:rPr>
              <a:t>19.2%</a:t>
            </a:r>
            <a:endParaRPr lang="en-US" sz="340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a:solidFill>
                  <a:srgbClr val="717171"/>
                </a:solidFill>
                <a:latin typeface="Poppins" pitchFamily="34" charset="0"/>
                <a:ea typeface="Poppins" pitchFamily="34" charset="-122"/>
                <a:cs typeface="Poppins" pitchFamily="34" charset="-120"/>
              </a:rPr>
              <a:t>median error, roughly half the error of a plain regression</a:t>
            </a:r>
            <a:endParaRPr lang="en-US" sz="105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a:solidFill>
                  <a:srgbClr val="222222"/>
                </a:solidFill>
                <a:latin typeface="Poppins" pitchFamily="34" charset="0"/>
                <a:ea typeface="Poppins" pitchFamily="34" charset="-122"/>
                <a:cs typeface="Poppins" pitchFamily="34" charset="-120"/>
              </a:rPr>
              <a:t>Two halves that pay off differently.  </a:t>
            </a:r>
            <a:r>
              <a:rPr lang="en-US" sz="115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it fills nights that were sitting empty. Our number counts both.</a:t>
            </a:r>
            <a:endParaRPr lang="en-US" sz="11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08 · PRODUCT WALKTHROUGH</a:t>
            </a:r>
            <a:endParaRPr lang="en-US" sz="120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The dashboard, in three clicks</a:t>
            </a:r>
            <a:endParaRPr lang="en-US" sz="300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Airbnb Pricing Intelligence</a:t>
            </a:r>
            <a:endParaRPr lang="en-US" sz="130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a:solidFill>
                  <a:srgbClr val="FFFFFF"/>
                </a:solidFill>
                <a:latin typeface="Poppins" pitchFamily="34" charset="0"/>
                <a:ea typeface="Poppins" pitchFamily="34" charset="-122"/>
                <a:cs typeface="Poppins" pitchFamily="34" charset="-120"/>
              </a:rPr>
              <a:t>Greenpoint Place · Entire home · Brooklyn</a:t>
            </a:r>
            <a:endParaRPr lang="en-US" sz="105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RECOMMENDED FAIR VALUE</a:t>
            </a:r>
            <a:endParaRPr lang="en-US" sz="100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a:solidFill>
                  <a:srgbClr val="222222"/>
                </a:solidFill>
                <a:latin typeface="Poppins" pitchFamily="34" charset="0"/>
                <a:ea typeface="Poppins" pitchFamily="34" charset="-122"/>
                <a:cs typeface="Poppins" pitchFamily="34" charset="-120"/>
              </a:rPr>
              <a:t>$222</a:t>
            </a:r>
            <a:r>
              <a:rPr lang="en-US" sz="1400">
                <a:solidFill>
                  <a:srgbClr val="717171"/>
                </a:solidFill>
                <a:latin typeface="Poppins" pitchFamily="34" charset="0"/>
                <a:ea typeface="Poppins" pitchFamily="34" charset="-122"/>
                <a:cs typeface="Poppins" pitchFamily="34" charset="-120"/>
              </a:rPr>
              <a:t>  /night</a:t>
            </a:r>
            <a:endParaRPr lang="en-US" sz="440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a:solidFill>
                  <a:srgbClr val="717171"/>
                </a:solidFill>
                <a:latin typeface="Poppins" pitchFamily="34" charset="0"/>
                <a:ea typeface="Poppins" pitchFamily="34" charset="-122"/>
                <a:cs typeface="Poppins" pitchFamily="34" charset="-120"/>
              </a:rPr>
              <a:t>Confidence range $188 – $256</a:t>
            </a:r>
            <a:endParaRPr lang="en-US" sz="110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YOUR PRICE $138</a:t>
            </a:r>
            <a:endParaRPr lang="en-US" sz="110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a:solidFill>
                  <a:srgbClr val="FF385C"/>
                </a:solidFill>
                <a:latin typeface="Poppins" pitchFamily="34" charset="0"/>
                <a:ea typeface="Poppins" pitchFamily="34" charset="-122"/>
                <a:cs typeface="Poppins" pitchFamily="34" charset="-120"/>
              </a:rPr>
              <a:t>38% below fair value</a:t>
            </a:r>
            <a:endParaRPr lang="en-US" sz="160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PROJECTED REVENUE · DRAG TO EXPLORE</a:t>
            </a:r>
            <a:endParaRPr lang="en-US" sz="100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$138</a:t>
            </a:r>
            <a:endParaRPr lang="en-US" sz="90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$222 (fair)</a:t>
            </a:r>
            <a:endParaRPr lang="en-US" sz="90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$256 (max)</a:t>
            </a:r>
            <a:endParaRPr lang="en-US" sz="90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a:solidFill>
                  <a:srgbClr val="9AA0A6"/>
                </a:solidFill>
                <a:latin typeface="Poppins" pitchFamily="34" charset="0"/>
                <a:ea typeface="Poppins" pitchFamily="34" charset="-122"/>
                <a:cs typeface="Poppins" pitchFamily="34" charset="-120"/>
              </a:rPr>
              <a:t>COMPARABLE LISTINGS</a:t>
            </a:r>
            <a:endParaRPr lang="en-US" sz="105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Sunny Greenpoint 1BR</a:t>
            </a:r>
            <a:endParaRPr lang="en-US" sz="110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a:solidFill>
                  <a:srgbClr val="007A73"/>
                </a:solidFill>
                <a:latin typeface="Poppins" pitchFamily="34" charset="0"/>
                <a:ea typeface="Poppins" pitchFamily="34" charset="-122"/>
                <a:cs typeface="Poppins" pitchFamily="34" charset="-120"/>
              </a:rPr>
              <a:t>$229</a:t>
            </a:r>
            <a:endParaRPr lang="en-US" sz="130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a:solidFill>
                  <a:srgbClr val="FF385C"/>
                </a:solidFill>
                <a:latin typeface="Poppins" pitchFamily="34" charset="0"/>
                <a:ea typeface="Poppins" pitchFamily="34" charset="-122"/>
                <a:cs typeface="Poppins" pitchFamily="34" charset="-120"/>
              </a:rPr>
              <a:t>+ Self check-in</a:t>
            </a:r>
            <a:endParaRPr lang="en-US" sz="95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Bright Williamsburg flat</a:t>
            </a:r>
            <a:endParaRPr lang="en-US" sz="110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a:solidFill>
                  <a:srgbClr val="007A73"/>
                </a:solidFill>
                <a:latin typeface="Poppins" pitchFamily="34" charset="0"/>
                <a:ea typeface="Poppins" pitchFamily="34" charset="-122"/>
                <a:cs typeface="Poppins" pitchFamily="34" charset="-120"/>
              </a:rPr>
              <a:t>$241</a:t>
            </a:r>
            <a:endParaRPr lang="en-US" sz="130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a:solidFill>
                  <a:srgbClr val="FF385C"/>
                </a:solidFill>
                <a:latin typeface="Poppins" pitchFamily="34" charset="0"/>
                <a:ea typeface="Poppins" pitchFamily="34" charset="-122"/>
                <a:cs typeface="Poppins" pitchFamily="34" charset="-120"/>
              </a:rPr>
              <a:t>+ Dedicated workspace</a:t>
            </a:r>
            <a:endParaRPr lang="en-US" sz="95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Modern McCarren loft</a:t>
            </a:r>
            <a:endParaRPr lang="en-US" sz="110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a:solidFill>
                  <a:srgbClr val="007A73"/>
                </a:solidFill>
                <a:latin typeface="Poppins" pitchFamily="34" charset="0"/>
                <a:ea typeface="Poppins" pitchFamily="34" charset="-122"/>
                <a:cs typeface="Poppins" pitchFamily="34" charset="-120"/>
              </a:rPr>
              <a:t>$208</a:t>
            </a:r>
            <a:endParaRPr lang="en-US" sz="130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a:solidFill>
                  <a:srgbClr val="FF385C"/>
                </a:solidFill>
                <a:latin typeface="Poppins" pitchFamily="34" charset="0"/>
                <a:ea typeface="Poppins" pitchFamily="34" charset="-122"/>
                <a:cs typeface="Poppins" pitchFamily="34" charset="-120"/>
              </a:rPr>
              <a:t>+ Air conditioning</a:t>
            </a:r>
            <a:endParaRPr lang="en-US" sz="95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9</a:t>
            </a:r>
            <a:endParaRPr lang="en-US" sz="9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09 · FROM PRICE TO REVENUE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a:solidFill>
                  <a:srgbClr val="222222"/>
                </a:solidFill>
                <a:latin typeface="Poppins" pitchFamily="34" charset="0"/>
                <a:ea typeface="Poppins" pitchFamily="34" charset="-122"/>
                <a:cs typeface="Poppins" pitchFamily="34" charset="-120"/>
              </a:rPr>
              <a:t>Does moving the price make money?</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10</a:t>
            </a:r>
            <a:endParaRPr lang="en-US" sz="90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a:solidFill>
                  <a:srgbClr val="007A73"/>
                </a:solidFill>
                <a:latin typeface="Poppins" pitchFamily="34" charset="0"/>
                <a:ea typeface="Poppins" pitchFamily="34" charset="-122"/>
                <a:cs typeface="Poppins" pitchFamily="34" charset="-120"/>
              </a:rPr>
              <a:t>THE MEASUREMENT</a:t>
            </a:r>
            <a:endParaRPr lang="en-US" sz="105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a:solidFill>
                  <a:srgbClr val="007A73"/>
                </a:solidFill>
                <a:latin typeface="Poppins" pitchFamily="34" charset="0"/>
                <a:ea typeface="Poppins" pitchFamily="34" charset="-122"/>
                <a:cs typeface="Poppins" pitchFamily="34" charset="-120"/>
              </a:rPr>
              <a:t>β = −0.92</a:t>
            </a:r>
            <a:r>
              <a:rPr lang="en-US" sz="1150">
                <a:solidFill>
                  <a:srgbClr val="4A4A4A"/>
                </a:solidFill>
                <a:latin typeface="Poppins" pitchFamily="34" charset="0"/>
                <a:ea typeface="Poppins" pitchFamily="34" charset="-122"/>
                <a:cs typeface="Poppins" pitchFamily="34" charset="-120"/>
              </a:rPr>
              <a:t>    95% CI  −1.30 to −0.54</a:t>
            </a:r>
            <a:endParaRPr lang="en-US" sz="290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a:solidFill>
                  <a:srgbClr val="FF385C"/>
                </a:solidFill>
                <a:latin typeface="Poppins" pitchFamily="34" charset="0"/>
                <a:ea typeface="Poppins" pitchFamily="34" charset="-122"/>
                <a:cs typeface="Poppins" pitchFamily="34" charset="-120"/>
              </a:rPr>
              <a:t>WHAT IT MEANS FOR REVENUE</a:t>
            </a:r>
            <a:endParaRPr lang="en-US" sz="105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a:solidFill>
                  <a:srgbClr val="FF385C"/>
                </a:solidFill>
                <a:latin typeface="Poppins" pitchFamily="34" charset="0"/>
                <a:ea typeface="Poppins" pitchFamily="34" charset="-122"/>
                <a:cs typeface="Poppins" pitchFamily="34" charset="-120"/>
              </a:rPr>
              <a:t>revenue elasticity = 1 + β ≈ 0.08</a:t>
            </a:r>
            <a:endParaRPr lang="en-US" sz="200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a:solidFill>
                  <a:srgbClr val="222222"/>
                </a:solidFill>
                <a:latin typeface="Poppins" pitchFamily="34" charset="0"/>
                <a:ea typeface="Poppins" pitchFamily="34" charset="-122"/>
                <a:cs typeface="Poppins" pitchFamily="34" charset="-120"/>
              </a:rPr>
              <a:t>Where our estimate sits on the elasticity line</a:t>
            </a:r>
            <a:endParaRPr lang="en-US" sz="120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a:solidFill>
                  <a:srgbClr val="222222"/>
                </a:solidFill>
                <a:latin typeface="Poppins" pitchFamily="34" charset="0"/>
                <a:ea typeface="Poppins" pitchFamily="34" charset="-122"/>
                <a:cs typeface="Poppins" pitchFamily="34" charset="-120"/>
              </a:rPr>
              <a:t>breakeven −1.0</a:t>
            </a:r>
            <a:endParaRPr lang="en-US" sz="95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a:solidFill>
                  <a:srgbClr val="FF385C"/>
                </a:solidFill>
                <a:latin typeface="Poppins" pitchFamily="34" charset="0"/>
                <a:ea typeface="Poppins" pitchFamily="34" charset="-122"/>
                <a:cs typeface="Poppins" pitchFamily="34" charset="-120"/>
              </a:rPr>
              <a:t>our estimate  β = −0.92</a:t>
            </a:r>
            <a:endParaRPr lang="en-US" sz="95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a:solidFill>
                  <a:srgbClr val="007A73"/>
                </a:solidFill>
                <a:latin typeface="Poppins" pitchFamily="34" charset="0"/>
                <a:ea typeface="Poppins" pitchFamily="34" charset="-122"/>
                <a:cs typeface="Poppins" pitchFamily="34" charset="-120"/>
              </a:rPr>
              <a:t>ELASTIC  ·  cutting price adds revenue</a:t>
            </a:r>
            <a:endParaRPr lang="en-US" sz="90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a:solidFill>
                  <a:srgbClr val="FF385C"/>
                </a:solidFill>
                <a:latin typeface="Poppins" pitchFamily="34" charset="0"/>
                <a:ea typeface="Poppins" pitchFamily="34" charset="-122"/>
                <a:cs typeface="Poppins" pitchFamily="34" charset="-120"/>
              </a:rPr>
              <a:t>INELASTIC  ·  raising price adds revenue</a:t>
            </a:r>
            <a:endParaRPr lang="en-US" sz="90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a:solidFill>
                  <a:srgbClr val="9AA0A6"/>
                </a:solidFill>
                <a:latin typeface="Poppins" pitchFamily="34" charset="0"/>
                <a:ea typeface="Poppins" pitchFamily="34" charset="-122"/>
                <a:cs typeface="Poppins" pitchFamily="34" charset="-120"/>
              </a:rPr>
              <a:t>−2</a:t>
            </a:r>
            <a:endParaRPr lang="en-US" sz="90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a:solidFill>
                  <a:srgbClr val="9AA0A6"/>
                </a:solidFill>
                <a:latin typeface="Poppins" pitchFamily="34" charset="0"/>
                <a:ea typeface="Poppins" pitchFamily="34" charset="-122"/>
                <a:cs typeface="Poppins" pitchFamily="34" charset="-120"/>
              </a:rPr>
              <a:t>10</a:t>
            </a:r>
            <a:endParaRPr lang="en-US" sz="90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a:solidFill>
                  <a:srgbClr val="717171"/>
                </a:solidFill>
                <a:latin typeface="Poppins" pitchFamily="34" charset="0"/>
                <a:ea typeface="Poppins" pitchFamily="34" charset="-122"/>
                <a:cs typeface="Poppins" pitchFamily="34" charset="-120"/>
              </a:rPr>
              <a:t>Honest caveat:  </a:t>
            </a:r>
            <a:r>
              <a:rPr lang="en-US" sz="950" i="1">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10 · THE FINANCIAL CASE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What it is worth, and what it costs</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11</a:t>
            </a:r>
            <a:endParaRPr lang="en-US" sz="90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a:solidFill>
                  <a:srgbClr val="222222"/>
                </a:solidFill>
                <a:latin typeface="Poppins" pitchFamily="34" charset="0"/>
                <a:ea typeface="Poppins" pitchFamily="34" charset="-122"/>
                <a:cs typeface="Poppins" pitchFamily="34" charset="-120"/>
              </a:rPr>
              <a:t>~$7.6M host GBV      ×15.5%  →      $1.17M / yr Airbnb fee, at full adoption</a:t>
            </a:r>
            <a:r>
              <a:rPr lang="en-US" sz="1300">
                <a:solidFill>
                  <a:srgbClr val="4A4A4A"/>
                </a:solidFill>
                <a:latin typeface="Poppins" pitchFamily="34" charset="0"/>
                <a:ea typeface="Poppins" pitchFamily="34" charset="-122"/>
                <a:cs typeface="Poppins" pitchFamily="34" charset="-120"/>
              </a:rPr>
              <a:t/>
            </a:r>
            <a:r>
              <a:rPr lang="en-US" sz="1250">
                <a:solidFill>
                  <a:srgbClr val="9AA0A6"/>
                </a:solidFill>
                <a:latin typeface="Poppins" pitchFamily="34" charset="0"/>
                <a:ea typeface="Poppins" pitchFamily="34" charset="-122"/>
                <a:cs typeface="Poppins" pitchFamily="34" charset="-120"/>
              </a:rPr>
              <a:t/>
            </a:r>
            <a:r>
              <a:rPr lang="en-US" sz="2900" b="1">
                <a:solidFill>
                  <a:srgbClr val="FF385C"/>
                </a:solidFill>
                <a:latin typeface="Poppins" pitchFamily="34" charset="0"/>
                <a:ea typeface="Poppins" pitchFamily="34" charset="-122"/>
                <a:cs typeface="Poppins" pitchFamily="34" charset="-120"/>
              </a:rPr>
              <a:t/>
            </a:r>
            <a:r>
              <a:rPr lang="en-US" sz="1300">
                <a:solidFill>
                  <a:srgbClr val="4A4A4A"/>
                </a:solidFill>
                <a:latin typeface="Poppins" pitchFamily="34" charset="0"/>
                <a:ea typeface="Poppins" pitchFamily="34" charset="-122"/>
                <a:cs typeface="Poppins" pitchFamily="34" charset="-120"/>
              </a:rPr>
              <a:t/>
            </a:r>
            <a:endParaRPr lang="en-US" sz="290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a:solidFill>
                  <a:srgbClr val="222222"/>
                </a:solidFill>
                <a:latin typeface="Poppins" pitchFamily="34" charset="0"/>
                <a:ea typeface="Poppins" pitchFamily="34" charset="-122"/>
                <a:cs typeface="Poppins" pitchFamily="34" charset="-120"/>
              </a:rPr>
              <a:t>Ceiling (upside): </a:t>
            </a:r>
            <a:r>
              <a:rPr lang="en-US" sz="105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a:solidFill>
                  <a:srgbClr val="007A73"/>
                </a:solidFill>
                <a:latin typeface="Poppins" pitchFamily="34" charset="0"/>
                <a:ea typeface="Poppins" pitchFamily="34" charset="-122"/>
                <a:cs typeface="Poppins" pitchFamily="34" charset="-120"/>
              </a:rPr>
              <a:t>$65K</a:t>
            </a:r>
            <a:endParaRPr lang="en-US" sz="250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a:solidFill>
                  <a:srgbClr val="FF385C"/>
                </a:solidFill>
                <a:latin typeface="Poppins" pitchFamily="34" charset="0"/>
                <a:ea typeface="Poppins" pitchFamily="34" charset="-122"/>
                <a:cs typeface="Poppins" pitchFamily="34" charset="-120"/>
              </a:rPr>
              <a:t>$30K / yr</a:t>
            </a:r>
            <a:endParaRPr lang="en-US" sz="250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to run (retraining, monitoring, ~$3K infra)</a:t>
            </a:r>
            <a:endParaRPr lang="en-US" sz="100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a:solidFill>
                  <a:srgbClr val="007A73"/>
                </a:solidFill>
                <a:latin typeface="Poppins" pitchFamily="34" charset="0"/>
                <a:ea typeface="Poppins" pitchFamily="34" charset="-122"/>
                <a:cs typeface="Poppins" pitchFamily="34" charset="-120"/>
              </a:rPr>
              <a:t>~$215K</a:t>
            </a:r>
            <a:endParaRPr lang="en-US" sz="250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total 5-year cost of ownership</a:t>
            </a:r>
            <a:endParaRPr lang="en-US" sz="100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11 · ROI &amp; FINANCIAL TIMELINE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Cash-positive in Year 1, on a modeled adoption ramp</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Modeled as an adoption ramp (Rogers' Diffusion of Innovation), not a single guess: about 10% adoption in Year 1, climbing to roughly 42% by Year 4.</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12</a:t>
            </a:r>
            <a:endParaRPr lang="en-US" sz="90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2688336"/>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Year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Adoption</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Airbnb Fee / yr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Cumulative Net (NPV @10%)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1</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$117K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+$20K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24%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$281K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+$227K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3</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38%</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$445K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+$539K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+$854K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5</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+$1.14M</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a:solidFill>
                  <a:srgbClr val="9AA0A6"/>
                </a:solidFill>
                <a:latin typeface="Poppins" pitchFamily="34" charset="0"/>
                <a:ea typeface="Poppins" pitchFamily="34" charset="-122"/>
                <a:cs typeface="Poppins" pitchFamily="34" charset="-120"/>
              </a:rPr>
              <a:t>We build the case on the ramp itself, not a single adoption row.</a:t>
            </a:r>
            <a:endParaRPr lang="en-US" sz="105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a:solidFill>
                  <a:srgbClr val="222222"/>
                </a:solidFill>
                <a:latin typeface="Poppins" pitchFamily="34" charset="0"/>
                <a:ea typeface="Poppins" pitchFamily="34" charset="-122"/>
                <a:cs typeface="Poppins" pitchFamily="34" charset="-120"/>
              </a:rPr>
              <a:t>Honest about time value</a:t>
            </a:r>
            <a:endParaRPr lang="en-US" sz="140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a:solidFill>
                  <a:srgbClr val="FF385C"/>
                </a:solidFill>
                <a:latin typeface="Poppins" pitchFamily="34" charset="0"/>
                <a:ea typeface="Poppins" pitchFamily="34" charset="-122"/>
                <a:cs typeface="Poppins" pitchFamily="34" charset="-120"/>
              </a:rPr>
              <a:t>Net-positive in Year 1, on a modeled 10% first-year adoption.
5-year cumulative net: $1.61M nominal → $1.14M NPV at a 10% discount (~29% haircut).
We discount at 10% and show both, rather than present nominal sums under an NPV banner.</a:t>
            </a:r>
            <a:r>
              <a:rPr lang="en-US" sz="1150">
                <a:solidFill>
                  <a:srgbClr val="4A4A4A"/>
                </a:solidFill>
                <a:latin typeface="Poppins" pitchFamily="34" charset="0"/>
                <a:ea typeface="Poppins" pitchFamily="34" charset="-122"/>
                <a:cs typeface="Poppins" pitchFamily="34" charset="-120"/>
              </a:rPr>
              <a:t/>
            </a:r>
            <a:r>
              <a:rPr lang="en-US" sz="1150" b="1">
                <a:solidFill>
                  <a:srgbClr val="222222"/>
                </a:solidFill>
                <a:latin typeface="Poppins" pitchFamily="34" charset="0"/>
                <a:ea typeface="Poppins" pitchFamily="34" charset="-122"/>
                <a:cs typeface="Poppins" pitchFamily="34" charset="-120"/>
              </a:rPr>
              <a:t/>
            </a:r>
            <a:r>
              <a:rPr lang="en-US" sz="1150">
                <a:solidFill>
                  <a:srgbClr val="4A4A4A"/>
                </a:solidFill>
                <a:latin typeface="Poppins" pitchFamily="34" charset="0"/>
                <a:ea typeface="Poppins" pitchFamily="34" charset="-122"/>
                <a:cs typeface="Poppins" pitchFamily="34" charset="-120"/>
              </a:rPr>
              <a:t/>
            </a:r>
            <a:r>
              <a:rPr lang="en-US" sz="1150">
                <a:solidFill>
                  <a:srgbClr val="717171"/>
                </a:solidFill>
                <a:latin typeface="Poppins" pitchFamily="34" charset="0"/>
                <a:ea typeface="Poppins" pitchFamily="34" charset="-122"/>
                <a:cs typeface="Poppins" pitchFamily="34" charset="-120"/>
              </a:rPr>
              <a:t/>
            </a:r>
            <a:endParaRPr lang="en-US" sz="115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a:solidFill>
                  <a:srgbClr val="222222"/>
                </a:solidFill>
                <a:latin typeface="Poppins" pitchFamily="34" charset="0"/>
                <a:ea typeface="Poppins" pitchFamily="34" charset="-122"/>
                <a:cs typeface="Poppins" pitchFamily="34" charset="-120"/>
              </a:rPr>
              <a:t>And on the overpriced side: </a:t>
            </a:r>
            <a:r>
              <a:rPr lang="en-US" sz="105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12 · WHAT WE'D DO WITH MORE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The number is a floor. Here is what lifts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13</a:t>
            </a:r>
            <a:endParaRPr lang="en-US" sz="90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Give us the full elasticity panel</a:t>
            </a:r>
            <a:endParaRPr lang="en-US" sz="140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and likely raises the number, since newer listings are more price-sensitive.</a:t>
            </a:r>
            <a:endParaRPr lang="en-US" sz="118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Let us measure the monthly segment</a:t>
            </a:r>
            <a:endParaRPr lang="en-US" sz="140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Open the booking-flow data</a:t>
            </a:r>
            <a:endParaRPr lang="en-US" sz="140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Then take it beyond New York</a:t>
            </a:r>
            <a:endParaRPr lang="en-US" sz="140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Coefficients need re-fitting per market: tourism, regulation and seasonality all differ. The method transfers; these particular numbers are New York's.</a:t>
            </a:r>
            <a:endParaRPr lang="en-US" sz="118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13 · RECOMMENDATIONS &amp; CLOSING</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Build on Smart Pricing, don't replace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14</a:t>
            </a:r>
            <a:endParaRPr lang="en-US" sz="90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1</a:t>
            </a:r>
            <a:endParaRPr lang="en-US" sz="200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Enhance, don't replace</a:t>
            </a:r>
            <a:endParaRPr lang="en-US" sz="135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2</a:t>
            </a:r>
            <a:endParaRPr lang="en-US" sz="200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Pilot in one market</a:t>
            </a:r>
            <a:endParaRPr lang="en-US" sz="135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3</a:t>
            </a:r>
            <a:endParaRPr lang="en-US" sz="200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Learn, then scale</a:t>
            </a:r>
            <a:endParaRPr lang="en-US" sz="135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a:solidFill>
                  <a:srgbClr val="222222"/>
                </a:solidFill>
                <a:latin typeface="Poppins" pitchFamily="34" charset="0"/>
                <a:ea typeface="Poppins" pitchFamily="34" charset="-122"/>
                <a:cs typeface="Poppins" pitchFamily="34" charset="-120"/>
              </a:rPr>
              <a:t>The bigger lesson</a:t>
            </a:r>
            <a:endParaRPr lang="en-US" sz="140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a:solidFill>
                  <a:srgbClr val="4A4A4A"/>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 This project brought together machine learning, product thinking, business strategy and data storytelling in one solution, skills that carry directly into our careers.</a:t>
            </a:r>
            <a:endParaRPr lang="en-US" sz="118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a:solidFill>
                  <a:srgbClr val="FFFFFF"/>
                </a:solidFill>
                <a:latin typeface="Poppins" pitchFamily="34" charset="0"/>
                <a:ea typeface="Poppins" pitchFamily="34" charset="-122"/>
                <a:cs typeface="Poppins" pitchFamily="34" charset="-120"/>
              </a:rPr>
              <a:t>Thank you</a:t>
            </a:r>
            <a:endParaRPr lang="en-US" sz="260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a:solidFill>
                  <a:srgbClr val="FFFFFF"/>
                </a:solidFill>
                <a:latin typeface="Poppins" pitchFamily="34" charset="0"/>
                <a:ea typeface="Poppins" pitchFamily="34" charset="-122"/>
                <a:cs typeface="Poppins" pitchFamily="34" charset="-120"/>
              </a:rPr>
              <a:t>We'd be happy to answer any questions.</a:t>
            </a:r>
            <a:endParaRPr lang="en-US" sz="125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a:solidFill>
                  <a:srgbClr val="FFFFFF"/>
                </a:solidFill>
                <a:latin typeface="Poppins" pitchFamily="34" charset="0"/>
                <a:ea typeface="Poppins" pitchFamily="34" charset="-122"/>
                <a:cs typeface="Poppins" pitchFamily="34" charset="-120"/>
              </a:rPr>
              <a:t>GitHub: mkdn007/Cornell-Airbnb-Capstone</a:t>
            </a:r>
            <a:endParaRPr lang="en-US"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a:solidFill>
                  <a:srgbClr val="FFFFFF"/>
                </a:solidFill>
                <a:latin typeface="Poppins" pitchFamily="34" charset="0"/>
                <a:ea typeface="Poppins" pitchFamily="34" charset="-122"/>
                <a:cs typeface="Poppins" pitchFamily="34" charset="-120"/>
              </a:rPr>
              <a:t>BACKUP</a:t>
            </a:r>
            <a:endParaRPr lang="en-US" sz="600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B1  Model bake-off</a:t>
            </a:r>
            <a:endParaRPr lang="en-US" sz="110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B2  How the $7.6M is built</a:t>
            </a:r>
            <a:endParaRPr lang="en-US" sz="110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B3  Why we split at 142 reviews</a:t>
            </a:r>
            <a:endParaRPr lang="en-US" sz="110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B4  Revenue by confidence</a:t>
            </a:r>
            <a:endParaRPr lang="en-US" sz="110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B5  Validation &amp; methodology</a:t>
            </a:r>
            <a:endParaRPr lang="en-US" sz="1100"/>
          </a:p>
        </p:txBody>
      </p:sp>
      <p:sp>
        <p:nvSpPr>
          <p:cNvPr id="18" name="Text 15"/>
          <p:cNvSpPr/>
          <p:nvPr/>
        </p:nvSpPr>
        <p:spPr>
          <a:xfrm>
            <a:off x="3685032" y="4590288"/>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B6  The adoption ramp</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B1 · MODEL BAKE-OFF</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Models tested, held-out performance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16</a:t>
            </a:r>
            <a:endParaRPr lang="en-US" sz="90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a:solidFill>
                            <a:srgbClr val="FFFFFF"/>
                          </a:solidFill>
                          <a:latin typeface="Poppins" pitchFamily="34" charset="0"/>
                          <a:ea typeface="Poppins" pitchFamily="34" charset="-122"/>
                          <a:cs typeface="Poppins" pitchFamily="34" charset="-120"/>
                        </a:rPr>
                        <a:t>Model</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Median APE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MAE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R² (price)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R² (log)</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a:solidFill>
                            <a:srgbClr val="FFFFFF"/>
                          </a:solidFill>
                          <a:latin typeface="Poppins" pitchFamily="34" charset="0"/>
                          <a:ea typeface="Poppins" pitchFamily="34" charset="-122"/>
                          <a:cs typeface="Poppins" pitchFamily="34" charset="-120"/>
                        </a:rPr>
                        <a:t>Source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V1  Log-linear OLS (baseline)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39.2%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$113.22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0.243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0.486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V1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29.3%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$92.94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0.506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0.619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OLS (expanded features)</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23.7%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$81.20</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0.751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Ridge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23.8%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$81.03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20.8%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$75.07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0.574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0.782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V4  GBM short-stay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19.2%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$102.81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0.528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0.714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V4  GBM monthly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15.2%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$39.92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0.777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a:solidFill>
                  <a:srgbClr val="222222"/>
                </a:solidFill>
                <a:latin typeface="Poppins" pitchFamily="34" charset="0"/>
                <a:ea typeface="Poppins" pitchFamily="34" charset="-122"/>
                <a:cs typeface="Poppins" pitchFamily="34" charset="-120"/>
              </a:rPr>
              <a:t>How to read it.  </a:t>
            </a:r>
            <a:r>
              <a:rPr lang="en-US" sz="110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B2 · HOW THE $7.6M IS BUILT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How we built the business case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17</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Revenue floor</a:t>
            </a:r>
            <a:endParaRPr lang="en-US" sz="130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 at full adoption.</a:t>
            </a:r>
            <a:endParaRPr lang="en-US" sz="108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Ceiling (upside)</a:t>
            </a:r>
            <a:endParaRPr lang="en-US" sz="130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Incremental cost</a:t>
            </a:r>
            <a:endParaRPr lang="en-US" sz="130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ROI &amp; payback</a:t>
            </a:r>
            <a:endParaRPr lang="en-US" sz="130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Modeled as an adoption ramp (Rogers' Diffusion), not a flat guess: ~10% in Year 1 climbing to ~42% by Year 4. Cash-positive in Year 1, at $117K revenue against $95K cost.</a:t>
            </a:r>
            <a:endParaRPr lang="en-US" sz="108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NPV-honest</a:t>
            </a:r>
            <a:endParaRPr lang="en-US" sz="130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Discounted at 10% (CFI standard). 5-yr cumulative net $1.61M nominal → $1.14M NPV (~29% haircut), still net-positive in Year 1. We show both.</a:t>
            </a:r>
            <a:endParaRPr lang="en-US" sz="108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a:solidFill>
                  <a:srgbClr val="007A73"/>
                </a:solidFill>
                <a:latin typeface="Poppins" pitchFamily="34" charset="0"/>
                <a:ea typeface="Poppins" pitchFamily="34" charset="-122"/>
                <a:cs typeface="Poppins" pitchFamily="34" charset="-120"/>
              </a:rPr>
              <a:t>Floor of the floor</a:t>
            </a:r>
            <a:endParaRPr lang="en-US" sz="130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B3 · WHY WE SPLIT AT 142 REVIEWS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We apply the coefficient only where we measured it</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β = −0.92 came from established hosts. Most listings are not.</a:t>
            </a:r>
            <a:endParaRPr lang="en-US" sz="14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18</a:t>
            </a:r>
            <a:endParaRPr lang="en-US" sz="90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Why we refuse to extrapolate</a:t>
            </a:r>
            <a:endParaRPr lang="en-US" sz="150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a:solidFill>
                  <a:srgbClr val="222222"/>
                </a:solidFill>
                <a:latin typeface="Poppins" pitchFamily="34" charset="0"/>
                <a:ea typeface="Poppins" pitchFamily="34" charset="-122"/>
                <a:cs typeface="Poppins" pitchFamily="34" charset="-120"/>
              </a:rPr>
              <a:t>At −1.0 the answer is zero by algebra. </a:t>
            </a:r>
            <a:r>
              <a:rPr lang="en-US" sz="125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169277"/>
          </a:xfrm>
          <a:prstGeom prst="rect">
            <a:avLst/>
          </a:prstGeom>
          <a:noFill/>
        </p:spPr>
        <p:txBody>
          <a:bodyPr wrap="square" lIns="0" tIns="0" rIns="0" bIns="0">
            <a:spAutoFit/>
          </a:bodyPr>
          <a:lstStyle/>
          <a:p>
            <a:pPr algn="l"/>
            <a:r>
              <a:rPr sz="1100" b="0">
                <a:solidFill>
                  <a:srgbClr val="717171"/>
                </a:solidFill>
                <a:latin typeface="Poppins"/>
              </a:rPr>
              <a:t>measured elasticity</a:t>
            </a:r>
            <a:r>
              <a:rPr lang="en-US" sz="1100" b="0">
                <a:solidFill>
                  <a:srgbClr val="717171"/>
                </a:solidFill>
                <a:latin typeface="Poppins"/>
              </a:rPr>
              <a:t>, </a:t>
            </a:r>
            <a:r>
              <a:rPr sz="1100" b="0">
                <a:solidFill>
                  <a:srgbClr val="717171"/>
                </a:solidFill>
                <a:latin typeface="Poppins"/>
              </a:rPr>
              <a:t>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169277"/>
          </a:xfrm>
          <a:prstGeom prst="rect">
            <a:avLst/>
          </a:prstGeom>
          <a:noFill/>
        </p:spPr>
        <p:txBody>
          <a:bodyPr wrap="square" lIns="0" tIns="0" rIns="0" bIns="0">
            <a:spAutoFit/>
          </a:bodyPr>
          <a:lstStyle/>
          <a:p>
            <a:pPr algn="l"/>
            <a:r>
              <a:rPr sz="1100" b="0">
                <a:solidFill>
                  <a:srgbClr val="717171"/>
                </a:solidFill>
                <a:latin typeface="Poppins"/>
              </a:rPr>
              <a:t>underpriced short-stay listings</a:t>
            </a:r>
            <a:r>
              <a:rPr lang="en-US" sz="1100" b="0">
                <a:solidFill>
                  <a:srgbClr val="717171"/>
                </a:solidFill>
                <a:latin typeface="Poppins"/>
              </a:rPr>
              <a:t>, </a:t>
            </a:r>
            <a:r>
              <a:rPr sz="1100" b="0">
                <a:solidFill>
                  <a:srgbClr val="717171"/>
                </a:solidFill>
                <a:latin typeface="Poppins"/>
              </a:rPr>
              <a:t>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169277"/>
          </a:xfrm>
          <a:prstGeom prst="rect">
            <a:avLst/>
          </a:prstGeom>
          <a:noFill/>
        </p:spPr>
        <p:txBody>
          <a:bodyPr wrap="square" lIns="0" tIns="0" rIns="0" bIns="0">
            <a:spAutoFit/>
          </a:bodyPr>
          <a:lstStyle/>
          <a:p>
            <a:pPr algn="l"/>
            <a:r>
              <a:rPr sz="1100" b="0">
                <a:solidFill>
                  <a:srgbClr val="717171"/>
                </a:solidFill>
                <a:latin typeface="Poppins"/>
              </a:rPr>
              <a:t>breakeven assumed</a:t>
            </a:r>
            <a:r>
              <a:rPr lang="en-US" sz="1100" b="0">
                <a:solidFill>
                  <a:srgbClr val="717171"/>
                </a:solidFill>
                <a:latin typeface="Poppins"/>
              </a:rPr>
              <a:t>, </a:t>
            </a:r>
            <a:r>
              <a:rPr sz="1100" b="0">
                <a:solidFill>
                  <a:srgbClr val="717171"/>
                </a:solidFill>
                <a:latin typeface="Poppins"/>
              </a:rPr>
              <a:t>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169277"/>
          </a:xfrm>
          <a:prstGeom prst="rect">
            <a:avLst/>
          </a:prstGeom>
          <a:noFill/>
        </p:spPr>
        <p:txBody>
          <a:bodyPr wrap="square" lIns="0" tIns="0" rIns="0" bIns="0">
            <a:spAutoFit/>
          </a:bodyPr>
          <a:lstStyle/>
          <a:p>
            <a:pPr algn="l"/>
            <a:r>
              <a:rPr sz="1100" b="0">
                <a:solidFill>
                  <a:srgbClr val="717171"/>
                </a:solidFill>
                <a:latin typeface="Poppins"/>
              </a:rPr>
              <a:t>revenue contribution</a:t>
            </a:r>
            <a:r>
              <a:rPr lang="en-US" sz="1100" b="0">
                <a:solidFill>
                  <a:srgbClr val="717171"/>
                </a:solidFill>
                <a:latin typeface="Poppins"/>
              </a:rPr>
              <a:t>, </a:t>
            </a:r>
            <a:r>
              <a:rPr sz="1100" b="0">
                <a:solidFill>
                  <a:srgbClr val="717171"/>
                </a:solidFill>
                <a:latin typeface="Poppins"/>
              </a:rPr>
              <a:t>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B4 · REVENUE BY MODEL CONFIDENCE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How much rests on a confident call</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19</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Confident: raise price</a:t>
            </a:r>
            <a:endParaRPr lang="en-US" sz="130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Confident: lower price</a:t>
            </a:r>
            <a:endParaRPr lang="en-US" sz="130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Uncertain</a:t>
            </a:r>
            <a:endParaRPr lang="en-US" sz="130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The confident subset alone</a:t>
            </a:r>
            <a:endParaRPr lang="en-US" sz="130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It still funds itself</a:t>
            </a:r>
            <a:endParaRPr lang="en-US" sz="130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a:solidFill>
                  <a:srgbClr val="007A73"/>
                </a:solidFill>
                <a:latin typeface="Poppins" pitchFamily="34" charset="0"/>
                <a:ea typeface="Poppins" pitchFamily="34" charset="-122"/>
                <a:cs typeface="Poppins" pitchFamily="34" charset="-120"/>
              </a:rPr>
              <a:t>What “Uncertain” means</a:t>
            </a:r>
            <a:endParaRPr lang="en-US" sz="130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B5 · VALIDATION &amp; METHODOLOGY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Why we trust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statistical guardrails behind the recommendation.</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20</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80/20 + 5-fold out-of-fold</a:t>
            </a:r>
            <a:endParaRPr lang="en-US" sz="125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Duan smearing correction</a:t>
            </a:r>
            <a:endParaRPr lang="en-US" sz="125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HC3 robust standard errors</a:t>
            </a:r>
            <a:endParaRPr lang="en-US" sz="125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Heteroskedasticity-consistent errors on every coefficient.</a:t>
            </a:r>
            <a:endParaRPr lang="en-US" sz="105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Ridge multicollinearity check</a:t>
            </a:r>
            <a:endParaRPr lang="en-US" sz="125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Segment split</a:t>
            </a:r>
            <a:endParaRPr lang="en-US" sz="125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Short-stay ($376.82 mean) vs monthly ($162.73) modeled separately.</a:t>
            </a:r>
            <a:endParaRPr lang="en-US" sz="105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Known limit</a:t>
            </a:r>
            <a:endParaRPr lang="en-US" sz="125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B6 · THE ADOPTION RAMP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Why we didn't assume 35% adoption on day one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Modeled on Rogers' Diffusion of Innovation, recalibrated to real SaaS feature-adoption benchmarks (Product Metrics Benchmark Report 2024, 181 companies) rather than Bass's classical durable-goods parameters, which assume 10-15+ year adoption cycles, too slow for a digital tool.</a:t>
            </a:r>
            <a:endParaRPr lang="en-US" sz="1450"/>
          </a:p>
        </p:txBody>
      </p:sp>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sp>
        <p:nvSpPr>
          <p:cNvPr id="8" name="TextBox 7"/>
          <p:cNvSpPr txBox="1"/>
          <p:nvPr/>
        </p:nvSpPr>
        <p:spPr>
          <a:xfrm>
            <a:off x="502920" y="5650000"/>
            <a:ext cx="10883112" cy="457200"/>
          </a:xfrm>
          <a:prstGeom prst="rect">
            <a:avLst/>
          </a:prstGeom>
          <a:noFill/>
        </p:spPr>
        <p:txBody>
          <a:bodyPr wrap="none">
            <a:spAutoFit/>
          </a:bodyPr>
          <a:lstStyle/>
          <a:p>
            <a:r>
              <a:rPr sz="1400">
                <a:solidFill>
                  <a:srgbClr val="717171"/>
                </a:solidFill>
              </a:rPr>
              <a:t>Same ramp drives Slide 2, Slide 10, Slide 11, and Backup B2: one adoption curve, not a per-slide guess.</a:t>
            </a:r>
          </a:p>
        </p:txBody>
      </p:sp>
      <p:graphicFrame>
        <p:nvGraphicFramePr>
          <p:cNvPr id="9" name="Chart 8"/>
          <p:cNvGraphicFramePr>
            <a:graphicFrameLocks noGrp="1"/>
          </p:cNvGraphicFramePr>
          <p:nvPr/>
        </p:nvGraphicFramePr>
        <p:xfrm>
          <a:off x="502920" y="2249424"/>
          <a:ext cx="10881360" cy="3300984"/>
        </p:xfrm>
        <a:graphic>
          <a:graphicData uri="http://schemas.openxmlformats.org/drawingml/2006/chart">
            <c:chart xmlns:c="http://schemas.openxmlformats.org/drawingml/2006/chart" r:id="rId2"/>
          </a:graphicData>
        </a:graphic>
      </p:graphicFrame>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21</a:t>
            </a:r>
            <a:endParaRPr lang="en-US" sz="9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20</Slides>
  <Notes>20</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revision>1</cp:revision>
  <dcterms:created xsi:type="dcterms:W3CDTF">2026-07-29T22:50:08Z</dcterms:created>
  <dcterms:modified xsi:type="dcterms:W3CDTF">2026-08-01T15:54:49Z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