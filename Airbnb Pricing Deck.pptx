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omments/modernComment_109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71" r:id="rId13"/>
    <p:sldId id="268" r:id="rId14"/>
    <p:sldId id="269" r:id="rId15"/>
    <p:sldId id="270" r:id="rId16"/>
    <p:sldId id="272" r:id="rId17"/>
    <p:sldId id="273" r:id="rId18"/>
    <p:sldId id="274" r:id="rId19"/>
    <p:sldId id="275" r:id="rId20"/>
    <p:sldId id="276" r:id="rId21"/>
    <p:sldId id="277" r:id="rId22"/>
  </p:sldIdLst>
  <p:sldSz cx="12192000" cy="6858000"/>
  <p:notesSz cx="6858000" cy="12192000"/>
  <p:embeddedFontLst>
    <p:embeddedFont>
      <p:font typeface="Poppins" panose="00000500000000000000" pitchFamily="2" charset="0"/>
      <p:regular r:id="rId24"/>
      <p:bold r:id="rId25"/>
      <p:italic r:id="rId26"/>
      <p:boldItalic r:id="rId2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95582667-6102-27E7-ED8E-01A166EB4B6B}" name="Guest User" initials="GU" userId="Guest User"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A38BE6-CE12-937F-62CE-5CBB360A8BA3}" v="10" dt="2026-08-04T19:05:36.351"/>
    <p1510:client id="{22FC9CA0-E74A-0259-7016-695696D0D4F7}" v="21" dt="2026-08-03T20:19:59.573"/>
    <p1510:client id="{5A843C93-F080-BAD4-CDA5-730529A945E0}" v="5" dt="2026-08-04T19:04:29.312"/>
    <p1510:client id="{65C5C6B6-2507-EFA5-C7F1-A4E286400DDE}" v="10" dt="2026-08-03T18:49:55.356"/>
    <p1510:client id="{86CDB268-E137-6131-0ECF-87CB4E0FCCC9}" v="7" dt="2026-08-03T19:22:53.096"/>
    <p1510:client id="{97B6D80A-E0E4-4D2A-0F3D-D0BFC22214D5}" v="5" dt="2026-08-04T18:33:46.672"/>
    <p1510:client id="{EE451F02-41E5-FBCD-2321-2C073CBF2214}" v="58" dt="2026-08-03T20:33:03.883"/>
    <p1510:client id="{FC31BC57-6B09-5C60-28EB-43B74E3B2984}" v="67" dt="2026-08-03T18:56:15.6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5/10/relationships/revisionInfo" Target="revisionInfo.xml"/><Relationship Id="rId33"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adoption</c:v>
                </c:pt>
              </c:strCache>
            </c:strRef>
          </c:tx>
          <c:spPr>
            <a:ln w="31750">
              <a:solidFill>
                <a:srgbClr val="FF385C"/>
              </a:solidFill>
            </a:ln>
          </c:spPr>
          <c:marker>
            <c:spPr>
              <a:solidFill>
                <a:srgbClr val="FF385C"/>
              </a:solidFill>
              <a:ln>
                <a:solidFill>
                  <a:srgbClr val="FF385C"/>
                </a:solidFill>
              </a:ln>
            </c:spPr>
          </c:marker>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10</c:v>
                </c:pt>
                <c:pt idx="1">
                  <c:v>24</c:v>
                </c:pt>
                <c:pt idx="2">
                  <c:v>38</c:v>
                </c:pt>
                <c:pt idx="3">
                  <c:v>42</c:v>
                </c:pt>
                <c:pt idx="4">
                  <c:v>42</c:v>
                </c:pt>
              </c:numCache>
            </c:numRef>
          </c:val>
          <c:smooth val="0"/>
          <c:extLst>
            <c:ext xmlns:c16="http://schemas.microsoft.com/office/drawing/2014/chart" uri="{C3380CC4-5D6E-409C-BE32-E72D297353CC}">
              <c16:uniqueId val="{00000000-9657-4599-841A-22D3118839C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E6E6E6"/>
            </a:solidFill>
          </a:ln>
        </c:spPr>
        <c:txPr>
          <a:bodyPr/>
          <a:lstStyle/>
          <a:p>
            <a:pPr>
              <a:defRPr sz="1100">
                <a:solidFill>
                  <a:srgbClr val="717171"/>
                </a:solidFill>
              </a:defRPr>
            </a:pPr>
            <a:endParaRPr lang="en-US"/>
          </a:p>
        </c:txPr>
        <c:crossAx val="2140495176"/>
        <c:crosses val="autoZero"/>
        <c:auto val="1"/>
        <c:lblAlgn val="ctr"/>
        <c:lblOffset val="100"/>
        <c:noMultiLvlLbl val="0"/>
      </c:catAx>
      <c:valAx>
        <c:axId val="2140495176"/>
        <c:scaling>
          <c:orientation val="minMax"/>
          <c:max val="50"/>
          <c:min val="0"/>
        </c:scaling>
        <c:delete val="0"/>
        <c:axPos val="l"/>
        <c:majorGridlines>
          <c:spPr>
            <a:ln w="9525">
              <a:solidFill>
                <a:srgbClr val="E6E6E6"/>
              </a:solidFill>
            </a:ln>
          </c:spPr>
        </c:majorGridlines>
        <c:numFmt formatCode="0&quot;%&quot;" sourceLinked="0"/>
        <c:majorTickMark val="out"/>
        <c:minorTickMark val="none"/>
        <c:tickLblPos val="nextTo"/>
        <c:spPr>
          <a:ln>
            <a:noFill/>
          </a:ln>
        </c:spPr>
        <c:txPr>
          <a:bodyPr/>
          <a:lstStyle/>
          <a:p>
            <a:pPr>
              <a:defRPr sz="1100">
                <a:solidFill>
                  <a:srgbClr val="717171"/>
                </a:solidFill>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omments/modernComment_109_0.xml><?xml version="1.0" encoding="utf-8"?>
<p188:cmLst xmlns:a="http://schemas.openxmlformats.org/drawingml/2006/main" xmlns:r="http://schemas.openxmlformats.org/officeDocument/2006/relationships" xmlns:p188="http://schemas.microsoft.com/office/powerpoint/2018/8/main">
  <p188:cm id="{1ADC5070-4608-4295-A114-87636FF0F4DD}" authorId="{95582667-6102-27E7-ED8E-01A166EB4B6B}" created="2026-08-03T19:17:26.709">
    <ac:txMkLst xmlns:ac="http://schemas.microsoft.com/office/drawing/2013/main/command">
      <pc:docMk xmlns:pc="http://schemas.microsoft.com/office/powerpoint/2013/main/command"/>
      <pc:sldMk xmlns:pc="http://schemas.microsoft.com/office/powerpoint/2013/main/command" cId="0" sldId="265"/>
      <ac:spMk id="22" creationId="{00000000-0000-0000-0000-000000000000}"/>
      <ac:txMk cp="105">
        <ac:context len="106" hash="2051895429"/>
      </ac:txMk>
    </ac:txMkLst>
    <p188:pos x="2597020" y="225489"/>
    <p188:txBody>
      <a:bodyPr/>
      <a:lstStyle/>
      <a:p>
        <a:r>
          <a:rPr lang="en-US"/>
          <a:t>change for overpriced vs. underpriced. </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Brendan (~45s).
"Good afternoon everyone, and thank you for being here. We're Team 6, and today we'll present our capstone project, Airbnb Pricing Intelligence. Over the past few months we've looked at one question that sounds simple but is genuinely hard: how do you know if an Airbnb listing is priced correctly? The deeper we dug, the clearer it got that this isn't only a machine-learning problem ,  it's a business problem and a trust problem. Today we'll walk you through what we found, how we approached it, the product we built, and the impact it could have for Airbnb and its hosts."
TRANSITION: "So let's start with the problem we set out to solve." [Brendan continues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Brendan (~1.5 min).
"Most Airbnb hosts want to maximize revenue, but pricing isn't easy. Some price on experience, some copy nearby listings, some use Airbnb's Smart Pricing. The catch: Smart Pricing gives a recommendation but doesn't really explain why ,  you're expected to trust a number without knowing which comparable listings were used, what features drove it, or whether you have room to charge more. So we asked: could we build a pricing tool that not only predicts a fair price, but helps hosts understand and trust it? Our answer combines machine learning with comparable listings, pricing insights, and an interactive dashboard. The goal isn't to replace Smart Pricing ,  it's to make it transparent and easy to act on."
TRANSITION: "Before we show how we built it, let's look at why this problem exists. I'll hand to Jai." [Hand to Jai]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Thank you Jai</a:t>
            </a:r>
            <a:r>
              <a:rPr lang="en-US" dirty="0"/>
              <a:t>-- </a:t>
            </a:r>
          </a:p>
          <a:p>
            <a:endParaRPr lang="en-US"/>
          </a:p>
          <a:p>
            <a:r>
              <a:rPr lang="en-US" dirty="0" err="1"/>
              <a:t>So</a:t>
            </a:r>
            <a:r>
              <a:rPr lang="en-US" dirty="0"/>
              <a:t> when looking at the data, The second thing the data told us is that this is not one market problem, it is two markets, and the dataset splits almost evenly between them. Between 4,008 listings, which is 41% of the market, are short-term stays, renting at a median price of 284 dollars/night. The other 5,744, or 59% of the market, are monthly rentals of 28 nights or longer, at a median price of 131 dollars. </a:t>
            </a:r>
          </a:p>
          <a:p>
            <a:endParaRPr lang="en-US"/>
          </a:p>
          <a:p>
            <a:r>
              <a:rPr lang="en-US" dirty="0"/>
              <a:t>That is more than double the nightly rate, and the reason is that the two halves are not competing with the same thing. Short-term stay competes with hotels while monthly stays compete with apartment sublets. This shows us that only one of them responds measurably to price. We measured a price elasticity of negative 0.92 on short-term stay listings with the pilot </a:t>
            </a:r>
            <a:r>
              <a:rPr lang="en-US" dirty="0" err="1"/>
              <a:t>sample, and</a:t>
            </a:r>
            <a:r>
              <a:rPr lang="en-US" dirty="0"/>
              <a:t> detected no price response at all in the monthly segment. </a:t>
            </a:r>
          </a:p>
          <a:p>
            <a:endParaRPr lang="en-US"/>
          </a:p>
          <a:p>
            <a:r>
              <a:rPr lang="en-US"/>
              <a:t>Pooling them would have blurred both signals and distorted every coefficient, so instead we run one engine calibrated separately for each market with its own comparables and its own elasticity. Every number you see for the rest of this presentation is market-aware, because the market is.”</a:t>
            </a:r>
          </a:p>
          <a:p>
            <a:r>
              <a:rPr lang="en-US" b="1"/>
              <a:t>Transition:</a:t>
            </a:r>
            <a:r>
              <a:rPr lang="en-US" dirty="0"/>
              <a:t> </a:t>
            </a:r>
            <a:r>
              <a:rPr lang="en-US" i="1"/>
              <a:t>“That split shapes everything downstream. Next, what else moves demand besides price.”</a:t>
            </a:r>
            <a:endParaRPr lang="en-US"/>
          </a:p>
          <a:p>
            <a:endParaRPr lang="en-US"/>
          </a:p>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a:t>
            </a:r>
            <a:r>
              <a:rPr lang="en-US" dirty="0" err="1"/>
              <a:t>self check-in</a:t>
            </a:r>
            <a:r>
              <a:rPr lang="en-US" dirty="0"/>
              <a:t>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a:t>
            </a:r>
            <a:br>
              <a:rPr lang="en-US">
                <a:cs typeface="+mn-lt"/>
              </a:rPr>
            </a:br>
            <a:r>
              <a:rPr lang="en-US" dirty="0"/>
              <a:t>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“Here is the relationship that justifies the whole model, let's look at two listings at 200 dollars. These two listings are not the same listing. </a:t>
            </a:r>
          </a:p>
          <a:p>
            <a:endParaRPr lang="en-US"/>
          </a:p>
          <a:p>
            <a:r>
              <a:rPr lang="en-US"/>
              <a:t>Occupancy rises with review count. Listings with zero to ten reviews average about 34% occupancy; 11 to 50 reviews, about 37%; 51 or more reviews, about 42%. </a:t>
            </a:r>
          </a:p>
          <a:p>
            <a:endParaRPr lang="en-US"/>
          </a:p>
          <a:p>
            <a:r>
              <a:rPr lang="en-US"/>
              <a:t>It is worth being precise here, because we checked both – where host tenure shows no such pattern, it is flat at 37 to 39%. </a:t>
            </a:r>
            <a:r>
              <a:rPr lang="en-US" err="1"/>
              <a:t>Thus</a:t>
            </a:r>
            <a:r>
              <a:rPr lang="en-US"/>
              <a:t> It is the reviews driving this occupancy, not the tenure. It is  reputation </a:t>
            </a:r>
            <a:r>
              <a:rPr lang="en-US" err="1"/>
              <a:t>th</a:t>
            </a:r>
            <a:r>
              <a:rPr lang="en-US"/>
              <a:t>at moves occupancy on its own, independently of price. </a:t>
            </a:r>
          </a:p>
          <a:p>
            <a:endParaRPr lang="en-US"/>
          </a:p>
          <a:p>
            <a:r>
              <a:rPr lang="en-US"/>
              <a:t>And that means the question ‘is this listing expensive?’ has no answer until you compare it against listings that match on reputation, location, size, and amenities. And this is what we explored in our model where a fair price is suggested against genuinely similar listings, not against the market average.”</a:t>
            </a:r>
          </a:p>
          <a:p>
            <a:endParaRPr lang="en-US"/>
          </a:p>
          <a:p>
            <a:r>
              <a:rPr lang="en-US" b="1"/>
              <a:t>Handoff to Manas:</a:t>
            </a:r>
            <a:r>
              <a:rPr lang="en-US"/>
              <a:t> </a:t>
            </a:r>
            <a:r>
              <a:rPr lang="en-US" i="1"/>
              <a:t>“Now I will hand it to Manas to discuss how we moved from exploration to building the product itself. ”</a:t>
            </a:r>
            <a:endParaRPr lang="en-US"/>
          </a:p>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(~1.5 min).
Our goal was not to build another pricing calculator. Airbnb already has one. Our goal was to help hosts understand the recommendation they are given. The way we thought about it: if someone tells you to change your price, your first question is usually, why? Our product answers that. Instead of a single number, it gives hosts a recommended fair value, shows the comparable listings that support it, highlights differences in amenities, and lets the host explore how changing their price could affect potential revenue. One idea that really shaped our thinking came from our industry coach, Stan. He talked about Commander’s Intent, the idea that people make better decisions when they understand the reasoning behind them, not when they are simply told what to do. That applied perfectly here. Hosts are far more likely to trust and act on a recommendation when they understand where it came from.”</a:t>
            </a:r>
          </a:p>
          <a:p>
            <a:r>
              <a:rPr lang="en-US"/>
              <a:t>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(~2 min).
"To estimate fair market </a:t>
            </a:r>
            <a:r>
              <a:rPr lang="en-US" err="1"/>
              <a:t>value</a:t>
            </a:r>
            <a:r>
              <a:rPr lang="en-US"/>
              <a:t>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more thing to note, half of listings read underpriced against fair value and about half overpriced, and our number counts both, but they pay off differently. Raising an underpriced listing adds margin. Cutting an overpriced one adds volume – it fills nights that were sitting empty. Jai will show the elasticity work behind both.”</a:t>
            </a:r>
          </a:p>
          <a:p>
            <a:br>
              <a:rPr lang="en-US"/>
            </a:br>
            <a:r>
              <a:rPr lang="en-US"/>
              <a: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then team fields Q&amp;A.
“Our recommendation is not to replace Smart Pricing. It is to build on it, in three steps. One: enhance, don’t replace – layer the explanations and the comparables onto the Smart Pricing hosts already know. Two: pilot in one market, measuring adoption and how pricing changes move both occupancy and revenue. Three: learn, then scale – use those real-world results to improve the model before expanding to more cities. </a:t>
            </a:r>
          </a:p>
          <a:p>
            <a:br>
              <a:rPr lang="en-US"/>
            </a:br>
            <a:br>
              <a:rPr lang="en-US"/>
            </a:br>
            <a:endParaRPr lang="en-US"/>
          </a:p>
          <a:p>
            <a:r>
              <a:rPr lang="en-US"/>
              <a:t>“As a chess player, I’ve learned the value of the </a:t>
            </a:r>
            <a:r>
              <a:rPr lang="en-US" i="1"/>
              <a:t>why</a:t>
            </a:r>
            <a:r>
              <a:rPr lang="en-US"/>
              <a:t> behind every move. As Cornellians, our group learned to find the </a:t>
            </a:r>
            <a:r>
              <a:rPr lang="en-US" i="1"/>
              <a:t>why</a:t>
            </a:r>
            <a:r>
              <a:rPr lang="en-US"/>
              <a:t> behind every problem. And for Airbnb hosts, we built a way to finally see the </a:t>
            </a:r>
            <a:r>
              <a:rPr lang="en-US" i="1"/>
              <a:t>why</a:t>
            </a:r>
            <a:r>
              <a:rPr lang="en-US"/>
              <a:t> behind every price. Because the right answer can guide you once—but understanding why stays with you for every move that follows.”</a:t>
            </a:r>
          </a:p>
          <a:p>
            <a:br>
              <a:rPr lang="en-US"/>
            </a:br>
            <a:r>
              <a:rPr lang="en-US"/>
              <a:t>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4" Type="http://schemas.openxmlformats.org/officeDocument/2006/relationships/notesSlide" Target="../notesSlides/notesSlide9.xml"/><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microsoft.com/office/2018/10/relationships/comments" Target="../comments/modernComment_109_0.xml"/><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2.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3.png"/><Relationship Id="rId6" Type="http://schemas.openxmlformats.org/officeDocument/2006/relationships/image" Target="../media/image15.png"/><Relationship Id="rId7" Type="http://schemas.openxmlformats.org/officeDocument/2006/relationships/image" Target="../media/image34.png"/><Relationship Id="rId8" Type="http://schemas.openxmlformats.org/officeDocument/2006/relationships/image" Target="../media/image12.png"/><Relationship Id="rId9" Type="http://schemas.openxmlformats.org/officeDocument/2006/relationships/image" Target="../media/image28.png"/><Relationship Id="rId10"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a:solidFill>
                  <a:srgbClr val="FFFFFF"/>
                </a:solidFill>
                <a:latin typeface="Poppins" pitchFamily="34" charset="0"/>
                <a:ea typeface="Poppins" pitchFamily="34" charset="-122"/>
                <a:cs typeface="Poppins" pitchFamily="34" charset="-120"/>
              </a:rPr>
              <a:t>BANA 5160 CAPSTONE  ·  CORNELL UNIVERSITY  ·  TEAM 6</a:t>
            </a:r>
            <a:endParaRPr lang="en-US" sz="120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a:solidFill>
                  <a:srgbClr val="FFFFFF"/>
                </a:solidFill>
                <a:latin typeface="Poppins" pitchFamily="34" charset="0"/>
                <a:ea typeface="Poppins" pitchFamily="34" charset="-122"/>
                <a:cs typeface="Poppins" pitchFamily="34" charset="-120"/>
              </a:rPr>
              <a:t>Airbnb Pricing</a:t>
            </a:r>
            <a:endParaRPr lang="en-US" sz="5600"/>
          </a:p>
          <a:p>
            <a:pPr marL="0" indent="0">
              <a:lnSpc>
                <a:spcPct val="98000"/>
              </a:lnSpc>
              <a:buNone/>
            </a:pPr>
            <a:r>
              <a:rPr lang="en-US" sz="5600" b="1">
                <a:solidFill>
                  <a:srgbClr val="FFFFFF"/>
                </a:solidFill>
                <a:latin typeface="Poppins" pitchFamily="34" charset="0"/>
                <a:ea typeface="Poppins" pitchFamily="34" charset="-122"/>
                <a:cs typeface="Poppins" pitchFamily="34" charset="-120"/>
              </a:rPr>
              <a:t>Intelligence</a:t>
            </a:r>
            <a:endParaRPr lang="en-US" sz="5600"/>
          </a:p>
        </p:txBody>
      </p:sp>
      <p:sp>
        <p:nvSpPr>
          <p:cNvPr id="9" name="Text 4"/>
          <p:cNvSpPr/>
          <p:nvPr/>
        </p:nvSpPr>
        <p:spPr>
          <a:xfrm>
            <a:off x="777240" y="3767328"/>
            <a:ext cx="8046720" cy="457200"/>
          </a:xfrm>
          <a:prstGeom prst="rect">
            <a:avLst/>
          </a:prstGeom>
          <a:noFill/>
          <a:ln/>
        </p:spPr>
        <p:txBody>
          <a:bodyPr wrap="square" lIns="0" tIns="0" rIns="0" bIns="0" rtlCol="0" anchor="ctr"/>
          <a:lstStyle/>
          <a:p>
            <a:pPr marL="0" indent="0">
              <a:buNone/>
            </a:pPr>
            <a:r>
              <a:rPr lang="en-US" sz="1800">
                <a:solidFill>
                  <a:srgbClr val="FFFFFF">
                    <a:alpha val="94000"/>
                  </a:srgbClr>
                </a:solidFill>
                <a:latin typeface="Poppins" pitchFamily="34" charset="0"/>
                <a:ea typeface="Poppins" pitchFamily="34" charset="-122"/>
                <a:cs typeface="Poppins" pitchFamily="34" charset="-120"/>
              </a:rPr>
              <a:t>A fair-price tool hosts can actually understand and trust.</a:t>
            </a:r>
            <a:endParaRPr lang="en-US" sz="180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a:solidFill>
                  <a:srgbClr val="FFFFFF"/>
                </a:solidFill>
                <a:latin typeface="Poppins" pitchFamily="34" charset="0"/>
                <a:ea typeface="Poppins" pitchFamily="34" charset="-122"/>
                <a:cs typeface="Poppins" pitchFamily="34" charset="-120"/>
              </a:rPr>
              <a:t>Brendan Meara </a:t>
            </a:r>
            <a:r>
              <a:rPr lang="en-US" sz="1250">
                <a:solidFill>
                  <a:srgbClr val="FFFFFF">
                    <a:alpha val="78000"/>
                  </a:srgbClr>
                </a:solidFill>
                <a:latin typeface="Poppins" pitchFamily="34" charset="0"/>
                <a:ea typeface="Poppins" pitchFamily="34" charset="-122"/>
                <a:cs typeface="Poppins" pitchFamily="34" charset="-120"/>
              </a:rPr>
              <a:t>(PM)     </a:t>
            </a:r>
            <a:r>
              <a:rPr lang="en-US" sz="1250" b="1">
                <a:solidFill>
                  <a:srgbClr val="FFFFFF"/>
                </a:solidFill>
                <a:latin typeface="Poppins" pitchFamily="34" charset="0"/>
                <a:ea typeface="Poppins" pitchFamily="34" charset="-122"/>
                <a:cs typeface="Poppins" pitchFamily="34" charset="-120"/>
              </a:rPr>
              <a:t>Jai Manikandan </a:t>
            </a:r>
            <a:r>
              <a:rPr lang="en-US" sz="1250">
                <a:solidFill>
                  <a:srgbClr val="FFFFFF">
                    <a:alpha val="78000"/>
                  </a:srgbClr>
                </a:solidFill>
                <a:latin typeface="Poppins" pitchFamily="34" charset="0"/>
                <a:ea typeface="Poppins" pitchFamily="34" charset="-122"/>
                <a:cs typeface="Poppins" pitchFamily="34" charset="-120"/>
              </a:rPr>
              <a:t>(Data)     </a:t>
            </a:r>
            <a:r>
              <a:rPr lang="en-US" sz="1250" b="1">
                <a:solidFill>
                  <a:srgbClr val="FFFFFF"/>
                </a:solidFill>
                <a:latin typeface="Poppins" pitchFamily="34" charset="0"/>
                <a:ea typeface="Poppins" pitchFamily="34" charset="-122"/>
                <a:cs typeface="Poppins" pitchFamily="34" charset="-120"/>
              </a:rPr>
              <a:t>Manas Manu </a:t>
            </a:r>
            <a:r>
              <a:rPr lang="en-US" sz="1250">
                <a:solidFill>
                  <a:srgbClr val="FFFFFF">
                    <a:alpha val="78000"/>
                  </a:srgbClr>
                </a:solidFill>
                <a:latin typeface="Poppins" pitchFamily="34" charset="0"/>
                <a:ea typeface="Poppins" pitchFamily="34" charset="-122"/>
                <a:cs typeface="Poppins" pitchFamily="34" charset="-120"/>
              </a:rPr>
              <a:t>(Modeling)     </a:t>
            </a:r>
            <a:r>
              <a:rPr lang="en-US" sz="1250" b="1">
                <a:solidFill>
                  <a:srgbClr val="FFFFFF"/>
                </a:solidFill>
                <a:latin typeface="Poppins" pitchFamily="34" charset="0"/>
                <a:ea typeface="Poppins" pitchFamily="34" charset="-122"/>
                <a:cs typeface="Poppins" pitchFamily="34" charset="-120"/>
              </a:rPr>
              <a:t>Rachael Chin </a:t>
            </a:r>
            <a:r>
              <a:rPr lang="en-US" sz="1250">
                <a:solidFill>
                  <a:srgbClr val="FFFFFF">
                    <a:alpha val="78000"/>
                  </a:srgbClr>
                </a:solidFill>
                <a:latin typeface="Poppins" pitchFamily="34" charset="0"/>
                <a:ea typeface="Poppins" pitchFamily="34" charset="-122"/>
                <a:cs typeface="Poppins" pitchFamily="34" charset="-120"/>
              </a:rPr>
              <a:t>(Visualization)</a:t>
            </a:r>
            <a:endParaRPr lang="en-US" sz="1250"/>
          </a:p>
        </p:txBody>
      </p:sp>
      <p:sp>
        <p:nvSpPr>
          <p:cNvPr id="11" name="Text 6"/>
          <p:cNvSpPr/>
          <p:nvPr/>
        </p:nvSpPr>
        <p:spPr>
          <a:xfrm>
            <a:off x="777240" y="5138928"/>
            <a:ext cx="10607040" cy="320040"/>
          </a:xfrm>
          <a:prstGeom prst="rect">
            <a:avLst/>
          </a:prstGeom>
          <a:noFill/>
          <a:ln/>
        </p:spPr>
        <p:txBody>
          <a:bodyPr wrap="square" lIns="0" tIns="0" rIns="0" bIns="0" rtlCol="0" anchor="ctr"/>
          <a:lstStyle/>
          <a:p>
            <a:r>
              <a:rPr lang="en-US" sz="1250" b="1">
                <a:solidFill>
                  <a:srgbClr val="FFFFFF"/>
                </a:solidFill>
                <a:latin typeface="Poppins"/>
                <a:ea typeface="Poppins" pitchFamily="34" charset="-122"/>
                <a:cs typeface="Poppins"/>
              </a:rPr>
              <a:t>Francois </a:t>
            </a:r>
            <a:r>
              <a:rPr lang="en-US" sz="1250" b="1" err="1">
                <a:solidFill>
                  <a:srgbClr val="FFFFFF"/>
                </a:solidFill>
                <a:latin typeface="Poppins"/>
                <a:ea typeface="Poppins" pitchFamily="34" charset="-122"/>
                <a:cs typeface="Poppins"/>
              </a:rPr>
              <a:t>Miaule</a:t>
            </a:r>
            <a:r>
              <a:rPr lang="en-US" sz="1250" b="1">
                <a:solidFill>
                  <a:srgbClr val="FFFFFF"/>
                </a:solidFill>
                <a:latin typeface="Poppins"/>
                <a:ea typeface="Poppins" pitchFamily="34" charset="-122"/>
                <a:cs typeface="Poppins"/>
              </a:rPr>
              <a:t> </a:t>
            </a:r>
            <a:r>
              <a:rPr lang="en-US" sz="1250">
                <a:solidFill>
                  <a:srgbClr val="FFFFFF">
                    <a:alpha val="78000"/>
                  </a:srgbClr>
                </a:solidFill>
                <a:latin typeface="Poppins"/>
                <a:ea typeface="Poppins" pitchFamily="34" charset="-122"/>
                <a:cs typeface="Poppins"/>
              </a:rPr>
              <a:t>(Insights &amp; Presentation)      Industry Coach: </a:t>
            </a:r>
            <a:r>
              <a:rPr lang="en-US" sz="1250" b="1">
                <a:solidFill>
                  <a:srgbClr val="FFFFFF"/>
                </a:solidFill>
                <a:latin typeface="Poppins"/>
                <a:ea typeface="Poppins" pitchFamily="34" charset="-122"/>
                <a:cs typeface="Poppins"/>
              </a:rPr>
              <a:t>Stan Benarick</a:t>
            </a:r>
            <a:endParaRPr lang="en-US" sz="1250"/>
          </a:p>
        </p:txBody>
      </p:sp>
      <p:sp>
        <p:nvSpPr>
          <p:cNvPr id="12" name="Text 7"/>
          <p:cNvSpPr/>
          <p:nvPr/>
        </p:nvSpPr>
        <p:spPr>
          <a:xfrm>
            <a:off x="777240" y="5650992"/>
            <a:ext cx="10607040" cy="274320"/>
          </a:xfrm>
          <a:prstGeom prst="rect">
            <a:avLst/>
          </a:prstGeom>
          <a:noFill/>
          <a:ln/>
        </p:spPr>
        <p:txBody>
          <a:bodyPr wrap="square" lIns="0" tIns="0" rIns="0" bIns="0" rtlCol="0" anchor="ctr"/>
          <a:lstStyle/>
          <a:p>
            <a:pPr marL="0" indent="0">
              <a:buNone/>
            </a:pPr>
            <a:r>
              <a:rPr lang="en-US" sz="1150">
                <a:solidFill>
                  <a:srgbClr val="FFFFFF">
                    <a:alpha val="88000"/>
                  </a:srgbClr>
                </a:solidFill>
                <a:latin typeface="Poppins" pitchFamily="34" charset="0"/>
                <a:ea typeface="Poppins" pitchFamily="34" charset="-122"/>
                <a:cs typeface="Poppins" pitchFamily="34" charset="-120"/>
              </a:rPr>
              <a:t>Dataset: Inside Airbnb NYC  ·  9,752 active listings  ·  snapshot Jun 14, 2026</a:t>
            </a:r>
            <a:endParaRPr lang="en-US" sz="115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01 · EXECUTIVE SUMMARY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cs typeface="Poppins"/>
              </a:rPr>
              <a:t>$1.17M a year, for a $65K build</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Half of NYC’s listings are priced wrong. We show hosts by how much and why, and Airbnb earns on every correction.</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Brendan</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a:t>
            </a:r>
            <a:endParaRPr lang="en-US" sz="900"/>
          </a:p>
        </p:txBody>
      </p:sp>
      <p:sp>
        <p:nvSpPr>
          <p:cNvPr id="12" name="Shape 8"/>
          <p:cNvSpPr/>
          <p:nvPr/>
        </p:nvSpPr>
        <p:spPr>
          <a:xfrm>
            <a:off x="502920" y="2286000"/>
            <a:ext cx="5468112" cy="1600200"/>
          </a:xfrm>
          <a:prstGeom prst="roundRect">
            <a:avLst>
              <a:gd name="adj" fmla="val 8000"/>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632399" y="2373783"/>
            <a:ext cx="603504" cy="603504"/>
          </a:xfrm>
          <a:prstGeom prst="ellipse">
            <a:avLst/>
          </a:prstGeom>
          <a:solidFill>
            <a:srgbClr val="FFEEF2"/>
          </a:solidFill>
          <a:ln/>
        </p:spPr>
        <p:txBody>
          <a:bodyPr/>
          <a:lstStyle/>
          <a:p>
            <a:endParaRPr lang="en-US"/>
          </a:p>
        </p:txBody>
      </p:sp>
      <p:pic>
        <p:nvPicPr>
          <p:cNvPr id="14" name="Image 2" descr="/sessions/dreamy-trusting-noether/mnt/outputs/build/assets/zap_coral.png"/>
          <p:cNvPicPr>
            <a:picLocks noChangeAspect="1"/>
          </p:cNvPicPr>
          <p:nvPr/>
        </p:nvPicPr>
        <p:blipFill>
          <a:blip r:embed="rId5"/>
          <a:stretch>
            <a:fillRect/>
          </a:stretch>
        </p:blipFill>
        <p:spPr>
          <a:xfrm>
            <a:off x="777875" y="2507102"/>
            <a:ext cx="313822" cy="313822"/>
          </a:xfrm>
          <a:prstGeom prst="rect">
            <a:avLst/>
          </a:prstGeom>
        </p:spPr>
      </p:pic>
      <p:sp>
        <p:nvSpPr>
          <p:cNvPr id="15" name="Text 10"/>
          <p:cNvSpPr/>
          <p:nvPr/>
        </p:nvSpPr>
        <p:spPr>
          <a:xfrm>
            <a:off x="1517904" y="2560320"/>
            <a:ext cx="363931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The problem</a:t>
            </a:r>
            <a:endParaRPr lang="en-US" sz="1500"/>
          </a:p>
        </p:txBody>
      </p:sp>
      <p:sp>
        <p:nvSpPr>
          <p:cNvPr id="16" name="Text 11"/>
          <p:cNvSpPr/>
          <p:nvPr/>
        </p:nvSpPr>
        <p:spPr>
          <a:xfrm>
            <a:off x="777240" y="3108960"/>
            <a:ext cx="4965192" cy="685800"/>
          </a:xfrm>
          <a:prstGeom prst="rect">
            <a:avLst/>
          </a:prstGeom>
          <a:noFill/>
          <a:ln/>
        </p:spPr>
        <p:txBody>
          <a:bodyPr wrap="square" lIns="0" tIns="0" rIns="0" bIns="0" rtlCol="0" anchor="t"/>
          <a:lstStyle/>
          <a:p>
            <a:pPr>
              <a:lnSpc>
                <a:spcPct val="105000"/>
              </a:lnSpc>
            </a:pPr>
            <a:r>
              <a:rPr lang="en-US" sz="1200">
                <a:solidFill>
                  <a:srgbClr val="4A4A4A"/>
                </a:solidFill>
                <a:latin typeface="Poppins"/>
                <a:ea typeface="Poppins" pitchFamily="34" charset="-122"/>
                <a:cs typeface="Poppins"/>
              </a:rPr>
              <a:t>Smart Pricing hands hosts a number with no reasoning: no comparables, no drivers, nothing to explore. So hosts ignore it, or follow it blindly.</a:t>
            </a:r>
            <a:endParaRPr lang="en-US" sz="1200">
              <a:latin typeface="Poppins"/>
              <a:cs typeface="Poppins"/>
            </a:endParaRPr>
          </a:p>
        </p:txBody>
      </p:sp>
      <p:sp>
        <p:nvSpPr>
          <p:cNvPr id="17" name="Shape 12"/>
          <p:cNvSpPr/>
          <p:nvPr/>
        </p:nvSpPr>
        <p:spPr>
          <a:xfrm>
            <a:off x="6217920" y="2286000"/>
            <a:ext cx="5468112" cy="1600200"/>
          </a:xfrm>
          <a:prstGeom prst="roundRect">
            <a:avLst>
              <a:gd name="adj" fmla="val 80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335329" y="2373783"/>
            <a:ext cx="603504" cy="603504"/>
          </a:xfrm>
          <a:prstGeom prst="ellipse">
            <a:avLst/>
          </a:prstGeom>
          <a:solidFill>
            <a:srgbClr val="FFFFFF"/>
          </a:solidFill>
          <a:ln/>
        </p:spPr>
        <p:txBody>
          <a:bodyPr/>
          <a:lstStyle/>
          <a:p>
            <a:endParaRPr lang="en-US"/>
          </a:p>
        </p:txBody>
      </p:sp>
      <p:pic>
        <p:nvPicPr>
          <p:cNvPr id="19" name="Image 3" descr="/sessions/dreamy-trusting-noether/mnt/outputs/build/assets/bulb_coral.png"/>
          <p:cNvPicPr>
            <a:picLocks noChangeAspect="1"/>
          </p:cNvPicPr>
          <p:nvPr/>
        </p:nvPicPr>
        <p:blipFill>
          <a:blip r:embed="rId6"/>
          <a:stretch>
            <a:fillRect/>
          </a:stretch>
        </p:blipFill>
        <p:spPr>
          <a:xfrm>
            <a:off x="6492240" y="2518624"/>
            <a:ext cx="313822" cy="313822"/>
          </a:xfrm>
          <a:prstGeom prst="rect">
            <a:avLst/>
          </a:prstGeom>
        </p:spPr>
      </p:pic>
      <p:sp>
        <p:nvSpPr>
          <p:cNvPr id="20" name="Text 14"/>
          <p:cNvSpPr/>
          <p:nvPr/>
        </p:nvSpPr>
        <p:spPr>
          <a:xfrm>
            <a:off x="7232904" y="2560320"/>
            <a:ext cx="363931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Our answer</a:t>
            </a:r>
            <a:endParaRPr lang="en-US" sz="1500"/>
          </a:p>
        </p:txBody>
      </p:sp>
      <p:sp>
        <p:nvSpPr>
          <p:cNvPr id="21" name="Text 15"/>
          <p:cNvSpPr/>
          <p:nvPr/>
        </p:nvSpPr>
        <p:spPr>
          <a:xfrm>
            <a:off x="6492240" y="3108960"/>
            <a:ext cx="4965192" cy="713232"/>
          </a:xfrm>
          <a:prstGeom prst="rect">
            <a:avLst/>
          </a:prstGeom>
          <a:noFill/>
          <a:ln/>
        </p:spPr>
        <p:txBody>
          <a:bodyPr wrap="square" lIns="0" tIns="0" rIns="0" bIns="0" rtlCol="0" anchor="t"/>
          <a:lstStyle/>
          <a:p>
            <a:pPr marL="0" indent="0">
              <a:lnSpc>
                <a:spcPct val="105000"/>
              </a:lnSpc>
              <a:buNone/>
            </a:pPr>
            <a:r>
              <a:rPr lang="en-US" sz="1200">
                <a:solidFill>
                  <a:srgbClr val="4A4A4A"/>
                </a:solidFill>
                <a:latin typeface="Poppins" pitchFamily="34" charset="0"/>
                <a:ea typeface="Poppins" pitchFamily="34" charset="-122"/>
                <a:cs typeface="Poppins" pitchFamily="34" charset="-120"/>
              </a:rPr>
              <a:t>A fair price a host can actually interrogate: the comparable listings behind it, the amenity gaps against high performers, and a slider to test any price.</a:t>
            </a:r>
            <a:endParaRPr lang="en-US" sz="1200"/>
          </a:p>
        </p:txBody>
      </p:sp>
      <p:sp>
        <p:nvSpPr>
          <p:cNvPr id="22" name="Shape 16"/>
          <p:cNvSpPr/>
          <p:nvPr/>
        </p:nvSpPr>
        <p:spPr>
          <a:xfrm>
            <a:off x="502920"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462272"/>
            <a:ext cx="3054096"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$7.6M</a:t>
            </a:r>
            <a:endParaRPr lang="en-US" sz="1500"/>
          </a:p>
        </p:txBody>
      </p:sp>
      <p:sp>
        <p:nvSpPr>
          <p:cNvPr id="26" name="Text 19"/>
          <p:cNvSpPr/>
          <p:nvPr/>
        </p:nvSpPr>
        <p:spPr>
          <a:xfrm>
            <a:off x="758952" y="5047488"/>
            <a:ext cx="3054096" cy="548640"/>
          </a:xfrm>
          <a:prstGeom prst="rect">
            <a:avLst/>
          </a:prstGeom>
          <a:noFill/>
          <a:ln/>
        </p:spPr>
        <p:txBody>
          <a:bodyPr wrap="square" lIns="0" tIns="0" rIns="0" bIns="0" rtlCol="0" anchor="t"/>
          <a:lstStyle/>
          <a:p>
            <a:pPr marL="0" indent="0">
              <a:lnSpc>
                <a:spcPct val="103000"/>
              </a:lnSpc>
              <a:buNone/>
            </a:pPr>
            <a:r>
              <a:rPr lang="en-US" sz="1100" b="0">
                <a:solidFill>
                  <a:srgbClr val="717171"/>
                </a:solidFill>
                <a:latin typeface="Poppins" pitchFamily="34" charset="0"/>
                <a:ea typeface="Poppins" pitchFamily="34" charset="-122"/>
                <a:cs typeface="Poppins" pitchFamily="34" charset="-120"/>
              </a:rPr>
              <a:t>a year in host GBV if every mispriced listing is corrected. $1.17M in Airbnb fees.</a:t>
            </a:r>
            <a:endParaRPr lang="en-US" sz="1100"/>
          </a:p>
        </p:txBody>
      </p:sp>
      <p:sp>
        <p:nvSpPr>
          <p:cNvPr id="27" name="Shape 20"/>
          <p:cNvSpPr/>
          <p:nvPr/>
        </p:nvSpPr>
        <p:spPr>
          <a:xfrm>
            <a:off x="4315968"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572000" y="4462272"/>
            <a:ext cx="3054096"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Year 1</a:t>
            </a:r>
            <a:endParaRPr lang="en-US" sz="1500"/>
          </a:p>
        </p:txBody>
      </p:sp>
      <p:sp>
        <p:nvSpPr>
          <p:cNvPr id="31" name="Text 23"/>
          <p:cNvSpPr/>
          <p:nvPr/>
        </p:nvSpPr>
        <p:spPr>
          <a:xfrm>
            <a:off x="4572000" y="5047488"/>
            <a:ext cx="3054096" cy="548640"/>
          </a:xfrm>
          <a:prstGeom prst="rect">
            <a:avLst/>
          </a:prstGeom>
          <a:noFill/>
          <a:ln/>
        </p:spPr>
        <p:txBody>
          <a:bodyPr wrap="square" lIns="0" tIns="0" rIns="0" bIns="0" rtlCol="0" anchor="t"/>
          <a:lstStyle/>
          <a:p>
            <a:pPr marL="0" indent="0">
              <a:lnSpc>
                <a:spcPct val="103000"/>
              </a:lnSpc>
              <a:buNone/>
            </a:pPr>
            <a:r>
              <a:rPr lang="en-US" sz="1100" b="0">
                <a:solidFill>
                  <a:srgbClr val="717171"/>
                </a:solidFill>
                <a:latin typeface="Poppins" pitchFamily="34" charset="0"/>
                <a:ea typeface="Poppins" pitchFamily="34" charset="-122"/>
                <a:cs typeface="Poppins" pitchFamily="34" charset="-120"/>
              </a:rPr>
              <a:t>to turn cash-positive, on a modeled adoption ramp</a:t>
            </a:r>
            <a:endParaRPr lang="en-US" sz="1100"/>
          </a:p>
        </p:txBody>
      </p:sp>
      <p:sp>
        <p:nvSpPr>
          <p:cNvPr id="32" name="Shape 24"/>
          <p:cNvSpPr/>
          <p:nvPr/>
        </p:nvSpPr>
        <p:spPr>
          <a:xfrm>
            <a:off x="8119872" y="4160520"/>
            <a:ext cx="3566160"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375904" y="4462272"/>
            <a:ext cx="3054096"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$65K</a:t>
            </a:r>
            <a:endParaRPr lang="en-US" sz="1500"/>
          </a:p>
        </p:txBody>
      </p:sp>
      <p:sp>
        <p:nvSpPr>
          <p:cNvPr id="36" name="Text 27"/>
          <p:cNvSpPr/>
          <p:nvPr/>
        </p:nvSpPr>
        <p:spPr>
          <a:xfrm>
            <a:off x="8375904" y="5047488"/>
            <a:ext cx="3054096" cy="548640"/>
          </a:xfrm>
          <a:prstGeom prst="rect">
            <a:avLst/>
          </a:prstGeom>
          <a:noFill/>
          <a:ln/>
        </p:spPr>
        <p:txBody>
          <a:bodyPr wrap="square" lIns="0" tIns="0" rIns="0" bIns="0" rtlCol="0" anchor="t"/>
          <a:lstStyle/>
          <a:p>
            <a:pPr marL="0" indent="0">
              <a:lnSpc>
                <a:spcPct val="103000"/>
              </a:lnSpc>
              <a:buNone/>
            </a:pPr>
            <a:r>
              <a:rPr lang="en-US" sz="1100" b="0">
                <a:solidFill>
                  <a:srgbClr val="717171"/>
                </a:solidFill>
                <a:latin typeface="Poppins" pitchFamily="34" charset="0"/>
                <a:ea typeface="Poppins" pitchFamily="34" charset="-122"/>
                <a:cs typeface="Poppins" pitchFamily="34" charset="-120"/>
              </a:rPr>
              <a:t>one-time build, then $30K a year to run</a:t>
            </a:r>
            <a:endParaRPr lang="en-US" sz="1100"/>
          </a:p>
        </p:txBody>
      </p:sp>
      <p:sp>
        <p:nvSpPr>
          <p:cNvPr id="23" name="Text 28"/>
          <p:cNvSpPr/>
          <p:nvPr/>
        </p:nvSpPr>
        <p:spPr>
          <a:xfrm>
            <a:off x="502920" y="5779008"/>
            <a:ext cx="11183112" cy="320040"/>
          </a:xfrm>
          <a:prstGeom prst="rect">
            <a:avLst/>
          </a:prstGeom>
          <a:noFill/>
          <a:ln/>
        </p:spPr>
        <p:txBody>
          <a:bodyPr wrap="square" lIns="0" tIns="0" rIns="0" bIns="0" rtlCol="0" anchor="ctr"/>
          <a:lstStyle/>
          <a:p>
            <a:pPr marL="0" indent="0" algn="ctr">
              <a:lnSpc>
                <a:spcPct val="105000"/>
              </a:lnSpc>
              <a:buNone/>
            </a:pPr>
            <a:r>
              <a:rPr lang="en-US" sz="1250" b="1" i="1">
                <a:solidFill>
                  <a:srgbClr val="FF385C"/>
                </a:solidFill>
                <a:latin typeface="Poppins" pitchFamily="34" charset="0"/>
                <a:ea typeface="Poppins" pitchFamily="34" charset="-122"/>
                <a:cs typeface="Poppins" pitchFamily="34" charset="-120"/>
              </a:rPr>
              <a:t>Every underpriced night costs the host and Airbnb both. We build on Smart Pricing, not replace it.</a:t>
            </a:r>
            <a:endParaRPr lang="en-US" sz="14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02 · CONTEXT &amp; PROBLEM</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A huge marketplace with a transparency gap</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Airbnb connects millions of hosts and guests, and pricing moves both sides of the market.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3</a:t>
            </a:r>
            <a:endParaRPr lang="en-US" sz="900"/>
          </a:p>
        </p:txBody>
      </p:sp>
      <p:sp>
        <p:nvSpPr>
          <p:cNvPr id="12" name="Shape 8"/>
          <p:cNvSpPr/>
          <p:nvPr/>
        </p:nvSpPr>
        <p:spPr>
          <a:xfrm>
            <a:off x="502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3" name="Image 2" descr="/sessions/dreamy-trusting-noether/mnt/outputs/build/assets/dollar_coral.png"/>
          <p:cNvPicPr>
            <a:picLocks noChangeAspect="1"/>
          </p:cNvPicPr>
          <p:nvPr/>
        </p:nvPicPr>
        <p:blipFill>
          <a:blip r:embed="rId5"/>
          <a:stretch>
            <a:fillRect/>
          </a:stretch>
        </p:blipFill>
        <p:spPr>
          <a:xfrm>
            <a:off x="619209" y="2281428"/>
            <a:ext cx="384048" cy="384048"/>
          </a:xfrm>
          <a:prstGeom prst="rect">
            <a:avLst/>
          </a:prstGeom>
        </p:spPr>
      </p:pic>
      <p:sp>
        <p:nvSpPr>
          <p:cNvPr id="14" name="Text 9"/>
          <p:cNvSpPr/>
          <p:nvPr/>
        </p:nvSpPr>
        <p:spPr>
          <a:xfrm>
            <a:off x="667512" y="2638044"/>
            <a:ext cx="2281428" cy="566928"/>
          </a:xfrm>
          <a:prstGeom prst="rect">
            <a:avLst/>
          </a:prstGeom>
          <a:noFill/>
          <a:ln/>
        </p:spPr>
        <p:txBody>
          <a:bodyPr wrap="square" lIns="0" tIns="0" rIns="0" bIns="0" rtlCol="0" anchor="ctr"/>
          <a:lstStyle/>
          <a:p>
            <a:pPr marL="0" indent="0" algn="l">
              <a:buNone/>
            </a:pPr>
            <a:r>
              <a:rPr lang="en-US" sz="3000" b="1">
                <a:solidFill>
                  <a:srgbClr val="FF385C"/>
                </a:solidFill>
                <a:latin typeface="Poppins" pitchFamily="34" charset="0"/>
                <a:ea typeface="Poppins" pitchFamily="34" charset="-122"/>
                <a:cs typeface="Poppins" pitchFamily="34" charset="-120"/>
              </a:rPr>
              <a:t>$12.2B</a:t>
            </a:r>
            <a:endParaRPr lang="en-US" sz="3000"/>
          </a:p>
        </p:txBody>
      </p:sp>
      <p:sp>
        <p:nvSpPr>
          <p:cNvPr id="15" name="Text 10"/>
          <p:cNvSpPr/>
          <p:nvPr/>
        </p:nvSpPr>
        <p:spPr>
          <a:xfrm>
            <a:off x="649224" y="3218688"/>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2025 revenue (+10% YoY)</a:t>
            </a:r>
            <a:endParaRPr lang="en-US" sz="1150"/>
          </a:p>
        </p:txBody>
      </p:sp>
      <p:sp>
        <p:nvSpPr>
          <p:cNvPr id="16" name="Shape 11"/>
          <p:cNvSpPr/>
          <p:nvPr/>
        </p:nvSpPr>
        <p:spPr>
          <a:xfrm>
            <a:off x="3360420" y="2212848"/>
            <a:ext cx="2610612" cy="1417320"/>
          </a:xfrm>
          <a:prstGeom prst="roundRect">
            <a:avLst>
              <a:gd name="adj" fmla="val 9032"/>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7" name="Image 3" descr="/sessions/dreamy-trusting-noether/mnt/outputs/build/assets/home_teal.png"/>
          <p:cNvPicPr>
            <a:picLocks noChangeAspect="1"/>
          </p:cNvPicPr>
          <p:nvPr/>
        </p:nvPicPr>
        <p:blipFill>
          <a:blip r:embed="rId6"/>
          <a:stretch>
            <a:fillRect/>
          </a:stretch>
        </p:blipFill>
        <p:spPr>
          <a:xfrm>
            <a:off x="3495294" y="2278815"/>
            <a:ext cx="384048" cy="384048"/>
          </a:xfrm>
          <a:prstGeom prst="rect">
            <a:avLst/>
          </a:prstGeom>
        </p:spPr>
      </p:pic>
      <p:sp>
        <p:nvSpPr>
          <p:cNvPr id="18" name="Text 12"/>
          <p:cNvSpPr/>
          <p:nvPr/>
        </p:nvSpPr>
        <p:spPr>
          <a:xfrm>
            <a:off x="3525012" y="2638044"/>
            <a:ext cx="2281428" cy="566928"/>
          </a:xfrm>
          <a:prstGeom prst="rect">
            <a:avLst/>
          </a:prstGeom>
          <a:noFill/>
          <a:ln/>
        </p:spPr>
        <p:txBody>
          <a:bodyPr wrap="square" lIns="0" tIns="0" rIns="0" bIns="0" rtlCol="0" anchor="ctr"/>
          <a:lstStyle/>
          <a:p>
            <a:pPr marL="0" indent="0" algn="l">
              <a:buNone/>
            </a:pPr>
            <a:r>
              <a:rPr lang="en-US" sz="3000" b="1">
                <a:solidFill>
                  <a:srgbClr val="00A699"/>
                </a:solidFill>
                <a:latin typeface="Poppins" pitchFamily="34" charset="0"/>
                <a:ea typeface="Poppins" pitchFamily="34" charset="-122"/>
                <a:cs typeface="Poppins" pitchFamily="34" charset="-120"/>
              </a:rPr>
              <a:t>8M+</a:t>
            </a:r>
            <a:endParaRPr lang="en-US" sz="3000"/>
          </a:p>
        </p:txBody>
      </p:sp>
      <p:sp>
        <p:nvSpPr>
          <p:cNvPr id="19" name="Text 13"/>
          <p:cNvSpPr/>
          <p:nvPr/>
        </p:nvSpPr>
        <p:spPr>
          <a:xfrm>
            <a:off x="3543300" y="3204413"/>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active listings worldwide</a:t>
            </a:r>
            <a:endParaRPr lang="en-US" sz="1150"/>
          </a:p>
        </p:txBody>
      </p:sp>
      <p:sp>
        <p:nvSpPr>
          <p:cNvPr id="20" name="Shape 14"/>
          <p:cNvSpPr/>
          <p:nvPr/>
        </p:nvSpPr>
        <p:spPr>
          <a:xfrm>
            <a:off x="6217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1" name="Image 4" descr="/sessions/dreamy-trusting-noether/mnt/outputs/build/assets/users_coral.png"/>
          <p:cNvPicPr>
            <a:picLocks noChangeAspect="1"/>
          </p:cNvPicPr>
          <p:nvPr/>
        </p:nvPicPr>
        <p:blipFill>
          <a:blip r:embed="rId7"/>
          <a:stretch>
            <a:fillRect/>
          </a:stretch>
        </p:blipFill>
        <p:spPr>
          <a:xfrm>
            <a:off x="6298877" y="2281428"/>
            <a:ext cx="384048" cy="384048"/>
          </a:xfrm>
          <a:prstGeom prst="rect">
            <a:avLst/>
          </a:prstGeom>
        </p:spPr>
      </p:pic>
      <p:sp>
        <p:nvSpPr>
          <p:cNvPr id="22" name="Text 15"/>
          <p:cNvSpPr/>
          <p:nvPr/>
        </p:nvSpPr>
        <p:spPr>
          <a:xfrm>
            <a:off x="6382512" y="2638044"/>
            <a:ext cx="2281428" cy="566928"/>
          </a:xfrm>
          <a:prstGeom prst="rect">
            <a:avLst/>
          </a:prstGeom>
          <a:noFill/>
          <a:ln/>
        </p:spPr>
        <p:txBody>
          <a:bodyPr wrap="square" lIns="0" tIns="0" rIns="0" bIns="0" rtlCol="0" anchor="ctr"/>
          <a:lstStyle/>
          <a:p>
            <a:pPr marL="0" indent="0" algn="l">
              <a:buNone/>
            </a:pPr>
            <a:r>
              <a:rPr lang="en-US" sz="3000" b="1">
                <a:solidFill>
                  <a:srgbClr val="FF385C"/>
                </a:solidFill>
                <a:latin typeface="Poppins" pitchFamily="34" charset="0"/>
                <a:ea typeface="Poppins" pitchFamily="34" charset="-122"/>
                <a:cs typeface="Poppins" pitchFamily="34" charset="-120"/>
              </a:rPr>
              <a:t>5M+</a:t>
            </a:r>
            <a:endParaRPr lang="en-US" sz="3000"/>
          </a:p>
        </p:txBody>
      </p:sp>
      <p:sp>
        <p:nvSpPr>
          <p:cNvPr id="23" name="Text 16"/>
          <p:cNvSpPr/>
          <p:nvPr/>
        </p:nvSpPr>
        <p:spPr>
          <a:xfrm>
            <a:off x="6455664" y="3205345"/>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hosts on the platform</a:t>
            </a:r>
            <a:endParaRPr lang="en-US" sz="1150"/>
          </a:p>
        </p:txBody>
      </p:sp>
      <p:sp>
        <p:nvSpPr>
          <p:cNvPr id="24" name="Shape 17"/>
          <p:cNvSpPr/>
          <p:nvPr/>
        </p:nvSpPr>
        <p:spPr>
          <a:xfrm>
            <a:off x="9075420" y="2212848"/>
            <a:ext cx="2610612" cy="1417320"/>
          </a:xfrm>
          <a:prstGeom prst="roundRect">
            <a:avLst>
              <a:gd name="adj" fmla="val 9032"/>
            </a:avLst>
          </a:prstGeom>
          <a:solidFill>
            <a:srgbClr val="FFF1E9"/>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5" name="Image 5" descr="/sessions/dreamy-trusting-noether/mnt/outputs/build/assets/zap_orange.png"/>
          <p:cNvPicPr>
            <a:picLocks noChangeAspect="1"/>
          </p:cNvPicPr>
          <p:nvPr/>
        </p:nvPicPr>
        <p:blipFill>
          <a:blip r:embed="rId8"/>
          <a:stretch>
            <a:fillRect/>
          </a:stretch>
        </p:blipFill>
        <p:spPr>
          <a:xfrm>
            <a:off x="9165031" y="2274803"/>
            <a:ext cx="384048" cy="384048"/>
          </a:xfrm>
          <a:prstGeom prst="rect">
            <a:avLst/>
          </a:prstGeom>
        </p:spPr>
      </p:pic>
      <p:sp>
        <p:nvSpPr>
          <p:cNvPr id="26" name="Text 18"/>
          <p:cNvSpPr/>
          <p:nvPr/>
        </p:nvSpPr>
        <p:spPr>
          <a:xfrm>
            <a:off x="9240012" y="2638044"/>
            <a:ext cx="2281428" cy="566928"/>
          </a:xfrm>
          <a:prstGeom prst="rect">
            <a:avLst/>
          </a:prstGeom>
          <a:noFill/>
          <a:ln/>
        </p:spPr>
        <p:txBody>
          <a:bodyPr wrap="square" lIns="0" tIns="0" rIns="0" bIns="0" rtlCol="0" anchor="ctr"/>
          <a:lstStyle/>
          <a:p>
            <a:pPr marL="0" indent="0" algn="l">
              <a:buNone/>
            </a:pPr>
            <a:r>
              <a:rPr lang="en-US" sz="3000" b="1">
                <a:solidFill>
                  <a:srgbClr val="FC642D"/>
                </a:solidFill>
                <a:latin typeface="Poppins" pitchFamily="34" charset="0"/>
                <a:ea typeface="Poppins" pitchFamily="34" charset="-122"/>
                <a:cs typeface="Poppins" pitchFamily="34" charset="-120"/>
              </a:rPr>
              <a:t>15.5%</a:t>
            </a:r>
            <a:endParaRPr lang="en-US" sz="3000"/>
          </a:p>
        </p:txBody>
      </p:sp>
      <p:sp>
        <p:nvSpPr>
          <p:cNvPr id="27" name="Text 19"/>
          <p:cNvSpPr/>
          <p:nvPr/>
        </p:nvSpPr>
        <p:spPr>
          <a:xfrm>
            <a:off x="9261348" y="3201519"/>
            <a:ext cx="2281428" cy="713232"/>
          </a:xfrm>
          <a:prstGeom prst="rect">
            <a:avLst/>
          </a:prstGeom>
          <a:noFill/>
          <a:ln/>
        </p:spPr>
        <p:txBody>
          <a:bodyPr wrap="square" lIns="0" tIns="0" rIns="0" bIns="0" rtlCol="0" anchor="t"/>
          <a:lstStyle/>
          <a:p>
            <a:pPr marL="0" indent="0" algn="l">
              <a:lnSpc>
                <a:spcPct val="102000"/>
              </a:lnSpc>
              <a:buNone/>
            </a:pPr>
            <a:r>
              <a:rPr lang="en-US" sz="1150">
                <a:solidFill>
                  <a:srgbClr val="717171"/>
                </a:solidFill>
                <a:latin typeface="Poppins" pitchFamily="34" charset="0"/>
                <a:ea typeface="Poppins" pitchFamily="34" charset="-122"/>
                <a:cs typeface="Poppins" pitchFamily="34" charset="-120"/>
              </a:rPr>
              <a:t>host-only service fee</a:t>
            </a:r>
            <a:endParaRPr lang="en-US" sz="1150"/>
          </a:p>
        </p:txBody>
      </p:sp>
      <p:sp>
        <p:nvSpPr>
          <p:cNvPr id="28" name="Shape 20"/>
          <p:cNvSpPr/>
          <p:nvPr/>
        </p:nvSpPr>
        <p:spPr>
          <a:xfrm>
            <a:off x="753441" y="4062791"/>
            <a:ext cx="5468112" cy="2103120"/>
          </a:xfrm>
          <a:prstGeom prst="roundRect">
            <a:avLst>
              <a:gd name="adj" fmla="val 608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9" name="Shape 21"/>
          <p:cNvSpPr/>
          <p:nvPr/>
        </p:nvSpPr>
        <p:spPr>
          <a:xfrm>
            <a:off x="777240" y="4206240"/>
            <a:ext cx="603504" cy="603504"/>
          </a:xfrm>
          <a:prstGeom prst="ellipse">
            <a:avLst/>
          </a:prstGeom>
          <a:solidFill>
            <a:srgbClr val="FFEEF2"/>
          </a:solidFill>
          <a:ln/>
        </p:spPr>
        <p:txBody>
          <a:bodyPr/>
          <a:lstStyle/>
          <a:p>
            <a:endParaRPr lang="en-US"/>
          </a:p>
        </p:txBody>
      </p:sp>
      <p:pic>
        <p:nvPicPr>
          <p:cNvPr id="30" name="Image 6" descr="/sessions/dreamy-trusting-noether/mnt/outputs/build/assets/alert_coral.png"/>
          <p:cNvPicPr>
            <a:picLocks noChangeAspect="1"/>
          </p:cNvPicPr>
          <p:nvPr/>
        </p:nvPicPr>
        <p:blipFill>
          <a:blip r:embed="rId9"/>
          <a:stretch>
            <a:fillRect/>
          </a:stretch>
        </p:blipFill>
        <p:spPr>
          <a:xfrm>
            <a:off x="922081" y="4351081"/>
            <a:ext cx="313822" cy="313822"/>
          </a:xfrm>
          <a:prstGeom prst="rect">
            <a:avLst/>
          </a:prstGeom>
        </p:spPr>
      </p:pic>
      <p:sp>
        <p:nvSpPr>
          <p:cNvPr id="31" name="Text 22"/>
          <p:cNvSpPr/>
          <p:nvPr/>
        </p:nvSpPr>
        <p:spPr>
          <a:xfrm>
            <a:off x="1517904" y="4224528"/>
            <a:ext cx="4206240"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The missing piece for hosts</a:t>
            </a:r>
            <a:endParaRPr lang="en-US" sz="1500"/>
          </a:p>
        </p:txBody>
      </p:sp>
      <p:sp>
        <p:nvSpPr>
          <p:cNvPr id="32" name="Text 23"/>
          <p:cNvSpPr/>
          <p:nvPr/>
        </p:nvSpPr>
        <p:spPr>
          <a:xfrm>
            <a:off x="893356" y="4908089"/>
            <a:ext cx="4937760" cy="1005840"/>
          </a:xfrm>
          <a:prstGeom prst="rect">
            <a:avLst/>
          </a:prstGeom>
          <a:noFill/>
          <a:ln/>
        </p:spPr>
        <p:txBody>
          <a:bodyPr wrap="square" lIns="0" tIns="0" rIns="0" bIns="0" rtlCol="0" anchor="t"/>
          <a:lstStyle/>
          <a:p>
            <a:pPr>
              <a:lnSpc>
                <a:spcPct val="108000"/>
              </a:lnSpc>
            </a:pPr>
            <a:r>
              <a:rPr lang="en-US" sz="1250">
                <a:solidFill>
                  <a:srgbClr val="4A4A4A"/>
                </a:solidFill>
                <a:latin typeface="Poppins"/>
                <a:ea typeface="+mn-lt"/>
                <a:cs typeface="Poppins"/>
              </a:rPr>
              <a:t>Smart Pricing recommends a nightly price but offers no explanation for how it got there. With no transparency into the logic, hosts either ignore the recommendation entirely or follow it blindly, with no way of knowing if it fits their listing.</a:t>
            </a:r>
            <a:endParaRPr lang="en-US" sz="1250">
              <a:solidFill>
                <a:srgbClr val="000000"/>
              </a:solidFill>
              <a:latin typeface="Poppins"/>
              <a:ea typeface="+mn-lt"/>
              <a:cs typeface="Poppins"/>
            </a:endParaRPr>
          </a:p>
          <a:p>
            <a:pPr>
              <a:lnSpc>
                <a:spcPct val="108000"/>
              </a:lnSpc>
            </a:pPr>
            <a:endParaRPr lang="en-US" sz="1250">
              <a:solidFill>
                <a:srgbClr val="4A4A4A"/>
              </a:solidFill>
              <a:latin typeface="Poppins"/>
              <a:ea typeface="Calibri" panose="020F0502020204030204"/>
              <a:cs typeface="Poppins"/>
            </a:endParaRPr>
          </a:p>
        </p:txBody>
      </p:sp>
      <p:sp>
        <p:nvSpPr>
          <p:cNvPr id="33" name="Shape 24"/>
          <p:cNvSpPr/>
          <p:nvPr/>
        </p:nvSpPr>
        <p:spPr>
          <a:xfrm>
            <a:off x="6217920" y="3931920"/>
            <a:ext cx="5468112" cy="2103120"/>
          </a:xfrm>
          <a:prstGeom prst="roundRect">
            <a:avLst>
              <a:gd name="adj" fmla="val 6087"/>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4" name="Shape 25"/>
          <p:cNvSpPr/>
          <p:nvPr/>
        </p:nvSpPr>
        <p:spPr>
          <a:xfrm>
            <a:off x="6492240" y="4206240"/>
            <a:ext cx="603504" cy="603504"/>
          </a:xfrm>
          <a:prstGeom prst="ellipse">
            <a:avLst/>
          </a:prstGeom>
          <a:solidFill>
            <a:srgbClr val="FFFFFF"/>
          </a:solidFill>
          <a:ln/>
        </p:spPr>
        <p:txBody>
          <a:bodyPr/>
          <a:lstStyle/>
          <a:p>
            <a:endParaRPr lang="en-US"/>
          </a:p>
        </p:txBody>
      </p:sp>
      <p:pic>
        <p:nvPicPr>
          <p:cNvPr id="35" name="Image 7" descr="/sessions/dreamy-trusting-noether/mnt/outputs/build/assets/target_coral.png"/>
          <p:cNvPicPr>
            <a:picLocks noChangeAspect="1"/>
          </p:cNvPicPr>
          <p:nvPr/>
        </p:nvPicPr>
        <p:blipFill>
          <a:blip r:embed="rId10"/>
          <a:stretch>
            <a:fillRect/>
          </a:stretch>
        </p:blipFill>
        <p:spPr>
          <a:xfrm>
            <a:off x="6637081" y="4351081"/>
            <a:ext cx="313822" cy="313822"/>
          </a:xfrm>
          <a:prstGeom prst="rect">
            <a:avLst/>
          </a:prstGeom>
        </p:spPr>
      </p:pic>
      <p:sp>
        <p:nvSpPr>
          <p:cNvPr id="36" name="Text 26"/>
          <p:cNvSpPr/>
          <p:nvPr/>
        </p:nvSpPr>
        <p:spPr>
          <a:xfrm>
            <a:off x="7232904" y="4224528"/>
            <a:ext cx="4206240"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We reframed the question</a:t>
            </a:r>
            <a:endParaRPr lang="en-US" sz="1500"/>
          </a:p>
        </p:txBody>
      </p:sp>
      <p:sp>
        <p:nvSpPr>
          <p:cNvPr id="37" name="Text 27"/>
          <p:cNvSpPr/>
          <p:nvPr/>
        </p:nvSpPr>
        <p:spPr>
          <a:xfrm>
            <a:off x="6492240" y="4903237"/>
            <a:ext cx="4937760" cy="1051560"/>
          </a:xfrm>
          <a:prstGeom prst="rect">
            <a:avLst/>
          </a:prstGeom>
          <a:noFill/>
          <a:ln/>
        </p:spPr>
        <p:txBody>
          <a:bodyPr wrap="square" lIns="0" tIns="0" rIns="0" bIns="0" rtlCol="0" anchor="t"/>
          <a:lstStyle/>
          <a:p>
            <a:pPr>
              <a:lnSpc>
                <a:spcPct val="108000"/>
              </a:lnSpc>
            </a:pPr>
            <a:r>
              <a:rPr lang="en-US" sz="1250" i="1">
                <a:solidFill>
                  <a:srgbClr val="222222"/>
                </a:solidFill>
                <a:latin typeface="Poppins"/>
                <a:ea typeface="Poppins" pitchFamily="34" charset="-122"/>
                <a:cs typeface="Poppins"/>
              </a:rPr>
              <a:t>Not “can we build another pricing model?” but “can we help hosts make smarter pricing decisions by combining accurate recommendations with clear explanations and real market comparisons?”</a:t>
            </a:r>
            <a:endParaRPr lang="en-US" sz="1250">
              <a:latin typeface="Poppins"/>
              <a:cs typeface="Poppi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03 · THE DATASET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ea typeface="+mn-lt"/>
                <a:cs typeface="Poppins"/>
              </a:rPr>
              <a:t>New York City as a proving ground</a:t>
            </a:r>
            <a:endParaRPr lang="en-US" sz="2900" b="1">
              <a:solidFill>
                <a:srgbClr val="000000"/>
              </a:solidFill>
              <a:latin typeface="Poppins"/>
              <a:ea typeface="Calibri"/>
              <a:cs typeface="Poppins"/>
            </a:endParaRP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Inside Airbnb: public, open-source data. We chose one market to build, test and evaluate.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4</a:t>
            </a:r>
            <a:endParaRPr lang="en-US" sz="900"/>
          </a:p>
        </p:txBody>
      </p:sp>
      <p:sp>
        <p:nvSpPr>
          <p:cNvPr id="12" name="Shape 8"/>
          <p:cNvSpPr/>
          <p:nvPr/>
        </p:nvSpPr>
        <p:spPr>
          <a:xfrm>
            <a:off x="5029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594360" y="2523744"/>
            <a:ext cx="2697480" cy="685800"/>
          </a:xfrm>
          <a:prstGeom prst="rect">
            <a:avLst/>
          </a:prstGeom>
          <a:noFill/>
          <a:ln/>
        </p:spPr>
        <p:txBody>
          <a:bodyPr wrap="square" lIns="0" tIns="0" rIns="0" bIns="0" rtlCol="0" anchor="ctr"/>
          <a:lstStyle/>
          <a:p>
            <a:pPr marL="0" indent="0" algn="ctr">
              <a:buNone/>
            </a:pPr>
            <a:r>
              <a:rPr lang="en-US" sz="3700" b="1">
                <a:solidFill>
                  <a:srgbClr val="9AA0A6"/>
                </a:solidFill>
                <a:latin typeface="Poppins" pitchFamily="34" charset="0"/>
                <a:ea typeface="Poppins" pitchFamily="34" charset="-122"/>
                <a:cs typeface="Poppins" pitchFamily="34" charset="-120"/>
              </a:rPr>
              <a:t>30,259</a:t>
            </a:r>
            <a:endParaRPr lang="en-US" sz="3700"/>
          </a:p>
        </p:txBody>
      </p:sp>
      <p:sp>
        <p:nvSpPr>
          <p:cNvPr id="14" name="Text 10"/>
          <p:cNvSpPr/>
          <p:nvPr/>
        </p:nvSpPr>
        <p:spPr>
          <a:xfrm>
            <a:off x="594360" y="3200400"/>
            <a:ext cx="2697480" cy="365760"/>
          </a:xfrm>
          <a:prstGeom prst="rect">
            <a:avLst/>
          </a:prstGeom>
          <a:noFill/>
          <a:ln/>
        </p:spPr>
        <p:txBody>
          <a:bodyPr wrap="square" lIns="0" tIns="0" rIns="0" bIns="0" rtlCol="0" anchor="ctr"/>
          <a:lstStyle/>
          <a:p>
            <a:pPr marL="0" indent="0" algn="ctr">
              <a:buNone/>
            </a:pPr>
            <a:r>
              <a:rPr lang="en-US" sz="1200">
                <a:solidFill>
                  <a:srgbClr val="4A4A4A"/>
                </a:solidFill>
                <a:latin typeface="Poppins" pitchFamily="34" charset="0"/>
                <a:ea typeface="Poppins" pitchFamily="34" charset="-122"/>
                <a:cs typeface="Poppins" pitchFamily="34" charset="-120"/>
              </a:rPr>
              <a:t>raw listings scraped</a:t>
            </a:r>
            <a:endParaRPr lang="en-US" sz="1200"/>
          </a:p>
        </p:txBody>
      </p:sp>
      <p:sp>
        <p:nvSpPr>
          <p:cNvPr id="15" name="Text 11"/>
          <p:cNvSpPr/>
          <p:nvPr/>
        </p:nvSpPr>
        <p:spPr>
          <a:xfrm>
            <a:off x="3401568" y="2286000"/>
            <a:ext cx="530352" cy="1371600"/>
          </a:xfrm>
          <a:prstGeom prst="rect">
            <a:avLst/>
          </a:prstGeom>
          <a:noFill/>
          <a:ln/>
        </p:spPr>
        <p:txBody>
          <a:bodyPr wrap="square" lIns="0" tIns="0" rIns="0" bIns="0" rtlCol="0" anchor="ctr"/>
          <a:lstStyle/>
          <a:p>
            <a:pPr marL="0" indent="0" algn="ctr">
              <a:buNone/>
            </a:pPr>
            <a:r>
              <a:rPr lang="en-US" sz="2600" b="1">
                <a:solidFill>
                  <a:srgbClr val="9AA0A6"/>
                </a:solidFill>
                <a:latin typeface="Poppins" pitchFamily="34" charset="0"/>
                <a:ea typeface="Poppins" pitchFamily="34" charset="-122"/>
                <a:cs typeface="Poppins" pitchFamily="34" charset="-120"/>
              </a:rPr>
              <a:t>→</a:t>
            </a:r>
            <a:endParaRPr lang="en-US" sz="2600"/>
          </a:p>
        </p:txBody>
      </p:sp>
      <p:sp>
        <p:nvSpPr>
          <p:cNvPr id="16" name="Shape 12"/>
          <p:cNvSpPr/>
          <p:nvPr/>
        </p:nvSpPr>
        <p:spPr>
          <a:xfrm>
            <a:off x="3950208" y="2286000"/>
            <a:ext cx="2880360" cy="1371600"/>
          </a:xfrm>
          <a:prstGeom prst="roundRect">
            <a:avLst>
              <a:gd name="adj" fmla="val 9333"/>
            </a:avLst>
          </a:prstGeom>
          <a:solidFill>
            <a:srgbClr val="FFEEF2"/>
          </a:solidFill>
          <a:ln/>
        </p:spPr>
        <p:txBody>
          <a:bodyPr/>
          <a:lstStyle/>
          <a:p>
            <a:endParaRPr lang="en-US"/>
          </a:p>
        </p:txBody>
      </p:sp>
      <p:sp>
        <p:nvSpPr>
          <p:cNvPr id="17" name="Text 13"/>
          <p:cNvSpPr/>
          <p:nvPr/>
        </p:nvSpPr>
        <p:spPr>
          <a:xfrm>
            <a:off x="4041648" y="2523744"/>
            <a:ext cx="2697480" cy="685800"/>
          </a:xfrm>
          <a:prstGeom prst="rect">
            <a:avLst/>
          </a:prstGeom>
          <a:noFill/>
          <a:ln/>
        </p:spPr>
        <p:txBody>
          <a:bodyPr wrap="square" lIns="0" tIns="0" rIns="0" bIns="0" rtlCol="0" anchor="ctr"/>
          <a:lstStyle/>
          <a:p>
            <a:pPr marL="0" indent="0" algn="ctr">
              <a:buNone/>
            </a:pPr>
            <a:r>
              <a:rPr lang="en-US" sz="3700" b="1">
                <a:solidFill>
                  <a:srgbClr val="FF385C"/>
                </a:solidFill>
                <a:latin typeface="Poppins" pitchFamily="34" charset="0"/>
                <a:ea typeface="Poppins" pitchFamily="34" charset="-122"/>
                <a:cs typeface="Poppins" pitchFamily="34" charset="-120"/>
              </a:rPr>
              <a:t>9,752</a:t>
            </a:r>
            <a:endParaRPr lang="en-US" sz="3700"/>
          </a:p>
        </p:txBody>
      </p:sp>
      <p:sp>
        <p:nvSpPr>
          <p:cNvPr id="18" name="Text 14"/>
          <p:cNvSpPr/>
          <p:nvPr/>
        </p:nvSpPr>
        <p:spPr>
          <a:xfrm>
            <a:off x="4041648" y="3200400"/>
            <a:ext cx="2697480" cy="365760"/>
          </a:xfrm>
          <a:prstGeom prst="rect">
            <a:avLst/>
          </a:prstGeom>
          <a:noFill/>
          <a:ln/>
        </p:spPr>
        <p:txBody>
          <a:bodyPr wrap="square" lIns="0" tIns="0" rIns="0" bIns="0" rtlCol="0" anchor="ctr"/>
          <a:lstStyle/>
          <a:p>
            <a:pPr marL="0" indent="0" algn="ctr">
              <a:buNone/>
            </a:pPr>
            <a:r>
              <a:rPr lang="en-US" sz="1200">
                <a:solidFill>
                  <a:srgbClr val="4A4A4A"/>
                </a:solidFill>
                <a:latin typeface="Poppins" pitchFamily="34" charset="0"/>
                <a:ea typeface="Poppins" pitchFamily="34" charset="-122"/>
                <a:cs typeface="Poppins" pitchFamily="34" charset="-120"/>
              </a:rPr>
              <a:t>active listings (≈9,800)</a:t>
            </a:r>
            <a:endParaRPr lang="en-US" sz="1200"/>
          </a:p>
        </p:txBody>
      </p:sp>
      <p:sp>
        <p:nvSpPr>
          <p:cNvPr id="19" name="Text 15"/>
          <p:cNvSpPr/>
          <p:nvPr/>
        </p:nvSpPr>
        <p:spPr>
          <a:xfrm>
            <a:off x="6848856" y="2286000"/>
            <a:ext cx="530352" cy="1371600"/>
          </a:xfrm>
          <a:prstGeom prst="rect">
            <a:avLst/>
          </a:prstGeom>
          <a:noFill/>
          <a:ln/>
        </p:spPr>
        <p:txBody>
          <a:bodyPr wrap="square" lIns="0" tIns="0" rIns="0" bIns="0" rtlCol="0" anchor="ctr"/>
          <a:lstStyle/>
          <a:p>
            <a:pPr marL="0" indent="0" algn="ctr">
              <a:buNone/>
            </a:pPr>
            <a:r>
              <a:rPr lang="en-US" sz="2600" b="1">
                <a:solidFill>
                  <a:srgbClr val="9AA0A6"/>
                </a:solidFill>
                <a:latin typeface="Poppins" pitchFamily="34" charset="0"/>
                <a:ea typeface="Poppins" pitchFamily="34" charset="-122"/>
                <a:cs typeface="Poppins" pitchFamily="34" charset="-120"/>
              </a:rPr>
              <a:t>→</a:t>
            </a:r>
            <a:endParaRPr lang="en-US" sz="2600"/>
          </a:p>
        </p:txBody>
      </p:sp>
      <p:sp>
        <p:nvSpPr>
          <p:cNvPr id="20" name="Shape 16"/>
          <p:cNvSpPr/>
          <p:nvPr/>
        </p:nvSpPr>
        <p:spPr>
          <a:xfrm>
            <a:off x="7397496" y="2286000"/>
            <a:ext cx="2880360" cy="1371600"/>
          </a:xfrm>
          <a:prstGeom prst="roundRect">
            <a:avLst>
              <a:gd name="adj" fmla="val 9333"/>
            </a:avLst>
          </a:prstGeom>
          <a:solidFill>
            <a:srgbClr val="E6F6F4"/>
          </a:solidFill>
          <a:ln/>
        </p:spPr>
        <p:txBody>
          <a:bodyPr/>
          <a:lstStyle/>
          <a:p>
            <a:endParaRPr lang="en-US"/>
          </a:p>
        </p:txBody>
      </p:sp>
      <p:sp>
        <p:nvSpPr>
          <p:cNvPr id="21" name="Text 17"/>
          <p:cNvSpPr/>
          <p:nvPr/>
        </p:nvSpPr>
        <p:spPr>
          <a:xfrm>
            <a:off x="7488936" y="2523744"/>
            <a:ext cx="2697480" cy="685800"/>
          </a:xfrm>
          <a:prstGeom prst="rect">
            <a:avLst/>
          </a:prstGeom>
          <a:noFill/>
          <a:ln/>
        </p:spPr>
        <p:txBody>
          <a:bodyPr wrap="square" lIns="0" tIns="0" rIns="0" bIns="0" rtlCol="0" anchor="ctr"/>
          <a:lstStyle/>
          <a:p>
            <a:pPr marL="0" indent="0" algn="ctr">
              <a:buNone/>
            </a:pPr>
            <a:r>
              <a:rPr lang="en-US" sz="3700" b="1">
                <a:solidFill>
                  <a:srgbClr val="007A73"/>
                </a:solidFill>
                <a:latin typeface="Poppins" pitchFamily="34" charset="0"/>
                <a:ea typeface="Poppins" pitchFamily="34" charset="-122"/>
                <a:cs typeface="Poppins" pitchFamily="34" charset="-120"/>
              </a:rPr>
              <a:t>80</a:t>
            </a:r>
            <a:endParaRPr lang="en-US" sz="3700"/>
          </a:p>
        </p:txBody>
      </p:sp>
      <p:sp>
        <p:nvSpPr>
          <p:cNvPr id="22" name="Text 18"/>
          <p:cNvSpPr/>
          <p:nvPr/>
        </p:nvSpPr>
        <p:spPr>
          <a:xfrm>
            <a:off x="7488936" y="3200400"/>
            <a:ext cx="2697480" cy="365760"/>
          </a:xfrm>
          <a:prstGeom prst="rect">
            <a:avLst/>
          </a:prstGeom>
          <a:noFill/>
          <a:ln/>
        </p:spPr>
        <p:txBody>
          <a:bodyPr wrap="square" lIns="0" tIns="0" rIns="0" bIns="0" rtlCol="0" anchor="ctr"/>
          <a:lstStyle/>
          <a:p>
            <a:pPr marL="0" indent="0" algn="ctr">
              <a:buNone/>
            </a:pPr>
            <a:r>
              <a:rPr lang="en-US" sz="1200">
                <a:solidFill>
                  <a:srgbClr val="4A4A4A"/>
                </a:solidFill>
                <a:latin typeface="Poppins" pitchFamily="34" charset="0"/>
                <a:ea typeface="Poppins" pitchFamily="34" charset="-122"/>
                <a:cs typeface="Poppins" pitchFamily="34" charset="-120"/>
              </a:rPr>
              <a:t>engineered features</a:t>
            </a:r>
            <a:endParaRPr lang="en-US" sz="120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250" b="1">
                <a:solidFill>
                  <a:srgbClr val="222222"/>
                </a:solidFill>
                <a:latin typeface="Poppins" pitchFamily="34" charset="0"/>
                <a:ea typeface="Poppins" pitchFamily="34" charset="-122"/>
                <a:cs typeface="Poppins" pitchFamily="34" charset="-120"/>
              </a:rPr>
              <a:t>For each listing:  </a:t>
            </a:r>
            <a:r>
              <a:rPr lang="en-US" sz="1250">
                <a:solidFill>
                  <a:srgbClr val="4A4A4A"/>
                </a:solidFill>
                <a:latin typeface="Poppins" pitchFamily="34" charset="0"/>
                <a:ea typeface="Poppins" pitchFamily="34" charset="-122"/>
                <a:cs typeface="Poppins" pitchFamily="34" charset="-120"/>
              </a:rPr>
              <a:t>nightly price · availability · reviews · amenities · location · host characteristics.</a:t>
            </a:r>
            <a:endParaRPr lang="en-US" sz="1250"/>
          </a:p>
        </p:txBody>
      </p:sp>
      <p:sp>
        <p:nvSpPr>
          <p:cNvPr id="24" name="Shape 20"/>
          <p:cNvSpPr/>
          <p:nvPr/>
        </p:nvSpPr>
        <p:spPr>
          <a:xfrm>
            <a:off x="50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758952" y="4599432"/>
            <a:ext cx="566928" cy="566928"/>
          </a:xfrm>
          <a:prstGeom prst="ellipse">
            <a:avLst/>
          </a:prstGeom>
          <a:solidFill>
            <a:srgbClr val="E6F6F4"/>
          </a:solidFill>
          <a:ln/>
        </p:spPr>
        <p:txBody>
          <a:bodyPr/>
          <a:lstStyle/>
          <a:p>
            <a:endParaRPr lang="en-US"/>
          </a:p>
        </p:txBody>
      </p:sp>
      <p:pic>
        <p:nvPicPr>
          <p:cNvPr id="26" name="Image 2" descr="/sessions/dreamy-trusting-noether/mnt/outputs/build/assets/filter_teal.png"/>
          <p:cNvPicPr>
            <a:picLocks noChangeAspect="1"/>
          </p:cNvPicPr>
          <p:nvPr/>
        </p:nvPicPr>
        <p:blipFill>
          <a:blip r:embed="rId5"/>
          <a:stretch>
            <a:fillRect/>
          </a:stretch>
        </p:blipFill>
        <p:spPr>
          <a:xfrm>
            <a:off x="895015" y="4735495"/>
            <a:ext cx="294803" cy="294803"/>
          </a:xfrm>
          <a:prstGeom prst="rect">
            <a:avLst/>
          </a:prstGeom>
        </p:spPr>
      </p:pic>
      <p:sp>
        <p:nvSpPr>
          <p:cNvPr id="27" name="Text 22"/>
          <p:cNvSpPr/>
          <p:nvPr/>
        </p:nvSpPr>
        <p:spPr>
          <a:xfrm>
            <a:off x="1435608" y="4672584"/>
            <a:ext cx="2465832"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Clean &amp; prepare</a:t>
            </a:r>
            <a:endParaRPr lang="en-US" sz="1350"/>
          </a:p>
        </p:txBody>
      </p:sp>
      <p:sp>
        <p:nvSpPr>
          <p:cNvPr id="28" name="Text 23"/>
          <p:cNvSpPr/>
          <p:nvPr/>
        </p:nvSpPr>
        <p:spPr>
          <a:xfrm>
            <a:off x="777240" y="5312664"/>
            <a:ext cx="3014472" cy="658368"/>
          </a:xfrm>
          <a:prstGeom prst="rect">
            <a:avLst/>
          </a:prstGeom>
          <a:noFill/>
          <a:ln/>
        </p:spPr>
        <p:txBody>
          <a:bodyPr wrap="square" lIns="0" tIns="0" rIns="0" bIns="0" rtlCol="0" anchor="ctr"/>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Handle missing values, parse amenities, engineer features into a reliable modeling table.</a:t>
            </a:r>
            <a:endParaRPr lang="en-US" sz="1100"/>
          </a:p>
        </p:txBody>
      </p:sp>
      <p:sp>
        <p:nvSpPr>
          <p:cNvPr id="29" name="Shape 24"/>
          <p:cNvSpPr/>
          <p:nvPr/>
        </p:nvSpPr>
        <p:spPr>
          <a:xfrm>
            <a:off x="431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5"/>
          <p:cNvSpPr/>
          <p:nvPr/>
        </p:nvSpPr>
        <p:spPr>
          <a:xfrm>
            <a:off x="4568952" y="4599432"/>
            <a:ext cx="566928" cy="566928"/>
          </a:xfrm>
          <a:prstGeom prst="ellipse">
            <a:avLst/>
          </a:prstGeom>
          <a:solidFill>
            <a:srgbClr val="FFEEF2"/>
          </a:solidFill>
          <a:ln/>
        </p:spPr>
        <p:txBody>
          <a:bodyPr/>
          <a:lstStyle/>
          <a:p>
            <a:endParaRPr lang="en-US"/>
          </a:p>
        </p:txBody>
      </p:sp>
      <p:pic>
        <p:nvPicPr>
          <p:cNvPr id="31" name="Image 3" descr="/sessions/dreamy-trusting-noether/mnt/outputs/build/assets/search_coral.png"/>
          <p:cNvPicPr>
            <a:picLocks noChangeAspect="1"/>
          </p:cNvPicPr>
          <p:nvPr/>
        </p:nvPicPr>
        <p:blipFill>
          <a:blip r:embed="rId6"/>
          <a:stretch>
            <a:fillRect/>
          </a:stretch>
        </p:blipFill>
        <p:spPr>
          <a:xfrm>
            <a:off x="4705015" y="4735495"/>
            <a:ext cx="294803" cy="294803"/>
          </a:xfrm>
          <a:prstGeom prst="rect">
            <a:avLst/>
          </a:prstGeom>
        </p:spPr>
      </p:pic>
      <p:sp>
        <p:nvSpPr>
          <p:cNvPr id="32" name="Text 26"/>
          <p:cNvSpPr/>
          <p:nvPr/>
        </p:nvSpPr>
        <p:spPr>
          <a:xfrm>
            <a:off x="5245608" y="4672584"/>
            <a:ext cx="2465832"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Understand first</a:t>
            </a:r>
            <a:endParaRPr lang="en-US" sz="1350"/>
          </a:p>
        </p:txBody>
      </p:sp>
      <p:sp>
        <p:nvSpPr>
          <p:cNvPr id="33" name="Text 27"/>
          <p:cNvSpPr/>
          <p:nvPr/>
        </p:nvSpPr>
        <p:spPr>
          <a:xfrm>
            <a:off x="4587240" y="5312664"/>
            <a:ext cx="3014472" cy="658368"/>
          </a:xfrm>
          <a:prstGeom prst="rect">
            <a:avLst/>
          </a:prstGeom>
          <a:noFill/>
          <a:ln/>
        </p:spPr>
        <p:txBody>
          <a:bodyPr wrap="square" lIns="0" tIns="0" rIns="0" bIns="0" rtlCol="0" anchor="ctr"/>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Before modeling: which variables matter, and what relationships already exist in the data?</a:t>
            </a:r>
            <a:endParaRPr lang="en-US" sz="1100"/>
          </a:p>
        </p:txBody>
      </p:sp>
      <p:sp>
        <p:nvSpPr>
          <p:cNvPr id="34" name="Shape 28"/>
          <p:cNvSpPr/>
          <p:nvPr/>
        </p:nvSpPr>
        <p:spPr>
          <a:xfrm>
            <a:off x="812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9"/>
          <p:cNvSpPr/>
          <p:nvPr/>
        </p:nvSpPr>
        <p:spPr>
          <a:xfrm>
            <a:off x="8378952" y="4599432"/>
            <a:ext cx="566928" cy="566928"/>
          </a:xfrm>
          <a:prstGeom prst="ellipse">
            <a:avLst/>
          </a:prstGeom>
          <a:solidFill>
            <a:srgbClr val="E6F6F4"/>
          </a:solidFill>
          <a:ln/>
        </p:spPr>
        <p:txBody>
          <a:bodyPr/>
          <a:lstStyle/>
          <a:p>
            <a:endParaRPr lang="en-US"/>
          </a:p>
        </p:txBody>
      </p:sp>
      <p:pic>
        <p:nvPicPr>
          <p:cNvPr id="36" name="Image 4" descr="/sessions/dreamy-trusting-noether/mnt/outputs/build/assets/bar_teal.png"/>
          <p:cNvPicPr>
            <a:picLocks noChangeAspect="1"/>
          </p:cNvPicPr>
          <p:nvPr/>
        </p:nvPicPr>
        <p:blipFill>
          <a:blip r:embed="rId7"/>
          <a:stretch>
            <a:fillRect/>
          </a:stretch>
        </p:blipFill>
        <p:spPr>
          <a:xfrm>
            <a:off x="8515015" y="4735495"/>
            <a:ext cx="294803" cy="294803"/>
          </a:xfrm>
          <a:prstGeom prst="rect">
            <a:avLst/>
          </a:prstGeom>
        </p:spPr>
      </p:pic>
      <p:sp>
        <p:nvSpPr>
          <p:cNvPr id="37" name="Text 30"/>
          <p:cNvSpPr/>
          <p:nvPr/>
        </p:nvSpPr>
        <p:spPr>
          <a:xfrm>
            <a:off x="9055608" y="4672584"/>
            <a:ext cx="2465832"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Then model</a:t>
            </a:r>
            <a:endParaRPr lang="en-US" sz="1350"/>
          </a:p>
        </p:txBody>
      </p:sp>
      <p:sp>
        <p:nvSpPr>
          <p:cNvPr id="38" name="Text 31"/>
          <p:cNvSpPr/>
          <p:nvPr/>
        </p:nvSpPr>
        <p:spPr>
          <a:xfrm>
            <a:off x="8397240" y="5312664"/>
            <a:ext cx="3014472" cy="658368"/>
          </a:xfrm>
          <a:prstGeom prst="rect">
            <a:avLst/>
          </a:prstGeom>
          <a:noFill/>
          <a:ln/>
        </p:spPr>
        <p:txBody>
          <a:bodyPr wrap="square" lIns="0" tIns="0" rIns="0" bIns="0" rtlCol="0" anchor="ctr"/>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Only once we understood the data did we move to machine learning, starting with EDA.</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04 · KEY VARIABLES (EDA)</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cs typeface="Poppins"/>
              </a:rPr>
              <a:t>One problem, two markets</a:t>
            </a: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a:ea typeface="Poppins" pitchFamily="34" charset="-122"/>
                <a:cs typeface="Poppins"/>
              </a:rPr>
              <a:t>The dataset splits almost evenly, and the two halves behave differently.</a:t>
            </a:r>
            <a:endParaRPr lang="en-US" sz="1450">
              <a:latin typeface="Poppins"/>
              <a:cs typeface="Poppins"/>
            </a:endParaRP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5</a:t>
            </a:r>
            <a:endParaRPr lang="en-US" sz="900"/>
          </a:p>
        </p:txBody>
      </p:sp>
      <p:sp>
        <p:nvSpPr>
          <p:cNvPr id="38" name="Shape 34"/>
          <p:cNvSpPr/>
          <p:nvPr/>
        </p:nvSpPr>
        <p:spPr>
          <a:xfrm>
            <a:off x="8027515" y="156910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7713069" y="1787010"/>
            <a:ext cx="313822" cy="313822"/>
          </a:xfrm>
          <a:prstGeom prst="rect">
            <a:avLst/>
          </a:prstGeom>
        </p:spPr>
      </p:pic>
      <p:sp>
        <p:nvSpPr>
          <p:cNvPr id="40" name="Text 35"/>
          <p:cNvSpPr/>
          <p:nvPr/>
        </p:nvSpPr>
        <p:spPr>
          <a:xfrm>
            <a:off x="8174485" y="1785718"/>
            <a:ext cx="3531087" cy="470143"/>
          </a:xfrm>
          <a:prstGeom prst="rect">
            <a:avLst/>
          </a:prstGeom>
          <a:noFill/>
          <a:ln/>
        </p:spPr>
        <p:txBody>
          <a:bodyPr wrap="square" lIns="0" tIns="0" rIns="0" bIns="0" rtlCol="0" anchor="ctr"/>
          <a:lstStyle/>
          <a:p>
            <a:r>
              <a:rPr lang="en-US" b="1">
                <a:solidFill>
                  <a:srgbClr val="222222"/>
                </a:solidFill>
                <a:latin typeface="Poppins"/>
                <a:cs typeface="Poppins"/>
              </a:rPr>
              <a:t>Why two markets?</a:t>
            </a:r>
            <a:endParaRPr lang="en-US"/>
          </a:p>
        </p:txBody>
      </p:sp>
      <p:sp>
        <p:nvSpPr>
          <p:cNvPr id="42" name="Text 37"/>
          <p:cNvSpPr/>
          <p:nvPr/>
        </p:nvSpPr>
        <p:spPr>
          <a:xfrm>
            <a:off x="8037953" y="2170141"/>
            <a:ext cx="3816262" cy="1945709"/>
          </a:xfrm>
          <a:prstGeom prst="rect">
            <a:avLst/>
          </a:prstGeom>
          <a:noFill/>
          <a:ln/>
        </p:spPr>
        <p:txBody>
          <a:bodyPr wrap="square" lIns="0" tIns="0" rIns="0" bIns="0" rtlCol="0" anchor="t"/>
          <a:lstStyle/>
          <a:p>
            <a:pPr>
              <a:lnSpc>
                <a:spcPct val="106000"/>
              </a:lnSpc>
            </a:pPr>
            <a:br>
              <a:rPr lang="en-US" sz="1600">
                <a:latin typeface="Poppins"/>
                <a:ea typeface="Poppins" pitchFamily="34" charset="-122"/>
                <a:cs typeface="Poppins"/>
              </a:rPr>
            </a:br>
            <a:br>
              <a:rPr lang="en-US" sz="1600">
                <a:latin typeface="Poppins"/>
                <a:cs typeface="Poppins"/>
              </a:rPr>
            </a:br>
            <a:r>
              <a:rPr lang="en-US" sz="1600" i="1">
                <a:latin typeface="Poppins"/>
                <a:ea typeface="+mn-lt"/>
                <a:cs typeface="Poppins"/>
              </a:rPr>
              <a:t>Short-stay competes with hotels. Monthly competes with apartment sublets. Different alternatives, and only one responds measurably to price.</a:t>
            </a:r>
            <a:br>
              <a:rPr lang="en-US" sz="1600" i="1">
                <a:latin typeface="Poppins"/>
                <a:ea typeface="+mn-lt"/>
                <a:cs typeface="Poppins"/>
              </a:rPr>
            </a:br>
            <a:br>
              <a:rPr lang="en-US" sz="1600" i="1">
                <a:latin typeface="Poppins"/>
                <a:ea typeface="+mn-lt"/>
                <a:cs typeface="Poppins"/>
              </a:rPr>
            </a:br>
            <a:r>
              <a:rPr lang="en-US" sz="1600" i="1">
                <a:latin typeface="Poppins"/>
                <a:ea typeface="+mn-lt"/>
                <a:cs typeface="Poppins"/>
              </a:rPr>
              <a:t>One engine, calibrated separately for each market: its own comparables, its own elasticity. Every number that follows is market-aware.</a:t>
            </a:r>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SHORT-STAY</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4,008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41% of the market</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$284</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50" name="TextBox 49"/>
          <p:cNvSpPr txBox="1"/>
          <p:nvPr/>
        </p:nvSpPr>
        <p:spPr>
          <a:xfrm>
            <a:off x="932688" y="5029200"/>
            <a:ext cx="2743200" cy="169277"/>
          </a:xfrm>
          <a:prstGeom prst="rect">
            <a:avLst/>
          </a:prstGeom>
          <a:noFill/>
        </p:spPr>
        <p:txBody>
          <a:bodyPr wrap="square" lIns="0" tIns="0" rIns="0" bIns="0">
            <a:spAutoFit/>
          </a:bodyPr>
          <a:lstStyle/>
          <a:p>
            <a:pPr algn="l"/>
            <a:r>
              <a:rPr sz="1100" b="0">
                <a:solidFill>
                  <a:srgbClr val="717171"/>
                </a:solidFill>
                <a:latin typeface="Poppins"/>
              </a:rPr>
              <a:t>price elasticity</a:t>
            </a:r>
            <a:r>
              <a:rPr lang="en-US" sz="1100" b="0">
                <a:solidFill>
                  <a:srgbClr val="717171"/>
                </a:solidFill>
                <a:latin typeface="Poppins"/>
              </a:rPr>
              <a:t>, </a:t>
            </a:r>
            <a:r>
              <a:rPr sz="1100" b="0">
                <a:solidFill>
                  <a:srgbClr val="717171"/>
                </a:solidFill>
                <a:latin typeface="Poppins"/>
              </a:rPr>
              <a:t>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MONTHLY  (28+ nights)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5,744</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59% of the market</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$131</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none</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no price response detected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05 · A KEY RELATIONSHIP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2900" b="1">
                <a:solidFill>
                  <a:srgbClr val="222222"/>
                </a:solidFill>
                <a:latin typeface="Poppins"/>
                <a:cs typeface="Poppins"/>
              </a:rPr>
              <a:t>Two listings at $200 are NOT the same listing</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a:lnSpc>
                <a:spcPct val="105000"/>
              </a:lnSpc>
            </a:pPr>
            <a:r>
              <a:rPr lang="en-US" sz="1450">
                <a:solidFill>
                  <a:srgbClr val="717171"/>
                </a:solidFill>
                <a:latin typeface="Poppins"/>
                <a:cs typeface="Poppins"/>
              </a:rPr>
              <a:t>Reputation moves occupancy on its own. Until you hold it constant, a price comparison tells you nothing.</a:t>
            </a: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6</a:t>
            </a:r>
            <a:endParaRPr lang="en-US" sz="900"/>
          </a:p>
        </p:txBody>
      </p:sp>
      <p:sp>
        <p:nvSpPr>
          <p:cNvPr id="12" name="Shape 8"/>
          <p:cNvSpPr/>
          <p:nvPr/>
        </p:nvSpPr>
        <p:spPr>
          <a:xfrm>
            <a:off x="502920" y="2240280"/>
            <a:ext cx="5577840" cy="3794760"/>
          </a:xfrm>
          <a:prstGeom prst="roundRect">
            <a:avLst>
              <a:gd name="adj" fmla="val 3373"/>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1350" b="1">
                <a:solidFill>
                  <a:srgbClr val="222222"/>
                </a:solidFill>
                <a:latin typeface="Poppins" pitchFamily="34" charset="0"/>
                <a:ea typeface="Poppins" pitchFamily="34" charset="-122"/>
                <a:cs typeface="Poppins" pitchFamily="34" charset="-120"/>
              </a:rPr>
              <a:t>Occupancy rises with review count</a:t>
            </a:r>
            <a:endParaRPr lang="en-US" sz="135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200" b="1">
                <a:solidFill>
                  <a:srgbClr val="222222"/>
                </a:solidFill>
                <a:latin typeface="Poppins" pitchFamily="34" charset="0"/>
                <a:ea typeface="Poppins" pitchFamily="34" charset="-122"/>
                <a:cs typeface="Poppins" pitchFamily="34" charset="-120"/>
              </a:rPr>
              <a:t>34%</a:t>
            </a:r>
            <a:endParaRPr lang="en-US" sz="120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0–10</a:t>
            </a:r>
            <a:endParaRPr lang="en-US" sz="1050"/>
          </a:p>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reviews</a:t>
            </a:r>
            <a:endParaRPr lang="en-US" sz="105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200" b="1">
                <a:solidFill>
                  <a:srgbClr val="222222"/>
                </a:solidFill>
                <a:latin typeface="Poppins" pitchFamily="34" charset="0"/>
                <a:ea typeface="Poppins" pitchFamily="34" charset="-122"/>
                <a:cs typeface="Poppins" pitchFamily="34" charset="-120"/>
              </a:rPr>
              <a:t>37%</a:t>
            </a:r>
            <a:endParaRPr lang="en-US" sz="120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11–50</a:t>
            </a:r>
            <a:endParaRPr lang="en-US" sz="1050"/>
          </a:p>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reviews</a:t>
            </a:r>
            <a:endParaRPr lang="en-US" sz="105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200" b="1">
                <a:solidFill>
                  <a:srgbClr val="222222"/>
                </a:solidFill>
                <a:latin typeface="Poppins" pitchFamily="34" charset="0"/>
                <a:ea typeface="Poppins" pitchFamily="34" charset="-122"/>
                <a:cs typeface="Poppins" pitchFamily="34" charset="-120"/>
              </a:rPr>
              <a:t>42%</a:t>
            </a:r>
            <a:endParaRPr lang="en-US" sz="120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51+</a:t>
            </a:r>
            <a:endParaRPr lang="en-US" sz="1050"/>
          </a:p>
          <a:p>
            <a:pPr marL="0" indent="0" algn="ctr">
              <a:lnSpc>
                <a:spcPct val="98000"/>
              </a:lnSpc>
              <a:buNone/>
            </a:pPr>
            <a:r>
              <a:rPr lang="en-US" sz="1050">
                <a:solidFill>
                  <a:srgbClr val="717171"/>
                </a:solidFill>
                <a:latin typeface="Poppins" pitchFamily="34" charset="0"/>
                <a:ea typeface="Poppins" pitchFamily="34" charset="-122"/>
                <a:cs typeface="Poppins" pitchFamily="34" charset="-120"/>
              </a:rPr>
              <a:t>reviews</a:t>
            </a:r>
            <a:endParaRPr lang="en-US" sz="1050"/>
          </a:p>
        </p:txBody>
      </p:sp>
      <p:sp>
        <p:nvSpPr>
          <p:cNvPr id="23" name="Text 19"/>
          <p:cNvSpPr/>
          <p:nvPr/>
        </p:nvSpPr>
        <p:spPr>
          <a:xfrm>
            <a:off x="731520" y="5532120"/>
            <a:ext cx="5120640" cy="411480"/>
          </a:xfrm>
          <a:prstGeom prst="rect">
            <a:avLst/>
          </a:prstGeom>
          <a:noFill/>
          <a:ln/>
        </p:spPr>
        <p:txBody>
          <a:bodyPr wrap="square" lIns="0" tIns="0" rIns="0" bIns="0" rtlCol="0" anchor="ctr"/>
          <a:lstStyle/>
          <a:p>
            <a:pPr marL="0" indent="0">
              <a:buNone/>
            </a:pPr>
            <a:r>
              <a:rPr lang="en-US" sz="1050" i="1">
                <a:solidFill>
                  <a:srgbClr val="717171"/>
                </a:solidFill>
                <a:latin typeface="Poppins" pitchFamily="34" charset="0"/>
                <a:ea typeface="Poppins" pitchFamily="34" charset="-122"/>
                <a:cs typeface="Poppins" pitchFamily="34" charset="-120"/>
              </a:rPr>
              <a:t>Host tenure shows no such pattern: flat at 37–39%. It’s the reviews, not the years.</a:t>
            </a:r>
            <a:endParaRPr lang="en-US" sz="1050"/>
          </a:p>
        </p:txBody>
      </p:sp>
      <p:sp>
        <p:nvSpPr>
          <p:cNvPr id="24" name="Shape 20"/>
          <p:cNvSpPr/>
          <p:nvPr/>
        </p:nvSpPr>
        <p:spPr>
          <a:xfrm>
            <a:off x="6426033" y="2342131"/>
            <a:ext cx="5569596" cy="3799089"/>
          </a:xfrm>
          <a:prstGeom prst="roundRect">
            <a:avLst>
              <a:gd name="adj" fmla="val 3373"/>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6537960" y="2514600"/>
            <a:ext cx="603504" cy="603504"/>
          </a:xfrm>
          <a:prstGeom prst="ellipse">
            <a:avLst/>
          </a:prstGeom>
          <a:solidFill>
            <a:srgbClr val="FFFFFF"/>
          </a:solidFill>
          <a:ln/>
        </p:spPr>
        <p:txBody>
          <a:bodyPr/>
          <a:lstStyle/>
          <a:p>
            <a:endParaRPr lang="en-US"/>
          </a:p>
        </p:txBody>
      </p:sp>
      <p:pic>
        <p:nvPicPr>
          <p:cNvPr id="26" name="Image 2" descr="/sessions/dreamy-trusting-noether/mnt/outputs/build/assets/scale_teal.png"/>
          <p:cNvPicPr>
            <a:picLocks noChangeAspect="1"/>
          </p:cNvPicPr>
          <p:nvPr/>
        </p:nvPicPr>
        <p:blipFill>
          <a:blip r:embed="rId5"/>
          <a:stretch>
            <a:fillRect/>
          </a:stretch>
        </p:blipFill>
        <p:spPr>
          <a:xfrm>
            <a:off x="6682801" y="2659441"/>
            <a:ext cx="313822" cy="313822"/>
          </a:xfrm>
          <a:prstGeom prst="rect">
            <a:avLst/>
          </a:prstGeom>
        </p:spPr>
      </p:pic>
      <p:sp>
        <p:nvSpPr>
          <p:cNvPr id="27" name="Text 22"/>
          <p:cNvSpPr/>
          <p:nvPr/>
        </p:nvSpPr>
        <p:spPr>
          <a:xfrm>
            <a:off x="7278624" y="2542032"/>
            <a:ext cx="4206240" cy="365760"/>
          </a:xfrm>
          <a:prstGeom prst="rect">
            <a:avLst/>
          </a:prstGeom>
          <a:noFill/>
          <a:ln/>
        </p:spPr>
        <p:txBody>
          <a:bodyPr wrap="square" lIns="0" tIns="0" rIns="0" bIns="0" rtlCol="0" anchor="ctr"/>
          <a:lstStyle/>
          <a:p>
            <a:r>
              <a:rPr lang="en-US" sz="1500" b="1">
                <a:solidFill>
                  <a:srgbClr val="222222"/>
                </a:solidFill>
                <a:latin typeface="Poppins"/>
                <a:cs typeface="Poppins"/>
              </a:rPr>
              <a:t>Which is why we built a model</a:t>
            </a:r>
            <a:endParaRPr lang="en-US"/>
          </a:p>
        </p:txBody>
      </p:sp>
      <p:sp>
        <p:nvSpPr>
          <p:cNvPr id="28" name="Text 23"/>
          <p:cNvSpPr/>
          <p:nvPr/>
        </p:nvSpPr>
        <p:spPr>
          <a:xfrm>
            <a:off x="6683815" y="3454081"/>
            <a:ext cx="4463487" cy="541393"/>
          </a:xfrm>
          <a:prstGeom prst="rect">
            <a:avLst/>
          </a:prstGeom>
          <a:noFill/>
          <a:ln/>
        </p:spPr>
        <p:txBody>
          <a:bodyPr wrap="square" lIns="0" tIns="0" rIns="0" bIns="0" rtlCol="0" anchor="t"/>
          <a:lstStyle/>
          <a:p>
            <a:pPr>
              <a:lnSpc>
                <a:spcPct val="107000"/>
              </a:lnSpc>
            </a:pPr>
            <a:r>
              <a:rPr lang="en-US">
                <a:solidFill>
                  <a:srgbClr val="4A4A4A"/>
                </a:solidFill>
                <a:latin typeface="Poppins"/>
                <a:ea typeface="Poppins" pitchFamily="34" charset="-122"/>
                <a:cs typeface="Poppins"/>
              </a:rPr>
              <a:t>Is this listing expensive? --&gt; No answer until...</a:t>
            </a:r>
            <a:endParaRPr lang="en-US">
              <a:solidFill>
                <a:srgbClr val="4A4A4A"/>
              </a:solidFill>
              <a:latin typeface="Poppins"/>
              <a:cs typeface="Poppins"/>
            </a:endParaRPr>
          </a:p>
        </p:txBody>
      </p:sp>
      <p:sp>
        <p:nvSpPr>
          <p:cNvPr id="29" name="Shape 24"/>
          <p:cNvSpPr/>
          <p:nvPr/>
        </p:nvSpPr>
        <p:spPr>
          <a:xfrm>
            <a:off x="6556696" y="4300928"/>
            <a:ext cx="4854567" cy="1453547"/>
          </a:xfrm>
          <a:prstGeom prst="roundRect">
            <a:avLst>
              <a:gd name="adj" fmla="val 11429"/>
            </a:avLst>
          </a:prstGeom>
          <a:solidFill>
            <a:srgbClr val="FFFFFF"/>
          </a:solidFill>
          <a:ln/>
        </p:spPr>
        <p:txBody>
          <a:bodyPr/>
          <a:lstStyle/>
          <a:p>
            <a:endParaRPr lang="en-US"/>
          </a:p>
        </p:txBody>
      </p:sp>
      <p:sp>
        <p:nvSpPr>
          <p:cNvPr id="30" name="Text 25"/>
          <p:cNvSpPr/>
          <p:nvPr/>
        </p:nvSpPr>
        <p:spPr>
          <a:xfrm>
            <a:off x="6997657" y="4350646"/>
            <a:ext cx="4428595" cy="1468536"/>
          </a:xfrm>
          <a:prstGeom prst="rect">
            <a:avLst/>
          </a:prstGeom>
          <a:noFill/>
          <a:ln/>
        </p:spPr>
        <p:txBody>
          <a:bodyPr wrap="square" lIns="0" tIns="0" rIns="0" bIns="0" rtlCol="0" anchor="ctr"/>
          <a:lstStyle/>
          <a:p>
            <a:pPr>
              <a:lnSpc>
                <a:spcPct val="105000"/>
              </a:lnSpc>
            </a:pPr>
            <a:r>
              <a:rPr lang="en-US" sz="1250" b="1" i="1">
                <a:solidFill>
                  <a:srgbClr val="007A73"/>
                </a:solidFill>
                <a:latin typeface="Poppins"/>
                <a:ea typeface="Poppins" pitchFamily="34" charset="-122"/>
                <a:cs typeface="Poppins"/>
              </a:rPr>
              <a:t>Why our model? --&gt; A fair price against similar listings, not against the market average.</a:t>
            </a:r>
            <a:endParaRPr lang="en-US" sz="1250">
              <a:latin typeface="Poppins"/>
              <a:cs typeface="Poppi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06 · THE SOLUTION</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Not another calculator: an explanation</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When someone tells you to change your price, your first question is “why?” Our product answers it.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7</a:t>
            </a:r>
            <a:endParaRPr lang="en-US" sz="900"/>
          </a:p>
        </p:txBody>
      </p:sp>
      <p:sp>
        <p:nvSpPr>
          <p:cNvPr id="12" name="Shape 8"/>
          <p:cNvSpPr/>
          <p:nvPr/>
        </p:nvSpPr>
        <p:spPr>
          <a:xfrm>
            <a:off x="502920"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40664" y="2542032"/>
            <a:ext cx="548640" cy="548640"/>
          </a:xfrm>
          <a:prstGeom prst="ellipse">
            <a:avLst/>
          </a:prstGeom>
          <a:solidFill>
            <a:srgbClr val="FFEEF2"/>
          </a:solidFill>
          <a:ln/>
        </p:spPr>
        <p:txBody>
          <a:bodyPr/>
          <a:lstStyle/>
          <a:p>
            <a:endParaRPr lang="en-US"/>
          </a:p>
        </p:txBody>
      </p:sp>
      <p:pic>
        <p:nvPicPr>
          <p:cNvPr id="14" name="Image 2" descr="/sessions/dreamy-trusting-noether/mnt/outputs/build/assets/dollar_coral.png"/>
          <p:cNvPicPr>
            <a:picLocks noChangeAspect="1"/>
          </p:cNvPicPr>
          <p:nvPr/>
        </p:nvPicPr>
        <p:blipFill>
          <a:blip r:embed="rId5"/>
          <a:stretch>
            <a:fillRect/>
          </a:stretch>
        </p:blipFill>
        <p:spPr>
          <a:xfrm>
            <a:off x="872338" y="2673706"/>
            <a:ext cx="285293" cy="285293"/>
          </a:xfrm>
          <a:prstGeom prst="rect">
            <a:avLst/>
          </a:prstGeom>
        </p:spPr>
      </p:pic>
      <p:sp>
        <p:nvSpPr>
          <p:cNvPr id="15" name="Text 10"/>
          <p:cNvSpPr/>
          <p:nvPr/>
        </p:nvSpPr>
        <p:spPr>
          <a:xfrm>
            <a:off x="1380744" y="2578608"/>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A recommended fair value</a:t>
            </a:r>
            <a:endParaRPr lang="en-US" sz="130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One clear number, calibrated to the listing.</a:t>
            </a:r>
            <a:endParaRPr lang="en-US" sz="1100"/>
          </a:p>
        </p:txBody>
      </p:sp>
      <p:sp>
        <p:nvSpPr>
          <p:cNvPr id="17" name="Shape 12"/>
          <p:cNvSpPr/>
          <p:nvPr/>
        </p:nvSpPr>
        <p:spPr>
          <a:xfrm>
            <a:off x="4146804"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4384548" y="2542032"/>
            <a:ext cx="548640" cy="548640"/>
          </a:xfrm>
          <a:prstGeom prst="ellipse">
            <a:avLst/>
          </a:prstGeom>
          <a:solidFill>
            <a:srgbClr val="E6F6F4"/>
          </a:solidFill>
          <a:ln/>
        </p:spPr>
        <p:txBody>
          <a:bodyPr/>
          <a:lstStyle/>
          <a:p>
            <a:endParaRPr lang="en-US"/>
          </a:p>
        </p:txBody>
      </p:sp>
      <p:pic>
        <p:nvPicPr>
          <p:cNvPr id="19" name="Image 3" descr="/sessions/dreamy-trusting-noether/mnt/outputs/build/assets/search_teal.png"/>
          <p:cNvPicPr>
            <a:picLocks noChangeAspect="1"/>
          </p:cNvPicPr>
          <p:nvPr/>
        </p:nvPicPr>
        <p:blipFill>
          <a:blip r:embed="rId6"/>
          <a:stretch>
            <a:fillRect/>
          </a:stretch>
        </p:blipFill>
        <p:spPr>
          <a:xfrm>
            <a:off x="4516222" y="2673706"/>
            <a:ext cx="285293" cy="285293"/>
          </a:xfrm>
          <a:prstGeom prst="rect">
            <a:avLst/>
          </a:prstGeom>
        </p:spPr>
      </p:pic>
      <p:sp>
        <p:nvSpPr>
          <p:cNvPr id="20" name="Text 14"/>
          <p:cNvSpPr/>
          <p:nvPr/>
        </p:nvSpPr>
        <p:spPr>
          <a:xfrm>
            <a:off x="5024628" y="2578608"/>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Comparable listings</a:t>
            </a:r>
            <a:endParaRPr lang="en-US" sz="130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The real, similar properties that support it.</a:t>
            </a:r>
            <a:endParaRPr lang="en-US" sz="1100"/>
          </a:p>
        </p:txBody>
      </p:sp>
      <p:sp>
        <p:nvSpPr>
          <p:cNvPr id="22" name="Shape 16"/>
          <p:cNvSpPr/>
          <p:nvPr/>
        </p:nvSpPr>
        <p:spPr>
          <a:xfrm>
            <a:off x="502920"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80560"/>
            <a:ext cx="548640" cy="548640"/>
          </a:xfrm>
          <a:prstGeom prst="ellipse">
            <a:avLst/>
          </a:prstGeom>
          <a:solidFill>
            <a:srgbClr val="FFEEF2"/>
          </a:solidFill>
          <a:ln/>
        </p:spPr>
        <p:txBody>
          <a:bodyPr/>
          <a:lstStyle/>
          <a:p>
            <a:endParaRPr lang="en-US"/>
          </a:p>
        </p:txBody>
      </p:sp>
      <p:pic>
        <p:nvPicPr>
          <p:cNvPr id="24" name="Image 4" descr="/sessions/dreamy-trusting-noether/mnt/outputs/build/assets/sparkle_coral.png"/>
          <p:cNvPicPr>
            <a:picLocks noChangeAspect="1"/>
          </p:cNvPicPr>
          <p:nvPr/>
        </p:nvPicPr>
        <p:blipFill>
          <a:blip r:embed="rId7"/>
          <a:stretch>
            <a:fillRect/>
          </a:stretch>
        </p:blipFill>
        <p:spPr>
          <a:xfrm>
            <a:off x="872338" y="4612234"/>
            <a:ext cx="285293" cy="285293"/>
          </a:xfrm>
          <a:prstGeom prst="rect">
            <a:avLst/>
          </a:prstGeom>
        </p:spPr>
      </p:pic>
      <p:sp>
        <p:nvSpPr>
          <p:cNvPr id="25" name="Text 18"/>
          <p:cNvSpPr/>
          <p:nvPr/>
        </p:nvSpPr>
        <p:spPr>
          <a:xfrm>
            <a:off x="1380744" y="4517136"/>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Amenity differences</a:t>
            </a:r>
            <a:endParaRPr lang="en-US" sz="130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What comparable high performers offer that you don't.</a:t>
            </a:r>
            <a:endParaRPr lang="en-US" sz="1100"/>
          </a:p>
        </p:txBody>
      </p:sp>
      <p:sp>
        <p:nvSpPr>
          <p:cNvPr id="27" name="Shape 20"/>
          <p:cNvSpPr/>
          <p:nvPr/>
        </p:nvSpPr>
        <p:spPr>
          <a:xfrm>
            <a:off x="4146804"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384548" y="4480560"/>
            <a:ext cx="548640" cy="548640"/>
          </a:xfrm>
          <a:prstGeom prst="ellipse">
            <a:avLst/>
          </a:prstGeom>
          <a:solidFill>
            <a:srgbClr val="E6F6F4"/>
          </a:solidFill>
          <a:ln/>
        </p:spPr>
        <p:txBody>
          <a:bodyPr/>
          <a:lstStyle/>
          <a:p>
            <a:endParaRPr lang="en-US"/>
          </a:p>
        </p:txBody>
      </p:sp>
      <p:pic>
        <p:nvPicPr>
          <p:cNvPr id="29" name="Image 5" descr="/sessions/dreamy-trusting-noether/mnt/outputs/build/assets/trend_teal.png"/>
          <p:cNvPicPr>
            <a:picLocks noChangeAspect="1"/>
          </p:cNvPicPr>
          <p:nvPr/>
        </p:nvPicPr>
        <p:blipFill>
          <a:blip r:embed="rId8"/>
          <a:stretch>
            <a:fillRect/>
          </a:stretch>
        </p:blipFill>
        <p:spPr>
          <a:xfrm>
            <a:off x="4516222" y="4612234"/>
            <a:ext cx="285293" cy="285293"/>
          </a:xfrm>
          <a:prstGeom prst="rect">
            <a:avLst/>
          </a:prstGeom>
        </p:spPr>
      </p:pic>
      <p:sp>
        <p:nvSpPr>
          <p:cNvPr id="30" name="Text 22"/>
          <p:cNvSpPr/>
          <p:nvPr/>
        </p:nvSpPr>
        <p:spPr>
          <a:xfrm>
            <a:off x="5024628" y="4517136"/>
            <a:ext cx="2391156" cy="502920"/>
          </a:xfrm>
          <a:prstGeom prst="rect">
            <a:avLst/>
          </a:prstGeom>
          <a:noFill/>
          <a:ln/>
        </p:spPr>
        <p:txBody>
          <a:bodyPr wrap="square" lIns="0" tIns="0" rIns="0" bIns="0" rtlCol="0" anchor="ctr"/>
          <a:lstStyle/>
          <a:p>
            <a:pPr marL="0" indent="0">
              <a:lnSpc>
                <a:spcPct val="95000"/>
              </a:lnSpc>
              <a:buNone/>
            </a:pPr>
            <a:r>
              <a:rPr lang="en-US" sz="1300" b="1">
                <a:solidFill>
                  <a:srgbClr val="222222"/>
                </a:solidFill>
                <a:latin typeface="Poppins" pitchFamily="34" charset="0"/>
                <a:ea typeface="Poppins" pitchFamily="34" charset="-122"/>
                <a:cs typeface="Poppins" pitchFamily="34" charset="-120"/>
              </a:rPr>
              <a:t>A revenue what-if</a:t>
            </a:r>
            <a:endParaRPr lang="en-US" sz="130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Explore how changing price could affect revenue.</a:t>
            </a:r>
            <a:endParaRPr lang="en-US" sz="1100"/>
          </a:p>
        </p:txBody>
      </p:sp>
      <p:sp>
        <p:nvSpPr>
          <p:cNvPr id="32" name="Shape 24"/>
          <p:cNvSpPr/>
          <p:nvPr/>
        </p:nvSpPr>
        <p:spPr>
          <a:xfrm>
            <a:off x="7772400" y="2286000"/>
            <a:ext cx="39136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046720" y="2560320"/>
            <a:ext cx="603504" cy="603504"/>
          </a:xfrm>
          <a:prstGeom prst="ellipse">
            <a:avLst/>
          </a:prstGeom>
          <a:solidFill>
            <a:srgbClr val="FFFFFF"/>
          </a:solidFill>
          <a:ln/>
        </p:spPr>
        <p:txBody>
          <a:bodyPr/>
          <a:lstStyle/>
          <a:p>
            <a:endParaRPr lang="en-US"/>
          </a:p>
        </p:txBody>
      </p:sp>
      <p:pic>
        <p:nvPicPr>
          <p:cNvPr id="34" name="Image 6" descr="/sessions/dreamy-trusting-noether/mnt/outputs/build/assets/compass_coral.png"/>
          <p:cNvPicPr>
            <a:picLocks noChangeAspect="1"/>
          </p:cNvPicPr>
          <p:nvPr/>
        </p:nvPicPr>
        <p:blipFill>
          <a:blip r:embed="rId9"/>
          <a:stretch>
            <a:fillRect/>
          </a:stretch>
        </p:blipFill>
        <p:spPr>
          <a:xfrm>
            <a:off x="8191561" y="2705161"/>
            <a:ext cx="313822" cy="313822"/>
          </a:xfrm>
          <a:prstGeom prst="rect">
            <a:avLst/>
          </a:prstGeom>
        </p:spPr>
      </p:pic>
      <p:sp>
        <p:nvSpPr>
          <p:cNvPr id="35" name="Text 26"/>
          <p:cNvSpPr/>
          <p:nvPr/>
        </p:nvSpPr>
        <p:spPr>
          <a:xfrm>
            <a:off x="8778240" y="2578608"/>
            <a:ext cx="2743200" cy="365760"/>
          </a:xfrm>
          <a:prstGeom prst="rect">
            <a:avLst/>
          </a:prstGeom>
          <a:noFill/>
          <a:ln/>
        </p:spPr>
        <p:txBody>
          <a:bodyPr wrap="square" lIns="0" tIns="0" rIns="0" bIns="0" rtlCol="0" anchor="ctr"/>
          <a:lstStyle/>
          <a:p>
            <a:pPr marL="0" indent="0">
              <a:buNone/>
            </a:pPr>
            <a:r>
              <a:rPr lang="en-US" sz="1450" b="1">
                <a:solidFill>
                  <a:srgbClr val="222222"/>
                </a:solidFill>
                <a:latin typeface="Poppins" pitchFamily="34" charset="0"/>
                <a:ea typeface="Poppins" pitchFamily="34" charset="-122"/>
                <a:cs typeface="Poppins" pitchFamily="34" charset="-120"/>
              </a:rPr>
              <a:t>“Commander's Intent”</a:t>
            </a:r>
            <a:endParaRPr lang="en-US" sz="145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250">
                <a:solidFill>
                  <a:srgbClr val="4A4A4A"/>
                </a:solidFill>
                <a:latin typeface="Poppins" pitchFamily="34" charset="0"/>
                <a:ea typeface="Poppins" pitchFamily="34" charset="-122"/>
                <a:cs typeface="Poppins" pitchFamily="34" charset="-120"/>
              </a:rPr>
              <a:t>People make better decisions when they understand the reasoning, not when they’re simply told what to do.</a:t>
            </a:r>
            <a:endParaRPr lang="en-US" sz="125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250" b="1">
                <a:solidFill>
                  <a:srgbClr val="FF385C"/>
                </a:solidFill>
                <a:latin typeface="Poppins" pitchFamily="34" charset="0"/>
                <a:ea typeface="Poppins" pitchFamily="34" charset="-122"/>
                <a:cs typeface="Poppins" pitchFamily="34" charset="-120"/>
              </a:rPr>
              <a:t>Hosts trust a recommendation when they understand where it came from. This is about pricing with confidence, not just predicting a price.</a:t>
            </a:r>
            <a:endParaRPr lang="en-US" sz="12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07 · MODEL &amp; INSIGHTS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a:solidFill>
                  <a:srgbClr val="222222"/>
                </a:solidFill>
                <a:latin typeface="Poppins" pitchFamily="34" charset="0"/>
                <a:ea typeface="Poppins" pitchFamily="34" charset="-122"/>
                <a:cs typeface="Poppins" pitchFamily="34" charset="-120"/>
              </a:rPr>
              <a:t>A price you can trust, and the reason behind it</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A gradient-boosting model sets the fair price; a nearest-neighbor model explains it.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8</a:t>
            </a:r>
            <a:endParaRPr lang="en-US" sz="900"/>
          </a:p>
        </p:txBody>
      </p:sp>
      <p:sp>
        <p:nvSpPr>
          <p:cNvPr id="12" name="Shape 8"/>
          <p:cNvSpPr/>
          <p:nvPr/>
        </p:nvSpPr>
        <p:spPr>
          <a:xfrm>
            <a:off x="502920" y="2240280"/>
            <a:ext cx="5468112" cy="2148840"/>
          </a:xfrm>
          <a:prstGeom prst="roundRect">
            <a:avLst>
              <a:gd name="adj" fmla="val 595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100" b="1">
                <a:solidFill>
                  <a:srgbClr val="FFFFFF"/>
                </a:solidFill>
                <a:latin typeface="Poppins" pitchFamily="34" charset="0"/>
                <a:ea typeface="Poppins" pitchFamily="34" charset="-122"/>
                <a:cs typeface="Poppins" pitchFamily="34" charset="-120"/>
              </a:rPr>
              <a:t>GBM</a:t>
            </a:r>
            <a:endParaRPr lang="en-US" sz="1100"/>
          </a:p>
        </p:txBody>
      </p:sp>
      <p:pic>
        <p:nvPicPr>
          <p:cNvPr id="15" name="Image 2" descr="/sessions/dreamy-trusting-noether/mnt/outputs/build/assets/cpu_coral.png"/>
          <p:cNvPicPr>
            <a:picLocks noChangeAspect="1"/>
          </p:cNvPicPr>
          <p:nvPr/>
        </p:nvPicPr>
        <p:blipFill>
          <a:blip r:embed="rId5"/>
          <a:stretch>
            <a:fillRect/>
          </a:stretch>
        </p:blipFill>
        <p:spPr>
          <a:xfrm>
            <a:off x="4965192" y="2514600"/>
            <a:ext cx="457200" cy="457200"/>
          </a:xfrm>
          <a:prstGeom prst="rect">
            <a:avLst/>
          </a:prstGeom>
        </p:spPr>
      </p:pic>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Fair market value</a:t>
            </a:r>
            <a:endParaRPr lang="en-US" sz="1500"/>
          </a:p>
        </p:txBody>
      </p:sp>
      <p:sp>
        <p:nvSpPr>
          <p:cNvPr id="17" name="Text 12"/>
          <p:cNvSpPr/>
          <p:nvPr/>
        </p:nvSpPr>
        <p:spPr>
          <a:xfrm>
            <a:off x="777240" y="3483864"/>
            <a:ext cx="4462272" cy="822960"/>
          </a:xfrm>
          <a:prstGeom prst="rect">
            <a:avLst/>
          </a:prstGeom>
          <a:noFill/>
          <a:ln/>
        </p:spPr>
        <p:txBody>
          <a:bodyPr wrap="square" lIns="0" tIns="0" rIns="0" bIns="0" rtlCol="0" anchor="t"/>
          <a:lstStyle/>
          <a:p>
            <a:pPr marL="0" indent="0">
              <a:lnSpc>
                <a:spcPct val="105000"/>
              </a:lnSpc>
              <a:buNone/>
            </a:pPr>
            <a:r>
              <a:rPr lang="en-US" sz="1150">
                <a:solidFill>
                  <a:srgbClr val="4A4A4A"/>
                </a:solidFill>
                <a:latin typeface="Poppins" pitchFamily="34" charset="0"/>
                <a:ea typeface="Poppins" pitchFamily="34" charset="-122"/>
                <a:cs typeface="Poppins" pitchFamily="34" charset="-120"/>
              </a:rPr>
              <a:t>Gradient boosting captures nonlinear interactions between location, amenities, property type and host, then returns a fair price with a confidence interval.</a:t>
            </a:r>
            <a:endParaRPr lang="en-US" sz="1150"/>
          </a:p>
        </p:txBody>
      </p:sp>
      <p:sp>
        <p:nvSpPr>
          <p:cNvPr id="18" name="Shape 13"/>
          <p:cNvSpPr/>
          <p:nvPr/>
        </p:nvSpPr>
        <p:spPr>
          <a:xfrm>
            <a:off x="6217920" y="2240280"/>
            <a:ext cx="5468112" cy="2148840"/>
          </a:xfrm>
          <a:prstGeom prst="roundRect">
            <a:avLst>
              <a:gd name="adj" fmla="val 5957"/>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100" b="1">
                <a:solidFill>
                  <a:srgbClr val="FFFFFF"/>
                </a:solidFill>
                <a:latin typeface="Poppins" pitchFamily="34" charset="0"/>
                <a:ea typeface="Poppins" pitchFamily="34" charset="-122"/>
                <a:cs typeface="Poppins" pitchFamily="34" charset="-120"/>
              </a:rPr>
              <a:t>KNN</a:t>
            </a:r>
            <a:endParaRPr lang="en-US" sz="1100"/>
          </a:p>
        </p:txBody>
      </p:sp>
      <p:pic>
        <p:nvPicPr>
          <p:cNvPr id="21" name="Image 3" descr="/sessions/dreamy-trusting-noether/mnt/outputs/build/assets/search_teal.png"/>
          <p:cNvPicPr>
            <a:picLocks noChangeAspect="1"/>
          </p:cNvPicPr>
          <p:nvPr/>
        </p:nvPicPr>
        <p:blipFill>
          <a:blip r:embed="rId6"/>
          <a:stretch>
            <a:fillRect/>
          </a:stretch>
        </p:blipFill>
        <p:spPr>
          <a:xfrm>
            <a:off x="11183112" y="2514600"/>
            <a:ext cx="457200" cy="457200"/>
          </a:xfrm>
          <a:prstGeom prst="rect">
            <a:avLst/>
          </a:prstGeom>
        </p:spPr>
      </p:pic>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Comparable listings</a:t>
            </a:r>
            <a:endParaRPr lang="en-US" sz="1500"/>
          </a:p>
        </p:txBody>
      </p:sp>
      <p:sp>
        <p:nvSpPr>
          <p:cNvPr id="23" name="Text 17"/>
          <p:cNvSpPr/>
          <p:nvPr/>
        </p:nvSpPr>
        <p:spPr>
          <a:xfrm>
            <a:off x="6492240" y="3483864"/>
            <a:ext cx="4919472" cy="822960"/>
          </a:xfrm>
          <a:prstGeom prst="rect">
            <a:avLst/>
          </a:prstGeom>
          <a:noFill/>
          <a:ln/>
        </p:spPr>
        <p:txBody>
          <a:bodyPr wrap="square" lIns="0" tIns="0" rIns="0" bIns="0" rtlCol="0" anchor="t"/>
          <a:lstStyle/>
          <a:p>
            <a:pPr marL="0" indent="0">
              <a:lnSpc>
                <a:spcPct val="105000"/>
              </a:lnSpc>
              <a:buNone/>
            </a:pPr>
            <a:r>
              <a:rPr lang="en-US" sz="1150">
                <a:solidFill>
                  <a:srgbClr val="4A4A4A"/>
                </a:solidFill>
                <a:latin typeface="Poppins" pitchFamily="34" charset="0"/>
                <a:ea typeface="Poppins" pitchFamily="34" charset="-122"/>
                <a:cs typeface="Poppins" pitchFamily="34" charset="-120"/>
              </a:rPr>
              <a:t>The price isn't a black box: nearest-neighbors surfaces the similar listings, and their amenities, that stand behind each recommendation.</a:t>
            </a:r>
            <a:endParaRPr lang="en-US" sz="1150"/>
          </a:p>
        </p:txBody>
      </p:sp>
      <p:sp>
        <p:nvSpPr>
          <p:cNvPr id="24" name="Shape 18"/>
          <p:cNvSpPr/>
          <p:nvPr/>
        </p:nvSpPr>
        <p:spPr>
          <a:xfrm>
            <a:off x="502920" y="4617720"/>
            <a:ext cx="1118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3400" b="1">
                <a:solidFill>
                  <a:srgbClr val="FF385C"/>
                </a:solidFill>
                <a:latin typeface="Poppins" pitchFamily="34" charset="0"/>
                <a:ea typeface="Poppins" pitchFamily="34" charset="-122"/>
                <a:cs typeface="Poppins" pitchFamily="34" charset="-120"/>
              </a:rPr>
              <a:t>19.2%</a:t>
            </a:r>
            <a:endParaRPr lang="en-US" sz="340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050">
                <a:solidFill>
                  <a:srgbClr val="717171"/>
                </a:solidFill>
                <a:latin typeface="Poppins" pitchFamily="34" charset="0"/>
                <a:ea typeface="Poppins" pitchFamily="34" charset="-122"/>
                <a:cs typeface="Poppins" pitchFamily="34" charset="-120"/>
              </a:rPr>
              <a:t>median error, roughly half the error of a plain regression</a:t>
            </a:r>
            <a:endParaRPr lang="en-US" sz="1050"/>
          </a:p>
        </p:txBody>
      </p:sp>
      <p:sp>
        <p:nvSpPr>
          <p:cNvPr id="27" name="Shape 21"/>
          <p:cNvSpPr/>
          <p:nvPr/>
        </p:nvSpPr>
        <p:spPr>
          <a:xfrm>
            <a:off x="3611880" y="4800600"/>
            <a:ext cx="0" cy="1005840"/>
          </a:xfrm>
          <a:prstGeom prst="line">
            <a:avLst/>
          </a:prstGeom>
          <a:noFill/>
          <a:ln w="12700">
            <a:solidFill>
              <a:srgbClr val="EBEBEB"/>
            </a:solidFill>
            <a:prstDash val="solid"/>
          </a:ln>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150" b="1">
                <a:solidFill>
                  <a:srgbClr val="222222"/>
                </a:solidFill>
                <a:latin typeface="Poppins" pitchFamily="34" charset="0"/>
                <a:ea typeface="Poppins" pitchFamily="34" charset="-122"/>
                <a:cs typeface="Poppins" pitchFamily="34" charset="-120"/>
              </a:rPr>
              <a:t>Two halves that pay off differently.  </a:t>
            </a:r>
            <a:r>
              <a:rPr lang="en-US" sz="1150">
                <a:solidFill>
                  <a:srgbClr val="4A4A4A"/>
                </a:solidFill>
                <a:latin typeface="Poppins" pitchFamily="34" charset="0"/>
                <a:ea typeface="Poppins" pitchFamily="34" charset="-122"/>
                <a:cs typeface="Poppins" pitchFamily="34" charset="-120"/>
              </a:rPr>
              <a:t>Roughly half of listings read underpriced against fair value and half overpriced. Raising an underpriced listing adds margin. Cutting an overpriced one adds volume: it fills nights that were sitting empty. Our number counts both.</a:t>
            </a:r>
            <a:endParaRPr lang="en-US" sz="11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08 · PRODUCT WALKTHROUGH</a:t>
            </a:r>
            <a:endParaRPr lang="en-US" sz="120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000" b="1">
                <a:solidFill>
                  <a:srgbClr val="222222"/>
                </a:solidFill>
                <a:latin typeface="Poppins" pitchFamily="34" charset="0"/>
                <a:ea typeface="Poppins" pitchFamily="34" charset="-122"/>
                <a:cs typeface="Poppins" pitchFamily="34" charset="-120"/>
              </a:rPr>
              <a:t>The dashboard, in three clicks</a:t>
            </a:r>
            <a:endParaRPr lang="en-US" sz="300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sp>
        <p:nvSpPr>
          <p:cNvPr id="7" name="Shape 5"/>
          <p:cNvSpPr/>
          <p:nvPr/>
        </p:nvSpPr>
        <p:spPr>
          <a:xfrm>
            <a:off x="502920" y="1600200"/>
            <a:ext cx="7360920" cy="4160520"/>
          </a:xfrm>
          <a:prstGeom prst="roundRect">
            <a:avLst>
              <a:gd name="adj" fmla="val 3516"/>
            </a:avLst>
          </a:prstGeom>
          <a:solidFill>
            <a:srgbClr val="FFFFFF"/>
          </a:solidFill>
          <a:ln w="12700">
            <a:solidFill>
              <a:srgbClr val="EBEBEB"/>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5"/>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Airbnb Pricing Intelligence</a:t>
            </a:r>
            <a:endParaRPr lang="en-US" sz="130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a:solidFill>
                  <a:srgbClr val="FFFFFF"/>
                </a:solidFill>
                <a:latin typeface="Poppins" pitchFamily="34" charset="0"/>
                <a:ea typeface="Poppins" pitchFamily="34" charset="-122"/>
                <a:cs typeface="Poppins" pitchFamily="34" charset="-120"/>
              </a:rPr>
              <a:t>Greenpoint Place · Entire home · Brooklyn</a:t>
            </a:r>
            <a:endParaRPr lang="en-US" sz="105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RECOMMENDED FAIR VALUE</a:t>
            </a:r>
            <a:endParaRPr lang="en-US" sz="100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a:solidFill>
                  <a:srgbClr val="222222"/>
                </a:solidFill>
                <a:latin typeface="Poppins" pitchFamily="34" charset="0"/>
                <a:ea typeface="Poppins" pitchFamily="34" charset="-122"/>
                <a:cs typeface="Poppins" pitchFamily="34" charset="-120"/>
              </a:rPr>
              <a:t>$222</a:t>
            </a:r>
            <a:r>
              <a:rPr lang="en-US" sz="1400">
                <a:solidFill>
                  <a:srgbClr val="717171"/>
                </a:solidFill>
                <a:latin typeface="Poppins" pitchFamily="34" charset="0"/>
                <a:ea typeface="Poppins" pitchFamily="34" charset="-122"/>
                <a:cs typeface="Poppins" pitchFamily="34" charset="-120"/>
              </a:rPr>
              <a:t>  /night</a:t>
            </a:r>
            <a:endParaRPr lang="en-US" sz="440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a:solidFill>
                  <a:srgbClr val="717171"/>
                </a:solidFill>
                <a:latin typeface="Poppins" pitchFamily="34" charset="0"/>
                <a:ea typeface="Poppins" pitchFamily="34" charset="-122"/>
                <a:cs typeface="Poppins" pitchFamily="34" charset="-120"/>
              </a:rPr>
              <a:t>Confidence range $188 – $256</a:t>
            </a:r>
            <a:endParaRPr lang="en-US" sz="1100"/>
          </a:p>
        </p:txBody>
      </p:sp>
      <p:sp>
        <p:nvSpPr>
          <p:cNvPr id="17" name="Shape 14"/>
          <p:cNvSpPr/>
          <p:nvPr/>
        </p:nvSpPr>
        <p:spPr>
          <a:xfrm>
            <a:off x="4480560" y="2651760"/>
            <a:ext cx="3063240" cy="914400"/>
          </a:xfrm>
          <a:prstGeom prst="roundRect">
            <a:avLst>
              <a:gd name="adj" fmla="val 12000"/>
            </a:avLst>
          </a:prstGeom>
          <a:solidFill>
            <a:srgbClr val="FFEEF2"/>
          </a:solidFill>
          <a:ln/>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YOUR PRICE $138</a:t>
            </a:r>
            <a:endParaRPr lang="en-US" sz="110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a:solidFill>
                  <a:srgbClr val="FF385C"/>
                </a:solidFill>
                <a:latin typeface="Poppins" pitchFamily="34" charset="0"/>
                <a:ea typeface="Poppins" pitchFamily="34" charset="-122"/>
                <a:cs typeface="Poppins" pitchFamily="34" charset="-120"/>
              </a:rPr>
              <a:t>38% below fair value</a:t>
            </a:r>
            <a:endParaRPr lang="en-US" sz="160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PROJECTED REVENUE · DRAG TO EXPLORE</a:t>
            </a:r>
            <a:endParaRPr lang="en-US" sz="100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$138</a:t>
            </a:r>
            <a:endParaRPr lang="en-US" sz="90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$222 (fair)</a:t>
            </a:r>
            <a:endParaRPr lang="en-US" sz="90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$256 (max)</a:t>
            </a:r>
            <a:endParaRPr lang="en-US" sz="90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950" i="1">
                <a:solidFill>
                  <a:srgbClr val="9AA0A6"/>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a:p>
        </p:txBody>
      </p:sp>
      <p:pic>
        <p:nvPicPr>
          <p:cNvPr id="48" name="Image 1" descr="/sessions/dreamy-trusting-noether/mnt/outputs/build/assets/cornell_dark.png"/>
          <p:cNvPicPr>
            <a:picLocks noChangeAspect="1"/>
          </p:cNvPicPr>
          <p:nvPr/>
        </p:nvPicPr>
        <p:blipFill>
          <a:blip r:embed="rId6"/>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5"/>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9</a:t>
            </a:r>
            <a:endParaRPr lang="en-US" sz="900"/>
          </a:p>
        </p:txBody>
      </p:sp>
      <p:sp>
        <p:nvSpPr>
          <p:cNvPr id="52" name="TextBox 51"/>
          <p:cNvSpPr txBox="1"/>
          <p:nvPr/>
        </p:nvSpPr>
        <p:spPr>
          <a:xfrm>
            <a:off x="8016240" y="3077938"/>
            <a:ext cx="4041648" cy="1097280"/>
          </a:xfrm>
          <a:prstGeom prst="rect">
            <a:avLst/>
          </a:prstGeom>
          <a:noFill/>
        </p:spPr>
        <p:txBody>
          <a:bodyPr wrap="square">
            <a:spAutoFit/>
          </a:bodyPr>
          <a:lstStyle/>
          <a:p>
            <a:pPr algn="ctr"/>
            <a:r>
              <a:rPr sz="1300" b="1">
                <a:solidFill>
                  <a:srgbClr val="FF385C"/>
                </a:solidFill>
              </a:rPr>
              <a:t>Recorded product demo</a:t>
            </a:r>
          </a:p>
          <a:p>
            <a:pPr algn="ctr"/>
            <a:r>
              <a:rPr sz="1000">
                <a:solidFill>
                  <a:srgbClr val="717171"/>
                </a:solidFill>
              </a:rPr>
              <a:t>Embedded in the presentation file. Too large for the repository; the link is in the README.</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09 · FROM PRICE TO REVENUE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a:solidFill>
                  <a:srgbClr val="222222"/>
                </a:solidFill>
                <a:latin typeface="Poppins" pitchFamily="34" charset="0"/>
                <a:ea typeface="Poppins" pitchFamily="34" charset="-122"/>
                <a:cs typeface="Poppins" pitchFamily="34" charset="-120"/>
              </a:rPr>
              <a:t>Does moving the price make money?</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Our most rigorous piece of analysis: we measured price sensitivity directly, on real third-party data.</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5"/>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10</a:t>
            </a:r>
            <a:endParaRPr lang="en-US" sz="900"/>
          </a:p>
        </p:txBody>
      </p:sp>
      <p:sp>
        <p:nvSpPr>
          <p:cNvPr id="12" name="Shape 8"/>
          <p:cNvSpPr/>
          <p:nvPr/>
        </p:nvSpPr>
        <p:spPr>
          <a:xfrm>
            <a:off x="475488" y="217170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656795" y="2235708"/>
            <a:ext cx="548640" cy="548640"/>
          </a:xfrm>
          <a:prstGeom prst="ellipse">
            <a:avLst/>
          </a:prstGeom>
          <a:solidFill>
            <a:srgbClr val="FFFFFF"/>
          </a:solidFill>
          <a:ln/>
        </p:spPr>
        <p:txBody>
          <a:bodyPr/>
          <a:lstStyle/>
          <a:p>
            <a:endParaRPr lang="en-US"/>
          </a:p>
        </p:txBody>
      </p:sp>
      <p:pic>
        <p:nvPicPr>
          <p:cNvPr id="14" name="Image 2" descr="/sessions/dreamy-trusting-noether/mnt/outputs/build/assets/bar_teal.png"/>
          <p:cNvPicPr>
            <a:picLocks noChangeAspect="1"/>
          </p:cNvPicPr>
          <p:nvPr/>
        </p:nvPicPr>
        <p:blipFill>
          <a:blip r:embed="rId6"/>
          <a:stretch>
            <a:fillRect/>
          </a:stretch>
        </p:blipFill>
        <p:spPr>
          <a:xfrm>
            <a:off x="788468" y="2344521"/>
            <a:ext cx="285293" cy="285293"/>
          </a:xfrm>
          <a:prstGeom prst="rect">
            <a:avLst/>
          </a:prstGeom>
        </p:spPr>
      </p:pic>
      <p:sp>
        <p:nvSpPr>
          <p:cNvPr id="15" name="Text 10"/>
          <p:cNvSpPr/>
          <p:nvPr/>
        </p:nvSpPr>
        <p:spPr>
          <a:xfrm>
            <a:off x="1481328" y="2505456"/>
            <a:ext cx="3730752" cy="274320"/>
          </a:xfrm>
          <a:prstGeom prst="rect">
            <a:avLst/>
          </a:prstGeom>
          <a:noFill/>
          <a:ln/>
        </p:spPr>
        <p:txBody>
          <a:bodyPr wrap="square" lIns="0" tIns="0" rIns="0" bIns="0" rtlCol="0" anchor="ctr"/>
          <a:lstStyle/>
          <a:p>
            <a:pPr marL="0" indent="0">
              <a:buNone/>
            </a:pPr>
            <a:r>
              <a:rPr lang="en-US" sz="1050" b="1" kern="0" spc="100">
                <a:solidFill>
                  <a:srgbClr val="007A73"/>
                </a:solidFill>
                <a:latin typeface="Poppins" pitchFamily="34" charset="0"/>
                <a:ea typeface="Poppins" pitchFamily="34" charset="-122"/>
                <a:cs typeface="Poppins" pitchFamily="34" charset="-120"/>
              </a:rPr>
              <a:t>THE MEASUREMENT</a:t>
            </a:r>
            <a:endParaRPr lang="en-US" sz="1050"/>
          </a:p>
        </p:txBody>
      </p:sp>
      <p:sp>
        <p:nvSpPr>
          <p:cNvPr id="16" name="Text 11"/>
          <p:cNvSpPr/>
          <p:nvPr/>
        </p:nvSpPr>
        <p:spPr>
          <a:xfrm>
            <a:off x="777240" y="2834640"/>
            <a:ext cx="4965192" cy="457200"/>
          </a:xfrm>
          <a:prstGeom prst="rect">
            <a:avLst/>
          </a:prstGeom>
          <a:noFill/>
          <a:ln/>
        </p:spPr>
        <p:txBody>
          <a:bodyPr wrap="square" lIns="0" tIns="0" rIns="0" bIns="0" rtlCol="0" anchor="ctr"/>
          <a:lstStyle/>
          <a:p>
            <a:pPr marL="0" indent="0">
              <a:buNone/>
            </a:pPr>
            <a:r>
              <a:rPr lang="en-US" sz="2900" b="1">
                <a:solidFill>
                  <a:srgbClr val="007A73"/>
                </a:solidFill>
                <a:latin typeface="Poppins" pitchFamily="34" charset="0"/>
                <a:ea typeface="Poppins" pitchFamily="34" charset="-122"/>
                <a:cs typeface="Poppins" pitchFamily="34" charset="-120"/>
              </a:rPr>
              <a:t>β = −0.92</a:t>
            </a:r>
            <a:r>
              <a:rPr lang="en-US" sz="1150">
                <a:solidFill>
                  <a:srgbClr val="4A4A4A"/>
                </a:solidFill>
                <a:latin typeface="Poppins" pitchFamily="34" charset="0"/>
                <a:ea typeface="Poppins" pitchFamily="34" charset="-122"/>
                <a:cs typeface="Poppins" pitchFamily="34" charset="-120"/>
              </a:rPr>
              <a:t>    95% CI  −1.30 to −0.54</a:t>
            </a:r>
            <a:endParaRPr lang="en-US" sz="2900"/>
          </a:p>
        </p:txBody>
      </p:sp>
      <p:sp>
        <p:nvSpPr>
          <p:cNvPr id="17" name="Text 12"/>
          <p:cNvSpPr/>
          <p:nvPr/>
        </p:nvSpPr>
        <p:spPr>
          <a:xfrm>
            <a:off x="777240" y="3310128"/>
            <a:ext cx="4965192" cy="603504"/>
          </a:xfrm>
          <a:prstGeom prst="rect">
            <a:avLst/>
          </a:prstGeom>
          <a:noFill/>
          <a:ln/>
        </p:spPr>
        <p:txBody>
          <a:bodyPr wrap="square" lIns="0" tIns="0" rIns="0" bIns="0" rtlCol="0" anchor="t"/>
          <a:lstStyle/>
          <a:p>
            <a:pPr marL="0" indent="0">
              <a:lnSpc>
                <a:spcPct val="104000"/>
              </a:lnSpc>
              <a:buNone/>
            </a:pPr>
            <a:r>
              <a:rPr lang="en-US" sz="1100">
                <a:solidFill>
                  <a:srgbClr val="4A4A4A"/>
                </a:solidFill>
                <a:latin typeface="Poppins" pitchFamily="34" charset="0"/>
                <a:ea typeface="Poppins" pitchFamily="34" charset="-122"/>
                <a:cs typeface="Poppins" pitchFamily="34" charset="-120"/>
              </a:rPr>
              <a:t>A two-way fixed-effects regression on a third-party occupancy panel, controlling for each listing and each month. A +1% change in price maps to a −0.92% change in booked occupancy.</a:t>
            </a:r>
            <a:endParaRPr lang="en-US" sz="1100"/>
          </a:p>
        </p:txBody>
      </p:sp>
      <p:sp>
        <p:nvSpPr>
          <p:cNvPr id="18" name="Shape 13"/>
          <p:cNvSpPr/>
          <p:nvPr/>
        </p:nvSpPr>
        <p:spPr>
          <a:xfrm>
            <a:off x="6217920" y="2194560"/>
            <a:ext cx="5468112" cy="1783080"/>
          </a:xfrm>
          <a:prstGeom prst="roundRect">
            <a:avLst>
              <a:gd name="adj" fmla="val 7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391656" y="2212848"/>
            <a:ext cx="548640" cy="548640"/>
          </a:xfrm>
          <a:prstGeom prst="ellipse">
            <a:avLst/>
          </a:prstGeom>
          <a:solidFill>
            <a:srgbClr val="FFFFFF"/>
          </a:solidFill>
          <a:ln/>
        </p:spPr>
        <p:txBody>
          <a:bodyPr/>
          <a:lstStyle/>
          <a:p>
            <a:endParaRPr lang="en-US"/>
          </a:p>
        </p:txBody>
      </p:sp>
      <p:pic>
        <p:nvPicPr>
          <p:cNvPr id="20" name="Image 3" descr="/sessions/dreamy-trusting-noether/mnt/outputs/build/assets/trend_coral.png"/>
          <p:cNvPicPr>
            <a:picLocks noChangeAspect="1"/>
          </p:cNvPicPr>
          <p:nvPr/>
        </p:nvPicPr>
        <p:blipFill>
          <a:blip r:embed="rId7"/>
          <a:stretch>
            <a:fillRect/>
          </a:stretch>
        </p:blipFill>
        <p:spPr>
          <a:xfrm>
            <a:off x="6523329" y="2355534"/>
            <a:ext cx="285293" cy="285293"/>
          </a:xfrm>
          <a:prstGeom prst="rect">
            <a:avLst/>
          </a:prstGeom>
        </p:spPr>
      </p:pic>
      <p:sp>
        <p:nvSpPr>
          <p:cNvPr id="21" name="Text 15"/>
          <p:cNvSpPr/>
          <p:nvPr/>
        </p:nvSpPr>
        <p:spPr>
          <a:xfrm>
            <a:off x="7196328" y="2505456"/>
            <a:ext cx="4279392" cy="274320"/>
          </a:xfrm>
          <a:prstGeom prst="rect">
            <a:avLst/>
          </a:prstGeom>
          <a:noFill/>
          <a:ln/>
        </p:spPr>
        <p:txBody>
          <a:bodyPr wrap="square" lIns="0" tIns="0" rIns="0" bIns="0" rtlCol="0" anchor="ctr"/>
          <a:lstStyle/>
          <a:p>
            <a:r>
              <a:rPr lang="en-US" sz="1050" b="1" kern="0" spc="100">
                <a:solidFill>
                  <a:srgbClr val="FF385C"/>
                </a:solidFill>
                <a:latin typeface="Poppins"/>
                <a:ea typeface="Poppins" pitchFamily="34" charset="-122"/>
                <a:cs typeface="Poppins"/>
              </a:rPr>
              <a:t>WHAT IT MEANS FOR Increasing Revenue</a:t>
            </a:r>
            <a:endParaRPr lang="en-US" sz="1050"/>
          </a:p>
        </p:txBody>
      </p:sp>
      <p:sp>
        <p:nvSpPr>
          <p:cNvPr id="22" name="Text 16"/>
          <p:cNvSpPr/>
          <p:nvPr/>
        </p:nvSpPr>
        <p:spPr>
          <a:xfrm>
            <a:off x="6492240" y="3202826"/>
            <a:ext cx="4965192" cy="457200"/>
          </a:xfrm>
          <a:prstGeom prst="rect">
            <a:avLst/>
          </a:prstGeom>
          <a:noFill/>
          <a:ln/>
        </p:spPr>
        <p:txBody>
          <a:bodyPr wrap="square" lIns="0" tIns="0" rIns="0" bIns="0" rtlCol="0" anchor="ctr"/>
          <a:lstStyle/>
          <a:p>
            <a:r>
              <a:rPr lang="en-US" sz="1600" b="1">
                <a:solidFill>
                  <a:srgbClr val="FF385C"/>
                </a:solidFill>
                <a:latin typeface="Poppins"/>
                <a:ea typeface="+mn-lt"/>
                <a:cs typeface="Poppins"/>
              </a:rPr>
              <a:t>Underpriced → raise price → wins when β &gt; −1 (inelastic)</a:t>
            </a:r>
            <a:endParaRPr lang="en-US" sz="1600">
              <a:ea typeface="Calibri"/>
              <a:cs typeface="Calibri"/>
            </a:endParaRPr>
          </a:p>
          <a:p>
            <a:endParaRPr lang="en-US" sz="1600" b="1">
              <a:solidFill>
                <a:srgbClr val="FF385C"/>
              </a:solidFill>
              <a:latin typeface="Poppins"/>
              <a:ea typeface="+mn-lt"/>
              <a:cs typeface="Poppins"/>
            </a:endParaRPr>
          </a:p>
          <a:p>
            <a:r>
              <a:rPr lang="en-US" sz="1600" b="1">
                <a:solidFill>
                  <a:srgbClr val="FF385C"/>
                </a:solidFill>
                <a:latin typeface="Poppins"/>
                <a:ea typeface="+mn-lt"/>
                <a:cs typeface="Poppins"/>
              </a:rPr>
              <a:t>Overpriced → cut price → wins β &lt; −1 (elastic)</a:t>
            </a:r>
            <a:endParaRPr lang="en-US" sz="1600">
              <a:ea typeface="Calibri"/>
              <a:cs typeface="Calibri"/>
            </a:endParaRPr>
          </a:p>
          <a:p>
            <a:endParaRPr lang="en-US" sz="2000" b="1">
              <a:solidFill>
                <a:srgbClr val="FF385C"/>
              </a:solidFill>
              <a:latin typeface="Poppins"/>
              <a:ea typeface="Calibri"/>
              <a:cs typeface="Poppins"/>
            </a:endParaRPr>
          </a:p>
        </p:txBody>
      </p:sp>
      <p:sp>
        <p:nvSpPr>
          <p:cNvPr id="24" name="Shape 18"/>
          <p:cNvSpPr/>
          <p:nvPr/>
        </p:nvSpPr>
        <p:spPr>
          <a:xfrm>
            <a:off x="502920" y="4160520"/>
            <a:ext cx="11183112" cy="1298448"/>
          </a:xfrm>
          <a:prstGeom prst="roundRect">
            <a:avLst>
              <a:gd name="adj" fmla="val 985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261104"/>
            <a:ext cx="7315200" cy="274320"/>
          </a:xfrm>
          <a:prstGeom prst="rect">
            <a:avLst/>
          </a:prstGeom>
          <a:noFill/>
          <a:ln/>
        </p:spPr>
        <p:txBody>
          <a:bodyPr wrap="square" lIns="0" tIns="0" rIns="0" bIns="0" rtlCol="0" anchor="ctr"/>
          <a:lstStyle/>
          <a:p>
            <a:pPr marL="0" indent="0">
              <a:buNone/>
            </a:pPr>
            <a:r>
              <a:rPr lang="en-US" sz="1200" b="1">
                <a:solidFill>
                  <a:srgbClr val="222222"/>
                </a:solidFill>
                <a:latin typeface="Poppins" pitchFamily="34" charset="0"/>
                <a:ea typeface="Poppins" pitchFamily="34" charset="-122"/>
                <a:cs typeface="Poppins" pitchFamily="34" charset="-120"/>
              </a:rPr>
              <a:t>Where our estimate sits on the elasticity line</a:t>
            </a:r>
            <a:endParaRPr lang="en-US" sz="1200"/>
          </a:p>
        </p:txBody>
      </p:sp>
      <p:sp>
        <p:nvSpPr>
          <p:cNvPr id="26" name="Shape 20"/>
          <p:cNvSpPr/>
          <p:nvPr/>
        </p:nvSpPr>
        <p:spPr>
          <a:xfrm>
            <a:off x="1554480" y="4919472"/>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4919472"/>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029200"/>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4791456"/>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572000"/>
            <a:ext cx="1691640" cy="219456"/>
          </a:xfrm>
          <a:prstGeom prst="rect">
            <a:avLst/>
          </a:prstGeom>
          <a:noFill/>
          <a:ln/>
        </p:spPr>
        <p:txBody>
          <a:bodyPr wrap="square" lIns="0" tIns="0" rIns="0" bIns="0" rtlCol="0" anchor="ctr"/>
          <a:lstStyle/>
          <a:p>
            <a:pPr marL="0" indent="0" algn="r">
              <a:buNone/>
            </a:pPr>
            <a:r>
              <a:rPr lang="en-US" sz="950" b="1">
                <a:solidFill>
                  <a:srgbClr val="222222"/>
                </a:solidFill>
                <a:latin typeface="Poppins" pitchFamily="34" charset="0"/>
                <a:ea typeface="Poppins" pitchFamily="34" charset="-122"/>
                <a:cs typeface="Poppins" pitchFamily="34" charset="-120"/>
              </a:rPr>
              <a:t>breakeven −1.0</a:t>
            </a:r>
            <a:endParaRPr lang="en-US" sz="950"/>
          </a:p>
        </p:txBody>
      </p:sp>
      <p:sp>
        <p:nvSpPr>
          <p:cNvPr id="31" name="Shape 25"/>
          <p:cNvSpPr/>
          <p:nvPr/>
        </p:nvSpPr>
        <p:spPr>
          <a:xfrm>
            <a:off x="6391656" y="4928616"/>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572000"/>
            <a:ext cx="2560320" cy="219456"/>
          </a:xfrm>
          <a:prstGeom prst="rect">
            <a:avLst/>
          </a:prstGeom>
          <a:noFill/>
          <a:ln/>
        </p:spPr>
        <p:txBody>
          <a:bodyPr wrap="square" lIns="0" tIns="0" rIns="0" bIns="0" rtlCol="0" anchor="ctr"/>
          <a:lstStyle/>
          <a:p>
            <a:pPr marL="0" indent="0" algn="l">
              <a:buNone/>
            </a:pPr>
            <a:r>
              <a:rPr lang="en-US" sz="950" b="1">
                <a:solidFill>
                  <a:srgbClr val="FF385C"/>
                </a:solidFill>
                <a:latin typeface="Poppins" pitchFamily="34" charset="0"/>
                <a:ea typeface="Poppins" pitchFamily="34" charset="-122"/>
                <a:cs typeface="Poppins" pitchFamily="34" charset="-120"/>
              </a:rPr>
              <a:t>our estimate  β = −0.92</a:t>
            </a:r>
            <a:endParaRPr lang="en-US" sz="950"/>
          </a:p>
        </p:txBody>
      </p:sp>
      <p:sp>
        <p:nvSpPr>
          <p:cNvPr id="33" name="Text 27"/>
          <p:cNvSpPr/>
          <p:nvPr/>
        </p:nvSpPr>
        <p:spPr>
          <a:xfrm>
            <a:off x="1554480" y="5175504"/>
            <a:ext cx="4572000" cy="219456"/>
          </a:xfrm>
          <a:prstGeom prst="rect">
            <a:avLst/>
          </a:prstGeom>
          <a:noFill/>
          <a:ln/>
        </p:spPr>
        <p:txBody>
          <a:bodyPr wrap="square" lIns="0" tIns="0" rIns="0" bIns="0" rtlCol="0" anchor="ctr"/>
          <a:lstStyle/>
          <a:p>
            <a:pPr marL="0" indent="0" algn="ctr">
              <a:buNone/>
            </a:pPr>
            <a:r>
              <a:rPr lang="en-US" sz="900">
                <a:solidFill>
                  <a:srgbClr val="007A73"/>
                </a:solidFill>
                <a:latin typeface="Poppins" pitchFamily="34" charset="0"/>
                <a:ea typeface="Poppins" pitchFamily="34" charset="-122"/>
                <a:cs typeface="Poppins" pitchFamily="34" charset="-120"/>
              </a:rPr>
              <a:t>ELASTIC  ·  cutting price adds revenue</a:t>
            </a:r>
            <a:endParaRPr lang="en-US" sz="900"/>
          </a:p>
        </p:txBody>
      </p:sp>
      <p:sp>
        <p:nvSpPr>
          <p:cNvPr id="34" name="Text 28"/>
          <p:cNvSpPr/>
          <p:nvPr/>
        </p:nvSpPr>
        <p:spPr>
          <a:xfrm>
            <a:off x="6126480" y="5175504"/>
            <a:ext cx="4572000" cy="219456"/>
          </a:xfrm>
          <a:prstGeom prst="rect">
            <a:avLst/>
          </a:prstGeom>
          <a:noFill/>
          <a:ln/>
        </p:spPr>
        <p:txBody>
          <a:bodyPr wrap="square" lIns="0" tIns="0" rIns="0" bIns="0" rtlCol="0" anchor="ctr"/>
          <a:lstStyle/>
          <a:p>
            <a:pPr marL="0" indent="0" algn="ctr">
              <a:buNone/>
            </a:pPr>
            <a:r>
              <a:rPr lang="en-US" sz="900">
                <a:solidFill>
                  <a:srgbClr val="FF385C"/>
                </a:solidFill>
                <a:latin typeface="Poppins" pitchFamily="34" charset="0"/>
                <a:ea typeface="Poppins" pitchFamily="34" charset="-122"/>
                <a:cs typeface="Poppins" pitchFamily="34" charset="-120"/>
              </a:rPr>
              <a:t>INELASTIC  ·  raising price adds revenue</a:t>
            </a:r>
            <a:endParaRPr lang="en-US" sz="900"/>
          </a:p>
        </p:txBody>
      </p:sp>
      <p:sp>
        <p:nvSpPr>
          <p:cNvPr id="35" name="Text 29"/>
          <p:cNvSpPr/>
          <p:nvPr/>
        </p:nvSpPr>
        <p:spPr>
          <a:xfrm>
            <a:off x="1234440" y="4919472"/>
            <a:ext cx="274320" cy="219456"/>
          </a:xfrm>
          <a:prstGeom prst="rect">
            <a:avLst/>
          </a:prstGeom>
          <a:noFill/>
          <a:ln/>
        </p:spPr>
        <p:txBody>
          <a:bodyPr wrap="square" lIns="0" tIns="0" rIns="0" bIns="0" rtlCol="0" anchor="ctr"/>
          <a:lstStyle/>
          <a:p>
            <a:pPr marL="0" indent="0" algn="r">
              <a:buNone/>
            </a:pPr>
            <a:r>
              <a:rPr lang="en-US" sz="900">
                <a:solidFill>
                  <a:srgbClr val="9AA0A6"/>
                </a:solidFill>
                <a:latin typeface="Poppins" pitchFamily="34" charset="0"/>
                <a:ea typeface="Poppins" pitchFamily="34" charset="-122"/>
                <a:cs typeface="Poppins" pitchFamily="34" charset="-120"/>
              </a:rPr>
              <a:t>−2</a:t>
            </a:r>
            <a:endParaRPr lang="en-US" sz="900"/>
          </a:p>
        </p:txBody>
      </p:sp>
      <p:sp>
        <p:nvSpPr>
          <p:cNvPr id="36" name="Text 30"/>
          <p:cNvSpPr/>
          <p:nvPr/>
        </p:nvSpPr>
        <p:spPr>
          <a:xfrm>
            <a:off x="10753344" y="4919472"/>
            <a:ext cx="274320" cy="219456"/>
          </a:xfrm>
          <a:prstGeom prst="rect">
            <a:avLst/>
          </a:prstGeom>
          <a:noFill/>
          <a:ln/>
        </p:spPr>
        <p:txBody>
          <a:bodyPr wrap="square" lIns="0" tIns="0" rIns="0" bIns="0" rtlCol="0" anchor="ctr"/>
          <a:lstStyle/>
          <a:p>
            <a:pPr marL="0" indent="0" algn="l">
              <a:buNone/>
            </a:pPr>
            <a:r>
              <a:rPr lang="en-US" sz="900">
                <a:solidFill>
                  <a:srgbClr val="9AA0A6"/>
                </a:solidFill>
                <a:latin typeface="Poppins" pitchFamily="34" charset="0"/>
                <a:ea typeface="Poppins" pitchFamily="34" charset="-122"/>
                <a:cs typeface="Poppins" pitchFamily="34" charset="-120"/>
              </a:rPr>
              <a:t>10</a:t>
            </a:r>
            <a:endParaRPr lang="en-US" sz="900"/>
          </a:p>
        </p:txBody>
      </p:sp>
      <p:sp>
        <p:nvSpPr>
          <p:cNvPr id="37" name="Text 31"/>
          <p:cNvSpPr/>
          <p:nvPr/>
        </p:nvSpPr>
        <p:spPr>
          <a:xfrm>
            <a:off x="502920" y="5961888"/>
            <a:ext cx="11183112" cy="365760"/>
          </a:xfrm>
          <a:prstGeom prst="rect">
            <a:avLst/>
          </a:prstGeom>
          <a:noFill/>
          <a:ln/>
        </p:spPr>
        <p:txBody>
          <a:bodyPr wrap="square" lIns="0" tIns="0" rIns="0" bIns="0" rtlCol="0" anchor="ctr"/>
          <a:lstStyle/>
          <a:p>
            <a:pPr marL="0" indent="0">
              <a:lnSpc>
                <a:spcPct val="100000"/>
              </a:lnSpc>
              <a:buNone/>
            </a:pPr>
            <a:r>
              <a:rPr lang="en-US" sz="950" b="1" i="1">
                <a:solidFill>
                  <a:srgbClr val="717171"/>
                </a:solidFill>
                <a:latin typeface="Poppins" pitchFamily="34" charset="0"/>
                <a:ea typeface="Poppins" pitchFamily="34" charset="-122"/>
                <a:cs typeface="Poppins" pitchFamily="34" charset="-120"/>
              </a:rPr>
              <a:t>Honest caveat:  </a:t>
            </a:r>
            <a:r>
              <a:rPr lang="en-US" sz="950" i="1">
                <a:solidFill>
                  <a:srgbClr val="9AA0A6"/>
                </a:solidFill>
                <a:latin typeface="Poppins" pitchFamily="34" charset="0"/>
                <a:ea typeface="Poppins" pitchFamily="34" charset="-122"/>
                <a:cs typeface="Poppins" pitchFamily="34" charset="-120"/>
              </a:rPr>
              <a:t>measured on a 64-listing short-stay pilot of established listings (median 142 reviews). The monthly segment came back statistically insignificant (β=+0.084, p=0.73), so we hold it occupancy-neutral. Broadening this across every segment is exactly our </a:t>
            </a:r>
            <a:r>
              <a:rPr lang="en-US" sz="950" i="1" err="1">
                <a:solidFill>
                  <a:srgbClr val="9AA0A6"/>
                </a:solidFill>
                <a:latin typeface="Poppins" pitchFamily="34" charset="0"/>
                <a:ea typeface="Poppins" pitchFamily="34" charset="-122"/>
                <a:cs typeface="Poppins" pitchFamily="34" charset="-120"/>
              </a:rPr>
              <a:t>AirROI</a:t>
            </a:r>
            <a:r>
              <a:rPr lang="en-US" sz="950" i="1">
                <a:solidFill>
                  <a:srgbClr val="9AA0A6"/>
                </a:solidFill>
                <a:latin typeface="Poppins" pitchFamily="34" charset="0"/>
                <a:ea typeface="Poppins" pitchFamily="34" charset="-122"/>
                <a:cs typeface="Poppins" pitchFamily="34" charset="-120"/>
              </a:rPr>
              <a:t> data ask.</a:t>
            </a:r>
            <a:endParaRPr lang="en-US" sz="950"/>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10 · THE FINANCIAL CASE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What it is worth, and what it costs</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We lead with the conservative floor, every assumption rounded against us, and show the ceiling as upside.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11</a:t>
            </a:r>
            <a:endParaRPr lang="en-US" sz="900"/>
          </a:p>
        </p:txBody>
      </p:sp>
      <p:sp>
        <p:nvSpPr>
          <p:cNvPr id="12" name="Shape 8"/>
          <p:cNvSpPr/>
          <p:nvPr/>
        </p:nvSpPr>
        <p:spPr>
          <a:xfrm>
            <a:off x="502920" y="2194560"/>
            <a:ext cx="11183112" cy="1463040"/>
          </a:xfrm>
          <a:prstGeom prst="roundRect">
            <a:avLst>
              <a:gd name="adj" fmla="val 875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100" b="1" kern="0" spc="5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a:p>
        </p:txBody>
      </p:sp>
      <p:sp>
        <p:nvSpPr>
          <p:cNvPr id="14" name="Text 10"/>
          <p:cNvSpPr/>
          <p:nvPr/>
        </p:nvSpPr>
        <p:spPr>
          <a:xfrm>
            <a:off x="777240" y="2670048"/>
            <a:ext cx="7955280" cy="731520"/>
          </a:xfrm>
          <a:prstGeom prst="rect">
            <a:avLst/>
          </a:prstGeom>
          <a:noFill/>
          <a:ln/>
        </p:spPr>
        <p:txBody>
          <a:bodyPr wrap="square" lIns="0" tIns="0" rIns="0" bIns="0" rtlCol="0" anchor="ctr"/>
          <a:lstStyle/>
          <a:p>
            <a:pPr marL="0" indent="0">
              <a:buNone/>
            </a:pPr>
            <a:r>
              <a:rPr lang="en-US" sz="2900" b="1">
                <a:solidFill>
                  <a:srgbClr val="222222"/>
                </a:solidFill>
                <a:latin typeface="Poppins" pitchFamily="34" charset="0"/>
                <a:ea typeface="Poppins" pitchFamily="34" charset="-122"/>
                <a:cs typeface="Poppins" pitchFamily="34" charset="-120"/>
              </a:rPr>
              <a:t>~$7.6M</a:t>
            </a:r>
            <a:r>
              <a:rPr lang="en-US" sz="1300">
                <a:solidFill>
                  <a:srgbClr val="4A4A4A"/>
                </a:solidFill>
                <a:latin typeface="Poppins" pitchFamily="34" charset="0"/>
                <a:ea typeface="Poppins" pitchFamily="34" charset="-122"/>
                <a:cs typeface="Poppins" pitchFamily="34" charset="-120"/>
              </a:rPr>
              <a:t> host GBV</a:t>
            </a:r>
            <a:r>
              <a:rPr lang="en-US" sz="1250">
                <a:solidFill>
                  <a:srgbClr val="9AA0A6"/>
                </a:solidFill>
                <a:latin typeface="Poppins" pitchFamily="34" charset="0"/>
                <a:ea typeface="Poppins" pitchFamily="34" charset="-122"/>
                <a:cs typeface="Poppins" pitchFamily="34" charset="-120"/>
              </a:rPr>
              <a:t>      ×15.5%  →      </a:t>
            </a:r>
            <a:r>
              <a:rPr lang="en-US" sz="2900" b="1">
                <a:solidFill>
                  <a:srgbClr val="FF385C"/>
                </a:solidFill>
                <a:latin typeface="Poppins" pitchFamily="34" charset="0"/>
                <a:ea typeface="Poppins" pitchFamily="34" charset="-122"/>
                <a:cs typeface="Poppins" pitchFamily="34" charset="-120"/>
              </a:rPr>
              <a:t>$1.17M</a:t>
            </a:r>
            <a:r>
              <a:rPr lang="en-US" sz="1300">
                <a:solidFill>
                  <a:srgbClr val="4A4A4A"/>
                </a:solidFill>
                <a:latin typeface="Poppins" pitchFamily="34" charset="0"/>
                <a:ea typeface="Poppins" pitchFamily="34" charset="-122"/>
                <a:cs typeface="Poppins" pitchFamily="34" charset="-120"/>
              </a:rPr>
              <a:t> / yr Airbnb fee</a:t>
            </a:r>
            <a:endParaRPr lang="en-US" sz="290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77440"/>
            <a:ext cx="2514600" cy="1143000"/>
          </a:xfrm>
          <a:prstGeom prst="rect">
            <a:avLst/>
          </a:prstGeom>
          <a:noFill/>
          <a:ln/>
        </p:spPr>
        <p:txBody>
          <a:bodyPr wrap="square" lIns="0" tIns="0" rIns="0" bIns="0" rtlCol="0" anchor="ctr"/>
          <a:lstStyle/>
          <a:p>
            <a:pPr marL="0" indent="0">
              <a:lnSpc>
                <a:spcPct val="106000"/>
              </a:lnSpc>
              <a:buNone/>
            </a:pPr>
            <a:r>
              <a:rPr lang="en-US" sz="1050" b="1">
                <a:solidFill>
                  <a:srgbClr val="222222"/>
                </a:solidFill>
                <a:latin typeface="Poppins" pitchFamily="34" charset="0"/>
                <a:ea typeface="Poppins" pitchFamily="34" charset="-122"/>
                <a:cs typeface="Poppins" pitchFamily="34" charset="-120"/>
              </a:rPr>
              <a:t>Ceiling (upside): </a:t>
            </a:r>
            <a:r>
              <a:rPr lang="en-US" sz="1050">
                <a:solidFill>
                  <a:srgbClr val="4A4A4A"/>
                </a:solidFill>
                <a:latin typeface="Poppins" pitchFamily="34" charset="0"/>
                <a:ea typeface="Poppins" pitchFamily="34" charset="-122"/>
                <a:cs typeface="Poppins" pitchFamily="34" charset="-120"/>
              </a:rPr>
              <a:t>~$4.15M/yr fees, from ~$26.8M GBV, occupancy-neutral. Shown as upside, not the headline.</a:t>
            </a:r>
            <a:endParaRPr lang="en-US" sz="1050"/>
          </a:p>
        </p:txBody>
      </p:sp>
      <p:sp>
        <p:nvSpPr>
          <p:cNvPr id="17" name="Shape 13"/>
          <p:cNvSpPr/>
          <p:nvPr/>
        </p:nvSpPr>
        <p:spPr>
          <a:xfrm>
            <a:off x="502920" y="3931920"/>
            <a:ext cx="3563112" cy="1417320"/>
          </a:xfrm>
          <a:prstGeom prst="roundRect">
            <a:avLst>
              <a:gd name="adj" fmla="val 9032"/>
            </a:avLst>
          </a:prstGeom>
          <a:solidFill>
            <a:srgbClr val="E6F6F4"/>
          </a:solidFill>
          <a:ln/>
        </p:spPr>
        <p:txBody>
          <a:bodyPr/>
          <a:lstStyle/>
          <a:p>
            <a:endParaRPr lang="en-US"/>
          </a:p>
        </p:txBody>
      </p:sp>
      <p:pic>
        <p:nvPicPr>
          <p:cNvPr id="18" name="Image 2" descr="/sessions/dreamy-trusting-noether/mnt/outputs/build/assets/cpu_teal.png"/>
          <p:cNvPicPr>
            <a:picLocks noChangeAspect="1"/>
          </p:cNvPicPr>
          <p:nvPr/>
        </p:nvPicPr>
        <p:blipFill>
          <a:blip r:embed="rId5"/>
          <a:stretch>
            <a:fillRect/>
          </a:stretch>
        </p:blipFill>
        <p:spPr>
          <a:xfrm>
            <a:off x="722376" y="4151376"/>
            <a:ext cx="365760" cy="365760"/>
          </a:xfrm>
          <a:prstGeom prst="rect">
            <a:avLst/>
          </a:prstGeom>
        </p:spPr>
      </p:pic>
      <p:sp>
        <p:nvSpPr>
          <p:cNvPr id="19" name="Text 14"/>
          <p:cNvSpPr/>
          <p:nvPr/>
        </p:nvSpPr>
        <p:spPr>
          <a:xfrm>
            <a:off x="685800" y="4462272"/>
            <a:ext cx="3197352" cy="502920"/>
          </a:xfrm>
          <a:prstGeom prst="rect">
            <a:avLst/>
          </a:prstGeom>
          <a:noFill/>
          <a:ln/>
        </p:spPr>
        <p:txBody>
          <a:bodyPr wrap="square" lIns="0" tIns="0" rIns="0" bIns="0" rtlCol="0" anchor="ctr"/>
          <a:lstStyle/>
          <a:p>
            <a:pPr marL="0" indent="0">
              <a:buNone/>
            </a:pPr>
            <a:r>
              <a:rPr lang="en-US" sz="2500" b="1">
                <a:solidFill>
                  <a:srgbClr val="007A73"/>
                </a:solidFill>
                <a:latin typeface="Poppins" pitchFamily="34" charset="0"/>
                <a:ea typeface="Poppins" pitchFamily="34" charset="-122"/>
                <a:cs typeface="Poppins" pitchFamily="34" charset="-120"/>
              </a:rPr>
              <a:t>$65K</a:t>
            </a:r>
            <a:endParaRPr lang="en-US" sz="2500"/>
          </a:p>
        </p:txBody>
      </p:sp>
      <p:sp>
        <p:nvSpPr>
          <p:cNvPr id="20" name="Text 15"/>
          <p:cNvSpPr/>
          <p:nvPr/>
        </p:nvSpPr>
        <p:spPr>
          <a:xfrm>
            <a:off x="704088" y="4937760"/>
            <a:ext cx="3160776" cy="384048"/>
          </a:xfrm>
          <a:prstGeom prst="rect">
            <a:avLst/>
          </a:prstGeom>
          <a:noFill/>
          <a:ln/>
        </p:spPr>
        <p:txBody>
          <a:bodyPr wrap="square" lIns="0" tIns="0" rIns="0" bIns="0" rtlCol="0" anchor="ctr"/>
          <a:lstStyle/>
          <a:p>
            <a:pPr marL="0" indent="0">
              <a:lnSpc>
                <a:spcPct val="100000"/>
              </a:lnSpc>
              <a:buNone/>
            </a:pPr>
            <a:r>
              <a:rPr lang="en-US" sz="1000">
                <a:solidFill>
                  <a:srgbClr val="4A4A4A"/>
                </a:solidFill>
                <a:latin typeface="Poppins" pitchFamily="34" charset="0"/>
                <a:ea typeface="Poppins" pitchFamily="34" charset="-122"/>
                <a:cs typeface="Poppins" pitchFamily="34" charset="-120"/>
              </a:rPr>
              <a:t>one-time build (incremental engineering on Airbnb's existing stack)</a:t>
            </a:r>
            <a:endParaRPr lang="en-US" sz="1000"/>
          </a:p>
        </p:txBody>
      </p:sp>
      <p:sp>
        <p:nvSpPr>
          <p:cNvPr id="21" name="Shape 16"/>
          <p:cNvSpPr/>
          <p:nvPr/>
        </p:nvSpPr>
        <p:spPr>
          <a:xfrm>
            <a:off x="4312920" y="3931920"/>
            <a:ext cx="3563112" cy="1417320"/>
          </a:xfrm>
          <a:prstGeom prst="roundRect">
            <a:avLst>
              <a:gd name="adj" fmla="val 9032"/>
            </a:avLst>
          </a:prstGeom>
          <a:solidFill>
            <a:srgbClr val="FFEEF2"/>
          </a:solidFill>
          <a:ln/>
        </p:spPr>
        <p:txBody>
          <a:bodyPr/>
          <a:lstStyle/>
          <a:p>
            <a:endParaRPr lang="en-US"/>
          </a:p>
        </p:txBody>
      </p:sp>
      <p:pic>
        <p:nvPicPr>
          <p:cNvPr id="22" name="Image 3" descr="/sessions/dreamy-trusting-noether/mnt/outputs/build/assets/clock_coral.png"/>
          <p:cNvPicPr>
            <a:picLocks noChangeAspect="1"/>
          </p:cNvPicPr>
          <p:nvPr/>
        </p:nvPicPr>
        <p:blipFill>
          <a:blip r:embed="rId6"/>
          <a:stretch>
            <a:fillRect/>
          </a:stretch>
        </p:blipFill>
        <p:spPr>
          <a:xfrm>
            <a:off x="4532376" y="4151376"/>
            <a:ext cx="365760" cy="365760"/>
          </a:xfrm>
          <a:prstGeom prst="rect">
            <a:avLst/>
          </a:prstGeom>
        </p:spPr>
      </p:pic>
      <p:sp>
        <p:nvSpPr>
          <p:cNvPr id="23" name="Text 17"/>
          <p:cNvSpPr/>
          <p:nvPr/>
        </p:nvSpPr>
        <p:spPr>
          <a:xfrm>
            <a:off x="4495800" y="4462272"/>
            <a:ext cx="3197352" cy="502920"/>
          </a:xfrm>
          <a:prstGeom prst="rect">
            <a:avLst/>
          </a:prstGeom>
          <a:noFill/>
          <a:ln/>
        </p:spPr>
        <p:txBody>
          <a:bodyPr wrap="square" lIns="0" tIns="0" rIns="0" bIns="0" rtlCol="0" anchor="ctr"/>
          <a:lstStyle/>
          <a:p>
            <a:pPr marL="0" indent="0">
              <a:buNone/>
            </a:pPr>
            <a:r>
              <a:rPr lang="en-US" sz="2500" b="1">
                <a:solidFill>
                  <a:srgbClr val="FF385C"/>
                </a:solidFill>
                <a:latin typeface="Poppins" pitchFamily="34" charset="0"/>
                <a:ea typeface="Poppins" pitchFamily="34" charset="-122"/>
                <a:cs typeface="Poppins" pitchFamily="34" charset="-120"/>
              </a:rPr>
              <a:t>$30K / yr</a:t>
            </a:r>
            <a:endParaRPr lang="en-US" sz="2500"/>
          </a:p>
        </p:txBody>
      </p:sp>
      <p:sp>
        <p:nvSpPr>
          <p:cNvPr id="24" name="Text 18"/>
          <p:cNvSpPr/>
          <p:nvPr/>
        </p:nvSpPr>
        <p:spPr>
          <a:xfrm>
            <a:off x="4514088" y="4937760"/>
            <a:ext cx="3160776" cy="384048"/>
          </a:xfrm>
          <a:prstGeom prst="rect">
            <a:avLst/>
          </a:prstGeom>
          <a:noFill/>
          <a:ln/>
        </p:spPr>
        <p:txBody>
          <a:bodyPr wrap="square" lIns="0" tIns="0" rIns="0" bIns="0" rtlCol="0" anchor="ctr"/>
          <a:lstStyle/>
          <a:p>
            <a:pPr marL="0" indent="0">
              <a:lnSpc>
                <a:spcPct val="100000"/>
              </a:lnSpc>
              <a:buNone/>
            </a:pPr>
            <a:r>
              <a:rPr lang="en-US" sz="1000">
                <a:solidFill>
                  <a:srgbClr val="4A4A4A"/>
                </a:solidFill>
                <a:latin typeface="Poppins" pitchFamily="34" charset="0"/>
                <a:ea typeface="Poppins" pitchFamily="34" charset="-122"/>
                <a:cs typeface="Poppins" pitchFamily="34" charset="-120"/>
              </a:rPr>
              <a:t>to run (retraining, monitoring, ~$3K infra)</a:t>
            </a:r>
            <a:endParaRPr lang="en-US" sz="1000"/>
          </a:p>
        </p:txBody>
      </p:sp>
      <p:sp>
        <p:nvSpPr>
          <p:cNvPr id="25" name="Shape 19"/>
          <p:cNvSpPr/>
          <p:nvPr/>
        </p:nvSpPr>
        <p:spPr>
          <a:xfrm>
            <a:off x="8122920" y="3931920"/>
            <a:ext cx="3563112" cy="1417320"/>
          </a:xfrm>
          <a:prstGeom prst="roundRect">
            <a:avLst>
              <a:gd name="adj" fmla="val 9032"/>
            </a:avLst>
          </a:prstGeom>
          <a:solidFill>
            <a:srgbClr val="E6F6F4"/>
          </a:solidFill>
          <a:ln/>
        </p:spPr>
        <p:txBody>
          <a:bodyPr/>
          <a:lstStyle/>
          <a:p>
            <a:endParaRPr lang="en-US"/>
          </a:p>
        </p:txBody>
      </p:sp>
      <p:pic>
        <p:nvPicPr>
          <p:cNvPr id="26" name="Image 4" descr="/sessions/dreamy-trusting-noether/mnt/outputs/build/assets/dollar_teal.png"/>
          <p:cNvPicPr>
            <a:picLocks noChangeAspect="1"/>
          </p:cNvPicPr>
          <p:nvPr/>
        </p:nvPicPr>
        <p:blipFill>
          <a:blip r:embed="rId7"/>
          <a:stretch>
            <a:fillRect/>
          </a:stretch>
        </p:blipFill>
        <p:spPr>
          <a:xfrm>
            <a:off x="8342376" y="4151376"/>
            <a:ext cx="365760" cy="365760"/>
          </a:xfrm>
          <a:prstGeom prst="rect">
            <a:avLst/>
          </a:prstGeom>
        </p:spPr>
      </p:pic>
      <p:sp>
        <p:nvSpPr>
          <p:cNvPr id="27" name="Text 20"/>
          <p:cNvSpPr/>
          <p:nvPr/>
        </p:nvSpPr>
        <p:spPr>
          <a:xfrm>
            <a:off x="8305800" y="4462272"/>
            <a:ext cx="3197352" cy="502920"/>
          </a:xfrm>
          <a:prstGeom prst="rect">
            <a:avLst/>
          </a:prstGeom>
          <a:noFill/>
          <a:ln/>
        </p:spPr>
        <p:txBody>
          <a:bodyPr wrap="square" lIns="0" tIns="0" rIns="0" bIns="0" rtlCol="0" anchor="ctr"/>
          <a:lstStyle/>
          <a:p>
            <a:pPr marL="0" indent="0">
              <a:buNone/>
            </a:pPr>
            <a:r>
              <a:rPr lang="en-US" sz="2500" b="1">
                <a:solidFill>
                  <a:srgbClr val="007A73"/>
                </a:solidFill>
                <a:latin typeface="Poppins" pitchFamily="34" charset="0"/>
                <a:ea typeface="Poppins" pitchFamily="34" charset="-122"/>
                <a:cs typeface="Poppins" pitchFamily="34" charset="-120"/>
              </a:rPr>
              <a:t>~$215K</a:t>
            </a:r>
            <a:endParaRPr lang="en-US" sz="2500"/>
          </a:p>
        </p:txBody>
      </p:sp>
      <p:sp>
        <p:nvSpPr>
          <p:cNvPr id="28" name="Text 21"/>
          <p:cNvSpPr/>
          <p:nvPr/>
        </p:nvSpPr>
        <p:spPr>
          <a:xfrm>
            <a:off x="8324088" y="4937760"/>
            <a:ext cx="3160776" cy="384048"/>
          </a:xfrm>
          <a:prstGeom prst="rect">
            <a:avLst/>
          </a:prstGeom>
          <a:noFill/>
          <a:ln/>
        </p:spPr>
        <p:txBody>
          <a:bodyPr wrap="square" lIns="0" tIns="0" rIns="0" bIns="0" rtlCol="0" anchor="ctr"/>
          <a:lstStyle/>
          <a:p>
            <a:pPr marL="0" indent="0">
              <a:lnSpc>
                <a:spcPct val="100000"/>
              </a:lnSpc>
              <a:buNone/>
            </a:pPr>
            <a:r>
              <a:rPr lang="en-US" sz="1000">
                <a:solidFill>
                  <a:srgbClr val="4A4A4A"/>
                </a:solidFill>
                <a:latin typeface="Poppins" pitchFamily="34" charset="0"/>
                <a:ea typeface="Poppins" pitchFamily="34" charset="-122"/>
                <a:cs typeface="Poppins" pitchFamily="34" charset="-120"/>
              </a:rPr>
              <a:t>total 5-year cost of ownership</a:t>
            </a:r>
            <a:endParaRPr lang="en-US" sz="1000"/>
          </a:p>
        </p:txBody>
      </p:sp>
      <p:sp>
        <p:nvSpPr>
          <p:cNvPr id="29" name="Text 22"/>
          <p:cNvSpPr/>
          <p:nvPr/>
        </p:nvSpPr>
        <p:spPr>
          <a:xfrm>
            <a:off x="502920" y="5623560"/>
            <a:ext cx="11183112" cy="457200"/>
          </a:xfrm>
          <a:prstGeom prst="rect">
            <a:avLst/>
          </a:prstGeom>
          <a:noFill/>
          <a:ln/>
        </p:spPr>
        <p:txBody>
          <a:bodyPr wrap="square" lIns="0" tIns="0" rIns="0" bIns="0" rtlCol="0" anchor="ctr"/>
          <a:lstStyle/>
          <a:p>
            <a:pPr marL="0" indent="0">
              <a:lnSpc>
                <a:spcPct val="104000"/>
              </a:lnSpc>
              <a:buNone/>
            </a:pPr>
            <a:r>
              <a:rPr lang="en-US" sz="1050">
                <a:solidFill>
                  <a:srgbClr val="4A4A4A"/>
                </a:solidFill>
                <a:latin typeface="Poppins" pitchFamily="34" charset="0"/>
                <a:ea typeface="Poppins" pitchFamily="34" charset="-122"/>
                <a:cs typeface="Poppins" pitchFamily="34" charset="-120"/>
              </a:rPr>
              <a:t>Costed as an incremental feature on infrastructure Airbnb already owns (model-serving, pricing, A/B testing). </a:t>
            </a:r>
            <a:r>
              <a:rPr lang="en-US" sz="1050" i="1">
                <a:solidFill>
                  <a:srgbClr val="9AA0A6"/>
                </a:solidFill>
                <a:latin typeface="Poppins" pitchFamily="34" charset="0"/>
                <a:ea typeface="Poppins" pitchFamily="34" charset="-122"/>
                <a:cs typeface="Poppins" pitchFamily="34" charset="-120"/>
              </a:rPr>
              <a:t>A full greenfield build (~$190K + $105K/yr) is shown only as a worst-case if built standalone.</a:t>
            </a:r>
            <a:endParaRPr lang="en-US" sz="10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11 · ROI &amp; FINANCIAL TIMELINE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Cash-positive in Year 1, on a modeled adoption ramp</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Modeled as an adoption ramp (Rogers' Diffusion of Innovation), not a single guess: about 10% adoption in Year 1, climbing to roughly 42% by Year 4.</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12</a:t>
            </a:r>
            <a:endParaRPr lang="en-US" sz="900"/>
          </a:p>
        </p:txBody>
      </p:sp>
      <p:graphicFrame>
        <p:nvGraphicFramePr>
          <p:cNvPr id="13" name="Table 0"/>
          <p:cNvGraphicFramePr>
            <a:graphicFrameLocks noGrp="1"/>
          </p:cNvGraphicFramePr>
          <p:nvPr/>
        </p:nvGraphicFramePr>
        <p:xfrm>
          <a:off x="502920" y="2377440"/>
          <a:ext cx="6858000" cy="2702560"/>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Year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Adoption</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Airbnb Fee / yr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a:solidFill>
                            <a:srgbClr val="FFFFFF"/>
                          </a:solidFill>
                          <a:latin typeface="Poppins" pitchFamily="34" charset="0"/>
                          <a:ea typeface="Poppins" pitchFamily="34" charset="-122"/>
                          <a:cs typeface="Poppins" pitchFamily="34" charset="-120"/>
                        </a:rPr>
                        <a:t>Cumulative Net (NPV @10%)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1</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$117K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+$20K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24%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$281K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+$227K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3</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38%</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$445K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+$539K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+$854K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200" b="1">
                          <a:solidFill>
                            <a:srgbClr val="222222"/>
                          </a:solidFill>
                          <a:latin typeface="Poppins" pitchFamily="34" charset="0"/>
                          <a:ea typeface="Poppins" pitchFamily="34" charset="-122"/>
                          <a:cs typeface="Poppins" pitchFamily="34" charset="-120"/>
                        </a:rPr>
                        <a:t>5</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a:solidFill>
                            <a:srgbClr val="4A4A4A"/>
                          </a:solidFill>
                          <a:latin typeface="Poppins" pitchFamily="34" charset="0"/>
                          <a:ea typeface="Poppins" pitchFamily="34" charset="-122"/>
                          <a:cs typeface="Poppins" pitchFamily="34" charset="-120"/>
                        </a:rPr>
                        <a:t>+$1.14M</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050" i="1">
                <a:solidFill>
                  <a:srgbClr val="9AA0A6"/>
                </a:solidFill>
                <a:latin typeface="Poppins" pitchFamily="34" charset="0"/>
                <a:ea typeface="Poppins" pitchFamily="34" charset="-122"/>
                <a:cs typeface="Poppins" pitchFamily="34" charset="-120"/>
              </a:rPr>
              <a:t>We build the case on the ramp itself, not a single adoption row.</a:t>
            </a:r>
            <a:endParaRPr lang="en-US" sz="1050"/>
          </a:p>
        </p:txBody>
      </p:sp>
      <p:sp>
        <p:nvSpPr>
          <p:cNvPr id="14" name="Shape 9"/>
          <p:cNvSpPr/>
          <p:nvPr/>
        </p:nvSpPr>
        <p:spPr>
          <a:xfrm>
            <a:off x="7589520" y="2377440"/>
            <a:ext cx="4096512" cy="3063240"/>
          </a:xfrm>
          <a:prstGeom prst="roundRect">
            <a:avLst>
              <a:gd name="adj" fmla="val 4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7845552" y="2615184"/>
            <a:ext cx="530352" cy="530352"/>
          </a:xfrm>
          <a:prstGeom prst="ellipse">
            <a:avLst/>
          </a:prstGeom>
          <a:solidFill>
            <a:srgbClr val="FFFFFF"/>
          </a:solidFill>
          <a:ln/>
        </p:spPr>
        <p:txBody>
          <a:bodyPr/>
          <a:lstStyle/>
          <a:p>
            <a:endParaRPr lang="en-US"/>
          </a:p>
        </p:txBody>
      </p:sp>
      <p:pic>
        <p:nvPicPr>
          <p:cNvPr id="16" name="Image 2" descr="/sessions/dreamy-trusting-noether/mnt/outputs/build/assets/scale_coral.png"/>
          <p:cNvPicPr>
            <a:picLocks noChangeAspect="1"/>
          </p:cNvPicPr>
          <p:nvPr/>
        </p:nvPicPr>
        <p:blipFill>
          <a:blip r:embed="rId5"/>
          <a:stretch>
            <a:fillRect/>
          </a:stretch>
        </p:blipFill>
        <p:spPr>
          <a:xfrm>
            <a:off x="7972836" y="2742468"/>
            <a:ext cx="275783" cy="275783"/>
          </a:xfrm>
          <a:prstGeom prst="rect">
            <a:avLst/>
          </a:prstGeom>
        </p:spPr>
      </p:pic>
      <p:sp>
        <p:nvSpPr>
          <p:cNvPr id="17" name="Text 11"/>
          <p:cNvSpPr/>
          <p:nvPr/>
        </p:nvSpPr>
        <p:spPr>
          <a:xfrm>
            <a:off x="8595360" y="2651760"/>
            <a:ext cx="2926080" cy="365760"/>
          </a:xfrm>
          <a:prstGeom prst="rect">
            <a:avLst/>
          </a:prstGeom>
          <a:noFill/>
          <a:ln/>
        </p:spPr>
        <p:txBody>
          <a:bodyPr wrap="square" lIns="0" tIns="0" rIns="0" bIns="0" rtlCol="0" anchor="ctr"/>
          <a:lstStyle/>
          <a:p>
            <a:pPr marL="0" indent="0">
              <a:buNone/>
            </a:pPr>
            <a:r>
              <a:rPr lang="en-US" sz="1400" b="1">
                <a:solidFill>
                  <a:srgbClr val="222222"/>
                </a:solidFill>
                <a:latin typeface="Poppins" pitchFamily="34" charset="0"/>
                <a:ea typeface="Poppins" pitchFamily="34" charset="-122"/>
                <a:cs typeface="Poppins" pitchFamily="34" charset="-120"/>
              </a:rPr>
              <a:t>Honest about time value</a:t>
            </a:r>
            <a:endParaRPr lang="en-US" sz="1400"/>
          </a:p>
        </p:txBody>
      </p:sp>
      <p:sp>
        <p:nvSpPr>
          <p:cNvPr id="18" name="Text 12"/>
          <p:cNvSpPr/>
          <p:nvPr/>
        </p:nvSpPr>
        <p:spPr>
          <a:xfrm>
            <a:off x="7845552" y="3291840"/>
            <a:ext cx="3657600" cy="2057400"/>
          </a:xfrm>
          <a:prstGeom prst="rect">
            <a:avLst/>
          </a:prstGeom>
          <a:noFill/>
          <a:ln/>
        </p:spPr>
        <p:txBody>
          <a:bodyPr wrap="square" lIns="0" tIns="0" rIns="0" bIns="0" rtlCol="0" anchor="t"/>
          <a:lstStyle/>
          <a:p>
            <a:pPr marL="0" indent="0">
              <a:lnSpc>
                <a:spcPct val="106000"/>
              </a:lnSpc>
              <a:buNone/>
            </a:pPr>
            <a:r>
              <a:rPr lang="en-US" sz="1150" b="1">
                <a:solidFill>
                  <a:srgbClr val="FF385C"/>
                </a:solidFill>
                <a:latin typeface="Poppins" pitchFamily="34" charset="0"/>
                <a:ea typeface="Poppins" pitchFamily="34" charset="-122"/>
                <a:cs typeface="Poppins" pitchFamily="34" charset="-120"/>
              </a:rPr>
              <a:t>Net-positive in Year 1, on a modeled 10% first-year adoption.
5-year cumulative net: $1.61M nominal → $1.14M NPV at a 10% discount (~29% haircut).
We discount at 10% and show both, rather than present nominal sums under an NPV banner.</a:t>
            </a:r>
            <a:endParaRPr lang="en-US" sz="115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050" b="1">
                <a:solidFill>
                  <a:srgbClr val="222222"/>
                </a:solidFill>
                <a:latin typeface="Poppins" pitchFamily="34" charset="0"/>
                <a:ea typeface="Poppins" pitchFamily="34" charset="-122"/>
                <a:cs typeface="Poppins" pitchFamily="34" charset="-120"/>
              </a:rPr>
              <a:t>And on the overpriced side: </a:t>
            </a:r>
            <a:r>
              <a:rPr lang="en-US" sz="1050">
                <a:solidFill>
                  <a:srgbClr val="4A4A4A"/>
                </a:solidFill>
                <a:latin typeface="Poppins" pitchFamily="34" charset="0"/>
                <a:ea typeface="Poppins" pitchFamily="34" charset="-122"/>
                <a:cs typeface="Poppins" pitchFamily="34" charset="-120"/>
              </a:rPr>
              <a:t>repricing unlocks ~77,606 booked nights/yr. Near revenue-neutral for hosts, but real marketplace liquidity and host retention for Airbnb (already inside the floor).</a:t>
            </a:r>
            <a:endParaRPr lang="en-US" sz="1050"/>
          </a:p>
        </p:txBody>
      </p:sp>
    </p:spTree>
    <p:extLst>
      <p:ext uri="{BB962C8B-B14F-4D97-AF65-F5344CB8AC3E}">
        <p14:creationId xmlns:p14="http://schemas.microsoft.com/office/powerpoint/2010/main" val="3092064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12 · WHAT WE'D DO WITH MORE</a:t>
            </a:r>
            <a:endParaRPr lang="en-US" sz="1200"/>
          </a:p>
        </p:txBody>
      </p:sp>
      <p:sp>
        <p:nvSpPr>
          <p:cNvPr id="3" name="Text 1"/>
          <p:cNvSpPr/>
          <p:nvPr/>
        </p:nvSpPr>
        <p:spPr>
          <a:xfrm>
            <a:off x="502920" y="836864"/>
            <a:ext cx="10936529"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The number is a floor. Here is what lifts it.</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Every unmeasured quantity was resolved against us. Four asks would let us prove how much bigger this is.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13</a:t>
            </a:r>
            <a:endParaRPr lang="en-US" sz="900"/>
          </a:p>
        </p:txBody>
      </p:sp>
      <p:sp>
        <p:nvSpPr>
          <p:cNvPr id="12" name="Shape 8"/>
          <p:cNvSpPr/>
          <p:nvPr/>
        </p:nvSpPr>
        <p:spPr>
          <a:xfrm>
            <a:off x="502920" y="2331720"/>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606040"/>
            <a:ext cx="566928" cy="566928"/>
          </a:xfrm>
          <a:prstGeom prst="ellipse">
            <a:avLst/>
          </a:prstGeom>
          <a:solidFill>
            <a:srgbClr val="FFF1E9"/>
          </a:solidFill>
          <a:ln/>
        </p:spPr>
        <p:txBody>
          <a:bodyPr/>
          <a:lstStyle/>
          <a:p>
            <a:endParaRPr lang="en-US"/>
          </a:p>
        </p:txBody>
      </p:sp>
      <p:pic>
        <p:nvPicPr>
          <p:cNvPr id="14" name="Image 2" descr="/sessions/dreamy-trusting-noether/mnt/outputs/build/assets/bar_orange.png"/>
          <p:cNvPicPr>
            <a:picLocks noChangeAspect="1"/>
          </p:cNvPicPr>
          <p:nvPr/>
        </p:nvPicPr>
        <p:blipFill>
          <a:blip r:embed="rId5"/>
          <a:stretch>
            <a:fillRect/>
          </a:stretch>
        </p:blipFill>
        <p:spPr>
          <a:xfrm>
            <a:off x="895015" y="2742103"/>
            <a:ext cx="294803" cy="294803"/>
          </a:xfrm>
          <a:prstGeom prst="rect">
            <a:avLst/>
          </a:prstGeom>
        </p:spPr>
      </p:pic>
      <p:sp>
        <p:nvSpPr>
          <p:cNvPr id="15" name="Text 10"/>
          <p:cNvSpPr/>
          <p:nvPr/>
        </p:nvSpPr>
        <p:spPr>
          <a:xfrm>
            <a:off x="1453896" y="2642616"/>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Give us the full elasticity panel</a:t>
            </a:r>
            <a:endParaRPr lang="en-US" sz="1400"/>
          </a:p>
        </p:txBody>
      </p:sp>
      <p:sp>
        <p:nvSpPr>
          <p:cNvPr id="16" name="Text 11"/>
          <p:cNvSpPr/>
          <p:nvPr/>
        </p:nvSpPr>
        <p:spPr>
          <a:xfrm>
            <a:off x="777240" y="3264408"/>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We proved the mechanism on 64 established short-stay listings and measured −0.92. The full panel would confirm it across every segment and review tier, and likely raises the number, since newer listings are more price-sensitive.</a:t>
            </a:r>
            <a:endParaRPr lang="en-US" sz="1180"/>
          </a:p>
        </p:txBody>
      </p:sp>
      <p:sp>
        <p:nvSpPr>
          <p:cNvPr id="17" name="Shape 12"/>
          <p:cNvSpPr/>
          <p:nvPr/>
        </p:nvSpPr>
        <p:spPr>
          <a:xfrm>
            <a:off x="6217920" y="233172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73952" y="2606040"/>
            <a:ext cx="566928" cy="566928"/>
          </a:xfrm>
          <a:prstGeom prst="ellipse">
            <a:avLst/>
          </a:prstGeom>
          <a:solidFill>
            <a:srgbClr val="FFFFFF"/>
          </a:solidFill>
          <a:ln/>
        </p:spPr>
        <p:txBody>
          <a:bodyPr/>
          <a:lstStyle/>
          <a:p>
            <a:endParaRPr lang="en-US"/>
          </a:p>
        </p:txBody>
      </p:sp>
      <p:pic>
        <p:nvPicPr>
          <p:cNvPr id="19" name="Image 3" descr="/sessions/dreamy-trusting-noether/mnt/outputs/build/assets/calendar_teal.png"/>
          <p:cNvPicPr>
            <a:picLocks noChangeAspect="1"/>
          </p:cNvPicPr>
          <p:nvPr/>
        </p:nvPicPr>
        <p:blipFill>
          <a:blip r:embed="rId6"/>
          <a:stretch>
            <a:fillRect/>
          </a:stretch>
        </p:blipFill>
        <p:spPr>
          <a:xfrm>
            <a:off x="6610015" y="2742103"/>
            <a:ext cx="294803" cy="294803"/>
          </a:xfrm>
          <a:prstGeom prst="rect">
            <a:avLst/>
          </a:prstGeom>
        </p:spPr>
      </p:pic>
      <p:sp>
        <p:nvSpPr>
          <p:cNvPr id="20" name="Text 14"/>
          <p:cNvSpPr/>
          <p:nvPr/>
        </p:nvSpPr>
        <p:spPr>
          <a:xfrm>
            <a:off x="7168896" y="2642616"/>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Let us measure the monthly segment</a:t>
            </a:r>
            <a:endParaRPr lang="en-US" sz="1400"/>
          </a:p>
        </p:txBody>
      </p:sp>
      <p:sp>
        <p:nvSpPr>
          <p:cNvPr id="21" name="Text 15"/>
          <p:cNvSpPr/>
          <p:nvPr/>
        </p:nvSpPr>
        <p:spPr>
          <a:xfrm>
            <a:off x="6492240" y="3264408"/>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No significant price response showed up in the pilot, so we assumed none and let the full price gap flow through. With more within-listing price variation we could measure it properly instead of assuming it.</a:t>
            </a:r>
            <a:endParaRPr lang="en-US" sz="1180"/>
          </a:p>
        </p:txBody>
      </p:sp>
      <p:sp>
        <p:nvSpPr>
          <p:cNvPr id="22" name="Shape 16"/>
          <p:cNvSpPr/>
          <p:nvPr/>
        </p:nvSpPr>
        <p:spPr>
          <a:xfrm>
            <a:off x="502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58952" y="4608576"/>
            <a:ext cx="566928" cy="566928"/>
          </a:xfrm>
          <a:prstGeom prst="ellipse">
            <a:avLst/>
          </a:prstGeom>
          <a:solidFill>
            <a:srgbClr val="FFF1E9"/>
          </a:solidFill>
          <a:ln/>
        </p:spPr>
        <p:txBody>
          <a:bodyPr/>
          <a:lstStyle/>
          <a:p>
            <a:endParaRPr lang="en-US"/>
          </a:p>
        </p:txBody>
      </p:sp>
      <p:pic>
        <p:nvPicPr>
          <p:cNvPr id="24" name="Image 4" descr="/sessions/dreamy-trusting-noether/mnt/outputs/build/assets/pin_orange.png"/>
          <p:cNvPicPr>
            <a:picLocks noChangeAspect="1"/>
          </p:cNvPicPr>
          <p:nvPr/>
        </p:nvPicPr>
        <p:blipFill>
          <a:blip r:embed="rId7"/>
          <a:stretch>
            <a:fillRect/>
          </a:stretch>
        </p:blipFill>
        <p:spPr>
          <a:xfrm>
            <a:off x="895015" y="4744639"/>
            <a:ext cx="294803" cy="294803"/>
          </a:xfrm>
          <a:prstGeom prst="rect">
            <a:avLst/>
          </a:prstGeom>
        </p:spPr>
      </p:pic>
      <p:sp>
        <p:nvSpPr>
          <p:cNvPr id="25" name="Text 18"/>
          <p:cNvSpPr/>
          <p:nvPr/>
        </p:nvSpPr>
        <p:spPr>
          <a:xfrm>
            <a:off x="1453896" y="4645152"/>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Open the booking-flow data</a:t>
            </a:r>
            <a:endParaRPr lang="en-US" sz="1400"/>
          </a:p>
        </p:txBody>
      </p:sp>
      <p:sp>
        <p:nvSpPr>
          <p:cNvPr id="26" name="Text 19"/>
          <p:cNvSpPr/>
          <p:nvPr/>
        </p:nvSpPr>
        <p:spPr>
          <a:xfrm>
            <a:off x="777240" y="5266944"/>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We counted zero credit for guests won back from hotels and competitors. Airbnb's own conversion data would price that, along with the churn and lifetime-value effects we can describe but not yet quantify.</a:t>
            </a:r>
            <a:endParaRPr lang="en-US" sz="1180"/>
          </a:p>
        </p:txBody>
      </p:sp>
      <p:sp>
        <p:nvSpPr>
          <p:cNvPr id="27" name="Shape 20"/>
          <p:cNvSpPr/>
          <p:nvPr/>
        </p:nvSpPr>
        <p:spPr>
          <a:xfrm>
            <a:off x="6217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6473952" y="4608576"/>
            <a:ext cx="566928" cy="566928"/>
          </a:xfrm>
          <a:prstGeom prst="ellipse">
            <a:avLst/>
          </a:prstGeom>
          <a:solidFill>
            <a:srgbClr val="FFF1E9"/>
          </a:solidFill>
          <a:ln/>
        </p:spPr>
        <p:txBody>
          <a:bodyPr/>
          <a:lstStyle/>
          <a:p>
            <a:endParaRPr lang="en-US"/>
          </a:p>
        </p:txBody>
      </p:sp>
      <p:pic>
        <p:nvPicPr>
          <p:cNvPr id="29" name="Image 5" descr="/sessions/dreamy-trusting-noether/mnt/outputs/build/assets/alert_orange.png"/>
          <p:cNvPicPr>
            <a:picLocks noChangeAspect="1"/>
          </p:cNvPicPr>
          <p:nvPr/>
        </p:nvPicPr>
        <p:blipFill>
          <a:blip r:embed="rId8"/>
          <a:stretch>
            <a:fillRect/>
          </a:stretch>
        </p:blipFill>
        <p:spPr>
          <a:xfrm>
            <a:off x="6610015" y="4744639"/>
            <a:ext cx="294803" cy="294803"/>
          </a:xfrm>
          <a:prstGeom prst="rect">
            <a:avLst/>
          </a:prstGeom>
        </p:spPr>
      </p:pic>
      <p:sp>
        <p:nvSpPr>
          <p:cNvPr id="30" name="Text 22"/>
          <p:cNvSpPr/>
          <p:nvPr/>
        </p:nvSpPr>
        <p:spPr>
          <a:xfrm>
            <a:off x="7168896" y="4645152"/>
            <a:ext cx="4325112" cy="502920"/>
          </a:xfrm>
          <a:prstGeom prst="rect">
            <a:avLst/>
          </a:prstGeom>
          <a:noFill/>
          <a:ln/>
        </p:spPr>
        <p:txBody>
          <a:bodyPr wrap="square" lIns="0" tIns="0" rIns="0" bIns="0" rtlCol="0" anchor="ctr"/>
          <a:lstStyle/>
          <a:p>
            <a:pPr marL="0" indent="0">
              <a:lnSpc>
                <a:spcPct val="95000"/>
              </a:lnSpc>
              <a:buNone/>
            </a:pPr>
            <a:r>
              <a:rPr lang="en-US" sz="1400" b="1">
                <a:solidFill>
                  <a:srgbClr val="222222"/>
                </a:solidFill>
                <a:latin typeface="Poppins" pitchFamily="34" charset="0"/>
                <a:ea typeface="Poppins" pitchFamily="34" charset="-122"/>
                <a:cs typeface="Poppins" pitchFamily="34" charset="-120"/>
              </a:rPr>
              <a:t>Then take it beyond New York</a:t>
            </a:r>
            <a:endParaRPr lang="en-US" sz="1400"/>
          </a:p>
        </p:txBody>
      </p:sp>
      <p:sp>
        <p:nvSpPr>
          <p:cNvPr id="31" name="Text 23"/>
          <p:cNvSpPr/>
          <p:nvPr/>
        </p:nvSpPr>
        <p:spPr>
          <a:xfrm>
            <a:off x="6492240" y="5266944"/>
            <a:ext cx="4919472" cy="777240"/>
          </a:xfrm>
          <a:prstGeom prst="rect">
            <a:avLst/>
          </a:prstGeom>
          <a:noFill/>
          <a:ln/>
        </p:spPr>
        <p:txBody>
          <a:bodyPr wrap="square" lIns="0" tIns="0" rIns="0" bIns="0" rtlCol="0" anchor="t"/>
          <a:lstStyle/>
          <a:p>
            <a:pPr marL="0" indent="0">
              <a:lnSpc>
                <a:spcPct val="105000"/>
              </a:lnSpc>
              <a:buNone/>
            </a:pPr>
            <a:r>
              <a:rPr lang="en-US" sz="1180">
                <a:solidFill>
                  <a:srgbClr val="4A4A4A"/>
                </a:solidFill>
                <a:latin typeface="Poppins" pitchFamily="34" charset="0"/>
                <a:ea typeface="Poppins" pitchFamily="34" charset="-122"/>
                <a:cs typeface="Poppins" pitchFamily="34" charset="-120"/>
              </a:rPr>
              <a:t>Coefficients need re-fitting per market: tourism, regulation and seasonality all differ. The method transfers; these particular numbers are New York's.</a:t>
            </a:r>
            <a:endParaRPr lang="en-US" sz="118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13 · RECOMMENDATIONS &amp; CLOSING</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Build on Smart Pricing, don't replace it</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The opportunity isn't another number. It's helping hosts understand, trust and act on it.</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a:ea typeface="Poppins" pitchFamily="34" charset="-122"/>
                <a:cs typeface="Poppins"/>
              </a:rPr>
              <a:t>PRESENTS  </a:t>
            </a:r>
            <a:r>
              <a:rPr lang="en-US" sz="950" b="1">
                <a:solidFill>
                  <a:srgbClr val="222222"/>
                </a:solidFill>
                <a:latin typeface="Poppins"/>
                <a:ea typeface="Poppins" pitchFamily="34" charset="-122"/>
                <a:cs typeface="Poppins"/>
              </a:rPr>
              <a:t>Manas</a:t>
            </a:r>
            <a:endParaRPr lang="en-US" sz="950">
              <a:solidFill>
                <a:srgbClr val="000000"/>
              </a:solidFill>
              <a:latin typeface="Calibri"/>
              <a:ea typeface="Calibri"/>
              <a:cs typeface="Calibri"/>
            </a:endParaRPr>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14</a:t>
            </a:r>
            <a:endParaRPr lang="en-US" sz="900"/>
          </a:p>
        </p:txBody>
      </p:sp>
      <p:sp>
        <p:nvSpPr>
          <p:cNvPr id="12" name="Shape 8"/>
          <p:cNvSpPr/>
          <p:nvPr/>
        </p:nvSpPr>
        <p:spPr>
          <a:xfrm>
            <a:off x="502920" y="2286000"/>
            <a:ext cx="3563112" cy="1554480"/>
          </a:xfrm>
          <a:prstGeom prst="roundRect">
            <a:avLst>
              <a:gd name="adj" fmla="val 8235"/>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542032"/>
            <a:ext cx="566928" cy="566928"/>
          </a:xfrm>
          <a:prstGeom prst="ellipse">
            <a:avLst/>
          </a:prstGeom>
          <a:solidFill>
            <a:srgbClr val="FF385C"/>
          </a:solidFill>
          <a:ln/>
        </p:spPr>
        <p:txBody>
          <a:bodyPr/>
          <a:lstStyle/>
          <a:p>
            <a:endParaRPr lang="en-US"/>
          </a:p>
        </p:txBody>
      </p:sp>
      <p:sp>
        <p:nvSpPr>
          <p:cNvPr id="14" name="Text 10"/>
          <p:cNvSpPr/>
          <p:nvPr/>
        </p:nvSpPr>
        <p:spPr>
          <a:xfrm>
            <a:off x="758952" y="2542032"/>
            <a:ext cx="566928" cy="566928"/>
          </a:xfrm>
          <a:prstGeom prst="rect">
            <a:avLst/>
          </a:prstGeom>
          <a:noFill/>
          <a:ln/>
        </p:spPr>
        <p:txBody>
          <a:bodyPr wrap="square" lIns="0" tIns="0" rIns="0" bIns="0" rtlCol="0" anchor="ctr"/>
          <a:lstStyle/>
          <a:p>
            <a:pPr marL="0" indent="0" algn="ctr">
              <a:buNone/>
            </a:pPr>
            <a:r>
              <a:rPr lang="en-US" sz="2000" b="1">
                <a:solidFill>
                  <a:srgbClr val="FFFFFF"/>
                </a:solidFill>
                <a:latin typeface="Poppins" pitchFamily="34" charset="0"/>
                <a:ea typeface="Poppins" pitchFamily="34" charset="-122"/>
                <a:cs typeface="Poppins" pitchFamily="34" charset="-120"/>
              </a:rPr>
              <a:t>1</a:t>
            </a:r>
            <a:endParaRPr lang="en-US" sz="2000"/>
          </a:p>
        </p:txBody>
      </p:sp>
      <p:sp>
        <p:nvSpPr>
          <p:cNvPr id="15" name="Text 11"/>
          <p:cNvSpPr/>
          <p:nvPr/>
        </p:nvSpPr>
        <p:spPr>
          <a:xfrm>
            <a:off x="1463040" y="2578608"/>
            <a:ext cx="2420112" cy="502920"/>
          </a:xfrm>
          <a:prstGeom prst="rect">
            <a:avLst/>
          </a:prstGeom>
          <a:noFill/>
          <a:ln/>
        </p:spPr>
        <p:txBody>
          <a:bodyPr wrap="square" lIns="0" tIns="0" rIns="0" bIns="0" rtlCol="0" anchor="ctr"/>
          <a:lstStyle/>
          <a:p>
            <a:pPr marL="0" indent="0">
              <a:lnSpc>
                <a:spcPct val="95000"/>
              </a:lnSpc>
              <a:buNone/>
            </a:pPr>
            <a:r>
              <a:rPr lang="en-US" sz="1350" b="1">
                <a:solidFill>
                  <a:srgbClr val="222222"/>
                </a:solidFill>
                <a:latin typeface="Poppins" pitchFamily="34" charset="0"/>
                <a:ea typeface="Poppins" pitchFamily="34" charset="-122"/>
                <a:cs typeface="Poppins" pitchFamily="34" charset="-120"/>
              </a:rPr>
              <a:t>Enhance, don't replace</a:t>
            </a:r>
            <a:endParaRPr lang="en-US" sz="1350"/>
          </a:p>
        </p:txBody>
      </p:sp>
      <p:sp>
        <p:nvSpPr>
          <p:cNvPr id="16" name="Text 12"/>
          <p:cNvSpPr/>
          <p:nvPr/>
        </p:nvSpPr>
        <p:spPr>
          <a:xfrm>
            <a:off x="777240" y="3182112"/>
            <a:ext cx="3014472" cy="59436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Layer explanations and comparables onto the existing Smart Pricing hosts already know.</a:t>
            </a:r>
            <a:endParaRPr lang="en-US" sz="1100"/>
          </a:p>
        </p:txBody>
      </p:sp>
      <p:sp>
        <p:nvSpPr>
          <p:cNvPr id="17" name="Shape 13"/>
          <p:cNvSpPr/>
          <p:nvPr/>
        </p:nvSpPr>
        <p:spPr>
          <a:xfrm>
            <a:off x="431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542032"/>
            <a:ext cx="566928" cy="566928"/>
          </a:xfrm>
          <a:prstGeom prst="ellipse">
            <a:avLst/>
          </a:prstGeom>
          <a:solidFill>
            <a:srgbClr val="FF385C"/>
          </a:solidFill>
          <a:ln/>
        </p:spPr>
        <p:txBody>
          <a:bodyPr/>
          <a:lstStyle/>
          <a:p>
            <a:endParaRPr lang="en-US"/>
          </a:p>
        </p:txBody>
      </p:sp>
      <p:sp>
        <p:nvSpPr>
          <p:cNvPr id="19" name="Text 15"/>
          <p:cNvSpPr/>
          <p:nvPr/>
        </p:nvSpPr>
        <p:spPr>
          <a:xfrm>
            <a:off x="4568952" y="2542032"/>
            <a:ext cx="566928" cy="566928"/>
          </a:xfrm>
          <a:prstGeom prst="rect">
            <a:avLst/>
          </a:prstGeom>
          <a:noFill/>
          <a:ln/>
        </p:spPr>
        <p:txBody>
          <a:bodyPr wrap="square" lIns="0" tIns="0" rIns="0" bIns="0" rtlCol="0" anchor="ctr"/>
          <a:lstStyle/>
          <a:p>
            <a:pPr marL="0" indent="0" algn="ctr">
              <a:buNone/>
            </a:pPr>
            <a:r>
              <a:rPr lang="en-US" sz="2000" b="1">
                <a:solidFill>
                  <a:srgbClr val="FFFFFF"/>
                </a:solidFill>
                <a:latin typeface="Poppins" pitchFamily="34" charset="0"/>
                <a:ea typeface="Poppins" pitchFamily="34" charset="-122"/>
                <a:cs typeface="Poppins" pitchFamily="34" charset="-120"/>
              </a:rPr>
              <a:t>2</a:t>
            </a:r>
            <a:endParaRPr lang="en-US" sz="2000"/>
          </a:p>
        </p:txBody>
      </p:sp>
      <p:sp>
        <p:nvSpPr>
          <p:cNvPr id="20" name="Text 16"/>
          <p:cNvSpPr/>
          <p:nvPr/>
        </p:nvSpPr>
        <p:spPr>
          <a:xfrm>
            <a:off x="5273040" y="2578608"/>
            <a:ext cx="2420112" cy="502920"/>
          </a:xfrm>
          <a:prstGeom prst="rect">
            <a:avLst/>
          </a:prstGeom>
          <a:noFill/>
          <a:ln/>
        </p:spPr>
        <p:txBody>
          <a:bodyPr wrap="square" lIns="0" tIns="0" rIns="0" bIns="0" rtlCol="0" anchor="ctr"/>
          <a:lstStyle/>
          <a:p>
            <a:pPr marL="0" indent="0">
              <a:lnSpc>
                <a:spcPct val="95000"/>
              </a:lnSpc>
              <a:buNone/>
            </a:pPr>
            <a:r>
              <a:rPr lang="en-US" sz="1350" b="1">
                <a:solidFill>
                  <a:srgbClr val="222222"/>
                </a:solidFill>
                <a:latin typeface="Poppins" pitchFamily="34" charset="0"/>
                <a:ea typeface="Poppins" pitchFamily="34" charset="-122"/>
                <a:cs typeface="Poppins" pitchFamily="34" charset="-120"/>
              </a:rPr>
              <a:t>Pilot in one market</a:t>
            </a:r>
            <a:endParaRPr lang="en-US" sz="1350"/>
          </a:p>
        </p:txBody>
      </p:sp>
      <p:sp>
        <p:nvSpPr>
          <p:cNvPr id="21" name="Text 17"/>
          <p:cNvSpPr/>
          <p:nvPr/>
        </p:nvSpPr>
        <p:spPr>
          <a:xfrm>
            <a:off x="4587240" y="3182112"/>
            <a:ext cx="3014472" cy="59436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Measure adoption and how pricing changes move both occupancy and revenue.</a:t>
            </a:r>
            <a:endParaRPr lang="en-US" sz="1100"/>
          </a:p>
        </p:txBody>
      </p:sp>
      <p:sp>
        <p:nvSpPr>
          <p:cNvPr id="22" name="Shape 18"/>
          <p:cNvSpPr/>
          <p:nvPr/>
        </p:nvSpPr>
        <p:spPr>
          <a:xfrm>
            <a:off x="812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542032"/>
            <a:ext cx="566928" cy="566928"/>
          </a:xfrm>
          <a:prstGeom prst="ellipse">
            <a:avLst/>
          </a:prstGeom>
          <a:solidFill>
            <a:srgbClr val="FF385C"/>
          </a:solidFill>
          <a:ln/>
        </p:spPr>
        <p:txBody>
          <a:bodyPr/>
          <a:lstStyle/>
          <a:p>
            <a:endParaRPr lang="en-US"/>
          </a:p>
        </p:txBody>
      </p:sp>
      <p:sp>
        <p:nvSpPr>
          <p:cNvPr id="24" name="Text 20"/>
          <p:cNvSpPr/>
          <p:nvPr/>
        </p:nvSpPr>
        <p:spPr>
          <a:xfrm>
            <a:off x="8378952" y="2542032"/>
            <a:ext cx="566928" cy="566928"/>
          </a:xfrm>
          <a:prstGeom prst="rect">
            <a:avLst/>
          </a:prstGeom>
          <a:noFill/>
          <a:ln/>
        </p:spPr>
        <p:txBody>
          <a:bodyPr wrap="square" lIns="0" tIns="0" rIns="0" bIns="0" rtlCol="0" anchor="ctr"/>
          <a:lstStyle/>
          <a:p>
            <a:pPr marL="0" indent="0" algn="ctr">
              <a:buNone/>
            </a:pPr>
            <a:r>
              <a:rPr lang="en-US" sz="2000" b="1">
                <a:solidFill>
                  <a:srgbClr val="FFFFFF"/>
                </a:solidFill>
                <a:latin typeface="Poppins" pitchFamily="34" charset="0"/>
                <a:ea typeface="Poppins" pitchFamily="34" charset="-122"/>
                <a:cs typeface="Poppins" pitchFamily="34" charset="-120"/>
              </a:rPr>
              <a:t>3</a:t>
            </a:r>
            <a:endParaRPr lang="en-US" sz="2000"/>
          </a:p>
        </p:txBody>
      </p:sp>
      <p:sp>
        <p:nvSpPr>
          <p:cNvPr id="25" name="Text 21"/>
          <p:cNvSpPr/>
          <p:nvPr/>
        </p:nvSpPr>
        <p:spPr>
          <a:xfrm>
            <a:off x="9083040" y="2578608"/>
            <a:ext cx="2420112" cy="502920"/>
          </a:xfrm>
          <a:prstGeom prst="rect">
            <a:avLst/>
          </a:prstGeom>
          <a:noFill/>
          <a:ln/>
        </p:spPr>
        <p:txBody>
          <a:bodyPr wrap="square" lIns="0" tIns="0" rIns="0" bIns="0" rtlCol="0" anchor="ctr"/>
          <a:lstStyle/>
          <a:p>
            <a:pPr marL="0" indent="0">
              <a:lnSpc>
                <a:spcPct val="95000"/>
              </a:lnSpc>
              <a:buNone/>
            </a:pPr>
            <a:r>
              <a:rPr lang="en-US" sz="1350" b="1">
                <a:solidFill>
                  <a:srgbClr val="222222"/>
                </a:solidFill>
                <a:latin typeface="Poppins" pitchFamily="34" charset="0"/>
                <a:ea typeface="Poppins" pitchFamily="34" charset="-122"/>
                <a:cs typeface="Poppins" pitchFamily="34" charset="-120"/>
              </a:rPr>
              <a:t>Learn, then scale</a:t>
            </a:r>
            <a:endParaRPr lang="en-US" sz="1350"/>
          </a:p>
        </p:txBody>
      </p:sp>
      <p:sp>
        <p:nvSpPr>
          <p:cNvPr id="26" name="Text 22"/>
          <p:cNvSpPr/>
          <p:nvPr/>
        </p:nvSpPr>
        <p:spPr>
          <a:xfrm>
            <a:off x="8397240" y="3182112"/>
            <a:ext cx="3014472" cy="594360"/>
          </a:xfrm>
          <a:prstGeom prst="rect">
            <a:avLst/>
          </a:prstGeom>
          <a:noFill/>
          <a:ln/>
        </p:spPr>
        <p:txBody>
          <a:bodyPr wrap="square" lIns="0" tIns="0" rIns="0" bIns="0" rtlCol="0" anchor="t"/>
          <a:lstStyle/>
          <a:p>
            <a:pPr marL="0" indent="0">
              <a:lnSpc>
                <a:spcPct val="103000"/>
              </a:lnSpc>
              <a:buNone/>
            </a:pPr>
            <a:r>
              <a:rPr lang="en-US" sz="1100">
                <a:solidFill>
                  <a:srgbClr val="717171"/>
                </a:solidFill>
                <a:latin typeface="Poppins" pitchFamily="34" charset="0"/>
                <a:ea typeface="Poppins" pitchFamily="34" charset="-122"/>
                <a:cs typeface="Poppins" pitchFamily="34" charset="-120"/>
              </a:rPr>
              <a:t>Use real-world results to improve the model before expanding to more cities.</a:t>
            </a:r>
            <a:endParaRPr lang="en-US" sz="110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4"/>
          <p:cNvSpPr/>
          <p:nvPr/>
        </p:nvSpPr>
        <p:spPr>
          <a:xfrm>
            <a:off x="777240" y="4343400"/>
            <a:ext cx="566928" cy="566928"/>
          </a:xfrm>
          <a:prstGeom prst="ellipse">
            <a:avLst/>
          </a:prstGeom>
          <a:solidFill>
            <a:srgbClr val="E6F6F4"/>
          </a:solidFill>
          <a:ln/>
        </p:spPr>
        <p:txBody>
          <a:bodyPr/>
          <a:lstStyle/>
          <a:p>
            <a:endParaRPr lang="en-US"/>
          </a:p>
        </p:txBody>
      </p:sp>
      <p:pic>
        <p:nvPicPr>
          <p:cNvPr id="29" name="Image 2" descr="/sessions/dreamy-trusting-noether/mnt/outputs/build/assets/briefcase_teal.png"/>
          <p:cNvPicPr>
            <a:picLocks noChangeAspect="1"/>
          </p:cNvPicPr>
          <p:nvPr/>
        </p:nvPicPr>
        <p:blipFill>
          <a:blip r:embed="rId5"/>
          <a:stretch>
            <a:fillRect/>
          </a:stretch>
        </p:blipFill>
        <p:spPr>
          <a:xfrm>
            <a:off x="913303" y="4479463"/>
            <a:ext cx="294803" cy="294803"/>
          </a:xfrm>
          <a:prstGeom prst="rect">
            <a:avLst/>
          </a:prstGeom>
        </p:spPr>
      </p:pic>
      <p:sp>
        <p:nvSpPr>
          <p:cNvPr id="30" name="Text 25"/>
          <p:cNvSpPr/>
          <p:nvPr/>
        </p:nvSpPr>
        <p:spPr>
          <a:xfrm>
            <a:off x="1481328" y="4370832"/>
            <a:ext cx="5486400" cy="365760"/>
          </a:xfrm>
          <a:prstGeom prst="rect">
            <a:avLst/>
          </a:prstGeom>
          <a:noFill/>
          <a:ln/>
        </p:spPr>
        <p:txBody>
          <a:bodyPr wrap="square" lIns="0" tIns="0" rIns="0" bIns="0" rtlCol="0" anchor="ctr"/>
          <a:lstStyle/>
          <a:p>
            <a:pPr marL="0" indent="0">
              <a:buNone/>
            </a:pPr>
            <a:r>
              <a:rPr lang="en-US" sz="1400" b="1">
                <a:solidFill>
                  <a:srgbClr val="222222"/>
                </a:solidFill>
                <a:latin typeface="Poppins" pitchFamily="34" charset="0"/>
                <a:ea typeface="Poppins" pitchFamily="34" charset="-122"/>
                <a:cs typeface="Poppins" pitchFamily="34" charset="-120"/>
              </a:rPr>
              <a:t>The bigger lesson</a:t>
            </a:r>
            <a:endParaRPr lang="en-US" sz="1400"/>
          </a:p>
        </p:txBody>
      </p:sp>
      <p:sp>
        <p:nvSpPr>
          <p:cNvPr id="31" name="Text 26"/>
          <p:cNvSpPr/>
          <p:nvPr/>
        </p:nvSpPr>
        <p:spPr>
          <a:xfrm>
            <a:off x="777240" y="4892040"/>
            <a:ext cx="6537960" cy="1051560"/>
          </a:xfrm>
          <a:prstGeom prst="rect">
            <a:avLst/>
          </a:prstGeom>
          <a:noFill/>
          <a:ln/>
        </p:spPr>
        <p:txBody>
          <a:bodyPr wrap="square" lIns="0" tIns="0" rIns="0" bIns="0" rtlCol="0" anchor="t"/>
          <a:lstStyle/>
          <a:p>
            <a:pPr marL="0" indent="0">
              <a:lnSpc>
                <a:spcPct val="106000"/>
              </a:lnSpc>
              <a:buNone/>
            </a:pPr>
            <a:r>
              <a:rPr lang="en-US" sz="1180">
                <a:solidFill>
                  <a:srgbClr val="4A4A4A"/>
                </a:solidFill>
                <a:latin typeface="Poppins" pitchFamily="34" charset="0"/>
                <a:ea typeface="Poppins" pitchFamily="34" charset="-122"/>
                <a:cs typeface="Poppins" pitchFamily="34" charset="-120"/>
              </a:rPr>
              <a:t>Good analytics means more than accurate models. It means solving the right business problem and presenting insight people will actually use. This project brought together machine learning, product thinking, business strategy and data storytelling in one solution, skills that carry directly into our careers.</a:t>
            </a:r>
            <a:endParaRPr lang="en-US" sz="1180"/>
          </a:p>
        </p:txBody>
      </p:sp>
      <p:sp>
        <p:nvSpPr>
          <p:cNvPr id="32" name="Shape 27"/>
          <p:cNvSpPr/>
          <p:nvPr/>
        </p:nvSpPr>
        <p:spPr>
          <a:xfrm>
            <a:off x="7726680" y="4069080"/>
            <a:ext cx="3959352" cy="1965960"/>
          </a:xfrm>
          <a:prstGeom prst="roundRect">
            <a:avLst>
              <a:gd name="adj" fmla="val 6512"/>
            </a:avLst>
          </a:prstGeom>
          <a:solidFill>
            <a:srgbClr val="FF385C"/>
          </a:solidFill>
          <a:ln/>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a:solidFill>
                  <a:srgbClr val="FFFFFF"/>
                </a:solidFill>
                <a:latin typeface="Poppins" pitchFamily="34" charset="0"/>
                <a:ea typeface="Poppins" pitchFamily="34" charset="-122"/>
                <a:cs typeface="Poppins" pitchFamily="34" charset="-120"/>
              </a:rPr>
              <a:t>Thank you</a:t>
            </a:r>
            <a:endParaRPr lang="en-US" sz="2600"/>
          </a:p>
        </p:txBody>
      </p:sp>
      <p:sp>
        <p:nvSpPr>
          <p:cNvPr id="34" name="Text 29"/>
          <p:cNvSpPr/>
          <p:nvPr/>
        </p:nvSpPr>
        <p:spPr>
          <a:xfrm>
            <a:off x="7973568" y="5029200"/>
            <a:ext cx="3474720" cy="457200"/>
          </a:xfrm>
          <a:prstGeom prst="rect">
            <a:avLst/>
          </a:prstGeom>
          <a:noFill/>
          <a:ln/>
        </p:spPr>
        <p:txBody>
          <a:bodyPr wrap="square" lIns="0" tIns="0" rIns="0" bIns="0" rtlCol="0" anchor="ctr"/>
          <a:lstStyle/>
          <a:p>
            <a:pPr marL="0" indent="0">
              <a:buNone/>
            </a:pPr>
            <a:r>
              <a:rPr lang="en-US" sz="1250">
                <a:solidFill>
                  <a:srgbClr val="FFFFFF"/>
                </a:solidFill>
                <a:latin typeface="Poppins" pitchFamily="34" charset="0"/>
                <a:ea typeface="Poppins" pitchFamily="34" charset="-122"/>
                <a:cs typeface="Poppins" pitchFamily="34" charset="-120"/>
              </a:rPr>
              <a:t>We'd be happy to answer any questions.</a:t>
            </a:r>
            <a:endParaRPr lang="en-US" sz="1250"/>
          </a:p>
        </p:txBody>
      </p:sp>
      <p:sp>
        <p:nvSpPr>
          <p:cNvPr id="35" name="Text 30"/>
          <p:cNvSpPr/>
          <p:nvPr/>
        </p:nvSpPr>
        <p:spPr>
          <a:xfrm>
            <a:off x="7973568" y="5532120"/>
            <a:ext cx="3566160" cy="365760"/>
          </a:xfrm>
          <a:prstGeom prst="rect">
            <a:avLst/>
          </a:prstGeom>
          <a:noFill/>
          <a:ln/>
        </p:spPr>
        <p:txBody>
          <a:bodyPr wrap="square" lIns="0" tIns="0" rIns="0" bIns="0" rtlCol="0" anchor="ctr"/>
          <a:lstStyle/>
          <a:p>
            <a:pPr marL="0" indent="0">
              <a:buNone/>
            </a:pPr>
            <a:r>
              <a:rPr lang="en-US" sz="1000" b="1">
                <a:solidFill>
                  <a:srgbClr val="FFFFFF"/>
                </a:solidFill>
                <a:latin typeface="Poppins" pitchFamily="34" charset="0"/>
                <a:ea typeface="Poppins" pitchFamily="34" charset="-122"/>
                <a:cs typeface="Poppins" pitchFamily="34" charset="-120"/>
              </a:rPr>
              <a:t>GitHub: mkdn007/Cornell-Airbnb-Capstone</a:t>
            </a:r>
            <a:endParaRPr lang="en-US" sz="1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000" b="1">
                <a:solidFill>
                  <a:srgbClr val="FFFFFF"/>
                </a:solidFill>
                <a:latin typeface="Poppins" pitchFamily="34" charset="0"/>
                <a:ea typeface="Poppins" pitchFamily="34" charset="-122"/>
                <a:cs typeface="Poppins" pitchFamily="34" charset="-120"/>
              </a:rPr>
              <a:t>BACKUP</a:t>
            </a:r>
            <a:endParaRPr lang="en-US" sz="6000"/>
          </a:p>
        </p:txBody>
      </p:sp>
      <p:sp>
        <p:nvSpPr>
          <p:cNvPr id="8" name="Text 3"/>
          <p:cNvSpPr/>
          <p:nvPr/>
        </p:nvSpPr>
        <p:spPr>
          <a:xfrm>
            <a:off x="804672" y="3108960"/>
            <a:ext cx="9601200" cy="457200"/>
          </a:xfrm>
          <a:prstGeom prst="rect">
            <a:avLst/>
          </a:prstGeom>
          <a:noFill/>
          <a:ln/>
        </p:spPr>
        <p:txBody>
          <a:bodyPr wrap="square" lIns="0" tIns="0" rIns="0" bIns="0" rtlCol="0" anchor="ctr"/>
          <a:lstStyle/>
          <a:p>
            <a:pPr marL="0" indent="0">
              <a:buNone/>
            </a:pPr>
            <a:r>
              <a:rPr lang="en-US" sz="1700">
                <a:solidFill>
                  <a:srgbClr val="FFFFFF">
                    <a:alpha val="92000"/>
                  </a:srgbClr>
                </a:solidFill>
                <a:latin typeface="Poppins" pitchFamily="34" charset="0"/>
                <a:ea typeface="Poppins" pitchFamily="34" charset="-122"/>
                <a:cs typeface="Poppins" pitchFamily="34" charset="-120"/>
              </a:rPr>
              <a:t>Not presented; held in reserve to answer questions. The full technical write-up lives in the appendix document.</a:t>
            </a:r>
            <a:endParaRPr lang="en-US" sz="170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B1  Model bake-off</a:t>
            </a:r>
            <a:endParaRPr lang="en-US" sz="110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B2  How the $7.6M is built</a:t>
            </a:r>
            <a:endParaRPr lang="en-US" sz="110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B3  Why we split at 142 reviews</a:t>
            </a:r>
            <a:endParaRPr lang="en-US" sz="110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B4  Revenue by confidence</a:t>
            </a:r>
            <a:endParaRPr lang="en-US" sz="110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B5  Validation &amp; methodology</a:t>
            </a:r>
            <a:endParaRPr lang="en-US" sz="1100"/>
          </a:p>
        </p:txBody>
      </p:sp>
      <p:sp>
        <p:nvSpPr>
          <p:cNvPr id="18" name="Text 15"/>
          <p:cNvSpPr/>
          <p:nvPr/>
        </p:nvSpPr>
        <p:spPr>
          <a:xfrm>
            <a:off x="3685032" y="4590288"/>
            <a:ext cx="2377440" cy="457200"/>
          </a:xfrm>
          <a:prstGeom prst="rect">
            <a:avLst/>
          </a:prstGeom>
          <a:noFill/>
          <a:ln/>
        </p:spPr>
        <p:txBody>
          <a:bodyPr wrap="square" lIns="0" tIns="0" rIns="0" bIns="0" rtlCol="0" anchor="ctr"/>
          <a:lstStyle/>
          <a:p>
            <a:pPr marL="0" indent="0">
              <a:buNone/>
            </a:pPr>
            <a:r>
              <a:rPr lang="en-US" sz="1100" b="1">
                <a:solidFill>
                  <a:srgbClr val="FFFFFF"/>
                </a:solidFill>
                <a:latin typeface="Poppins" pitchFamily="34" charset="0"/>
                <a:ea typeface="Poppins" pitchFamily="34" charset="-122"/>
                <a:cs typeface="Poppins" pitchFamily="34" charset="-120"/>
              </a:rPr>
              <a:t>B6  The adoption ramp</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B1 · MODEL BAKE-OFF</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Models tested, held-out performance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16</a:t>
            </a:r>
            <a:endParaRPr lang="en-US" sz="900"/>
          </a:p>
        </p:txBody>
      </p:sp>
      <p:graphicFrame>
        <p:nvGraphicFramePr>
          <p:cNvPr id="18" name="Table 0"/>
          <p:cNvGraphicFramePr>
            <a:graphicFrameLocks noGrp="1"/>
          </p:cNvGraphicFramePr>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490472">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384048">
                <a:tc>
                  <a:txBody>
                    <a:bodyPr/>
                    <a:lstStyle/>
                    <a:p>
                      <a:pPr marL="0" indent="0" algn="l">
                        <a:buNone/>
                      </a:pPr>
                      <a:r>
                        <a:rPr lang="en-US" sz="1100" b="1">
                          <a:solidFill>
                            <a:srgbClr val="FFFFFF"/>
                          </a:solidFill>
                          <a:latin typeface="Poppins" pitchFamily="34" charset="0"/>
                          <a:ea typeface="Poppins" pitchFamily="34" charset="-122"/>
                          <a:cs typeface="Poppins" pitchFamily="34" charset="-120"/>
                        </a:rPr>
                        <a:t>Model</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Median APE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MAE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R² (price)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a:solidFill>
                            <a:srgbClr val="FFFFFF"/>
                          </a:solidFill>
                          <a:latin typeface="Poppins" pitchFamily="34" charset="0"/>
                          <a:ea typeface="Poppins" pitchFamily="34" charset="-122"/>
                          <a:cs typeface="Poppins" pitchFamily="34" charset="-120"/>
                        </a:rPr>
                        <a:t>R² (log)</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100" b="1">
                          <a:solidFill>
                            <a:srgbClr val="FFFFFF"/>
                          </a:solidFill>
                          <a:latin typeface="Poppins" pitchFamily="34" charset="0"/>
                          <a:ea typeface="Poppins" pitchFamily="34" charset="-122"/>
                          <a:cs typeface="Poppins" pitchFamily="34" charset="-120"/>
                        </a:rPr>
                        <a:t>Source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V1  Log-linear OLS (baseline)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39.2%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$113.22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0.243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0.486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V1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29.3%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$92.94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0.506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0.619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V2  OLS (expanded features)</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23.7%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$81.20</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0.751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V2  Ridge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23.8%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$81.03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V2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20.8%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$75.07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0.574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0.782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V4  GBM short-stay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19.2%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$102.81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0.528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0.714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v3_gbm_segment_metrics.csv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100" b="1">
                          <a:solidFill>
                            <a:srgbClr val="222222"/>
                          </a:solidFill>
                          <a:latin typeface="Poppins" pitchFamily="34" charset="0"/>
                          <a:ea typeface="Poppins" pitchFamily="34" charset="-122"/>
                          <a:cs typeface="Poppins" pitchFamily="34" charset="-120"/>
                        </a:rPr>
                        <a:t>V4  GBM monthly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a:solidFill>
                            <a:srgbClr val="4A4A4A"/>
                          </a:solidFill>
                          <a:latin typeface="Poppins" pitchFamily="34" charset="0"/>
                          <a:ea typeface="Poppins" pitchFamily="34" charset="-122"/>
                          <a:cs typeface="Poppins" pitchFamily="34" charset="-120"/>
                        </a:rPr>
                        <a:t>15.2%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$39.92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0.532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a:solidFill>
                            <a:srgbClr val="4A4A4A"/>
                          </a:solidFill>
                          <a:latin typeface="Poppins" pitchFamily="34" charset="0"/>
                          <a:ea typeface="Poppins" pitchFamily="34" charset="-122"/>
                          <a:cs typeface="Poppins" pitchFamily="34" charset="-120"/>
                        </a:rPr>
                        <a:t>0.777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a:solidFill>
                            <a:srgbClr val="4A4A4A"/>
                          </a:solidFill>
                          <a:latin typeface="Poppins" pitchFamily="34" charset="0"/>
                          <a:ea typeface="Poppins" pitchFamily="34" charset="-122"/>
                          <a:cs typeface="Poppins" pitchFamily="34" charset="-120"/>
                        </a:rPr>
                        <a:t>v3_gbm_segment_metrics.csv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100" b="1">
                <a:solidFill>
                  <a:srgbClr val="222222"/>
                </a:solidFill>
                <a:latin typeface="Poppins" pitchFamily="34" charset="0"/>
                <a:ea typeface="Poppins" pitchFamily="34" charset="-122"/>
                <a:cs typeface="Poppins" pitchFamily="34" charset="-120"/>
              </a:rPr>
              <a:t>How to read it.  </a:t>
            </a:r>
            <a:r>
              <a:rPr lang="en-US" sz="110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V2 Ridge scored 25.1% on short-stay alone and 20.9% on monthly. Two distinct stages of gain: richer features took pooled error from 39.2% to 23.7%, then the segment-split GBM took short-stay to 19.2% and monthly to 15.2%.</a:t>
            </a:r>
            <a:endParaRPr lang="en-US" sz="1100"/>
          </a:p>
        </p:txBody>
      </p:sp>
    </p:spTree>
    <p:extLst>
      <p:ext uri="{BB962C8B-B14F-4D97-AF65-F5344CB8AC3E}">
        <p14:creationId xmlns:p14="http://schemas.microsoft.com/office/powerpoint/2010/main" val="12734628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B2 · HOW THE $7.6M IS BUILT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How we built the business case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17</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Revenue floor</a:t>
            </a:r>
            <a:endParaRPr lang="en-US" sz="130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 at full adoption.</a:t>
            </a:r>
            <a:endParaRPr lang="en-US" sz="108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Ceiling (upside)</a:t>
            </a:r>
            <a:endParaRPr lang="en-US" sz="130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Incremental cost</a:t>
            </a:r>
            <a:endParaRPr lang="en-US" sz="130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ROI &amp; payback</a:t>
            </a:r>
            <a:endParaRPr lang="en-US" sz="130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Modeled as an adoption ramp (Rogers' Diffusion), not a flat guess: ~10% in Year 1 climbing to ~42% by Year 4. Cash-positive in Year 1, at $117K revenue against $95K cost.</a:t>
            </a:r>
            <a:endParaRPr lang="en-US" sz="108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NPV-honest</a:t>
            </a:r>
            <a:endParaRPr lang="en-US" sz="130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Discounted at 10% (CFI standard). 5-yr cumulative net $1.61M nominal → $1.14M NPV (~29% haircut), still net-positive in Year 1. We show both.</a:t>
            </a:r>
            <a:endParaRPr lang="en-US" sz="108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a:solidFill>
                  <a:srgbClr val="007A73"/>
                </a:solidFill>
                <a:latin typeface="Poppins" pitchFamily="34" charset="0"/>
                <a:ea typeface="Poppins" pitchFamily="34" charset="-122"/>
                <a:cs typeface="Poppins" pitchFamily="34" charset="-120"/>
              </a:rPr>
              <a:t>Floor of the floor</a:t>
            </a:r>
            <a:endParaRPr lang="en-US" sz="130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No overpriced upside: we book its loss, not its potential gain. No hotel win-back nights, no churn / LTV, no cross-market scaling. Every input rounds against us, so the real return is higher.</a:t>
            </a:r>
            <a:endParaRPr lang="en-US" sz="1080"/>
          </a:p>
        </p:txBody>
      </p:sp>
    </p:spTree>
    <p:extLst>
      <p:ext uri="{BB962C8B-B14F-4D97-AF65-F5344CB8AC3E}">
        <p14:creationId xmlns:p14="http://schemas.microsoft.com/office/powerpoint/2010/main" val="6269238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B3 · WHY WE SPLIT AT 142 REVIEWS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a:solidFill>
                  <a:srgbClr val="222222"/>
                </a:solidFill>
                <a:latin typeface="Poppins" pitchFamily="34" charset="0"/>
                <a:ea typeface="Poppins" pitchFamily="34" charset="-122"/>
                <a:cs typeface="Poppins" pitchFamily="34" charset="-120"/>
              </a:rPr>
              <a:t>We apply the coefficient only where we measured it</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β = −0.92 came from established hosts. Most listings are not.</a:t>
            </a:r>
            <a:endParaRPr lang="en-US" sz="14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18</a:t>
            </a:r>
            <a:endParaRPr lang="en-US" sz="90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a:solidFill>
                  <a:srgbClr val="222222"/>
                </a:solidFill>
                <a:latin typeface="Poppins" pitchFamily="34" charset="0"/>
                <a:ea typeface="Poppins" pitchFamily="34" charset="-122"/>
                <a:cs typeface="Poppins" pitchFamily="34" charset="-120"/>
              </a:rPr>
              <a:t>Why we refuse to extrapolate</a:t>
            </a:r>
            <a:endParaRPr lang="en-US" sz="150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a:solidFill>
                  <a:srgbClr val="222222"/>
                </a:solidFill>
                <a:latin typeface="Poppins" pitchFamily="34" charset="0"/>
                <a:ea typeface="Poppins" pitchFamily="34" charset="-122"/>
                <a:cs typeface="Poppins" pitchFamily="34" charset="-120"/>
              </a:rPr>
              <a:t>At −1.0 the answer is zero by algebra. </a:t>
            </a:r>
            <a:r>
              <a:rPr lang="en-US" sz="125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we claim nothing.</a:t>
            </a:r>
            <a:endParaRPr lang="en-US" sz="125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≥142 REVIEWS</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488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48" name="TextBox 47"/>
          <p:cNvSpPr txBox="1"/>
          <p:nvPr/>
        </p:nvSpPr>
        <p:spPr>
          <a:xfrm>
            <a:off x="932688" y="4242816"/>
            <a:ext cx="2743200" cy="169277"/>
          </a:xfrm>
          <a:prstGeom prst="rect">
            <a:avLst/>
          </a:prstGeom>
          <a:noFill/>
        </p:spPr>
        <p:txBody>
          <a:bodyPr wrap="square" lIns="0" tIns="0" rIns="0" bIns="0">
            <a:spAutoFit/>
          </a:bodyPr>
          <a:lstStyle/>
          <a:p>
            <a:pPr algn="l"/>
            <a:r>
              <a:rPr sz="1100" b="0">
                <a:solidFill>
                  <a:srgbClr val="717171"/>
                </a:solidFill>
                <a:latin typeface="Poppins"/>
              </a:rPr>
              <a:t>measured elasticity</a:t>
            </a:r>
            <a:r>
              <a:rPr lang="en-US" sz="1100" b="0">
                <a:solidFill>
                  <a:srgbClr val="717171"/>
                </a:solidFill>
                <a:latin typeface="Poppins"/>
              </a:rPr>
              <a:t>, </a:t>
            </a:r>
            <a:r>
              <a:rPr sz="1100" b="0">
                <a:solidFill>
                  <a:srgbClr val="717171"/>
                </a:solidFill>
                <a:latin typeface="Poppins"/>
              </a:rPr>
              <a:t>applied</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+$0.35M</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UNDER 142 REVIEWS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1,511</a:t>
            </a:r>
          </a:p>
        </p:txBody>
      </p:sp>
      <p:sp>
        <p:nvSpPr>
          <p:cNvPr id="54" name="TextBox 53"/>
          <p:cNvSpPr txBox="1"/>
          <p:nvPr/>
        </p:nvSpPr>
        <p:spPr>
          <a:xfrm>
            <a:off x="4544568" y="3456432"/>
            <a:ext cx="2743200" cy="169277"/>
          </a:xfrm>
          <a:prstGeom prst="rect">
            <a:avLst/>
          </a:prstGeom>
          <a:noFill/>
        </p:spPr>
        <p:txBody>
          <a:bodyPr wrap="square" lIns="0" tIns="0" rIns="0" bIns="0">
            <a:spAutoFit/>
          </a:bodyPr>
          <a:lstStyle/>
          <a:p>
            <a:pPr algn="l"/>
            <a:r>
              <a:rPr sz="1100" b="0">
                <a:solidFill>
                  <a:srgbClr val="717171"/>
                </a:solidFill>
                <a:latin typeface="Poppins"/>
              </a:rPr>
              <a:t>underpriced short-stay listings</a:t>
            </a:r>
            <a:r>
              <a:rPr lang="en-US" sz="1100" b="0">
                <a:solidFill>
                  <a:srgbClr val="717171"/>
                </a:solidFill>
                <a:latin typeface="Poppins"/>
              </a:rPr>
              <a:t>, </a:t>
            </a:r>
            <a:r>
              <a:rPr sz="1100" b="0">
                <a:solidFill>
                  <a:srgbClr val="717171"/>
                </a:solidFill>
                <a:latin typeface="Poppins"/>
              </a:rPr>
              <a:t>76%</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−1.0</a:t>
            </a:r>
          </a:p>
        </p:txBody>
      </p:sp>
      <p:sp>
        <p:nvSpPr>
          <p:cNvPr id="56" name="TextBox 55"/>
          <p:cNvSpPr txBox="1"/>
          <p:nvPr/>
        </p:nvSpPr>
        <p:spPr>
          <a:xfrm>
            <a:off x="4544568" y="4242816"/>
            <a:ext cx="2743200" cy="169277"/>
          </a:xfrm>
          <a:prstGeom prst="rect">
            <a:avLst/>
          </a:prstGeom>
          <a:noFill/>
        </p:spPr>
        <p:txBody>
          <a:bodyPr wrap="square" lIns="0" tIns="0" rIns="0" bIns="0">
            <a:spAutoFit/>
          </a:bodyPr>
          <a:lstStyle/>
          <a:p>
            <a:pPr algn="l"/>
            <a:r>
              <a:rPr sz="1100" b="0">
                <a:solidFill>
                  <a:srgbClr val="717171"/>
                </a:solidFill>
                <a:latin typeface="Poppins"/>
              </a:rPr>
              <a:t>breakeven assumed</a:t>
            </a:r>
            <a:r>
              <a:rPr lang="en-US" sz="1100" b="0">
                <a:solidFill>
                  <a:srgbClr val="717171"/>
                </a:solidFill>
                <a:latin typeface="Poppins"/>
              </a:rPr>
              <a:t>, </a:t>
            </a:r>
            <a:r>
              <a:rPr sz="1100" b="0">
                <a:solidFill>
                  <a:srgbClr val="717171"/>
                </a:solidFill>
                <a:latin typeface="Poppins"/>
              </a:rPr>
              <a:t>not measured</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$0</a:t>
            </a:r>
          </a:p>
        </p:txBody>
      </p:sp>
      <p:sp>
        <p:nvSpPr>
          <p:cNvPr id="58" name="TextBox 57"/>
          <p:cNvSpPr txBox="1"/>
          <p:nvPr/>
        </p:nvSpPr>
        <p:spPr>
          <a:xfrm>
            <a:off x="4544568" y="5029200"/>
            <a:ext cx="2743200" cy="169277"/>
          </a:xfrm>
          <a:prstGeom prst="rect">
            <a:avLst/>
          </a:prstGeom>
          <a:noFill/>
        </p:spPr>
        <p:txBody>
          <a:bodyPr wrap="square" lIns="0" tIns="0" rIns="0" bIns="0">
            <a:spAutoFit/>
          </a:bodyPr>
          <a:lstStyle/>
          <a:p>
            <a:pPr algn="l"/>
            <a:r>
              <a:rPr sz="1100" b="0">
                <a:solidFill>
                  <a:srgbClr val="717171"/>
                </a:solidFill>
                <a:latin typeface="Poppins"/>
              </a:rPr>
              <a:t>revenue contribution</a:t>
            </a:r>
            <a:r>
              <a:rPr lang="en-US" sz="1100" b="0">
                <a:solidFill>
                  <a:srgbClr val="717171"/>
                </a:solidFill>
                <a:latin typeface="Poppins"/>
              </a:rPr>
              <a:t>, </a:t>
            </a:r>
            <a:r>
              <a:rPr sz="1100" b="0">
                <a:solidFill>
                  <a:srgbClr val="717171"/>
                </a:solidFill>
                <a:latin typeface="Poppins"/>
              </a:rPr>
              <a:t>claimed nothing</a:t>
            </a: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B4 · REVENUE BY MODEL CONFIDENCE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How much rests on a confident call</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19</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Confident: raise price</a:t>
            </a:r>
            <a:endParaRPr lang="en-US" sz="130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449 listings: the model puts their price entirely below its calibrated band. Worth +$2.79M in host GBV.</a:t>
            </a:r>
            <a:endParaRPr lang="en-US" sz="108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Confident: lower price</a:t>
            </a:r>
            <a:endParaRPr lang="en-US" sz="130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Uncertain</a:t>
            </a:r>
            <a:endParaRPr lang="en-US" sz="130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3,192 listings whose current price sits inside the band. Worth +$5.21M, 69% of the total.</a:t>
            </a:r>
            <a:endParaRPr lang="en-US" sz="108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The confident subset alone</a:t>
            </a:r>
            <a:endParaRPr lang="en-US" sz="130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a:solidFill>
                  <a:srgbClr val="FF385C"/>
                </a:solidFill>
                <a:latin typeface="Poppins" pitchFamily="34" charset="0"/>
                <a:ea typeface="Poppins" pitchFamily="34" charset="-122"/>
                <a:cs typeface="Poppins" pitchFamily="34" charset="-120"/>
              </a:rPr>
              <a:t>It still funds itself</a:t>
            </a:r>
            <a:endParaRPr lang="en-US" sz="130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a:solidFill>
                  <a:srgbClr val="007A73"/>
                </a:solidFill>
                <a:latin typeface="Poppins" pitchFamily="34" charset="0"/>
                <a:ea typeface="Poppins" pitchFamily="34" charset="-122"/>
                <a:cs typeface="Poppins" pitchFamily="34" charset="-120"/>
              </a:rPr>
              <a:t>What “Uncertain” means</a:t>
            </a:r>
            <a:endParaRPr lang="en-US" sz="130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and the model-noise discount already haircuts it.</a:t>
            </a:r>
            <a:endParaRPr lang="en-US" sz="1080"/>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B5 · VALIDATION &amp; METHODOLOGY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Why we trust the number</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The statistical guardrails behind the recommendation.</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20</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Shape 6"/>
          <p:cNvSpPr/>
          <p:nvPr/>
        </p:nvSpPr>
        <p:spPr>
          <a:xfrm>
            <a:off x="722376" y="2569464"/>
            <a:ext cx="548640" cy="548640"/>
          </a:xfrm>
          <a:prstGeom prst="ellipse">
            <a:avLst/>
          </a:prstGeom>
          <a:solidFill>
            <a:srgbClr val="E6F6F4"/>
          </a:solidFill>
          <a:ln/>
        </p:spPr>
        <p:txBody>
          <a:bodyPr/>
          <a:lstStyle/>
          <a:p>
            <a:endParaRPr lang="en-US"/>
          </a:p>
        </p:txBody>
      </p:sp>
      <p:pic>
        <p:nvPicPr>
          <p:cNvPr id="11" name="Image 2" descr="/sessions/dreamy-trusting-noether/mnt/outputs/build/assets/layers_teal.png"/>
          <p:cNvPicPr>
            <a:picLocks noChangeAspect="1"/>
          </p:cNvPicPr>
          <p:nvPr/>
        </p:nvPicPr>
        <p:blipFill>
          <a:blip r:embed="rId5"/>
          <a:stretch>
            <a:fillRect/>
          </a:stretch>
        </p:blipFill>
        <p:spPr>
          <a:xfrm>
            <a:off x="854050" y="2701138"/>
            <a:ext cx="285293" cy="285293"/>
          </a:xfrm>
          <a:prstGeom prst="rect">
            <a:avLst/>
          </a:prstGeom>
        </p:spPr>
      </p:pic>
      <p:sp>
        <p:nvSpPr>
          <p:cNvPr id="12" name="Text 7"/>
          <p:cNvSpPr/>
          <p:nvPr/>
        </p:nvSpPr>
        <p:spPr>
          <a:xfrm>
            <a:off x="1399032" y="2606040"/>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80/20 + 5-fold out-of-fold</a:t>
            </a:r>
            <a:endParaRPr lang="en-US" sz="125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Every listing scored by a model that never trained on it, genuinely out-of-sample.</a:t>
            </a:r>
            <a:endParaRPr lang="en-US" sz="1050"/>
          </a:p>
        </p:txBody>
      </p:sp>
      <p:sp>
        <p:nvSpPr>
          <p:cNvPr id="14" name="Shape 9"/>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4532376" y="2569464"/>
            <a:ext cx="548640" cy="548640"/>
          </a:xfrm>
          <a:prstGeom prst="ellipse">
            <a:avLst/>
          </a:prstGeom>
          <a:solidFill>
            <a:srgbClr val="E6F6F4"/>
          </a:solidFill>
          <a:ln/>
        </p:spPr>
        <p:txBody>
          <a:bodyPr/>
          <a:lstStyle/>
          <a:p>
            <a:endParaRPr lang="en-US"/>
          </a:p>
        </p:txBody>
      </p:sp>
      <p:pic>
        <p:nvPicPr>
          <p:cNvPr id="16" name="Image 3" descr="/sessions/dreamy-trusting-noether/mnt/outputs/build/assets/scale_teal.png"/>
          <p:cNvPicPr>
            <a:picLocks noChangeAspect="1"/>
          </p:cNvPicPr>
          <p:nvPr/>
        </p:nvPicPr>
        <p:blipFill>
          <a:blip r:embed="rId6"/>
          <a:stretch>
            <a:fillRect/>
          </a:stretch>
        </p:blipFill>
        <p:spPr>
          <a:xfrm>
            <a:off x="4664050" y="2701138"/>
            <a:ext cx="285293" cy="285293"/>
          </a:xfrm>
          <a:prstGeom prst="rect">
            <a:avLst/>
          </a:prstGeom>
        </p:spPr>
      </p:pic>
      <p:sp>
        <p:nvSpPr>
          <p:cNvPr id="17" name="Text 11"/>
          <p:cNvSpPr/>
          <p:nvPr/>
        </p:nvSpPr>
        <p:spPr>
          <a:xfrm>
            <a:off x="5209032" y="2606040"/>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Duan smearing correction</a:t>
            </a:r>
            <a:endParaRPr lang="en-US" sz="125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a:p>
        </p:txBody>
      </p:sp>
      <p:sp>
        <p:nvSpPr>
          <p:cNvPr id="19" name="Shape 13"/>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0" name="Shape 14"/>
          <p:cNvSpPr/>
          <p:nvPr/>
        </p:nvSpPr>
        <p:spPr>
          <a:xfrm>
            <a:off x="8342376" y="2569464"/>
            <a:ext cx="548640" cy="548640"/>
          </a:xfrm>
          <a:prstGeom prst="ellipse">
            <a:avLst/>
          </a:prstGeom>
          <a:solidFill>
            <a:srgbClr val="E6F6F4"/>
          </a:solidFill>
          <a:ln/>
        </p:spPr>
        <p:txBody>
          <a:bodyPr/>
          <a:lstStyle/>
          <a:p>
            <a:endParaRPr lang="en-US"/>
          </a:p>
        </p:txBody>
      </p:sp>
      <p:pic>
        <p:nvPicPr>
          <p:cNvPr id="21" name="Image 4" descr="/sessions/dreamy-trusting-noether/mnt/outputs/build/assets/check_teal.png"/>
          <p:cNvPicPr>
            <a:picLocks noChangeAspect="1"/>
          </p:cNvPicPr>
          <p:nvPr/>
        </p:nvPicPr>
        <p:blipFill>
          <a:blip r:embed="rId7"/>
          <a:stretch>
            <a:fillRect/>
          </a:stretch>
        </p:blipFill>
        <p:spPr>
          <a:xfrm>
            <a:off x="8474050" y="2701138"/>
            <a:ext cx="285293" cy="285293"/>
          </a:xfrm>
          <a:prstGeom prst="rect">
            <a:avLst/>
          </a:prstGeom>
        </p:spPr>
      </p:pic>
      <p:sp>
        <p:nvSpPr>
          <p:cNvPr id="22" name="Text 15"/>
          <p:cNvSpPr/>
          <p:nvPr/>
        </p:nvSpPr>
        <p:spPr>
          <a:xfrm>
            <a:off x="9019032" y="2606040"/>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HC3 robust standard errors</a:t>
            </a:r>
            <a:endParaRPr lang="en-US" sz="125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Heteroskedasticity-consistent errors on every coefficient.</a:t>
            </a:r>
            <a:endParaRPr lang="en-US" sz="1050"/>
          </a:p>
        </p:txBody>
      </p:sp>
      <p:sp>
        <p:nvSpPr>
          <p:cNvPr id="24" name="Shape 17"/>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18"/>
          <p:cNvSpPr/>
          <p:nvPr/>
        </p:nvSpPr>
        <p:spPr>
          <a:xfrm>
            <a:off x="722376" y="4526280"/>
            <a:ext cx="548640" cy="548640"/>
          </a:xfrm>
          <a:prstGeom prst="ellipse">
            <a:avLst/>
          </a:prstGeom>
          <a:solidFill>
            <a:srgbClr val="E6F6F4"/>
          </a:solidFill>
          <a:ln/>
        </p:spPr>
        <p:txBody>
          <a:bodyPr/>
          <a:lstStyle/>
          <a:p>
            <a:endParaRPr lang="en-US"/>
          </a:p>
        </p:txBody>
      </p:sp>
      <p:pic>
        <p:nvPicPr>
          <p:cNvPr id="26" name="Image 5" descr="/sessions/dreamy-trusting-noether/mnt/outputs/build/assets/filter_teal.png"/>
          <p:cNvPicPr>
            <a:picLocks noChangeAspect="1"/>
          </p:cNvPicPr>
          <p:nvPr/>
        </p:nvPicPr>
        <p:blipFill>
          <a:blip r:embed="rId8"/>
          <a:stretch>
            <a:fillRect/>
          </a:stretch>
        </p:blipFill>
        <p:spPr>
          <a:xfrm>
            <a:off x="854050" y="4657954"/>
            <a:ext cx="285293" cy="285293"/>
          </a:xfrm>
          <a:prstGeom prst="rect">
            <a:avLst/>
          </a:prstGeom>
        </p:spPr>
      </p:pic>
      <p:sp>
        <p:nvSpPr>
          <p:cNvPr id="27" name="Text 19"/>
          <p:cNvSpPr/>
          <p:nvPr/>
        </p:nvSpPr>
        <p:spPr>
          <a:xfrm>
            <a:off x="1399032" y="4562856"/>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Ridge multicollinearity check</a:t>
            </a:r>
            <a:endParaRPr lang="en-US" sz="125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a:p>
        </p:txBody>
      </p:sp>
      <p:sp>
        <p:nvSpPr>
          <p:cNvPr id="29" name="Shape 21"/>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2"/>
          <p:cNvSpPr/>
          <p:nvPr/>
        </p:nvSpPr>
        <p:spPr>
          <a:xfrm>
            <a:off x="4532376" y="4526280"/>
            <a:ext cx="548640" cy="548640"/>
          </a:xfrm>
          <a:prstGeom prst="ellipse">
            <a:avLst/>
          </a:prstGeom>
          <a:solidFill>
            <a:srgbClr val="E6F6F4"/>
          </a:solidFill>
          <a:ln/>
        </p:spPr>
        <p:txBody>
          <a:bodyPr/>
          <a:lstStyle/>
          <a:p>
            <a:endParaRPr lang="en-US"/>
          </a:p>
        </p:txBody>
      </p:sp>
      <p:pic>
        <p:nvPicPr>
          <p:cNvPr id="31" name="Image 6" descr="/sessions/dreamy-trusting-noether/mnt/outputs/build/assets/calendar_teal.png"/>
          <p:cNvPicPr>
            <a:picLocks noChangeAspect="1"/>
          </p:cNvPicPr>
          <p:nvPr/>
        </p:nvPicPr>
        <p:blipFill>
          <a:blip r:embed="rId9"/>
          <a:stretch>
            <a:fillRect/>
          </a:stretch>
        </p:blipFill>
        <p:spPr>
          <a:xfrm>
            <a:off x="4664050" y="4657954"/>
            <a:ext cx="285293" cy="285293"/>
          </a:xfrm>
          <a:prstGeom prst="rect">
            <a:avLst/>
          </a:prstGeom>
        </p:spPr>
      </p:pic>
      <p:sp>
        <p:nvSpPr>
          <p:cNvPr id="32" name="Text 23"/>
          <p:cNvSpPr/>
          <p:nvPr/>
        </p:nvSpPr>
        <p:spPr>
          <a:xfrm>
            <a:off x="5209032" y="4562856"/>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Segment split</a:t>
            </a:r>
            <a:endParaRPr lang="en-US" sz="125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Short-stay ($376.82 mean) vs monthly ($162.73) modeled separately.</a:t>
            </a:r>
            <a:endParaRPr lang="en-US" sz="1050"/>
          </a:p>
        </p:txBody>
      </p:sp>
      <p:sp>
        <p:nvSpPr>
          <p:cNvPr id="34" name="Shape 25"/>
          <p:cNvSpPr/>
          <p:nvPr/>
        </p:nvSpPr>
        <p:spPr>
          <a:xfrm>
            <a:off x="812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6"/>
          <p:cNvSpPr/>
          <p:nvPr/>
        </p:nvSpPr>
        <p:spPr>
          <a:xfrm>
            <a:off x="8342376" y="4526280"/>
            <a:ext cx="548640" cy="548640"/>
          </a:xfrm>
          <a:prstGeom prst="ellipse">
            <a:avLst/>
          </a:prstGeom>
          <a:solidFill>
            <a:srgbClr val="FFF1E9"/>
          </a:solidFill>
          <a:ln/>
        </p:spPr>
        <p:txBody>
          <a:bodyPr/>
          <a:lstStyle/>
          <a:p>
            <a:endParaRPr lang="en-US"/>
          </a:p>
        </p:txBody>
      </p:sp>
      <p:pic>
        <p:nvPicPr>
          <p:cNvPr id="36" name="Image 7" descr="/sessions/dreamy-trusting-noether/mnt/outputs/build/assets/alert_orange.png"/>
          <p:cNvPicPr>
            <a:picLocks noChangeAspect="1"/>
          </p:cNvPicPr>
          <p:nvPr/>
        </p:nvPicPr>
        <p:blipFill>
          <a:blip r:embed="rId10"/>
          <a:stretch>
            <a:fillRect/>
          </a:stretch>
        </p:blipFill>
        <p:spPr>
          <a:xfrm>
            <a:off x="8474050" y="4657954"/>
            <a:ext cx="285293" cy="285293"/>
          </a:xfrm>
          <a:prstGeom prst="rect">
            <a:avLst/>
          </a:prstGeom>
        </p:spPr>
      </p:pic>
      <p:sp>
        <p:nvSpPr>
          <p:cNvPr id="37" name="Text 27"/>
          <p:cNvSpPr/>
          <p:nvPr/>
        </p:nvSpPr>
        <p:spPr>
          <a:xfrm>
            <a:off x="9019032" y="4562856"/>
            <a:ext cx="2511552" cy="502920"/>
          </a:xfrm>
          <a:prstGeom prst="rect">
            <a:avLst/>
          </a:prstGeom>
          <a:noFill/>
          <a:ln/>
        </p:spPr>
        <p:txBody>
          <a:bodyPr wrap="square" lIns="0" tIns="0" rIns="0" bIns="0" rtlCol="0" anchor="ctr"/>
          <a:lstStyle/>
          <a:p>
            <a:pPr marL="0" indent="0">
              <a:lnSpc>
                <a:spcPct val="95000"/>
              </a:lnSpc>
              <a:buNone/>
            </a:pPr>
            <a:r>
              <a:rPr lang="en-US" sz="1250" b="1">
                <a:solidFill>
                  <a:srgbClr val="222222"/>
                </a:solidFill>
                <a:latin typeface="Poppins" pitchFamily="34" charset="0"/>
                <a:ea typeface="Poppins" pitchFamily="34" charset="-122"/>
                <a:cs typeface="Poppins" pitchFamily="34" charset="-120"/>
              </a:rPr>
              <a:t>Known limit</a:t>
            </a:r>
            <a:endParaRPr lang="en-US" sz="125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05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a:p>
        </p:txBody>
      </p:sp>
    </p:spTree>
    <p:extLst>
      <p:ext uri="{BB962C8B-B14F-4D97-AF65-F5344CB8AC3E}">
        <p14:creationId xmlns:p14="http://schemas.microsoft.com/office/powerpoint/2010/main" val="2258413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BACKUP B6 · THE ADOPTION RAMP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a:solidFill>
                  <a:srgbClr val="222222"/>
                </a:solidFill>
                <a:latin typeface="Poppins" pitchFamily="34" charset="0"/>
                <a:ea typeface="Poppins" pitchFamily="34" charset="-122"/>
                <a:cs typeface="Poppins" pitchFamily="34" charset="-120"/>
              </a:rPr>
              <a:t>Why we didn't assume 35% adoption on day one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a:solidFill>
                  <a:srgbClr val="717171"/>
                </a:solidFill>
                <a:latin typeface="Poppins" pitchFamily="34" charset="0"/>
                <a:ea typeface="Poppins" pitchFamily="34" charset="-122"/>
                <a:cs typeface="Poppins" pitchFamily="34" charset="-120"/>
              </a:rPr>
              <a:t>Modeled on Rogers' Diffusion of Innovation, recalibrated to real SaaS feature-adoption benchmarks (Product Metrics Benchmark Report 2024, 181 companies) rather than Bass's classical durable-goods parameters, which assume 10-15+ year adoption cycles, too slow for a digital tool.</a:t>
            </a:r>
            <a:endParaRPr lang="en-US" sz="1450"/>
          </a:p>
        </p:txBody>
      </p:sp>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sp>
        <p:nvSpPr>
          <p:cNvPr id="8" name="TextBox 7"/>
          <p:cNvSpPr txBox="1"/>
          <p:nvPr/>
        </p:nvSpPr>
        <p:spPr>
          <a:xfrm>
            <a:off x="502920" y="5650000"/>
            <a:ext cx="10883112" cy="457200"/>
          </a:xfrm>
          <a:prstGeom prst="rect">
            <a:avLst/>
          </a:prstGeom>
          <a:noFill/>
        </p:spPr>
        <p:txBody>
          <a:bodyPr wrap="none">
            <a:spAutoFit/>
          </a:bodyPr>
          <a:lstStyle/>
          <a:p>
            <a:r>
              <a:rPr sz="1400">
                <a:solidFill>
                  <a:srgbClr val="717171"/>
                </a:solidFill>
              </a:rPr>
              <a:t>Same ramp drives Slide 2, the financial slides, and Backup B2: one adoption curve, not a per-slide guess.</a:t>
            </a:r>
          </a:p>
        </p:txBody>
      </p:sp>
      <p:graphicFrame>
        <p:nvGraphicFramePr>
          <p:cNvPr id="9" name="Chart 8"/>
          <p:cNvGraphicFramePr>
            <a:graphicFrameLocks noGrp="1"/>
          </p:cNvGraphicFramePr>
          <p:nvPr/>
        </p:nvGraphicFramePr>
        <p:xfrm>
          <a:off x="502920" y="2249424"/>
          <a:ext cx="10881360" cy="3300984"/>
        </p:xfrm>
        <a:graphic>
          <a:graphicData uri="http://schemas.openxmlformats.org/drawingml/2006/chart">
            <c:chart xmlns:c="http://schemas.openxmlformats.org/drawingml/2006/chart" xmlns:r="http://schemas.openxmlformats.org/officeDocument/2006/relationships" r:id="rId2"/>
          </a:graphicData>
        </a:graphic>
      </p:graphicFrame>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0"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21</a:t>
            </a:r>
            <a:endParaRPr lang="en-US" sz="900"/>
          </a:p>
        </p:txBody>
      </p:sp>
    </p:spTree>
    <p:extLst>
      <p:ext uri="{BB962C8B-B14F-4D97-AF65-F5344CB8AC3E}">
        <p14:creationId xmlns:p14="http://schemas.microsoft.com/office/powerpoint/2010/main" val="22425506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revision>11</cp:revision>
  <dcterms:created xsi:type="dcterms:W3CDTF">2026-07-29T22:50:08Z</dcterms:created>
  <dcterms:modified xsi:type="dcterms:W3CDTF">2026-08-04T19:07:42Z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