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8" r:id="rId14"/>
    <p:sldId id="269" r:id="rId15"/>
    <p:sldId id="270" r:id="rId16"/>
    <p:sldId id="272" r:id="rId17"/>
    <p:sldId id="273" r:id="rId18"/>
    <p:sldId id="274" r:id="rId19"/>
    <p:sldId id="275" r:id="rId20"/>
    <p:sldId id="276" r:id="rId21"/>
    <p:sldId id="277" r:id="rId22"/>
    <p:sldId id="278" r:id="rId23"/>
    <p:sldId id="279" r:id="rId24"/>
  </p:sldIdLst>
  <p:sldSz cx="12192000" cy="6858000"/>
  <p:notesSz cx="6858000" cy="12192000"/>
  <p:embeddedFontLst>
    <p:embeddedFont>
      <p:font typeface="Poppins" panose="00000500000000000000" pitchFamily="2" charset="0"/>
      <p:regular r:id="rId26"/>
      <p:bold r:id="rId27"/>
      <p:italic r:id="rId28"/>
      <p:boldItalic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52E4C5-3B12-48E9-9698-CFBB749B17E5}" v="7" dt="2026-08-06T18:18:43.3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43"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Meara" userId="8c30799446d3e4f6" providerId="LiveId" clId="{B34053D7-44A3-4929-810D-8317594B30B9}"/>
    <pc:docChg chg="undo custSel addSld delSld modSld">
      <pc:chgData name="Brendan Meara" userId="8c30799446d3e4f6" providerId="LiveId" clId="{B34053D7-44A3-4929-810D-8317594B30B9}" dt="2026-08-06T18:20:42.661" v="227" actId="47"/>
      <pc:docMkLst>
        <pc:docMk/>
      </pc:docMkLst>
      <pc:sldChg chg="modSp mod">
        <pc:chgData name="Brendan Meara" userId="8c30799446d3e4f6" providerId="LiveId" clId="{B34053D7-44A3-4929-810D-8317594B30B9}" dt="2026-08-06T17:45:31.797" v="6" actId="20577"/>
        <pc:sldMkLst>
          <pc:docMk/>
          <pc:sldMk cId="0" sldId="258"/>
        </pc:sldMkLst>
        <pc:spChg chg="mod">
          <ac:chgData name="Brendan Meara" userId="8c30799446d3e4f6" providerId="LiveId" clId="{B34053D7-44A3-4929-810D-8317594B30B9}" dt="2026-08-06T17:45:31.797" v="6" actId="20577"/>
          <ac:spMkLst>
            <pc:docMk/>
            <pc:sldMk cId="0" sldId="258"/>
            <ac:spMk id="32" creationId="{00000000-0000-0000-0000-000000000000}"/>
          </ac:spMkLst>
        </pc:spChg>
      </pc:sldChg>
      <pc:sldChg chg="addSp delSp modSp mod">
        <pc:chgData name="Brendan Meara" userId="8c30799446d3e4f6" providerId="LiveId" clId="{B34053D7-44A3-4929-810D-8317594B30B9}" dt="2026-08-06T18:20:09.981" v="226" actId="1038"/>
        <pc:sldMkLst>
          <pc:docMk/>
          <pc:sldMk cId="0" sldId="265"/>
        </pc:sldMkLst>
        <pc:spChg chg="mod">
          <ac:chgData name="Brendan Meara" userId="8c30799446d3e4f6" providerId="LiveId" clId="{B34053D7-44A3-4929-810D-8317594B30B9}" dt="2026-08-06T18:18:33.075" v="84" actId="1076"/>
          <ac:spMkLst>
            <pc:docMk/>
            <pc:sldMk cId="0" sldId="265"/>
            <ac:spMk id="12" creationId="{00000000-0000-0000-0000-000000000000}"/>
          </ac:spMkLst>
        </pc:spChg>
        <pc:spChg chg="mod">
          <ac:chgData name="Brendan Meara" userId="8c30799446d3e4f6" providerId="LiveId" clId="{B34053D7-44A3-4929-810D-8317594B30B9}" dt="2026-08-06T18:19:46.084" v="212" actId="20577"/>
          <ac:spMkLst>
            <pc:docMk/>
            <pc:sldMk cId="0" sldId="265"/>
            <ac:spMk id="16" creationId="{00000000-0000-0000-0000-000000000000}"/>
          </ac:spMkLst>
        </pc:spChg>
        <pc:spChg chg="mod">
          <ac:chgData name="Brendan Meara" userId="8c30799446d3e4f6" providerId="LiveId" clId="{B34053D7-44A3-4929-810D-8317594B30B9}" dt="2026-08-06T18:16:27.589" v="69" actId="1035"/>
          <ac:spMkLst>
            <pc:docMk/>
            <pc:sldMk cId="0" sldId="265"/>
            <ac:spMk id="21" creationId="{00000000-0000-0000-0000-000000000000}"/>
          </ac:spMkLst>
        </pc:spChg>
        <pc:spChg chg="mod">
          <ac:chgData name="Brendan Meara" userId="8c30799446d3e4f6" providerId="LiveId" clId="{B34053D7-44A3-4929-810D-8317594B30B9}" dt="2026-08-06T18:16:23.392" v="65" actId="1036"/>
          <ac:spMkLst>
            <pc:docMk/>
            <pc:sldMk cId="0" sldId="265"/>
            <ac:spMk id="22" creationId="{00000000-0000-0000-0000-000000000000}"/>
          </ac:spMkLst>
        </pc:spChg>
        <pc:cxnChg chg="add del mod">
          <ac:chgData name="Brendan Meara" userId="8c30799446d3e4f6" providerId="LiveId" clId="{B34053D7-44A3-4929-810D-8317594B30B9}" dt="2026-08-06T18:18:27.303" v="82" actId="478"/>
          <ac:cxnSpMkLst>
            <pc:docMk/>
            <pc:sldMk cId="0" sldId="265"/>
            <ac:cxnSpMk id="13" creationId="{28B4E12E-586A-FE6D-B27F-4F992E99E196}"/>
          </ac:cxnSpMkLst>
        </pc:cxnChg>
        <pc:cxnChg chg="add del mod">
          <ac:chgData name="Brendan Meara" userId="8c30799446d3e4f6" providerId="LiveId" clId="{B34053D7-44A3-4929-810D-8317594B30B9}" dt="2026-08-06T18:18:26.309" v="81" actId="478"/>
          <ac:cxnSpMkLst>
            <pc:docMk/>
            <pc:sldMk cId="0" sldId="265"/>
            <ac:cxnSpMk id="14" creationId="{E82A71C6-8DDB-5AA6-69D2-C0C1CCF9D90E}"/>
          </ac:cxnSpMkLst>
        </pc:cxnChg>
        <pc:cxnChg chg="add mod">
          <ac:chgData name="Brendan Meara" userId="8c30799446d3e4f6" providerId="LiveId" clId="{B34053D7-44A3-4929-810D-8317594B30B9}" dt="2026-08-06T18:19:57.643" v="222" actId="1038"/>
          <ac:cxnSpMkLst>
            <pc:docMk/>
            <pc:sldMk cId="0" sldId="265"/>
            <ac:cxnSpMk id="19" creationId="{C9F6125D-7975-31F2-BF9A-E50A43316724}"/>
          </ac:cxnSpMkLst>
        </pc:cxnChg>
        <pc:cxnChg chg="add mod">
          <ac:chgData name="Brendan Meara" userId="8c30799446d3e4f6" providerId="LiveId" clId="{B34053D7-44A3-4929-810D-8317594B30B9}" dt="2026-08-06T18:19:57.643" v="222" actId="1038"/>
          <ac:cxnSpMkLst>
            <pc:docMk/>
            <pc:sldMk cId="0" sldId="265"/>
            <ac:cxnSpMk id="20" creationId="{E9A7BEAB-21B0-41C7-B9D2-7BDCF8F120DC}"/>
          </ac:cxnSpMkLst>
        </pc:cxnChg>
        <pc:cxnChg chg="add mod">
          <ac:chgData name="Brendan Meara" userId="8c30799446d3e4f6" providerId="LiveId" clId="{B34053D7-44A3-4929-810D-8317594B30B9}" dt="2026-08-06T18:20:09.981" v="226" actId="1038"/>
          <ac:cxnSpMkLst>
            <pc:docMk/>
            <pc:sldMk cId="0" sldId="265"/>
            <ac:cxnSpMk id="44" creationId="{0DCEBF7E-0CB3-22DA-D28D-5F73821529FD}"/>
          </ac:cxnSpMkLst>
        </pc:cxnChg>
        <pc:cxnChg chg="add mod">
          <ac:chgData name="Brendan Meara" userId="8c30799446d3e4f6" providerId="LiveId" clId="{B34053D7-44A3-4929-810D-8317594B30B9}" dt="2026-08-06T18:20:09.981" v="226" actId="1038"/>
          <ac:cxnSpMkLst>
            <pc:docMk/>
            <pc:sldMk cId="0" sldId="265"/>
            <ac:cxnSpMk id="45" creationId="{8E0462E6-C678-A0EF-62D7-6B04DEB134C7}"/>
          </ac:cxnSpMkLst>
        </pc:cxnChg>
      </pc:sldChg>
      <pc:sldChg chg="modSp mod">
        <pc:chgData name="Brendan Meara" userId="8c30799446d3e4f6" providerId="LiveId" clId="{B34053D7-44A3-4929-810D-8317594B30B9}" dt="2026-08-06T17:40:45.961" v="5" actId="14734"/>
        <pc:sldMkLst>
          <pc:docMk/>
          <pc:sldMk cId="1273462884" sldId="272"/>
        </pc:sldMkLst>
        <pc:graphicFrameChg chg="modGraphic">
          <ac:chgData name="Brendan Meara" userId="8c30799446d3e4f6" providerId="LiveId" clId="{B34053D7-44A3-4929-810D-8317594B30B9}" dt="2026-08-06T17:40:45.961" v="5" actId="14734"/>
          <ac:graphicFrameMkLst>
            <pc:docMk/>
            <pc:sldMk cId="1273462884" sldId="272"/>
            <ac:graphicFrameMk id="18" creationId="{00000000-0000-0000-0000-000000000000}"/>
          </ac:graphicFrameMkLst>
        </pc:graphicFrameChg>
      </pc:sldChg>
      <pc:sldChg chg="modSp add del mod setBg">
        <pc:chgData name="Brendan Meara" userId="8c30799446d3e4f6" providerId="LiveId" clId="{B34053D7-44A3-4929-810D-8317594B30B9}" dt="2026-08-06T18:20:42.661" v="227" actId="47"/>
        <pc:sldMkLst>
          <pc:docMk/>
          <pc:sldMk cId="0" sldId="280"/>
        </pc:sldMkLst>
        <pc:spChg chg="mod">
          <ac:chgData name="Brendan Meara" userId="8c30799446d3e4f6" providerId="LiveId" clId="{B34053D7-44A3-4929-810D-8317594B30B9}" dt="2026-08-06T18:17:08.429" v="72" actId="1076"/>
          <ac:spMkLst>
            <pc:docMk/>
            <pc:sldMk cId="0" sldId="280"/>
            <ac:spMk id="4" creationId="{00000000-0000-0000-0000-000000000000}"/>
          </ac:spMkLst>
        </pc:spChg>
        <pc:cxnChg chg="mod">
          <ac:chgData name="Brendan Meara" userId="8c30799446d3e4f6" providerId="LiveId" clId="{B34053D7-44A3-4929-810D-8317594B30B9}" dt="2026-08-06T18:17:02.030" v="70" actId="14100"/>
          <ac:cxnSpMkLst>
            <pc:docMk/>
            <pc:sldMk cId="0" sldId="280"/>
            <ac:cxnSpMk id="41" creationId="{47DF6839-4730-2889-D0D4-9E50B040C03F}"/>
          </ac:cxnSpMkLst>
        </pc:cxn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c:v>
                </c:pt>
                <c:pt idx="1">
                  <c:v>24</c:v>
                </c:pt>
                <c:pt idx="2">
                  <c:v>38</c:v>
                </c:pt>
                <c:pt idx="3">
                  <c:v>42</c:v>
                </c:pt>
                <c:pt idx="4">
                  <c:v>42</c:v>
                </c:pt>
              </c:numCache>
            </c:numRef>
          </c:val>
          <c:smooth val="0"/>
          <c:extLst>
            <c:ext xmlns:c16="http://schemas.microsoft.com/office/drawing/2014/chart" uri="{C3380CC4-5D6E-409C-BE32-E72D297353CC}">
              <c16:uniqueId val="{00000000-9657-4599-841A-22D3118839C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E6E6E6"/>
            </a:solidFill>
          </a:ln>
        </c:spPr>
        <c:txPr>
          <a:bodyPr/>
          <a:lstStyle/>
          <a:p>
            <a:pPr>
              <a:defRPr sz="1100">
                <a:solidFill>
                  <a:srgbClr val="717171"/>
                </a:solidFill>
              </a:defRPr>
            </a:pPr>
            <a:endParaRPr lang="en-US"/>
          </a:p>
        </c:txPr>
        <c:crossAx val="2140495176"/>
        <c:crosses val="autoZero"/>
        <c:auto val="1"/>
        <c:lblAlgn val="ctr"/>
        <c:lblOffset val="100"/>
        <c:noMultiLvlLbl val="0"/>
      </c:catAx>
      <c:valAx>
        <c:axId val="2140495176"/>
        <c:scaling>
          <c:orientation val="minMax"/>
          <c:max val="50"/>
          <c:min val="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Thank you Jai</a:t>
            </a:r>
            <a:r>
              <a:rPr lang="en-US" dirty="0"/>
              <a:t>-- </a:t>
            </a:r>
          </a:p>
          <a:p>
            <a:endParaRPr lang="en-US"/>
          </a:p>
          <a:p>
            <a:r>
              <a:rPr lang="en-US" dirty="0" err="1"/>
              <a:t>So</a:t>
            </a:r>
            <a:r>
              <a:rPr lang="en-US" dirty="0"/>
              <a:t> when looking at the data, The second thing the data told us is that this is not one market problem, it is two markets, and the dataset splits almost evenly between them. Between 4,008 listings, which is 41% of the market, are short-term stays, renting at a median price of 284 dollars/night. The other 5,744, or 59% of the market, are monthly rentals of 28 nights or longer, at a median price of 131 dollars. </a:t>
            </a:r>
          </a:p>
          <a:p>
            <a:endParaRPr lang="en-US"/>
          </a:p>
          <a:p>
            <a:r>
              <a:rPr lang="en-US" dirty="0"/>
              <a:t>That is more than double the nightly rate, and the reason is that the two halves are not competing with the same thing. Short-term stay competes with hotels while monthly stays compete with apartment sublets. This shows us that only one of them responds measurably to price. We measured a price elasticity of negative 0.92 on short-term stay listings with the pilot </a:t>
            </a:r>
            <a:r>
              <a:rPr lang="en-US" dirty="0" err="1"/>
              <a:t>sample, and</a:t>
            </a:r>
            <a:r>
              <a:rPr lang="en-US" dirty="0"/>
              <a:t> detected no price response at all in the monthly segment. </a:t>
            </a:r>
          </a:p>
          <a:p>
            <a:endParaRPr lang="en-US"/>
          </a:p>
          <a:p>
            <a:r>
              <a:rPr lang="en-US"/>
              <a:t>Pooling them would have blurred both signals and distorted every coefficient, so instead we run one engine calibrated separately for each market with its own comparables and its own elasticity. Every number you see for the rest of this presentation is market-aware, because the market is.”</a:t>
            </a:r>
          </a:p>
          <a:p>
            <a:r>
              <a:rPr lang="en-US" b="1"/>
              <a:t>Transition:</a:t>
            </a:r>
            <a:r>
              <a:rPr lang="en-US" dirty="0"/>
              <a:t> </a:t>
            </a:r>
            <a:r>
              <a:rPr lang="en-US" i="1"/>
              <a:t>“That split shapes everything downstream. Next, what else moves demand besides price.”</a:t>
            </a:r>
            <a:endParaRPr lang="en-US"/>
          </a:p>
          <a:p>
            <a:endParaRPr lang="en-US"/>
          </a:p>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a:t>
            </a:r>
            <a:r>
              <a:rPr lang="en-US" dirty="0" err="1"/>
              <a:t>self check-in</a:t>
            </a:r>
            <a:r>
              <a:rPr lang="en-US" dirty="0"/>
              <a:t>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a:t>
            </a:r>
            <a:br>
              <a:rPr lang="en-US">
                <a:cs typeface="+mn-lt"/>
              </a:rPr>
            </a:br>
            <a:r>
              <a:rPr lang="en-US" dirty="0"/>
              <a:t>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“Here is the relationship that justifies the whole model, let's look at two listings at 200 dollars. These two listings are not the same listing. </a:t>
            </a:r>
          </a:p>
          <a:p>
            <a:endParaRPr lang="en-US"/>
          </a:p>
          <a:p>
            <a:r>
              <a:rPr lang="en-US"/>
              <a:t>Occupancy rises with review count. Listings with zero to ten reviews average about 34% occupancy; 11 to 50 reviews, about 37%; 51 or more reviews, about 42%. </a:t>
            </a:r>
          </a:p>
          <a:p>
            <a:endParaRPr lang="en-US"/>
          </a:p>
          <a:p>
            <a:r>
              <a:rPr lang="en-US"/>
              <a:t>It is worth being precise here, because we checked both – where host tenure shows no such pattern, it is flat at 37 to 39%. </a:t>
            </a:r>
            <a:r>
              <a:rPr lang="en-US" err="1"/>
              <a:t>Thus</a:t>
            </a:r>
            <a:r>
              <a:rPr lang="en-US"/>
              <a:t> It is the reviews driving this occupancy, not the tenure. It is  reputation </a:t>
            </a:r>
            <a:r>
              <a:rPr lang="en-US" err="1"/>
              <a:t>th</a:t>
            </a:r>
            <a:r>
              <a:rPr lang="en-US"/>
              <a:t>at moves occupancy on its own, independently of price. </a:t>
            </a:r>
          </a:p>
          <a:p>
            <a:endParaRPr lang="en-US"/>
          </a:p>
          <a:p>
            <a:r>
              <a:rPr lang="en-US"/>
              <a:t>And that means the question ‘is this listing expensive?’ has no answer until you compare it against listings that match on reputation, location, size, and amenities. And this is what we explored in our model where a fair price is suggested against genuinely similar listings, not against the market average.”</a:t>
            </a:r>
          </a:p>
          <a:p>
            <a:endParaRPr lang="en-US"/>
          </a:p>
          <a:p>
            <a:r>
              <a:rPr lang="en-US" b="1"/>
              <a:t>Handoff to Manas:</a:t>
            </a:r>
            <a:r>
              <a:rPr lang="en-US"/>
              <a:t> </a:t>
            </a:r>
            <a:r>
              <a:rPr lang="en-US" i="1"/>
              <a:t>“Now I will hand it to Manas to discuss how we moved from exploration to building the product itself. ”</a:t>
            </a:r>
            <a:endParaRPr lang="en-US"/>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 not to build another pricing calculator. Airbnb already has one. Our goal was to help hosts understand the recommendation they are given. The way we thought about it: if someone tells you to change your price, your first question is usually, why? Our product answers that. Instead of a single number, it gives hosts a recommended fair value, shows the comparable listings that support it, highlights differences in amenities, and lets the host explore how changing their price could affect potential revenue. One idea that really shaped our thinking came from our industry coach, Stan. He talked about Commander’s Intent, the idea that people make better decisions when they understand the reasoning behind them, not when they are simply told what to do. That applied perfectly here. Hosts are far more likely to trust and act on a recommendation when they understand where it came from.”</a:t>
            </a:r>
          </a:p>
          <a:p>
            <a:r>
              <a:rPr lang="en-US"/>
              <a:t>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a:t>
            </a:r>
            <a:r>
              <a:rPr lang="en-US" err="1"/>
              <a:t>value</a:t>
            </a:r>
            <a:r>
              <a:rPr lang="en-US"/>
              <a:t>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more thing to note, half of listings read underpriced against fair value and about half overpriced, and our number counts both, but they pay off differently. Raising an underpriced listing adds margin. Cutting an overpriced one adds volume – it fills nights that were sitting empty. Jai will show the elasticity work behind both.”</a:t>
            </a:r>
          </a:p>
          <a:p>
            <a:br>
              <a:rPr lang="en-US"/>
            </a:br>
            <a:r>
              <a:rPr lang="en-US"/>
              <a: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 not to replace Smart Pricing. It is to build on it, in three steps. One: enhance, don’t replace – layer the explanations and the comparables onto the Smart Pricing hosts already know. Two: pilot in one market, measuring adoption and how pricing changes move both occupancy and revenue. Three: learn, then scale – use those real-world results to improve the model before expanding to more cities. </a:t>
            </a:r>
          </a:p>
          <a:p>
            <a:br>
              <a:rPr lang="en-US"/>
            </a:br>
            <a:br>
              <a:rPr lang="en-US"/>
            </a:br>
            <a:endParaRPr lang="en-US"/>
          </a:p>
          <a:p>
            <a:r>
              <a:rPr lang="en-US"/>
              <a:t>“As a chess player, I’ve learned the value of the </a:t>
            </a:r>
            <a:r>
              <a:rPr lang="en-US" i="1"/>
              <a:t>why</a:t>
            </a:r>
            <a:r>
              <a:rPr lang="en-US"/>
              <a:t> behind every move. As Cornellians, our group learned to find the </a:t>
            </a:r>
            <a:r>
              <a:rPr lang="en-US" i="1"/>
              <a:t>why</a:t>
            </a:r>
            <a:r>
              <a:rPr lang="en-US"/>
              <a:t> behind every problem. And for Airbnb hosts, we built a way to finally see the </a:t>
            </a:r>
            <a:r>
              <a:rPr lang="en-US" i="1"/>
              <a:t>why</a:t>
            </a:r>
            <a:r>
              <a:rPr lang="en-US"/>
              <a:t> behind every price. Because the right answer can guide you once—but understanding why stays with you for every move that follows.”</a:t>
            </a:r>
          </a:p>
          <a:p>
            <a:br>
              <a:rPr lang="en-US"/>
            </a:br>
            <a:r>
              <a:rPr lang="en-US"/>
              <a:t>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hart" Target="../charts/chart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r>
              <a:rPr lang="en-US" sz="1250" b="1">
                <a:solidFill>
                  <a:srgbClr val="FFFFFF"/>
                </a:solidFill>
                <a:latin typeface="Poppins"/>
                <a:ea typeface="Poppins" pitchFamily="34" charset="-122"/>
                <a:cs typeface="Poppins"/>
              </a:rPr>
              <a:t>Francois </a:t>
            </a:r>
            <a:r>
              <a:rPr lang="en-US" sz="1250" b="1" err="1">
                <a:solidFill>
                  <a:srgbClr val="FFFFFF"/>
                </a:solidFill>
                <a:latin typeface="Poppins"/>
                <a:ea typeface="Poppins" pitchFamily="34" charset="-122"/>
                <a:cs typeface="Poppins"/>
              </a:rPr>
              <a:t>Miaule</a:t>
            </a:r>
            <a:r>
              <a:rPr lang="en-US" sz="1250" b="1">
                <a:solidFill>
                  <a:srgbClr val="FFFFFF"/>
                </a:solidFill>
                <a:latin typeface="Poppins"/>
                <a:ea typeface="Poppins" pitchFamily="34" charset="-122"/>
                <a:cs typeface="Poppins"/>
              </a:rPr>
              <a:t> </a:t>
            </a:r>
            <a:r>
              <a:rPr lang="en-US" sz="1250">
                <a:solidFill>
                  <a:srgbClr val="FFFFFF">
                    <a:alpha val="78000"/>
                  </a:srgbClr>
                </a:solidFill>
                <a:latin typeface="Poppins"/>
                <a:ea typeface="Poppins" pitchFamily="34" charset="-122"/>
                <a:cs typeface="Poppins"/>
              </a:rPr>
              <a:t>(Insights &amp; Presentation)      Industry Coach: </a:t>
            </a:r>
            <a:r>
              <a:rPr lang="en-US" sz="1250" b="1">
                <a:solidFill>
                  <a:srgbClr val="FFFFFF"/>
                </a:solidFill>
                <a:latin typeface="Poppins"/>
                <a:ea typeface="Poppins" pitchFamily="34" charset="-122"/>
                <a:cs typeface="Poppins"/>
              </a:rPr>
              <a:t>Stan Benarick</a:t>
            </a:r>
            <a:endParaRPr lang="en-US" sz="125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cs typeface="Poppins"/>
              </a:rPr>
              <a:t>Half of all listings in NYC are underpriced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$1.17M a year in new Airbnb revenue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2999232"/>
            <a:ext cx="4965192" cy="914400"/>
          </a:xfrm>
          <a:prstGeom prst="rect">
            <a:avLst/>
          </a:prstGeom>
          <a:noFill/>
          <a:ln/>
        </p:spPr>
        <p:txBody>
          <a:bodyPr wrap="square" lIns="0" tIns="0" rIns="0" bIns="0" rtlCol="0" anchor="t"/>
          <a:lstStyle/>
          <a:p>
            <a:pPr>
              <a:lnSpc>
                <a:spcPct val="105000"/>
              </a:lnSpc>
            </a:pPr>
            <a:r>
              <a:rPr lang="en-US" sz="1800">
                <a:solidFill>
                  <a:srgbClr val="484848"/>
                </a:solidFill>
                <a:latin typeface="Poppins"/>
                <a:ea typeface="Poppins" pitchFamily="34" charset="-122"/>
                <a:cs typeface="Poppins"/>
              </a:rPr>
              <a:t>Smart Pricing gives a number with no reasoning. Hosts ignore it, or follow it blindly.</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2999232"/>
            <a:ext cx="4965192" cy="91440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A price hosts can interrogate: real comparables, amenity gaps,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 year in additional host bookings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$1.17M</a:t>
            </a:r>
            <a:endParaRPr lang="en-US" sz="1500"/>
          </a:p>
        </p:txBody>
      </p:sp>
      <p:sp>
        <p:nvSpPr>
          <p:cNvPr id="31" name="Text 23"/>
          <p:cNvSpPr/>
          <p:nvPr/>
        </p:nvSpPr>
        <p:spPr>
          <a:xfrm>
            <a:off x="4572000"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Airbnb's 15.5% share of that</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77,606</a:t>
            </a:r>
            <a:endParaRPr lang="en-US" sz="1500"/>
          </a:p>
        </p:txBody>
      </p:sp>
      <p:sp>
        <p:nvSpPr>
          <p:cNvPr id="36" name="Text 27"/>
          <p:cNvSpPr/>
          <p:nvPr/>
        </p:nvSpPr>
        <p:spPr>
          <a:xfrm>
            <a:off x="8375904"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booked nights recovered from repricing</a:t>
            </a:r>
            <a:endParaRPr lang="en-US" sz="1100"/>
          </a:p>
        </p:txBody>
      </p:sp>
      <p:sp>
        <p:nvSpPr>
          <p:cNvPr id="23"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650" b="1" i="1">
                <a:solidFill>
                  <a:srgbClr val="FF385C"/>
                </a:solidFill>
                <a:latin typeface="Poppins" pitchFamily="34" charset="0"/>
                <a:ea typeface="Poppins" pitchFamily="34" charset="-122"/>
                <a:cs typeface="Poppins" pitchFamily="34" charset="-120"/>
              </a:rPr>
              <a:t>Every underpriced night costs the host and Airbnb both.</a:t>
            </a:r>
            <a:endParaRPr lang="en-US" sz="1450"/>
          </a:p>
        </p:txBody>
      </p:sp>
      <p:sp>
        <p:nvSpPr>
          <p:cNvPr id="3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Hosts price without evidence</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Airbnb's scale makes that gap expensive.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4" name="Text 9"/>
          <p:cNvSpPr/>
          <p:nvPr/>
        </p:nvSpPr>
        <p:spPr>
          <a:xfrm>
            <a:off x="667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Text 12"/>
          <p:cNvSpPr/>
          <p:nvPr/>
        </p:nvSpPr>
        <p:spPr>
          <a:xfrm>
            <a:off x="3525012" y="2359152"/>
            <a:ext cx="2281428" cy="713232"/>
          </a:xfrm>
          <a:prstGeom prst="rect">
            <a:avLst/>
          </a:prstGeom>
          <a:noFill/>
          <a:ln/>
        </p:spPr>
        <p:txBody>
          <a:bodyPr wrap="square" lIns="0" tIns="0" rIns="0" bIns="0" rtlCol="0" anchor="ctr"/>
          <a:lstStyle/>
          <a:p>
            <a:pPr marL="0" indent="0" algn="l">
              <a:buNone/>
            </a:pPr>
            <a:r>
              <a:rPr lang="en-US" sz="4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6382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6" name="Text 18"/>
          <p:cNvSpPr/>
          <p:nvPr/>
        </p:nvSpPr>
        <p:spPr>
          <a:xfrm>
            <a:off x="9240012" y="2359152"/>
            <a:ext cx="2281428" cy="713232"/>
          </a:xfrm>
          <a:prstGeom prst="rect">
            <a:avLst/>
          </a:prstGeom>
          <a:noFill/>
          <a:ln/>
        </p:spPr>
        <p:txBody>
          <a:bodyPr wrap="square" lIns="0" tIns="0" rIns="0" bIns="0" rtlCol="0" anchor="ctr"/>
          <a:lstStyle/>
          <a:p>
            <a:pPr marL="0" indent="0" algn="l">
              <a:buNone/>
            </a:pPr>
            <a:r>
              <a:rPr lang="en-US" sz="4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502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1" name="Text 22"/>
          <p:cNvSpPr/>
          <p:nvPr/>
        </p:nvSpPr>
        <p:spPr>
          <a:xfrm>
            <a:off x="777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777240" y="4846320"/>
            <a:ext cx="4937760" cy="1097280"/>
          </a:xfrm>
          <a:prstGeom prst="rect">
            <a:avLst/>
          </a:prstGeom>
          <a:noFill/>
          <a:ln/>
        </p:spPr>
        <p:txBody>
          <a:bodyPr wrap="square" lIns="0" tIns="0" rIns="0" bIns="0" rtlCol="0" anchor="t"/>
          <a:lstStyle/>
          <a:p>
            <a:pPr>
              <a:lnSpc>
                <a:spcPct val="108000"/>
              </a:lnSpc>
            </a:pPr>
            <a:r>
              <a:rPr lang="en-US" sz="1800" dirty="0">
                <a:solidFill>
                  <a:srgbClr val="484848"/>
                </a:solidFill>
                <a:latin typeface="Poppins"/>
                <a:ea typeface="+mn-lt"/>
                <a:cs typeface="Poppins"/>
              </a:rPr>
              <a:t>Smart Pricing recommends a price but never explains it. </a:t>
            </a:r>
            <a:endParaRPr lang="en-US" sz="1250" dirty="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6" name="Text 26"/>
          <p:cNvSpPr/>
          <p:nvPr/>
        </p:nvSpPr>
        <p:spPr>
          <a:xfrm>
            <a:off x="6492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846320"/>
            <a:ext cx="4937760" cy="1097280"/>
          </a:xfrm>
          <a:prstGeom prst="rect">
            <a:avLst/>
          </a:prstGeom>
          <a:noFill/>
          <a:ln/>
        </p:spPr>
        <p:txBody>
          <a:bodyPr wrap="square" lIns="0" tIns="0" rIns="0" bIns="0" rtlCol="0" anchor="t"/>
          <a:lstStyle/>
          <a:p>
            <a:pPr>
              <a:lnSpc>
                <a:spcPct val="108000"/>
              </a:lnSpc>
            </a:pPr>
            <a:r>
              <a:rPr lang="en-US" sz="1800" i="1">
                <a:solidFill>
                  <a:srgbClr val="484848"/>
                </a:solidFill>
                <a:latin typeface="Poppins"/>
                <a:ea typeface="Poppins" pitchFamily="34" charset="-122"/>
                <a:cs typeface="Poppins"/>
              </a:rPr>
              <a:t>Not “can we build another pricing model?” but “can we help hosts price with confidence?”</a:t>
            </a:r>
            <a:endParaRPr lang="en-US" sz="1250">
              <a:latin typeface="Poppins"/>
              <a:cs typeface="Poppins"/>
            </a:endParaRPr>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ea typeface="+mn-lt"/>
                <a:cs typeface="Poppins"/>
              </a:rPr>
              <a:t>One market, 9,752 listings</a:t>
            </a:r>
            <a:endParaRPr lang="en-US" sz="2900" b="1">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Inside Airbnb, public data, June 2026.</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8458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941832" y="2523744"/>
            <a:ext cx="2697480" cy="685800"/>
          </a:xfrm>
          <a:prstGeom prst="rect">
            <a:avLst/>
          </a:prstGeom>
          <a:noFill/>
          <a:ln/>
        </p:spPr>
        <p:txBody>
          <a:bodyPr wrap="square" lIns="0" tIns="0" rIns="0" bIns="0" rtlCol="0" anchor="ctr"/>
          <a:lstStyle/>
          <a:p>
            <a:pPr marL="0" indent="0" algn="ctr">
              <a:buNone/>
            </a:pPr>
            <a:r>
              <a:rPr lang="en-US" sz="40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941832"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749039"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4658868"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17" name="Text 13"/>
          <p:cNvSpPr/>
          <p:nvPr/>
        </p:nvSpPr>
        <p:spPr>
          <a:xfrm>
            <a:off x="4754880" y="2523744"/>
            <a:ext cx="2697480" cy="685800"/>
          </a:xfrm>
          <a:prstGeom prst="rect">
            <a:avLst/>
          </a:prstGeom>
          <a:noFill/>
          <a:ln/>
        </p:spPr>
        <p:txBody>
          <a:bodyPr wrap="square" lIns="0" tIns="0" rIns="0" bIns="0" rtlCol="0" anchor="ctr"/>
          <a:lstStyle/>
          <a:p>
            <a:pPr marL="0" indent="0" algn="ctr">
              <a:buNone/>
            </a:pPr>
            <a:r>
              <a:rPr lang="en-US" sz="40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754880"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7562088"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8462772"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21" name="Text 17"/>
          <p:cNvSpPr/>
          <p:nvPr/>
        </p:nvSpPr>
        <p:spPr>
          <a:xfrm>
            <a:off x="8558784" y="2523744"/>
            <a:ext cx="2697480" cy="685800"/>
          </a:xfrm>
          <a:prstGeom prst="rect">
            <a:avLst/>
          </a:prstGeom>
          <a:noFill/>
          <a:ln/>
        </p:spPr>
        <p:txBody>
          <a:bodyPr wrap="square" lIns="0" tIns="0" rIns="0" bIns="0" rtlCol="0" anchor="ctr"/>
          <a:lstStyle/>
          <a:p>
            <a:pPr marL="0" indent="0" algn="ctr">
              <a:buNone/>
            </a:pPr>
            <a:r>
              <a:rPr lang="en-US" sz="40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8558784"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800" b="1">
                <a:solidFill>
                  <a:srgbClr val="484848"/>
                </a:solidFill>
                <a:latin typeface="Poppins" pitchFamily="34" charset="0"/>
                <a:ea typeface="Poppins" pitchFamily="34" charset="-122"/>
                <a:cs typeface="Poppins" pitchFamily="34" charset="-120"/>
              </a:rPr>
              <a:t>For each listing:  </a:t>
            </a:r>
            <a:r>
              <a:rPr lang="en-US" sz="1800">
                <a:solidFill>
                  <a:srgbClr val="484848"/>
                </a:solidFill>
                <a:latin typeface="Poppins" pitchFamily="34" charset="0"/>
                <a:ea typeface="Poppins" pitchFamily="34" charset="-122"/>
                <a:cs typeface="Poppins" pitchFamily="34" charset="-120"/>
              </a:rPr>
              <a:t>nightly price · availability · reviews · amenities · location · host characteristics.</a:t>
            </a:r>
            <a:endParaRPr lang="en-US" sz="1250"/>
          </a:p>
        </p:txBody>
      </p:sp>
      <p:sp>
        <p:nvSpPr>
          <p:cNvPr id="24" name="Shape 20"/>
          <p:cNvSpPr/>
          <p:nvPr/>
        </p:nvSpPr>
        <p:spPr>
          <a:xfrm>
            <a:off x="50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777240" y="4526280"/>
            <a:ext cx="2465832" cy="41148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029200"/>
            <a:ext cx="3014472" cy="932688"/>
          </a:xfrm>
          <a:prstGeom prst="rect">
            <a:avLst/>
          </a:prstGeom>
          <a:noFill/>
          <a:ln/>
        </p:spPr>
        <p:txBody>
          <a:bodyPr wrap="square" lIns="0" tIns="0" rIns="0" bIns="0" rtlCol="0" anchor="ctr"/>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Missing values handled, amenities parsed, features engineered.</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6"/>
          <p:cNvSpPr/>
          <p:nvPr/>
        </p:nvSpPr>
        <p:spPr>
          <a:xfrm>
            <a:off x="4590288" y="4526280"/>
            <a:ext cx="2465832" cy="41148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Understand first</a:t>
            </a:r>
            <a:endParaRPr lang="en-US" sz="1350"/>
          </a:p>
        </p:txBody>
      </p:sp>
      <p:sp>
        <p:nvSpPr>
          <p:cNvPr id="33" name="Text 27"/>
          <p:cNvSpPr/>
          <p:nvPr/>
        </p:nvSpPr>
        <p:spPr>
          <a:xfrm>
            <a:off x="4590288" y="5029200"/>
            <a:ext cx="3014472" cy="932688"/>
          </a:xfrm>
          <a:prstGeom prst="rect">
            <a:avLst/>
          </a:prstGeom>
          <a:noFill/>
          <a:ln/>
        </p:spPr>
        <p:txBody>
          <a:bodyPr wrap="square" lIns="0" tIns="0" rIns="0" bIns="0" rtlCol="0" anchor="ctr"/>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Which variables matter, and what relationships already exist.</a:t>
            </a:r>
            <a:endParaRPr lang="en-US" sz="1100"/>
          </a:p>
        </p:txBody>
      </p:sp>
      <p:sp>
        <p:nvSpPr>
          <p:cNvPr id="34" name="Shape 28"/>
          <p:cNvSpPr/>
          <p:nvPr/>
        </p:nvSpPr>
        <p:spPr>
          <a:xfrm>
            <a:off x="812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30"/>
          <p:cNvSpPr/>
          <p:nvPr/>
        </p:nvSpPr>
        <p:spPr>
          <a:xfrm>
            <a:off x="8394192" y="4526280"/>
            <a:ext cx="2465832" cy="41148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Then model</a:t>
            </a:r>
            <a:endParaRPr lang="en-US" sz="1350"/>
          </a:p>
        </p:txBody>
      </p:sp>
      <p:sp>
        <p:nvSpPr>
          <p:cNvPr id="38" name="Text 31"/>
          <p:cNvSpPr/>
          <p:nvPr/>
        </p:nvSpPr>
        <p:spPr>
          <a:xfrm>
            <a:off x="8394192" y="5029200"/>
            <a:ext cx="3014472" cy="932688"/>
          </a:xfrm>
          <a:prstGeom prst="rect">
            <a:avLst/>
          </a:prstGeom>
          <a:noFill/>
          <a:ln/>
        </p:spPr>
        <p:txBody>
          <a:bodyPr wrap="square" lIns="0" tIns="0" rIns="0" bIns="0" rtlCol="0" anchor="ctr"/>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Only then machine learning, starting with EDA.</a:t>
            </a:r>
            <a:endParaRPr lang="en-US" sz="110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cs typeface="Poppins"/>
              </a:rPr>
              <a:t>One problem, two markets</a:t>
            </a: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a:ea typeface="Poppins" pitchFamily="34" charset="-122"/>
                <a:cs typeface="Poppins"/>
              </a:rPr>
              <a:t>They split almost evenly, and behave differently.</a:t>
            </a:r>
            <a:endParaRPr lang="en-US" sz="1450">
              <a:latin typeface="Poppins"/>
              <a:cs typeface="Poppins"/>
            </a:endParaRP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027515" y="1569100"/>
            <a:ext cx="603504" cy="603504"/>
          </a:xfrm>
          <a:prstGeom prst="ellipse">
            <a:avLst/>
          </a:prstGeom>
          <a:solidFill>
            <a:srgbClr val="FFFFFF"/>
          </a:solidFill>
          <a:ln/>
          <a:effectLst/>
        </p:spPr>
        <p:txBody>
          <a:bodyPr/>
          <a:lstStyle/>
          <a:p>
            <a:endParaRPr lang="en-US"/>
          </a:p>
        </p:txBody>
      </p:sp>
      <p:sp>
        <p:nvSpPr>
          <p:cNvPr id="40" name="Text 35"/>
          <p:cNvSpPr/>
          <p:nvPr/>
        </p:nvSpPr>
        <p:spPr>
          <a:xfrm>
            <a:off x="8037953" y="2487168"/>
            <a:ext cx="3816262" cy="411480"/>
          </a:xfrm>
          <a:prstGeom prst="rect">
            <a:avLst/>
          </a:prstGeom>
          <a:noFill/>
          <a:ln/>
        </p:spPr>
        <p:txBody>
          <a:bodyPr wrap="square" lIns="0" tIns="0" rIns="0" bIns="0" rtlCol="0" anchor="ctr"/>
          <a:lstStyle/>
          <a:p>
            <a:r>
              <a:rPr lang="en-US" sz="2000" b="1">
                <a:solidFill>
                  <a:srgbClr val="222222"/>
                </a:solidFill>
                <a:latin typeface="Poppins"/>
                <a:cs typeface="Poppins"/>
              </a:rPr>
              <a:t>Why two markets?</a:t>
            </a:r>
            <a:endParaRPr lang="en-US"/>
          </a:p>
        </p:txBody>
      </p:sp>
      <p:sp>
        <p:nvSpPr>
          <p:cNvPr id="42" name="Text 37"/>
          <p:cNvSpPr/>
          <p:nvPr/>
        </p:nvSpPr>
        <p:spPr>
          <a:xfrm>
            <a:off x="8037953" y="3017520"/>
            <a:ext cx="3816262" cy="2194560"/>
          </a:xfrm>
          <a:prstGeom prst="rect">
            <a:avLst/>
          </a:prstGeom>
          <a:noFill/>
          <a:ln/>
        </p:spPr>
        <p:txBody>
          <a:bodyPr wrap="square" lIns="0" tIns="0" rIns="0" bIns="0" rtlCol="0" anchor="t"/>
          <a:lstStyle/>
          <a:p>
            <a:pPr>
              <a:lnSpc>
                <a:spcPct val="106000"/>
              </a:lnSpc>
            </a:pPr>
            <a:br>
              <a:rPr lang="en-US" sz="1600">
                <a:latin typeface="Poppins"/>
                <a:ea typeface="Poppins" pitchFamily="34" charset="-122"/>
                <a:cs typeface="Poppins"/>
              </a:rPr>
            </a:br>
            <a:br>
              <a:rPr lang="en-US" sz="1600">
                <a:latin typeface="Poppins"/>
                <a:cs typeface="Poppins"/>
              </a:rPr>
            </a:br>
            <a:r>
              <a:rPr lang="en-US" sz="1800" i="1">
                <a:solidFill>
                  <a:srgbClr val="484848"/>
                </a:solidFill>
                <a:latin typeface="Poppins"/>
                <a:ea typeface="+mn-lt"/>
                <a:cs typeface="Poppins"/>
              </a:rPr>
              <a:t>Short-stay competes with hotels. Monthly competes with apartment sublets. Only one responds measurably to price. One engine, calibrated separately for each market.</a:t>
            </a:r>
            <a:br>
              <a:rPr lang="en-US" sz="1600" i="1">
                <a:latin typeface="Poppins"/>
                <a:ea typeface="+mn-lt"/>
                <a:cs typeface="Poppins"/>
              </a:rPr>
            </a:br>
            <a:br>
              <a:rPr lang="en-US" sz="1600" i="1">
                <a:latin typeface="Poppins"/>
                <a:ea typeface="+mn-lt"/>
                <a:cs typeface="Poppins"/>
              </a:rPr>
            </a:br>
            <a:endParaRPr lang="en-US" sz="1600" i="1">
              <a:latin typeface="Poppins"/>
              <a:ea typeface="+mn-lt"/>
              <a:cs typeface="Poppins"/>
            </a:endParaRPr>
          </a:p>
        </p:txBody>
      </p:sp>
      <p:sp>
        <p:nvSpPr>
          <p:cNvPr id="43" name="Rounded Rectangle 42"/>
          <p:cNvSpPr/>
          <p:nvPr/>
        </p:nvSpPr>
        <p:spPr>
          <a:xfrm>
            <a:off x="640080" y="2240280"/>
            <a:ext cx="3337560" cy="324612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SHORT-STAY</a:t>
            </a:r>
          </a:p>
        </p:txBody>
      </p:sp>
      <p:sp>
        <p:nvSpPr>
          <p:cNvPr id="45" name="TextBox 44"/>
          <p:cNvSpPr txBox="1"/>
          <p:nvPr/>
        </p:nvSpPr>
        <p:spPr>
          <a:xfrm>
            <a:off x="932688" y="2999232"/>
            <a:ext cx="2743200" cy="475488"/>
          </a:xfrm>
          <a:prstGeom prst="rect">
            <a:avLst/>
          </a:prstGeom>
          <a:noFill/>
        </p:spPr>
        <p:txBody>
          <a:bodyPr wrap="square" lIns="0" tIns="0" rIns="0" bIns="0">
            <a:spAutoFit/>
          </a:bodyPr>
          <a:lstStyle/>
          <a:p>
            <a:pPr algn="l"/>
            <a:r>
              <a:rPr sz="3000" b="1">
                <a:solidFill>
                  <a:srgbClr val="222222"/>
                </a:solidFill>
                <a:latin typeface="Poppins"/>
              </a:rPr>
              <a:t>4,008</a:t>
            </a:r>
          </a:p>
        </p:txBody>
      </p:sp>
      <p:sp>
        <p:nvSpPr>
          <p:cNvPr id="46" name="TextBox 45"/>
          <p:cNvSpPr txBox="1"/>
          <p:nvPr/>
        </p:nvSpPr>
        <p:spPr>
          <a:xfrm>
            <a:off x="93268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41% of the market</a:t>
            </a:r>
          </a:p>
        </p:txBody>
      </p:sp>
      <p:sp>
        <p:nvSpPr>
          <p:cNvPr id="47" name="TextBox 46"/>
          <p:cNvSpPr txBox="1"/>
          <p:nvPr/>
        </p:nvSpPr>
        <p:spPr>
          <a:xfrm>
            <a:off x="932688" y="3785615"/>
            <a:ext cx="2743200" cy="475488"/>
          </a:xfrm>
          <a:prstGeom prst="rect">
            <a:avLst/>
          </a:prstGeom>
          <a:noFill/>
        </p:spPr>
        <p:txBody>
          <a:bodyPr wrap="square" lIns="0" tIns="0" rIns="0" bIns="0">
            <a:spAutoFit/>
          </a:bodyPr>
          <a:lstStyle/>
          <a:p>
            <a:pPr algn="l"/>
            <a:r>
              <a:rPr sz="3000" b="1">
                <a:solidFill>
                  <a:srgbClr val="222222"/>
                </a:solidFill>
                <a:latin typeface="Poppins"/>
              </a:rPr>
              <a:t>$284</a:t>
            </a:r>
          </a:p>
        </p:txBody>
      </p:sp>
      <p:sp>
        <p:nvSpPr>
          <p:cNvPr id="48" name="TextBox 47"/>
          <p:cNvSpPr txBox="1"/>
          <p:nvPr/>
        </p:nvSpPr>
        <p:spPr>
          <a:xfrm>
            <a:off x="93268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49" name="TextBox 48"/>
          <p:cNvSpPr txBox="1"/>
          <p:nvPr/>
        </p:nvSpPr>
        <p:spPr>
          <a:xfrm>
            <a:off x="932688" y="4572000"/>
            <a:ext cx="2743200" cy="475488"/>
          </a:xfrm>
          <a:prstGeom prst="rect">
            <a:avLst/>
          </a:prstGeom>
          <a:noFill/>
        </p:spPr>
        <p:txBody>
          <a:bodyPr wrap="square" lIns="0" tIns="0" rIns="0" bIns="0">
            <a:spAutoFit/>
          </a:bodyPr>
          <a:lstStyle/>
          <a:p>
            <a:pPr algn="l"/>
            <a:r>
              <a:rPr sz="3000" b="1">
                <a:solidFill>
                  <a:srgbClr val="222222"/>
                </a:solidFill>
                <a:latin typeface="Poppins"/>
              </a:rPr>
              <a:t>−0.92</a:t>
            </a:r>
          </a:p>
        </p:txBody>
      </p:sp>
      <p:sp>
        <p:nvSpPr>
          <p:cNvPr id="50" name="TextBox 49"/>
          <p:cNvSpPr txBox="1"/>
          <p:nvPr/>
        </p:nvSpPr>
        <p:spPr>
          <a:xfrm>
            <a:off x="932688" y="5029200"/>
            <a:ext cx="2743200" cy="292608"/>
          </a:xfrm>
          <a:prstGeom prst="rect">
            <a:avLst/>
          </a:prstGeom>
          <a:noFill/>
        </p:spPr>
        <p:txBody>
          <a:bodyPr wrap="square" lIns="0" tIns="0" rIns="0" bIns="0">
            <a:spAutoFit/>
          </a:bodyPr>
          <a:lstStyle/>
          <a:p>
            <a:pPr algn="l"/>
            <a:r>
              <a:rPr sz="1550" b="0">
                <a:solidFill>
                  <a:srgbClr val="484848"/>
                </a:solidFill>
                <a:latin typeface="Poppins"/>
              </a:rPr>
              <a:t>price elasticity</a:t>
            </a:r>
            <a:r>
              <a:rPr lang="en-US" sz="1550" b="0">
                <a:solidFill>
                  <a:srgbClr val="484848"/>
                </a:solidFill>
                <a:latin typeface="Poppins"/>
              </a:rPr>
              <a:t>, </a:t>
            </a:r>
            <a:r>
              <a:rPr sz="1550" b="0">
                <a:solidFill>
                  <a:srgbClr val="484848"/>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MONTHLY  (28+ nights)</a:t>
            </a:r>
          </a:p>
        </p:txBody>
      </p:sp>
      <p:sp>
        <p:nvSpPr>
          <p:cNvPr id="53" name="TextBox 52"/>
          <p:cNvSpPr txBox="1"/>
          <p:nvPr/>
        </p:nvSpPr>
        <p:spPr>
          <a:xfrm>
            <a:off x="4544568" y="2999232"/>
            <a:ext cx="2743200" cy="475488"/>
          </a:xfrm>
          <a:prstGeom prst="rect">
            <a:avLst/>
          </a:prstGeom>
          <a:noFill/>
        </p:spPr>
        <p:txBody>
          <a:bodyPr wrap="square" lIns="0" tIns="0" rIns="0" bIns="0">
            <a:spAutoFit/>
          </a:bodyPr>
          <a:lstStyle/>
          <a:p>
            <a:pPr algn="l"/>
            <a:r>
              <a:rPr sz="3000" b="1">
                <a:solidFill>
                  <a:srgbClr val="222222"/>
                </a:solidFill>
                <a:latin typeface="Poppins"/>
              </a:rPr>
              <a:t>5,744</a:t>
            </a:r>
          </a:p>
        </p:txBody>
      </p:sp>
      <p:sp>
        <p:nvSpPr>
          <p:cNvPr id="54" name="TextBox 53"/>
          <p:cNvSpPr txBox="1"/>
          <p:nvPr/>
        </p:nvSpPr>
        <p:spPr>
          <a:xfrm>
            <a:off x="454456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59% of the market</a:t>
            </a:r>
          </a:p>
        </p:txBody>
      </p:sp>
      <p:sp>
        <p:nvSpPr>
          <p:cNvPr id="55" name="TextBox 54"/>
          <p:cNvSpPr txBox="1"/>
          <p:nvPr/>
        </p:nvSpPr>
        <p:spPr>
          <a:xfrm>
            <a:off x="4544568" y="3785615"/>
            <a:ext cx="2743200" cy="475488"/>
          </a:xfrm>
          <a:prstGeom prst="rect">
            <a:avLst/>
          </a:prstGeom>
          <a:noFill/>
        </p:spPr>
        <p:txBody>
          <a:bodyPr wrap="square" lIns="0" tIns="0" rIns="0" bIns="0">
            <a:spAutoFit/>
          </a:bodyPr>
          <a:lstStyle/>
          <a:p>
            <a:pPr algn="l"/>
            <a:r>
              <a:rPr sz="3000" b="1">
                <a:solidFill>
                  <a:srgbClr val="222222"/>
                </a:solidFill>
                <a:latin typeface="Poppins"/>
              </a:rPr>
              <a:t>$131</a:t>
            </a:r>
          </a:p>
        </p:txBody>
      </p:sp>
      <p:sp>
        <p:nvSpPr>
          <p:cNvPr id="56" name="TextBox 55"/>
          <p:cNvSpPr txBox="1"/>
          <p:nvPr/>
        </p:nvSpPr>
        <p:spPr>
          <a:xfrm>
            <a:off x="454456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57" name="TextBox 56"/>
          <p:cNvSpPr txBox="1"/>
          <p:nvPr/>
        </p:nvSpPr>
        <p:spPr>
          <a:xfrm>
            <a:off x="4544568" y="4572000"/>
            <a:ext cx="2743200" cy="475488"/>
          </a:xfrm>
          <a:prstGeom prst="rect">
            <a:avLst/>
          </a:prstGeom>
          <a:noFill/>
        </p:spPr>
        <p:txBody>
          <a:bodyPr wrap="square" lIns="0" tIns="0" rIns="0" bIns="0">
            <a:spAutoFit/>
          </a:bodyPr>
          <a:lstStyle/>
          <a:p>
            <a:pPr algn="l"/>
            <a:r>
              <a:rPr sz="3000" b="1">
                <a:solidFill>
                  <a:srgbClr val="222222"/>
                </a:solidFill>
                <a:latin typeface="Poppins"/>
              </a:rPr>
              <a:t>none</a:t>
            </a:r>
          </a:p>
        </p:txBody>
      </p:sp>
      <p:sp>
        <p:nvSpPr>
          <p:cNvPr id="58" name="TextBox 57"/>
          <p:cNvSpPr txBox="1"/>
          <p:nvPr/>
        </p:nvSpPr>
        <p:spPr>
          <a:xfrm>
            <a:off x="4544568" y="5029200"/>
            <a:ext cx="2743200" cy="292608"/>
          </a:xfrm>
          <a:prstGeom prst="rect">
            <a:avLst/>
          </a:prstGeom>
          <a:noFill/>
        </p:spPr>
        <p:txBody>
          <a:bodyPr wrap="square" lIns="0" tIns="0" rIns="0" bIns="0">
            <a:spAutoFit/>
          </a:bodyPr>
          <a:lstStyle/>
          <a:p>
            <a:pPr algn="l"/>
            <a:r>
              <a:rPr sz="1550" b="0">
                <a:solidFill>
                  <a:srgbClr val="484848"/>
                </a:solidFill>
                <a:latin typeface="Poppins"/>
              </a:rPr>
              <a:t>no price response detected</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cs typeface="Poppins"/>
              </a:rPr>
              <a:t>Reputation drives occupancy</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1550">
                <a:solidFill>
                  <a:srgbClr val="484848"/>
                </a:solidFill>
                <a:latin typeface="Poppins"/>
                <a:cs typeface="Poppins"/>
              </a:rPr>
              <a:t>Review count tracks occupancy. Host tenure does not.</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Occupancy by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566928"/>
          </a:xfrm>
          <a:prstGeom prst="rect">
            <a:avLst/>
          </a:prstGeom>
          <a:noFill/>
          <a:ln/>
        </p:spPr>
        <p:txBody>
          <a:bodyPr wrap="square" lIns="0" tIns="0" rIns="0" bIns="0" rtlCol="0" anchor="ctr"/>
          <a:lstStyle/>
          <a:p>
            <a:pPr marL="0" indent="0">
              <a:buNone/>
            </a:pPr>
            <a:r>
              <a:rPr lang="en-US" sz="1550" i="1">
                <a:solidFill>
                  <a:srgbClr val="484848"/>
                </a:solidFill>
                <a:latin typeface="Poppins" pitchFamily="34" charset="0"/>
                <a:ea typeface="Poppins" pitchFamily="34" charset="-122"/>
                <a:cs typeface="Poppins" pitchFamily="34" charset="-120"/>
              </a:rPr>
              <a:t>Tenure is flat at 37–39%. It is the reviews, not the years.</a:t>
            </a:r>
            <a:endParaRPr lang="en-US" sz="1050"/>
          </a:p>
        </p:txBody>
      </p:sp>
      <p:sp>
        <p:nvSpPr>
          <p:cNvPr id="24" name="Shape 20"/>
          <p:cNvSpPr/>
          <p:nvPr/>
        </p:nvSpPr>
        <p:spPr>
          <a:xfrm>
            <a:off x="6426033" y="2342131"/>
            <a:ext cx="5569596" cy="3799089"/>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6556248" y="2560320"/>
            <a:ext cx="4206240" cy="365760"/>
          </a:xfrm>
          <a:prstGeom prst="rect">
            <a:avLst/>
          </a:prstGeom>
          <a:noFill/>
          <a:ln/>
        </p:spPr>
        <p:txBody>
          <a:bodyPr wrap="square" lIns="0" tIns="0" rIns="0" bIns="0" rtlCol="0" anchor="ctr"/>
          <a:lstStyle/>
          <a:p>
            <a:r>
              <a:rPr lang="en-US" sz="2000" b="1">
                <a:solidFill>
                  <a:srgbClr val="222222"/>
                </a:solidFill>
                <a:latin typeface="Poppins"/>
                <a:cs typeface="Poppins"/>
              </a:rPr>
              <a:t>Why we built a model</a:t>
            </a:r>
            <a:endParaRPr lang="en-US"/>
          </a:p>
        </p:txBody>
      </p:sp>
      <p:sp>
        <p:nvSpPr>
          <p:cNvPr id="28" name="Text 23"/>
          <p:cNvSpPr/>
          <p:nvPr/>
        </p:nvSpPr>
        <p:spPr>
          <a:xfrm>
            <a:off x="6683815" y="3154680"/>
            <a:ext cx="4463487" cy="932688"/>
          </a:xfrm>
          <a:prstGeom prst="rect">
            <a:avLst/>
          </a:prstGeom>
          <a:noFill/>
          <a:ln/>
        </p:spPr>
        <p:txBody>
          <a:bodyPr wrap="square" lIns="0" tIns="0" rIns="0" bIns="0" rtlCol="0" anchor="t"/>
          <a:lstStyle/>
          <a:p>
            <a:pPr>
              <a:lnSpc>
                <a:spcPct val="107000"/>
              </a:lnSpc>
            </a:pPr>
            <a:r>
              <a:rPr lang="en-US" sz="1800">
                <a:solidFill>
                  <a:srgbClr val="484848"/>
                </a:solidFill>
                <a:latin typeface="Poppins"/>
                <a:ea typeface="Poppins" pitchFamily="34" charset="-122"/>
                <a:cs typeface="Poppins"/>
              </a:rPr>
              <a:t>Price alone cannot tell you. You need peers matched on reputation, location, size and amenities.</a:t>
            </a:r>
            <a:endParaRPr lang="en-US">
              <a:solidFill>
                <a:srgbClr val="4A4A4A"/>
              </a:solidFill>
              <a:latin typeface="Poppins"/>
              <a:cs typeface="Poppins"/>
            </a:endParaRPr>
          </a:p>
        </p:txBody>
      </p:sp>
      <p:sp>
        <p:nvSpPr>
          <p:cNvPr id="29" name="Shape 24"/>
          <p:cNvSpPr/>
          <p:nvPr/>
        </p:nvSpPr>
        <p:spPr>
          <a:xfrm>
            <a:off x="6556696" y="4300928"/>
            <a:ext cx="4854567" cy="1453547"/>
          </a:xfrm>
          <a:prstGeom prst="roundRect">
            <a:avLst>
              <a:gd name="adj" fmla="val 11429"/>
            </a:avLst>
          </a:prstGeom>
          <a:solidFill>
            <a:srgbClr val="FFFFFF"/>
          </a:solidFill>
          <a:ln w="9525">
            <a:solidFill>
              <a:srgbClr val="DDDDDD"/>
            </a:solidFill>
          </a:ln>
          <a:effectLst/>
        </p:spPr>
        <p:txBody>
          <a:bodyPr/>
          <a:lstStyle/>
          <a:p>
            <a:endParaRPr lang="en-US"/>
          </a:p>
        </p:txBody>
      </p:sp>
      <p:sp>
        <p:nvSpPr>
          <p:cNvPr id="30" name="Text 25"/>
          <p:cNvSpPr/>
          <p:nvPr/>
        </p:nvSpPr>
        <p:spPr>
          <a:xfrm>
            <a:off x="6997657" y="4350646"/>
            <a:ext cx="4428595" cy="1468536"/>
          </a:xfrm>
          <a:prstGeom prst="rect">
            <a:avLst/>
          </a:prstGeom>
          <a:noFill/>
          <a:ln/>
        </p:spPr>
        <p:txBody>
          <a:bodyPr wrap="square" lIns="0" tIns="0" rIns="0" bIns="0" rtlCol="0" anchor="ctr"/>
          <a:lstStyle/>
          <a:p>
            <a:pPr>
              <a:lnSpc>
                <a:spcPct val="105000"/>
              </a:lnSpc>
            </a:pPr>
            <a:r>
              <a:rPr lang="en-US" sz="1800" b="1" i="1">
                <a:solidFill>
                  <a:srgbClr val="00A699"/>
                </a:solidFill>
                <a:latin typeface="Poppins"/>
                <a:ea typeface="Poppins" pitchFamily="34" charset="-122"/>
                <a:cs typeface="Poppins"/>
              </a:rPr>
              <a:t>A fair price against genuine peers, not the market average.</a:t>
            </a:r>
            <a:endParaRPr lang="en-US" sz="1250">
              <a:latin typeface="Poppins"/>
              <a:cs typeface="Poppins"/>
            </a:endParaRPr>
          </a:p>
        </p:txBody>
      </p:sp>
      <p:sp>
        <p:nvSpPr>
          <p:cNvPr id="3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show the reasoning</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price they can question.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58952"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One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4407408"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The real properties behind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What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407408"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Test any price, see projected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046720" y="2578608"/>
            <a:ext cx="338328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People make better decisions when they understand the reasoning.</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Hosts trust a recommendation when they know where it came from.</a:t>
            </a:r>
            <a:endParaRPr lang="en-US" sz="12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GBM prices it. KNN explains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Two models, one recommendation.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GBM</a:t>
            </a:r>
            <a:endParaRPr lang="en-US" sz="1100"/>
          </a:p>
        </p:txBody>
      </p:sp>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Gradient boosting captures nonlinear interactions and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KNN</a:t>
            </a:r>
            <a:endParaRPr lang="en-US" sz="1100"/>
          </a:p>
        </p:txBody>
      </p:sp>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Nearest-neighbors surfaces the similar listings, and their amenities,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40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a:effectLst/>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800" b="1">
                <a:solidFill>
                  <a:srgbClr val="222222"/>
                </a:solidFill>
                <a:latin typeface="Poppins" pitchFamily="34" charset="0"/>
                <a:ea typeface="Poppins" pitchFamily="34" charset="-122"/>
                <a:cs typeface="Poppins" pitchFamily="34" charset="-120"/>
              </a:rPr>
              <a:t>Half of listings read underpriced, half overpriced. Raising underpriced adds margin; cutting overpriced adds volume. Our number counts both.</a:t>
            </a:r>
            <a:endParaRPr lang="en-US" sz="1150"/>
          </a:p>
        </p:txBody>
      </p:sp>
      <p:sp>
        <p:nvSpPr>
          <p:cNvPr id="2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4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9525">
            <a:solidFill>
              <a:srgbClr val="DDDDDD"/>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FFFF"/>
          </a:solidFill>
          <a:ln w="9525">
            <a:solidFill>
              <a:srgbClr val="DDDDDD"/>
            </a:solidFill>
          </a:ln>
          <a:effectLst/>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1300" i="1">
                <a:solidFill>
                  <a:srgbClr val="484848"/>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
        <p:nvSpPr>
          <p:cNvPr id="52" name="TextBox 51"/>
          <p:cNvSpPr txBox="1"/>
          <p:nvPr/>
        </p:nvSpPr>
        <p:spPr>
          <a:xfrm>
            <a:off x="8016240" y="3077938"/>
            <a:ext cx="4041648" cy="1097280"/>
          </a:xfrm>
          <a:prstGeom prst="rect">
            <a:avLst/>
          </a:prstGeom>
          <a:noFill/>
        </p:spPr>
        <p:txBody>
          <a:bodyPr wrap="square">
            <a:spAutoFit/>
          </a:bodyPr>
          <a:lstStyle/>
          <a:p>
            <a:pPr algn="ctr"/>
            <a:r>
              <a:rPr sz="1500" b="1" dirty="0">
                <a:solidFill>
                  <a:srgbClr val="FF385C"/>
                </a:solidFill>
              </a:rPr>
              <a:t>Recorded product demo</a:t>
            </a:r>
          </a:p>
          <a:p>
            <a:pPr algn="ctr"/>
            <a:r>
              <a:rPr sz="1500" dirty="0">
                <a:solidFill>
                  <a:srgbClr val="717171"/>
                </a:solidFill>
              </a:rPr>
              <a:t>Embedded in the presentation file. </a:t>
            </a:r>
            <a:r>
              <a:rPr sz="1500">
                <a:solidFill>
                  <a:srgbClr val="717171"/>
                </a:solidFill>
              </a:rPr>
              <a:t>Too large for the repository; the link is in the README.</a:t>
            </a:r>
          </a:p>
        </p:txBody>
      </p:sp>
      <p:sp>
        <p:nvSpPr>
          <p:cNvPr id="53"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measured price elasticity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Measured directly on a real occupancy panel.</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475488"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340864"/>
            <a:ext cx="3730752" cy="274320"/>
          </a:xfrm>
          <a:prstGeom prst="rect">
            <a:avLst/>
          </a:prstGeom>
          <a:noFill/>
          <a:ln/>
        </p:spPr>
        <p:txBody>
          <a:bodyPr wrap="square" lIns="0" tIns="0" rIns="0" bIns="0" rtlCol="0" anchor="ctr"/>
          <a:lstStyle/>
          <a:p>
            <a:pPr marL="0" indent="0">
              <a:buNone/>
            </a:pPr>
            <a:r>
              <a:rPr lang="en-US" sz="130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670048"/>
            <a:ext cx="4965192" cy="685800"/>
          </a:xfrm>
          <a:prstGeom prst="rect">
            <a:avLst/>
          </a:prstGeom>
          <a:noFill/>
          <a:ln/>
        </p:spPr>
        <p:txBody>
          <a:bodyPr wrap="square" lIns="0" tIns="0" rIns="0" bIns="0" rtlCol="0" anchor="ctr"/>
          <a:lstStyle/>
          <a:p>
            <a:r>
              <a:rPr lang="en-US" sz="2000" b="1" dirty="0">
                <a:solidFill>
                  <a:srgbClr val="007A73"/>
                </a:solidFill>
                <a:latin typeface="Poppins"/>
                <a:ea typeface="Poppins" pitchFamily="34" charset="-122"/>
                <a:cs typeface="Poppins"/>
              </a:rPr>
              <a:t>$1%        = −0.92% Occupancy</a:t>
            </a:r>
            <a:endParaRPr lang="en-US" sz="2000" dirty="0">
              <a:solidFill>
                <a:srgbClr val="4A4A4A"/>
              </a:solidFill>
              <a:latin typeface="Poppins"/>
              <a:cs typeface="Poppins"/>
            </a:endParaRPr>
          </a:p>
          <a:p>
            <a:pPr marL="0" indent="0">
              <a:buNone/>
            </a:pPr>
            <a:endParaRPr lang="en-US" sz="1200" dirty="0"/>
          </a:p>
        </p:txBody>
      </p:sp>
      <p:sp>
        <p:nvSpPr>
          <p:cNvPr id="17" name="Text 12"/>
          <p:cNvSpPr/>
          <p:nvPr/>
        </p:nvSpPr>
        <p:spPr>
          <a:xfrm>
            <a:off x="777240" y="3383280"/>
            <a:ext cx="4965192" cy="841248"/>
          </a:xfrm>
          <a:prstGeom prst="rect">
            <a:avLst/>
          </a:prstGeom>
          <a:noFill/>
          <a:ln/>
        </p:spPr>
        <p:txBody>
          <a:bodyPr wrap="square" lIns="0" tIns="0" rIns="0" bIns="0" rtlCol="0" anchor="t"/>
          <a:lstStyle/>
          <a:p>
            <a:pPr marL="0" indent="0">
              <a:lnSpc>
                <a:spcPct val="104000"/>
              </a:lnSpc>
              <a:buNone/>
            </a:pPr>
            <a:r>
              <a:rPr lang="en-US" sz="1800" dirty="0">
                <a:solidFill>
                  <a:srgbClr val="484848"/>
                </a:solidFill>
                <a:latin typeface="Poppins" pitchFamily="34" charset="0"/>
                <a:ea typeface="Poppins" pitchFamily="34" charset="-122"/>
                <a:cs typeface="Poppins" pitchFamily="34" charset="-120"/>
              </a:rPr>
              <a:t>Two-way fixed effects on a third-party occupancy panel. +1% price moves occupancy −0.92%.</a:t>
            </a:r>
            <a:endParaRPr lang="en-US" sz="1100" dirty="0"/>
          </a:p>
        </p:txBody>
      </p:sp>
      <p:sp>
        <p:nvSpPr>
          <p:cNvPr id="18" name="Shape 13"/>
          <p:cNvSpPr/>
          <p:nvPr/>
        </p:nvSpPr>
        <p:spPr>
          <a:xfrm>
            <a:off x="6217920"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1" name="Text 15"/>
          <p:cNvSpPr/>
          <p:nvPr/>
        </p:nvSpPr>
        <p:spPr>
          <a:xfrm>
            <a:off x="6492240" y="2340864"/>
            <a:ext cx="4279392" cy="274320"/>
          </a:xfrm>
          <a:prstGeom prst="rect">
            <a:avLst/>
          </a:prstGeom>
          <a:noFill/>
          <a:ln/>
        </p:spPr>
        <p:txBody>
          <a:bodyPr wrap="square" lIns="0" tIns="0" rIns="0" bIns="0" rtlCol="0" anchor="ctr"/>
          <a:lstStyle/>
          <a:p>
            <a:r>
              <a:rPr lang="en-US" sz="1300" b="1" kern="0" spc="100" dirty="0">
                <a:solidFill>
                  <a:srgbClr val="FF385C"/>
                </a:solidFill>
                <a:latin typeface="Poppins"/>
                <a:ea typeface="Poppins" pitchFamily="34" charset="-122"/>
                <a:cs typeface="Poppins"/>
              </a:rPr>
              <a:t>WHAT IT MEANS FOR REVENUE</a:t>
            </a:r>
            <a:endParaRPr lang="en-US" sz="1050" dirty="0"/>
          </a:p>
        </p:txBody>
      </p:sp>
      <p:sp>
        <p:nvSpPr>
          <p:cNvPr id="22" name="Text 16"/>
          <p:cNvSpPr/>
          <p:nvPr/>
        </p:nvSpPr>
        <p:spPr>
          <a:xfrm>
            <a:off x="6492240" y="2948670"/>
            <a:ext cx="4965192" cy="1188720"/>
          </a:xfrm>
          <a:prstGeom prst="rect">
            <a:avLst/>
          </a:prstGeom>
          <a:noFill/>
          <a:ln/>
        </p:spPr>
        <p:txBody>
          <a:bodyPr wrap="square" lIns="0" tIns="0" rIns="0" bIns="0" rtlCol="0" anchor="ctr"/>
          <a:lstStyle/>
          <a:p>
            <a:r>
              <a:rPr lang="en-US" sz="1700" b="1" dirty="0">
                <a:solidFill>
                  <a:srgbClr val="FF385C"/>
                </a:solidFill>
                <a:latin typeface="Poppins"/>
                <a:ea typeface="+mn-lt"/>
                <a:cs typeface="Poppins"/>
              </a:rPr>
              <a:t>Underpriced → raise price → wins when β &gt; −1 (inelastic)</a:t>
            </a:r>
            <a:endParaRPr lang="en-US" sz="1600" dirty="0">
              <a:ea typeface="Calibri"/>
              <a:cs typeface="Calibri"/>
            </a:endParaRPr>
          </a:p>
          <a:p>
            <a:endParaRPr lang="en-US" sz="1600" b="1" dirty="0">
              <a:solidFill>
                <a:srgbClr val="FF385C"/>
              </a:solidFill>
              <a:latin typeface="Poppins"/>
              <a:ea typeface="+mn-lt"/>
              <a:cs typeface="Poppins"/>
            </a:endParaRPr>
          </a:p>
          <a:p>
            <a:r>
              <a:rPr lang="en-US" sz="1700" b="1" dirty="0">
                <a:solidFill>
                  <a:srgbClr val="FF385C"/>
                </a:solidFill>
                <a:latin typeface="Poppins"/>
                <a:ea typeface="+mn-lt"/>
                <a:cs typeface="Poppins"/>
              </a:rPr>
              <a:t>Overpriced → cut price → wins β &lt; −1 (elastic)</a:t>
            </a:r>
            <a:endParaRPr lang="en-US" sz="1600" dirty="0">
              <a:ea typeface="Calibri"/>
              <a:cs typeface="Calibri"/>
            </a:endParaRPr>
          </a:p>
          <a:p>
            <a:endParaRPr lang="en-US" sz="2000" b="1" dirty="0">
              <a:solidFill>
                <a:srgbClr val="FF385C"/>
              </a:solidFill>
              <a:latin typeface="Poppins"/>
              <a:ea typeface="Calibri"/>
              <a:cs typeface="Poppins"/>
            </a:endParaRPr>
          </a:p>
        </p:txBody>
      </p:sp>
      <p:sp>
        <p:nvSpPr>
          <p:cNvPr id="24" name="Shape 18"/>
          <p:cNvSpPr/>
          <p:nvPr/>
        </p:nvSpPr>
        <p:spPr>
          <a:xfrm>
            <a:off x="502920" y="4407408"/>
            <a:ext cx="11183112" cy="1298448"/>
          </a:xfrm>
          <a:prstGeom prst="roundRect">
            <a:avLst>
              <a:gd name="adj" fmla="val 985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507992"/>
            <a:ext cx="7315200" cy="27432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5166360"/>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5166360"/>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276088"/>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5038344"/>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818888"/>
            <a:ext cx="1691640" cy="219456"/>
          </a:xfrm>
          <a:prstGeom prst="rect">
            <a:avLst/>
          </a:prstGeom>
          <a:noFill/>
          <a:ln/>
        </p:spPr>
        <p:txBody>
          <a:bodyPr wrap="square" lIns="0" tIns="0" rIns="0" bIns="0" rtlCol="0" anchor="ctr"/>
          <a:lstStyle/>
          <a:p>
            <a:pPr marL="0" indent="0" algn="r">
              <a:buNone/>
            </a:pPr>
            <a:r>
              <a:rPr lang="en-US" sz="120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5175504"/>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818888"/>
            <a:ext cx="2560320" cy="219456"/>
          </a:xfrm>
          <a:prstGeom prst="rect">
            <a:avLst/>
          </a:prstGeom>
          <a:noFill/>
          <a:ln/>
        </p:spPr>
        <p:txBody>
          <a:bodyPr wrap="square" lIns="0" tIns="0" rIns="0" bIns="0" rtlCol="0" anchor="ctr"/>
          <a:lstStyle/>
          <a:p>
            <a:pPr marL="0" indent="0" algn="l">
              <a:buNone/>
            </a:pPr>
            <a:r>
              <a:rPr lang="en-US" sz="120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422392"/>
            <a:ext cx="4572000" cy="219456"/>
          </a:xfrm>
          <a:prstGeom prst="rect">
            <a:avLst/>
          </a:prstGeom>
          <a:noFill/>
          <a:ln/>
        </p:spPr>
        <p:txBody>
          <a:bodyPr wrap="square" lIns="0" tIns="0" rIns="0" bIns="0" rtlCol="0" anchor="ctr"/>
          <a:lstStyle/>
          <a:p>
            <a:pPr marL="0" indent="0" algn="ctr">
              <a:buNone/>
            </a:pPr>
            <a:r>
              <a:rPr lang="en-US" sz="12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422392"/>
            <a:ext cx="4572000" cy="219456"/>
          </a:xfrm>
          <a:prstGeom prst="rect">
            <a:avLst/>
          </a:prstGeom>
          <a:noFill/>
          <a:ln/>
        </p:spPr>
        <p:txBody>
          <a:bodyPr wrap="square" lIns="0" tIns="0" rIns="0" bIns="0" rtlCol="0" anchor="ctr"/>
          <a:lstStyle/>
          <a:p>
            <a:pPr marL="0" indent="0" algn="ctr">
              <a:buNone/>
            </a:pPr>
            <a:r>
              <a:rPr lang="en-US" sz="12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5166360"/>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5166360"/>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852160"/>
            <a:ext cx="11183112" cy="530352"/>
          </a:xfrm>
          <a:prstGeom prst="rect">
            <a:avLst/>
          </a:prstGeom>
          <a:noFill/>
          <a:ln/>
        </p:spPr>
        <p:txBody>
          <a:bodyPr wrap="square" lIns="0" tIns="0" rIns="0" bIns="0" rtlCol="0" anchor="ctr"/>
          <a:lstStyle/>
          <a:p>
            <a:pPr marL="0" indent="0">
              <a:lnSpc>
                <a:spcPct val="100000"/>
              </a:lnSpc>
              <a:buNone/>
            </a:pPr>
            <a:r>
              <a:rPr lang="en-US" sz="1500" b="1" i="1">
                <a:solidFill>
                  <a:srgbClr val="484848"/>
                </a:solidFill>
                <a:latin typeface="Poppins" pitchFamily="34" charset="0"/>
                <a:ea typeface="Poppins" pitchFamily="34" charset="-122"/>
                <a:cs typeface="Poppins" pitchFamily="34" charset="-120"/>
              </a:rPr>
              <a:t>Honest caveat:  measured on 64 established short-stay listings (median 142 reviews). Monthly came back insignificant, so we hold it occupancy-neutral.</a:t>
            </a:r>
            <a:endParaRPr lang="en-US" sz="9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Straight Arrow Connector 18">
            <a:extLst>
              <a:ext uri="{FF2B5EF4-FFF2-40B4-BE49-F238E27FC236}">
                <a16:creationId xmlns:a16="http://schemas.microsoft.com/office/drawing/2014/main" id="{C9F6125D-7975-31F2-BF9A-E50A43316724}"/>
              </a:ext>
            </a:extLst>
          </p:cNvPr>
          <p:cNvCxnSpPr>
            <a:cxnSpLocks/>
          </p:cNvCxnSpPr>
          <p:nvPr/>
        </p:nvCxnSpPr>
        <p:spPr>
          <a:xfrm flipV="1">
            <a:off x="4625462" y="2748924"/>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9A7BEAB-21B0-41C7-B9D2-7BDCF8F120DC}"/>
              </a:ext>
            </a:extLst>
          </p:cNvPr>
          <p:cNvCxnSpPr>
            <a:cxnSpLocks/>
          </p:cNvCxnSpPr>
          <p:nvPr/>
        </p:nvCxnSpPr>
        <p:spPr>
          <a:xfrm>
            <a:off x="4469805" y="2776488"/>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DCEBF7E-0CB3-22DA-D28D-5F73821529FD}"/>
              </a:ext>
            </a:extLst>
          </p:cNvPr>
          <p:cNvCxnSpPr>
            <a:cxnSpLocks/>
          </p:cNvCxnSpPr>
          <p:nvPr/>
        </p:nvCxnSpPr>
        <p:spPr>
          <a:xfrm flipV="1">
            <a:off x="1550563" y="2699619"/>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E0462E6-C678-A0EF-62D7-6B04DEB134C7}"/>
              </a:ext>
            </a:extLst>
          </p:cNvPr>
          <p:cNvCxnSpPr>
            <a:cxnSpLocks/>
          </p:cNvCxnSpPr>
          <p:nvPr/>
        </p:nvCxnSpPr>
        <p:spPr>
          <a:xfrm>
            <a:off x="1394906" y="2727183"/>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$7.6M in host GBV, $1.17M to Airbnb</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The conservative floor, every assumption rounded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783080"/>
          </a:xfrm>
          <a:prstGeom prst="roundRect">
            <a:avLst>
              <a:gd name="adj" fmla="val 875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3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724912"/>
            <a:ext cx="7955280" cy="548640"/>
          </a:xfrm>
          <a:prstGeom prst="rect">
            <a:avLst/>
          </a:prstGeom>
          <a:noFill/>
          <a:ln/>
        </p:spPr>
        <p:txBody>
          <a:bodyPr wrap="square" lIns="0" tIns="0" rIns="0" bIns="0" rtlCol="0" anchor="ctr"/>
          <a:lstStyle/>
          <a:p>
            <a:pPr marL="0" indent="0">
              <a:buNone/>
            </a:pPr>
            <a:r>
              <a:rPr lang="en-US" sz="2200" b="1">
                <a:solidFill>
                  <a:srgbClr val="222222"/>
                </a:solidFill>
                <a:latin typeface="Poppins" pitchFamily="34" charset="0"/>
                <a:ea typeface="Poppins" pitchFamily="34" charset="-122"/>
                <a:cs typeface="Poppins" pitchFamily="34" charset="-120"/>
              </a:rPr>
              <a:t>~$7.6M</a:t>
            </a:r>
            <a:r>
              <a:rPr lang="en-US" sz="2200" b="1">
                <a:solidFill>
                  <a:srgbClr val="4A4A4A"/>
                </a:solidFill>
                <a:latin typeface="Poppins" pitchFamily="34" charset="0"/>
                <a:ea typeface="Poppins" pitchFamily="34" charset="-122"/>
                <a:cs typeface="Poppins" pitchFamily="34" charset="-120"/>
              </a:rPr>
              <a:t> host GBV</a:t>
            </a:r>
            <a:r>
              <a:rPr lang="en-US" sz="2200" b="1">
                <a:solidFill>
                  <a:srgbClr val="9AA0A6"/>
                </a:solidFill>
                <a:latin typeface="Poppins" pitchFamily="34" charset="0"/>
                <a:ea typeface="Poppins" pitchFamily="34" charset="-122"/>
                <a:cs typeface="Poppins" pitchFamily="34" charset="-120"/>
              </a:rPr>
              <a:t>      ×15.5%  →      </a:t>
            </a:r>
            <a:r>
              <a:rPr lang="en-US" sz="2200" b="1">
                <a:solidFill>
                  <a:srgbClr val="FF385C"/>
                </a:solidFill>
                <a:latin typeface="Poppins" pitchFamily="34" charset="0"/>
                <a:ea typeface="Poppins" pitchFamily="34" charset="-122"/>
                <a:cs typeface="Poppins" pitchFamily="34" charset="-120"/>
              </a:rPr>
              <a:t>$1.17M</a:t>
            </a:r>
            <a:r>
              <a:rPr lang="en-US" sz="2200" b="1">
                <a:solidFill>
                  <a:srgbClr val="4A4A4A"/>
                </a:solidFill>
                <a:latin typeface="Poppins" pitchFamily="34" charset="0"/>
                <a:ea typeface="Poppins" pitchFamily="34" charset="-122"/>
                <a:cs typeface="Poppins" pitchFamily="34" charset="-120"/>
              </a:rPr>
              <a:t> / yr Airbnb fee</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95728"/>
            <a:ext cx="2514600" cy="1417320"/>
          </a:xfrm>
          <a:prstGeom prst="rect">
            <a:avLst/>
          </a:prstGeom>
          <a:noFill/>
          <a:ln/>
        </p:spPr>
        <p:txBody>
          <a:bodyPr wrap="square" lIns="0" tIns="0" rIns="0" bIns="0" rtlCol="0" anchor="ctr"/>
          <a:lstStyle/>
          <a:p>
            <a:pPr marL="0" indent="0">
              <a:lnSpc>
                <a:spcPct val="106000"/>
              </a:lnSpc>
              <a:buNone/>
            </a:pPr>
            <a:r>
              <a:rPr lang="en-US" sz="1550" b="1">
                <a:solidFill>
                  <a:srgbClr val="484848"/>
                </a:solidFill>
                <a:latin typeface="Poppins" pitchFamily="34" charset="0"/>
                <a:ea typeface="Poppins" pitchFamily="34" charset="-122"/>
                <a:cs typeface="Poppins" pitchFamily="34" charset="-120"/>
              </a:rPr>
              <a:t>Ceiling (upside): </a:t>
            </a:r>
            <a:r>
              <a:rPr lang="en-US" sz="1550">
                <a:solidFill>
                  <a:srgbClr val="484848"/>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19" name="Text 14"/>
          <p:cNvSpPr/>
          <p:nvPr/>
        </p:nvSpPr>
        <p:spPr>
          <a:xfrm>
            <a:off x="68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one-time build, incremental on existing stack</a:t>
            </a:r>
            <a:endParaRPr lang="en-US" sz="1000"/>
          </a:p>
        </p:txBody>
      </p:sp>
      <p:sp>
        <p:nvSpPr>
          <p:cNvPr id="21" name="Shape 16"/>
          <p:cNvSpPr/>
          <p:nvPr/>
        </p:nvSpPr>
        <p:spPr>
          <a:xfrm>
            <a:off x="431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3" name="Text 17"/>
          <p:cNvSpPr/>
          <p:nvPr/>
        </p:nvSpPr>
        <p:spPr>
          <a:xfrm>
            <a:off x="4495800" y="4343400"/>
            <a:ext cx="3197352" cy="603504"/>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 run: retraining, monitoring, infra</a:t>
            </a:r>
            <a:endParaRPr lang="en-US" sz="1000"/>
          </a:p>
        </p:txBody>
      </p:sp>
      <p:sp>
        <p:nvSpPr>
          <p:cNvPr id="25" name="Shape 19"/>
          <p:cNvSpPr/>
          <p:nvPr/>
        </p:nvSpPr>
        <p:spPr>
          <a:xfrm>
            <a:off x="812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7" name="Text 20"/>
          <p:cNvSpPr/>
          <p:nvPr/>
        </p:nvSpPr>
        <p:spPr>
          <a:xfrm>
            <a:off x="830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797296"/>
            <a:ext cx="11183112" cy="530352"/>
          </a:xfrm>
          <a:prstGeom prst="rect">
            <a:avLst/>
          </a:prstGeom>
          <a:noFill/>
          <a:ln/>
        </p:spPr>
        <p:txBody>
          <a:bodyPr wrap="square" lIns="0" tIns="0" rIns="0" bIns="0" rtlCol="0" anchor="ctr"/>
          <a:lstStyle/>
          <a:p>
            <a:pPr marL="0" indent="0">
              <a:lnSpc>
                <a:spcPct val="104000"/>
              </a:lnSpc>
              <a:buNone/>
            </a:pPr>
            <a:r>
              <a:rPr lang="en-US" sz="1550">
                <a:solidFill>
                  <a:srgbClr val="484848"/>
                </a:solidFill>
                <a:latin typeface="Poppins" pitchFamily="34" charset="0"/>
                <a:ea typeface="Poppins" pitchFamily="34" charset="-122"/>
                <a:cs typeface="Poppins" pitchFamily="34" charset="-120"/>
              </a:rPr>
              <a:t>Costed as an incremental feature on infrastructure Airbnb already owns. A greenfield build (~$190K + $105K/yr) is shown only as a worst case.</a:t>
            </a:r>
            <a:endParaRPr lang="en-US" sz="1050"/>
          </a:p>
        </p:txBody>
      </p:sp>
      <p:sp>
        <p:nvSpPr>
          <p:cNvPr id="3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Cash-positive in Year 1</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Adoption modeled as a ramp, not a single guess.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nvGraphicFramePr>
        <p:xfrm>
          <a:off x="502920" y="2377440"/>
          <a:ext cx="6858000" cy="27940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550" i="1">
                <a:solidFill>
                  <a:srgbClr val="484848"/>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7863840" y="2651760"/>
            <a:ext cx="356616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63840" y="3200400"/>
            <a:ext cx="3566160" cy="210312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Net-positive in Year 1 at 10% adoption. Five-year cumulative net: $1.61M nominal, $1.14M NPV at a 10% discount.</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550" b="1">
                <a:solidFill>
                  <a:srgbClr val="484848"/>
                </a:solidFill>
                <a:latin typeface="Poppins" pitchFamily="34" charset="0"/>
                <a:ea typeface="Poppins" pitchFamily="34" charset="-122"/>
                <a:cs typeface="Poppins" pitchFamily="34" charset="-120"/>
              </a:rPr>
              <a:t>Repricing also unlocks ~77,606 booked nights a year: real marketplace liquidity and host retention for Airbnb.</a:t>
            </a:r>
            <a:endParaRPr lang="en-US" sz="1050"/>
          </a:p>
        </p:txBody>
      </p:sp>
      <p:sp>
        <p:nvSpPr>
          <p:cNvPr id="2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092064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502920" y="836864"/>
            <a:ext cx="10936529" cy="73152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Four asks would lift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Every unmeasured quantity was resolved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The full elasticity panel</a:t>
            </a:r>
            <a:endParaRPr lang="en-US" sz="1400"/>
          </a:p>
        </p:txBody>
      </p:sp>
      <p:sp>
        <p:nvSpPr>
          <p:cNvPr id="16" name="Text 11"/>
          <p:cNvSpPr/>
          <p:nvPr/>
        </p:nvSpPr>
        <p:spPr>
          <a:xfrm>
            <a:off x="777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measured −0.92 on 64 listings. The full panel would confirm it across every tier.</a:t>
            </a:r>
            <a:endParaRPr lang="en-US" sz="1180"/>
          </a:p>
        </p:txBody>
      </p:sp>
      <p:sp>
        <p:nvSpPr>
          <p:cNvPr id="17" name="Shape 12"/>
          <p:cNvSpPr/>
          <p:nvPr/>
        </p:nvSpPr>
        <p:spPr>
          <a:xfrm>
            <a:off x="6217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A real monthly measurement</a:t>
            </a:r>
            <a:endParaRPr lang="en-US" sz="1400"/>
          </a:p>
        </p:txBody>
      </p:sp>
      <p:sp>
        <p:nvSpPr>
          <p:cNvPr id="21" name="Text 15"/>
          <p:cNvSpPr/>
          <p:nvPr/>
        </p:nvSpPr>
        <p:spPr>
          <a:xfrm>
            <a:off x="6492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No response showed in the pilot, so we assumed none. Measure it properly.</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77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Booking-flow data</a:t>
            </a:r>
            <a:endParaRPr lang="en-US" sz="1400"/>
          </a:p>
        </p:txBody>
      </p:sp>
      <p:sp>
        <p:nvSpPr>
          <p:cNvPr id="26" name="Text 19"/>
          <p:cNvSpPr/>
          <p:nvPr/>
        </p:nvSpPr>
        <p:spPr>
          <a:xfrm>
            <a:off x="777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claimed zero credit for guests won back from hotels. Your data would price it.</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6492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Markets beyond New York</a:t>
            </a:r>
            <a:endParaRPr lang="en-US" sz="1400"/>
          </a:p>
        </p:txBody>
      </p:sp>
      <p:sp>
        <p:nvSpPr>
          <p:cNvPr id="31" name="Text 23"/>
          <p:cNvSpPr/>
          <p:nvPr/>
        </p:nvSpPr>
        <p:spPr>
          <a:xfrm>
            <a:off x="6492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Coefficients need re-fitting per market. The method transfers; these numbers are New York's.</a:t>
            </a:r>
            <a:endParaRPr lang="en-US" sz="1180"/>
          </a:p>
        </p:txBody>
      </p:sp>
      <p:sp>
        <p:nvSpPr>
          <p:cNvPr id="32"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recommendation they understand.</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a:ea typeface="Poppins" pitchFamily="34" charset="-122"/>
                <a:cs typeface="Poppins"/>
              </a:rPr>
              <a:t>PRESENTS  </a:t>
            </a:r>
            <a:r>
              <a:rPr lang="en-US" sz="950" b="1">
                <a:solidFill>
                  <a:srgbClr val="222222"/>
                </a:solidFill>
                <a:latin typeface="Poppins"/>
                <a:ea typeface="Poppins" pitchFamily="34" charset="-122"/>
                <a:cs typeface="Poppins"/>
              </a:rPr>
              <a:t>Manas</a:t>
            </a:r>
            <a:endParaRPr lang="en-US" sz="950">
              <a:solidFill>
                <a:srgbClr val="000000"/>
              </a:solidFill>
              <a:latin typeface="Calibri"/>
              <a:ea typeface="Calibri"/>
              <a:cs typeface="Calibri"/>
            </a:endParaRPr>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395728"/>
            <a:ext cx="566928" cy="566928"/>
          </a:xfrm>
          <a:prstGeom prst="ellipse">
            <a:avLst/>
          </a:prstGeom>
          <a:solidFill>
            <a:srgbClr val="FF385C"/>
          </a:solidFill>
          <a:ln/>
        </p:spPr>
        <p:txBody>
          <a:bodyPr/>
          <a:lstStyle/>
          <a:p>
            <a:endParaRPr lang="en-US"/>
          </a:p>
        </p:txBody>
      </p:sp>
      <p:sp>
        <p:nvSpPr>
          <p:cNvPr id="14" name="Text 10"/>
          <p:cNvSpPr/>
          <p:nvPr/>
        </p:nvSpPr>
        <p:spPr>
          <a:xfrm>
            <a:off x="75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Layer explanations and comparables onto Smart Pricing.</a:t>
            </a:r>
            <a:endParaRPr lang="en-US" sz="1100"/>
          </a:p>
        </p:txBody>
      </p:sp>
      <p:sp>
        <p:nvSpPr>
          <p:cNvPr id="17" name="Shape 13"/>
          <p:cNvSpPr/>
          <p:nvPr/>
        </p:nvSpPr>
        <p:spPr>
          <a:xfrm>
            <a:off x="431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395728"/>
            <a:ext cx="566928" cy="566928"/>
          </a:xfrm>
          <a:prstGeom prst="ellipse">
            <a:avLst/>
          </a:prstGeom>
          <a:solidFill>
            <a:srgbClr val="FF385C"/>
          </a:solidFill>
          <a:ln/>
        </p:spPr>
        <p:txBody>
          <a:bodyPr/>
          <a:lstStyle/>
          <a:p>
            <a:endParaRPr lang="en-US"/>
          </a:p>
        </p:txBody>
      </p:sp>
      <p:sp>
        <p:nvSpPr>
          <p:cNvPr id="19" name="Text 15"/>
          <p:cNvSpPr/>
          <p:nvPr/>
        </p:nvSpPr>
        <p:spPr>
          <a:xfrm>
            <a:off x="456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90288"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Measure adoption, and how price moves occupancy and revenue.</a:t>
            </a:r>
            <a:endParaRPr lang="en-US" sz="1100"/>
          </a:p>
        </p:txBody>
      </p:sp>
      <p:sp>
        <p:nvSpPr>
          <p:cNvPr id="22" name="Shape 18"/>
          <p:cNvSpPr/>
          <p:nvPr/>
        </p:nvSpPr>
        <p:spPr>
          <a:xfrm>
            <a:off x="812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395728"/>
            <a:ext cx="566928" cy="566928"/>
          </a:xfrm>
          <a:prstGeom prst="ellipse">
            <a:avLst/>
          </a:prstGeom>
          <a:solidFill>
            <a:srgbClr val="FF385C"/>
          </a:solidFill>
          <a:ln/>
        </p:spPr>
        <p:txBody>
          <a:bodyPr/>
          <a:lstStyle/>
          <a:p>
            <a:endParaRPr lang="en-US"/>
          </a:p>
        </p:txBody>
      </p:sp>
      <p:sp>
        <p:nvSpPr>
          <p:cNvPr id="24" name="Text 20"/>
          <p:cNvSpPr/>
          <p:nvPr/>
        </p:nvSpPr>
        <p:spPr>
          <a:xfrm>
            <a:off x="837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4192"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Use real results to improve the model before expanding.</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5"/>
          <p:cNvSpPr/>
          <p:nvPr/>
        </p:nvSpPr>
        <p:spPr>
          <a:xfrm>
            <a:off x="777240" y="4343400"/>
            <a:ext cx="548640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46320"/>
            <a:ext cx="6537960" cy="105156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a:effectLst/>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4983480"/>
            <a:ext cx="3474720" cy="566928"/>
          </a:xfrm>
          <a:prstGeom prst="rect">
            <a:avLst/>
          </a:prstGeom>
          <a:noFill/>
          <a:ln/>
        </p:spPr>
        <p:txBody>
          <a:bodyPr wrap="square" lIns="0" tIns="0" rIns="0" bIns="0" rtlCol="0" anchor="ctr"/>
          <a:lstStyle/>
          <a:p>
            <a:pPr marL="0" indent="0">
              <a:buNone/>
            </a:pPr>
            <a:r>
              <a:rPr lang="en-US" sz="150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96128"/>
            <a:ext cx="3566160" cy="38404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GitHub: mkdn007/Cornell-Airbnb-Capstone</a:t>
            </a:r>
            <a:endParaRPr lang="en-US" sz="1000"/>
          </a:p>
        </p:txBody>
      </p:sp>
      <p:sp>
        <p:nvSpPr>
          <p:cNvPr id="36"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w="9525">
            <a:solidFill>
              <a:srgbClr val="DDDDDD"/>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200" b="1">
                <a:solidFill>
                  <a:srgbClr val="FFFFFF"/>
                </a:solidFill>
                <a:latin typeface="Poppins" pitchFamily="34" charset="0"/>
                <a:ea typeface="Poppins" pitchFamily="34" charset="-122"/>
                <a:cs typeface="Poppins" pitchFamily="34" charset="-120"/>
              </a:rPr>
              <a:t>BACKUP</a:t>
            </a:r>
            <a:endParaRPr lang="en-US" sz="6000"/>
          </a:p>
        </p:txBody>
      </p:sp>
      <p:sp>
        <p:nvSpPr>
          <p:cNvPr id="8" name="Text 3"/>
          <p:cNvSpPr/>
          <p:nvPr/>
        </p:nvSpPr>
        <p:spPr>
          <a:xfrm>
            <a:off x="804672" y="3108960"/>
            <a:ext cx="9601200" cy="658368"/>
          </a:xfrm>
          <a:prstGeom prst="rect">
            <a:avLst/>
          </a:prstGeom>
          <a:noFill/>
          <a:ln/>
        </p:spPr>
        <p:txBody>
          <a:bodyPr wrap="square" lIns="0" tIns="0" rIns="0" bIns="0" rtlCol="0" anchor="ctr"/>
          <a:lstStyle/>
          <a:p>
            <a:pPr marL="0" indent="0">
              <a:buNone/>
            </a:pPr>
            <a:r>
              <a:rPr lang="en-US" sz="1900">
                <a:solidFill>
                  <a:srgbClr val="FFFFFF">
                    <a:alpha val="92000"/>
                  </a:srgbClr>
                </a:solidFill>
                <a:latin typeface="Poppins" pitchFamily="34" charset="0"/>
                <a:ea typeface="Poppins" pitchFamily="34" charset="-122"/>
                <a:cs typeface="Poppins" pitchFamily="34" charset="-120"/>
              </a:rPr>
              <a:t>Not presented; held in reserve to answer questions. The full technical write-up lives in the appendix document.</a:t>
            </a:r>
            <a:endParaRPr lang="en-US" sz="17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0" name="Shape 14"/>
          <p:cNvSpPr/>
          <p:nvPr/>
        </p:nvSpPr>
        <p:spPr>
          <a:xfrm>
            <a:off x="35478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2" name="Shape 18"/>
          <p:cNvSpPr/>
          <p:nvPr/>
        </p:nvSpPr>
        <p:spPr>
          <a:xfrm>
            <a:off x="90342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3" name="Shape 16"/>
          <p:cNvSpPr/>
          <p:nvPr/>
        </p:nvSpPr>
        <p:spPr>
          <a:xfrm>
            <a:off x="62910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21"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B6  The adoption ramp</a:t>
            </a:r>
            <a:endParaRPr lang="en-US" sz="1100"/>
          </a:p>
        </p:txBody>
      </p:sp>
      <p:sp>
        <p:nvSpPr>
          <p:cNvPr id="24" name="Text 19"/>
          <p:cNvSpPr/>
          <p:nvPr/>
        </p:nvSpPr>
        <p:spPr>
          <a:xfrm>
            <a:off x="91714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B8  Market opportunity</a:t>
            </a:r>
            <a:endParaRPr lang="en-US" sz="1100"/>
          </a:p>
        </p:txBody>
      </p:sp>
      <p:sp>
        <p:nvSpPr>
          <p:cNvPr id="25" name="Text 17"/>
          <p:cNvSpPr/>
          <p:nvPr/>
        </p:nvSpPr>
        <p:spPr>
          <a:xfrm>
            <a:off x="64282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B7  Why not already</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extLst>
              <p:ext uri="{D42A27DB-BD31-4B8C-83A1-F6EECF244321}">
                <p14:modId xmlns:p14="http://schemas.microsoft.com/office/powerpoint/2010/main" val="1013248168"/>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12333">
                  <a:extLst>
                    <a:ext uri="{9D8B030D-6E8A-4147-A177-3AD203B41FA5}">
                      <a16:colId xmlns:a16="http://schemas.microsoft.com/office/drawing/2014/main" val="20002"/>
                    </a:ext>
                  </a:extLst>
                </a:gridCol>
                <a:gridCol w="1388534">
                  <a:extLst>
                    <a:ext uri="{9D8B030D-6E8A-4147-A177-3AD203B41FA5}">
                      <a16:colId xmlns:a16="http://schemas.microsoft.com/office/drawing/2014/main" val="20003"/>
                    </a:ext>
                  </a:extLst>
                </a:gridCol>
                <a:gridCol w="1244600">
                  <a:extLst>
                    <a:ext uri="{9D8B030D-6E8A-4147-A177-3AD203B41FA5}">
                      <a16:colId xmlns:a16="http://schemas.microsoft.com/office/drawing/2014/main" val="20004"/>
                    </a:ext>
                  </a:extLst>
                </a:gridCol>
                <a:gridCol w="2939965">
                  <a:extLst>
                    <a:ext uri="{9D8B030D-6E8A-4147-A177-3AD203B41FA5}">
                      <a16:colId xmlns:a16="http://schemas.microsoft.com/office/drawing/2014/main" val="20005"/>
                    </a:ext>
                  </a:extLst>
                </a:gridCol>
              </a:tblGrid>
              <a:tr h="384048">
                <a:tc>
                  <a:txBody>
                    <a:bodyPr/>
                    <a:lstStyle/>
                    <a:p>
                      <a:pPr marL="0" indent="0" algn="l">
                        <a:buNone/>
                      </a:pPr>
                      <a:r>
                        <a:rPr lang="en-US" sz="13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3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300" b="1">
                <a:solidFill>
                  <a:srgbClr val="222222"/>
                </a:solidFill>
                <a:latin typeface="Poppins" pitchFamily="34" charset="0"/>
                <a:ea typeface="Poppins" pitchFamily="34" charset="-122"/>
                <a:cs typeface="Poppins" pitchFamily="34" charset="-120"/>
              </a:rPr>
              <a:t>How to read it.  </a:t>
            </a:r>
            <a:r>
              <a:rPr lang="en-US" sz="13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73462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26923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1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40280"/>
            <a:ext cx="3685032" cy="370332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40" name="Text 35"/>
          <p:cNvSpPr/>
          <p:nvPr/>
        </p:nvSpPr>
        <p:spPr>
          <a:xfrm>
            <a:off x="9006840" y="2487168"/>
            <a:ext cx="2560320" cy="566928"/>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127248"/>
            <a:ext cx="3200400" cy="1298448"/>
          </a:xfrm>
          <a:prstGeom prst="rect">
            <a:avLst/>
          </a:prstGeom>
          <a:noFill/>
          <a:ln/>
        </p:spPr>
        <p:txBody>
          <a:bodyPr wrap="square" lIns="0" tIns="0" rIns="0" bIns="0" rtlCol="0" anchor="t"/>
          <a:lstStyle/>
          <a:p>
            <a:pPr marL="0" indent="0">
              <a:lnSpc>
                <a:spcPct val="106000"/>
              </a:lnSpc>
              <a:buNone/>
            </a:pPr>
            <a:r>
              <a:rPr lang="en-US" sz="14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526280"/>
            <a:ext cx="3200400" cy="1325880"/>
          </a:xfrm>
          <a:prstGeom prst="rect">
            <a:avLst/>
          </a:prstGeom>
          <a:noFill/>
          <a:ln/>
        </p:spPr>
        <p:txBody>
          <a:bodyPr wrap="square" lIns="0" tIns="0" rIns="0" bIns="0" rtlCol="0" anchor="t"/>
          <a:lstStyle/>
          <a:p>
            <a:pPr marL="0" indent="0">
              <a:lnSpc>
                <a:spcPct val="106000"/>
              </a:lnSpc>
              <a:buNone/>
            </a:pPr>
            <a:r>
              <a:rPr lang="en-US" sz="1450" b="1">
                <a:solidFill>
                  <a:srgbClr val="222222"/>
                </a:solidFill>
                <a:latin typeface="Poppins" pitchFamily="34" charset="0"/>
                <a:ea typeface="Poppins" pitchFamily="34" charset="-122"/>
                <a:cs typeface="Poppins" pitchFamily="34" charset="-120"/>
              </a:rPr>
              <a:t>At −1.0 the answer is zero by algebra. </a:t>
            </a:r>
            <a:r>
              <a:rPr lang="en-US" sz="14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≥142 REVIEWS</a:t>
            </a:r>
          </a:p>
        </p:txBody>
      </p:sp>
      <p:sp>
        <p:nvSpPr>
          <p:cNvPr id="45" name="TextBox 44"/>
          <p:cNvSpPr txBox="1"/>
          <p:nvPr/>
        </p:nvSpPr>
        <p:spPr>
          <a:xfrm>
            <a:off x="932688" y="3063240"/>
            <a:ext cx="2743200" cy="475488"/>
          </a:xfrm>
          <a:prstGeom prst="rect">
            <a:avLst/>
          </a:prstGeom>
          <a:noFill/>
        </p:spPr>
        <p:txBody>
          <a:bodyPr wrap="square" lIns="0" tIns="0" rIns="0" bIns="0">
            <a:spAutoFit/>
          </a:bodyPr>
          <a:lstStyle/>
          <a:p>
            <a:pPr algn="l"/>
            <a:r>
              <a:rPr sz="2700" b="1">
                <a:solidFill>
                  <a:srgbClr val="222222"/>
                </a:solidFill>
                <a:latin typeface="Poppins"/>
              </a:rPr>
              <a:t>488</a:t>
            </a:r>
          </a:p>
        </p:txBody>
      </p:sp>
      <p:sp>
        <p:nvSpPr>
          <p:cNvPr id="46" name="TextBox 45"/>
          <p:cNvSpPr txBox="1"/>
          <p:nvPr/>
        </p:nvSpPr>
        <p:spPr>
          <a:xfrm>
            <a:off x="93268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p>
        </p:txBody>
      </p:sp>
      <p:sp>
        <p:nvSpPr>
          <p:cNvPr id="47" name="TextBox 46"/>
          <p:cNvSpPr txBox="1"/>
          <p:nvPr/>
        </p:nvSpPr>
        <p:spPr>
          <a:xfrm>
            <a:off x="932688" y="3931920"/>
            <a:ext cx="2743200" cy="475488"/>
          </a:xfrm>
          <a:prstGeom prst="rect">
            <a:avLst/>
          </a:prstGeom>
          <a:noFill/>
        </p:spPr>
        <p:txBody>
          <a:bodyPr wrap="square" lIns="0" tIns="0" rIns="0" bIns="0">
            <a:spAutoFit/>
          </a:bodyPr>
          <a:lstStyle/>
          <a:p>
            <a:pPr algn="l"/>
            <a:r>
              <a:rPr sz="2700" b="1">
                <a:solidFill>
                  <a:srgbClr val="222222"/>
                </a:solidFill>
                <a:latin typeface="Poppins"/>
              </a:rPr>
              <a:t>−0.92</a:t>
            </a:r>
          </a:p>
        </p:txBody>
      </p:sp>
      <p:sp>
        <p:nvSpPr>
          <p:cNvPr id="48" name="TextBox 47"/>
          <p:cNvSpPr txBox="1"/>
          <p:nvPr/>
        </p:nvSpPr>
        <p:spPr>
          <a:xfrm>
            <a:off x="932688" y="4425696"/>
            <a:ext cx="2743200" cy="292608"/>
          </a:xfrm>
          <a:prstGeom prst="rect">
            <a:avLst/>
          </a:prstGeom>
          <a:noFill/>
        </p:spPr>
        <p:txBody>
          <a:bodyPr wrap="square" lIns="0" tIns="0" rIns="0" bIns="0">
            <a:spAutoFit/>
          </a:bodyPr>
          <a:lstStyle/>
          <a:p>
            <a:pPr algn="l"/>
            <a:r>
              <a:rPr sz="1300" b="0">
                <a:solidFill>
                  <a:srgbClr val="717171"/>
                </a:solidFill>
                <a:latin typeface="Poppins"/>
              </a:rPr>
              <a:t>measured elasticity</a:t>
            </a:r>
            <a:r>
              <a:rPr lang="en-US" sz="1300" b="0">
                <a:solidFill>
                  <a:srgbClr val="717171"/>
                </a:solidFill>
                <a:latin typeface="Poppins"/>
              </a:rPr>
              <a:t>, </a:t>
            </a:r>
            <a:r>
              <a:rPr sz="1300" b="0">
                <a:solidFill>
                  <a:srgbClr val="717171"/>
                </a:solidFill>
                <a:latin typeface="Poppins"/>
              </a:rPr>
              <a:t>applied</a:t>
            </a:r>
          </a:p>
        </p:txBody>
      </p:sp>
      <p:sp>
        <p:nvSpPr>
          <p:cNvPr id="49" name="TextBox 48"/>
          <p:cNvSpPr txBox="1"/>
          <p:nvPr/>
        </p:nvSpPr>
        <p:spPr>
          <a:xfrm>
            <a:off x="932688" y="4800600"/>
            <a:ext cx="2743200" cy="475488"/>
          </a:xfrm>
          <a:prstGeom prst="rect">
            <a:avLst/>
          </a:prstGeom>
          <a:noFill/>
        </p:spPr>
        <p:txBody>
          <a:bodyPr wrap="square" lIns="0" tIns="0" rIns="0" bIns="0">
            <a:spAutoFit/>
          </a:bodyPr>
          <a:lstStyle/>
          <a:p>
            <a:pPr algn="l"/>
            <a:r>
              <a:rPr sz="2700" b="1">
                <a:solidFill>
                  <a:srgbClr val="222222"/>
                </a:solidFill>
                <a:latin typeface="Poppins"/>
              </a:rPr>
              <a:t>+$0.35M</a:t>
            </a:r>
          </a:p>
        </p:txBody>
      </p:sp>
      <p:sp>
        <p:nvSpPr>
          <p:cNvPr id="50" name="TextBox 49"/>
          <p:cNvSpPr txBox="1"/>
          <p:nvPr/>
        </p:nvSpPr>
        <p:spPr>
          <a:xfrm>
            <a:off x="932688" y="5294376"/>
            <a:ext cx="2743200" cy="292608"/>
          </a:xfrm>
          <a:prstGeom prst="rect">
            <a:avLst/>
          </a:prstGeom>
          <a:noFill/>
        </p:spPr>
        <p:txBody>
          <a:bodyPr wrap="square" lIns="0" tIns="0" rIns="0" bIns="0">
            <a:spAutoFit/>
          </a:bodyPr>
          <a:lstStyle/>
          <a:p>
            <a:pPr algn="l"/>
            <a:r>
              <a:rPr sz="1300" b="0">
                <a:solidFill>
                  <a:srgbClr val="717171"/>
                </a:solidFill>
                <a:latin typeface="Poppins"/>
              </a:rPr>
              <a:t>revenue contribution</a:t>
            </a:r>
          </a:p>
        </p:txBody>
      </p:sp>
      <p:sp>
        <p:nvSpPr>
          <p:cNvPr id="51" name="Rounded Rectangle 50"/>
          <p:cNvSpPr/>
          <p:nvPr/>
        </p:nvSpPr>
        <p:spPr>
          <a:xfrm>
            <a:off x="425196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UNDER 142 REVIEWS</a:t>
            </a:r>
          </a:p>
        </p:txBody>
      </p:sp>
      <p:sp>
        <p:nvSpPr>
          <p:cNvPr id="53" name="TextBox 52"/>
          <p:cNvSpPr txBox="1"/>
          <p:nvPr/>
        </p:nvSpPr>
        <p:spPr>
          <a:xfrm>
            <a:off x="4544568" y="3063240"/>
            <a:ext cx="2743200" cy="475488"/>
          </a:xfrm>
          <a:prstGeom prst="rect">
            <a:avLst/>
          </a:prstGeom>
          <a:noFill/>
        </p:spPr>
        <p:txBody>
          <a:bodyPr wrap="square" lIns="0" tIns="0" rIns="0" bIns="0">
            <a:spAutoFit/>
          </a:bodyPr>
          <a:lstStyle/>
          <a:p>
            <a:pPr algn="l"/>
            <a:r>
              <a:rPr sz="2700" b="1">
                <a:solidFill>
                  <a:srgbClr val="222222"/>
                </a:solidFill>
                <a:latin typeface="Poppins"/>
              </a:rPr>
              <a:t>1,511</a:t>
            </a:r>
          </a:p>
        </p:txBody>
      </p:sp>
      <p:sp>
        <p:nvSpPr>
          <p:cNvPr id="54" name="TextBox 53"/>
          <p:cNvSpPr txBox="1"/>
          <p:nvPr/>
        </p:nvSpPr>
        <p:spPr>
          <a:xfrm>
            <a:off x="454456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r>
              <a:rPr lang="en-US" sz="1300" b="0">
                <a:solidFill>
                  <a:srgbClr val="717171"/>
                </a:solidFill>
                <a:latin typeface="Poppins"/>
              </a:rPr>
              <a:t>, </a:t>
            </a:r>
            <a:r>
              <a:rPr sz="1300" b="0">
                <a:solidFill>
                  <a:srgbClr val="717171"/>
                </a:solidFill>
                <a:latin typeface="Poppins"/>
              </a:rPr>
              <a:t>76%</a:t>
            </a:r>
          </a:p>
        </p:txBody>
      </p:sp>
      <p:sp>
        <p:nvSpPr>
          <p:cNvPr id="55" name="TextBox 54"/>
          <p:cNvSpPr txBox="1"/>
          <p:nvPr/>
        </p:nvSpPr>
        <p:spPr>
          <a:xfrm>
            <a:off x="4544568" y="3931920"/>
            <a:ext cx="2743200" cy="475488"/>
          </a:xfrm>
          <a:prstGeom prst="rect">
            <a:avLst/>
          </a:prstGeom>
          <a:noFill/>
        </p:spPr>
        <p:txBody>
          <a:bodyPr wrap="square" lIns="0" tIns="0" rIns="0" bIns="0">
            <a:spAutoFit/>
          </a:bodyPr>
          <a:lstStyle/>
          <a:p>
            <a:pPr algn="l"/>
            <a:r>
              <a:rPr sz="2700" b="1">
                <a:solidFill>
                  <a:srgbClr val="222222"/>
                </a:solidFill>
                <a:latin typeface="Poppins"/>
              </a:rPr>
              <a:t>−1.0</a:t>
            </a:r>
          </a:p>
        </p:txBody>
      </p:sp>
      <p:sp>
        <p:nvSpPr>
          <p:cNvPr id="56" name="TextBox 55"/>
          <p:cNvSpPr txBox="1"/>
          <p:nvPr/>
        </p:nvSpPr>
        <p:spPr>
          <a:xfrm>
            <a:off x="4544568" y="4425696"/>
            <a:ext cx="2743200" cy="292608"/>
          </a:xfrm>
          <a:prstGeom prst="rect">
            <a:avLst/>
          </a:prstGeom>
          <a:noFill/>
        </p:spPr>
        <p:txBody>
          <a:bodyPr wrap="square" lIns="0" tIns="0" rIns="0" bIns="0">
            <a:spAutoFit/>
          </a:bodyPr>
          <a:lstStyle/>
          <a:p>
            <a:pPr algn="l"/>
            <a:r>
              <a:rPr sz="1300" b="0">
                <a:solidFill>
                  <a:srgbClr val="717171"/>
                </a:solidFill>
                <a:latin typeface="Poppins"/>
              </a:rPr>
              <a:t>breakeven assumed</a:t>
            </a:r>
            <a:r>
              <a:rPr lang="en-US" sz="1300" b="0">
                <a:solidFill>
                  <a:srgbClr val="717171"/>
                </a:solidFill>
                <a:latin typeface="Poppins"/>
              </a:rPr>
              <a:t>, </a:t>
            </a:r>
            <a:r>
              <a:rPr sz="1300" b="0">
                <a:solidFill>
                  <a:srgbClr val="717171"/>
                </a:solidFill>
                <a:latin typeface="Poppins"/>
              </a:rPr>
              <a:t>not measured</a:t>
            </a:r>
          </a:p>
        </p:txBody>
      </p:sp>
      <p:sp>
        <p:nvSpPr>
          <p:cNvPr id="57" name="TextBox 56"/>
          <p:cNvSpPr txBox="1"/>
          <p:nvPr/>
        </p:nvSpPr>
        <p:spPr>
          <a:xfrm>
            <a:off x="4544568" y="4800600"/>
            <a:ext cx="2743200" cy="475488"/>
          </a:xfrm>
          <a:prstGeom prst="rect">
            <a:avLst/>
          </a:prstGeom>
          <a:noFill/>
        </p:spPr>
        <p:txBody>
          <a:bodyPr wrap="square" lIns="0" tIns="0" rIns="0" bIns="0">
            <a:spAutoFit/>
          </a:bodyPr>
          <a:lstStyle/>
          <a:p>
            <a:pPr algn="l"/>
            <a:r>
              <a:rPr sz="2700" b="1">
                <a:solidFill>
                  <a:srgbClr val="222222"/>
                </a:solidFill>
                <a:latin typeface="Poppins"/>
              </a:rPr>
              <a:t>$0</a:t>
            </a:r>
          </a:p>
        </p:txBody>
      </p:sp>
      <p:sp>
        <p:nvSpPr>
          <p:cNvPr id="58" name="TextBox 57"/>
          <p:cNvSpPr txBox="1"/>
          <p:nvPr/>
        </p:nvSpPr>
        <p:spPr>
          <a:xfrm>
            <a:off x="4544568" y="5294376"/>
            <a:ext cx="2743200" cy="438912"/>
          </a:xfrm>
          <a:prstGeom prst="rect">
            <a:avLst/>
          </a:prstGeom>
          <a:noFill/>
        </p:spPr>
        <p:txBody>
          <a:bodyPr wrap="square" lIns="0" tIns="0" rIns="0" bIns="0">
            <a:spAutoFit/>
          </a:bodyPr>
          <a:lstStyle/>
          <a:p>
            <a:pPr algn="l"/>
            <a:r>
              <a:rPr sz="1300" b="0">
                <a:solidFill>
                  <a:srgbClr val="717171"/>
                </a:solidFill>
                <a:latin typeface="Poppins"/>
              </a:rPr>
              <a:t>revenue contribution</a:t>
            </a:r>
            <a:r>
              <a:rPr lang="en-US" sz="1300" b="0">
                <a:solidFill>
                  <a:srgbClr val="717171"/>
                </a:solidFill>
                <a:latin typeface="Poppins"/>
              </a:rPr>
              <a:t>, </a:t>
            </a:r>
            <a:r>
              <a:rPr sz="1300" b="0">
                <a:solidFill>
                  <a:srgbClr val="717171"/>
                </a:solidFill>
                <a:latin typeface="Poppins"/>
              </a:rPr>
              <a:t>claimed nothing</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2" name="Text 7"/>
          <p:cNvSpPr/>
          <p:nvPr/>
        </p:nvSpPr>
        <p:spPr>
          <a:xfrm>
            <a:off x="758952"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4572000"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8375904"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19"/>
          <p:cNvSpPr/>
          <p:nvPr/>
        </p:nvSpPr>
        <p:spPr>
          <a:xfrm>
            <a:off x="758952"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3"/>
          <p:cNvSpPr/>
          <p:nvPr/>
        </p:nvSpPr>
        <p:spPr>
          <a:xfrm>
            <a:off x="4572000"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27"/>
          <p:cNvSpPr/>
          <p:nvPr/>
        </p:nvSpPr>
        <p:spPr>
          <a:xfrm>
            <a:off x="8375904"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58413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841248"/>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600">
                <a:solidFill>
                  <a:srgbClr val="717171"/>
                </a:solidFill>
              </a:rPr>
              <a:t>Same ramp drives Slide 2, the financial slides,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xmlns:r="http://schemas.openxmlformats.org/officeDocument/2006/relationships"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0"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21</a:t>
            </a:r>
            <a:endParaRPr lang="en-US" sz="900"/>
          </a:p>
        </p:txBody>
      </p:sp>
      <p:sp>
        <p:nvSpPr>
          <p:cNvPr id="1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42550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B7 · WHY NOT ALREADY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Three reasons, and one real risk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Smart Pricing could do this. It does not.</a:t>
            </a:r>
            <a:endParaRPr lang="en-US" sz="145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22</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serves Airbnb</a:t>
            </a:r>
            <a:endParaRPr lang="en-US" sz="1300"/>
          </a:p>
        </p:txBody>
      </p:sp>
      <p:sp>
        <p:nvSpPr>
          <p:cNvPr id="11" name="Text 7"/>
          <p:cNvSpPr/>
          <p:nvPr/>
        </p:nvSpPr>
        <p:spPr>
          <a:xfrm>
            <a:off x="740664" y="2980944"/>
            <a:ext cx="3105912" cy="109728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Smart Pricing optimises occupancy and conversion, not host revenue.</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invites argument</a:t>
            </a:r>
            <a:endParaRPr lang="en-US" sz="1300"/>
          </a:p>
        </p:txBody>
      </p:sp>
      <p:sp>
        <p:nvSpPr>
          <p:cNvPr id="14" name="Text 10"/>
          <p:cNvSpPr/>
          <p:nvPr/>
        </p:nvSpPr>
        <p:spPr>
          <a:xfrm>
            <a:off x="4550664" y="2980944"/>
            <a:ext cx="3105912" cy="109728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Published logic can be disputed, and reverse-engineered.</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Price-coordination risk</a:t>
            </a:r>
            <a:endParaRPr lang="en-US" sz="1300"/>
          </a:p>
        </p:txBody>
      </p:sp>
      <p:sp>
        <p:nvSpPr>
          <p:cNvPr id="17" name="Text 13"/>
          <p:cNvSpPr/>
          <p:nvPr/>
        </p:nvSpPr>
        <p:spPr>
          <a:xfrm>
            <a:off x="8360664" y="2980944"/>
            <a:ext cx="3105912" cy="109728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Showing peer prices and nudging up resembles the RealPage theory.</a:t>
            </a:r>
            <a:endParaRPr lang="en-US" sz="1080"/>
          </a:p>
        </p:txBody>
      </p:sp>
      <p:sp>
        <p:nvSpPr>
          <p:cNvPr id="18" name="Shape 14"/>
          <p:cNvSpPr/>
          <p:nvPr/>
        </p:nvSpPr>
        <p:spPr>
          <a:xfrm>
            <a:off x="502920" y="4434840"/>
            <a:ext cx="11183112" cy="86868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709160"/>
            <a:ext cx="10607040" cy="411480"/>
          </a:xfrm>
          <a:prstGeom prst="rect">
            <a:avLst/>
          </a:prstGeom>
          <a:noFill/>
          <a:ln/>
        </p:spPr>
        <p:txBody>
          <a:bodyPr wrap="square" lIns="0" tIns="0" rIns="0" bIns="0" rtlCol="0" anchor="ctr"/>
          <a:lstStyle/>
          <a:p>
            <a:pPr marL="0" indent="0">
              <a:buNone/>
            </a:pPr>
            <a:r>
              <a:rPr lang="en-US" sz="1800" b="1">
                <a:solidFill>
                  <a:srgbClr val="222222"/>
                </a:solidFill>
                <a:latin typeface="Poppins" pitchFamily="34" charset="0"/>
                <a:ea typeface="Poppins" pitchFamily="34" charset="-122"/>
                <a:cs typeface="Poppins" pitchFamily="34" charset="-120"/>
              </a:rPr>
              <a:t>Our answer: public prices, both directions, and the host decides.</a:t>
            </a:r>
            <a:endParaRPr lang="en-US" sz="130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B8 · MARKET OPPORTUNITY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What this is worth beyond New York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Scaled on the share of host GBV we recover in NYC.</a:t>
            </a:r>
            <a:endParaRPr lang="en-US" sz="145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23</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42032"/>
            <a:ext cx="3105912" cy="640080"/>
          </a:xfrm>
          <a:prstGeom prst="rect">
            <a:avLst/>
          </a:prstGeom>
          <a:noFill/>
          <a:ln/>
        </p:spPr>
        <p:txBody>
          <a:bodyPr wrap="square" lIns="0" tIns="0" rIns="0" bIns="0" rtlCol="0" anchor="ctr"/>
          <a:lstStyle/>
          <a:p>
            <a:pPr marL="0" indent="0">
              <a:buNone/>
            </a:pPr>
            <a:r>
              <a:rPr lang="en-US" sz="3600" b="1">
                <a:solidFill>
                  <a:srgbClr val="222222"/>
                </a:solidFill>
                <a:latin typeface="Poppins" pitchFamily="34" charset="0"/>
                <a:ea typeface="Poppins" pitchFamily="34" charset="-122"/>
                <a:cs typeface="Poppins" pitchFamily="34" charset="-120"/>
              </a:rPr>
              <a:t>2.34%</a:t>
            </a:r>
            <a:endParaRPr lang="en-US" sz="1300"/>
          </a:p>
        </p:txBody>
      </p:sp>
      <p:sp>
        <p:nvSpPr>
          <p:cNvPr id="11" name="Text 7"/>
          <p:cNvSpPr/>
          <p:nvPr/>
        </p:nvSpPr>
        <p:spPr>
          <a:xfrm>
            <a:off x="74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of host GBV recovered in NYC</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42032"/>
            <a:ext cx="3105912" cy="640080"/>
          </a:xfrm>
          <a:prstGeom prst="rect">
            <a:avLst/>
          </a:prstGeom>
          <a:noFill/>
          <a:ln/>
        </p:spPr>
        <p:txBody>
          <a:bodyPr wrap="square" lIns="0" tIns="0" rIns="0" bIns="0" rtlCol="0" anchor="ctr"/>
          <a:lstStyle/>
          <a:p>
            <a:pPr marL="0" indent="0">
              <a:buNone/>
            </a:pPr>
            <a:r>
              <a:rPr lang="en-US" sz="3600" b="1">
                <a:solidFill>
                  <a:srgbClr val="FF385C"/>
                </a:solidFill>
                <a:latin typeface="Poppins" pitchFamily="34" charset="0"/>
                <a:ea typeface="Poppins" pitchFamily="34" charset="-122"/>
                <a:cs typeface="Poppins" pitchFamily="34" charset="-120"/>
              </a:rPr>
              <a:t>~$55M</a:t>
            </a:r>
            <a:endParaRPr lang="en-US" sz="1300"/>
          </a:p>
        </p:txBody>
      </p:sp>
      <p:sp>
        <p:nvSpPr>
          <p:cNvPr id="14" name="Text 10"/>
          <p:cNvSpPr/>
          <p:nvPr/>
        </p:nvSpPr>
        <p:spPr>
          <a:xfrm>
            <a:off x="455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North America, at 42% adoption</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42032"/>
            <a:ext cx="3105912" cy="640080"/>
          </a:xfrm>
          <a:prstGeom prst="rect">
            <a:avLst/>
          </a:prstGeom>
          <a:noFill/>
          <a:ln/>
        </p:spPr>
        <p:txBody>
          <a:bodyPr wrap="square" lIns="0" tIns="0" rIns="0" bIns="0" rtlCol="0" anchor="ctr"/>
          <a:lstStyle/>
          <a:p>
            <a:pPr marL="0" indent="0">
              <a:buNone/>
            </a:pPr>
            <a:r>
              <a:rPr lang="en-US" sz="3600" b="1">
                <a:solidFill>
                  <a:srgbClr val="007A73"/>
                </a:solidFill>
                <a:latin typeface="Poppins" pitchFamily="34" charset="0"/>
                <a:ea typeface="Poppins" pitchFamily="34" charset="-122"/>
                <a:cs typeface="Poppins" pitchFamily="34" charset="-120"/>
              </a:rPr>
              <a:t>~$139M</a:t>
            </a:r>
            <a:endParaRPr lang="en-US" sz="1300"/>
          </a:p>
        </p:txBody>
      </p:sp>
      <p:sp>
        <p:nvSpPr>
          <p:cNvPr id="17" name="Text 13"/>
          <p:cNvSpPr/>
          <p:nvPr/>
        </p:nvSpPr>
        <p:spPr>
          <a:xfrm>
            <a:off x="836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global, at 42% adoption</a:t>
            </a:r>
            <a:endParaRPr lang="en-US" sz="1080"/>
          </a:p>
        </p:txBody>
      </p:sp>
      <p:sp>
        <p:nvSpPr>
          <p:cNvPr id="18" name="Shape 14"/>
          <p:cNvSpPr/>
          <p:nvPr/>
        </p:nvSpPr>
        <p:spPr>
          <a:xfrm>
            <a:off x="502920" y="4434840"/>
            <a:ext cx="11183112" cy="123444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663440"/>
            <a:ext cx="10607040" cy="411480"/>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Treat as a ceiling. NYC's long-stay mix is a regulatory artifact, and it carries our number.</a:t>
            </a:r>
            <a:endParaRPr lang="en-US" sz="1300"/>
          </a:p>
        </p:txBody>
      </p:sp>
      <p:sp>
        <p:nvSpPr>
          <p:cNvPr id="20" name="Text 16"/>
          <p:cNvSpPr/>
          <p:nvPr/>
        </p:nvSpPr>
        <p:spPr>
          <a:xfrm>
            <a:off x="777240" y="5138928"/>
            <a:ext cx="10607040" cy="365760"/>
          </a:xfrm>
          <a:prstGeom prst="rect">
            <a:avLst/>
          </a:prstGeom>
          <a:noFill/>
          <a:ln/>
        </p:spPr>
        <p:txBody>
          <a:bodyPr wrap="square" lIns="0" tIns="0" rIns="0" bIns="0" rtlCol="0" anchor="t"/>
          <a:lstStyle/>
          <a:p>
            <a:pPr marL="0" indent="0">
              <a:lnSpc>
                <a:spcPct val="105000"/>
              </a:lnSpc>
              <a:buNone/>
            </a:pPr>
            <a:r>
              <a:rPr lang="en-US" sz="1300">
                <a:solidFill>
                  <a:srgbClr val="484848"/>
                </a:solidFill>
                <a:latin typeface="Poppins" pitchFamily="34" charset="0"/>
                <a:ea typeface="Poppins" pitchFamily="34" charset="-122"/>
                <a:cs typeface="Poppins" pitchFamily="34" charset="-120"/>
              </a:rPr>
              <a:t>Airbnb FY2025: $91.3B gross booking value; North America ~42% of revenue.</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14</TotalTime>
  <Words>5883</Words>
  <Application>Microsoft Office PowerPoint</Application>
  <PresentationFormat>Widescreen</PresentationFormat>
  <Paragraphs>467</Paragraphs>
  <Slides>23</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Calibri</vt:lpstr>
      <vt:lpstr>Aptos</vt:lpstr>
      <vt:lpstr>Arial</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11</cp:revision>
  <dcterms:created xsi:type="dcterms:W3CDTF">2026-07-29T22:50:08Z</dcterms:created>
  <dcterms:modified xsi:type="dcterms:W3CDTF">2026-08-06T18:20:51Z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