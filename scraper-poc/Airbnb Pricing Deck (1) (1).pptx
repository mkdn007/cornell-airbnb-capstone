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4" r:id="rId18"/>
    <p:sldId id="277" r:id="rId19"/>
    <p:sldId id="278" r:id="rId20"/>
    <p:sldId id="276" r:id="rId21"/>
  </p:sldIdLst>
  <p:sldSz cx="12192000" cy="6858000"/>
  <p:notesSz cx="6858000" cy="12192000"/>
  <p:embeddedFontLst>
    <p:embeddedFont>
      <p:font typeface="Poppins" panose="00000500000000000000" pitchFamily="2" charset="0"/>
      <p:regular r:id="rId23"/>
      <p:bold r:id="rId24"/>
      <p:italic r:id="rId25"/>
      <p:boldItalic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459766-7F3D-414A-BF06-80034270BD7A}" v="1" dt="2026-08-01T13:59:40.7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664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Brendan (~45s).
"Good afternoon everyone, and thank you for being here. We're Team 6, and today we'll present our capstone project, Airbnb Pricing Intelligence. Over the past few months we've looked at one question that sounds simple but is genuinely hard: how do you know if an Airbnb listing is priced correctly? The deeper we dug, the clearer it got that this isn't only a machine-learning </a:t>
            </a:r>
            <a:r>
              <a:rPr lang="en-US"/>
              <a:t>problem ,  </a:t>
            </a:r>
            <a:r>
              <a:rPr lang="en-US" dirty="0"/>
              <a:t>it's a business problem and a trust problem. Today we'll walk you through what we found, how we approached it, the product we built, and the impact it could have for Airbnb and its hosts."
TRANSITION: "So let's start with the problem we set out to solve." [Brendan continues to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Brendan (~1.5 min).
"Most Airbnb hosts want to maximize revenue, but pricing isn't easy. Some price on experience, some copy nearby listings, some use Airbnb's Smart Pricing. The catch: Smart Pricing gives a recommendation but doesn't really explain </a:t>
            </a:r>
            <a:r>
              <a:rPr lang="en-US"/>
              <a:t>why ,  </a:t>
            </a:r>
            <a:r>
              <a:rPr lang="en-US" dirty="0"/>
              <a:t>you're expected to trust a number without knowing which comparable listings were used, what features drove it, or whether you have room to charge more. So we asked: could we build a pricing tool that not only predicts a fair price, but helps hosts understand and trust it? Our answer combines machine learning with comparable listings, pricing insights, and an interactive dashboard. The goal isn't to replace Smart </a:t>
            </a:r>
            <a:r>
              <a:rPr lang="en-US"/>
              <a:t>Pricing ,  </a:t>
            </a:r>
            <a:r>
              <a:rPr lang="en-US" dirty="0"/>
              <a:t>it's to make it transparent and easy to act on."
TRANSITION: "Before we show how we built it, let's look at why this problem exists. I'll hand to Jai." [Hand to Jai]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Jai (~1.5 min).
"Airbnb is one of the largest marketplaces in the world, connecting millions of guests with millions of hosts. Pricing matters to both sides: guests want competitive prices, hosts want to maximize revenue without pricing themselves out. Airbnb helps through Smart Pricing, but from a host's view there's still a missing </a:t>
            </a:r>
            <a:r>
              <a:rPr lang="en-US"/>
              <a:t>piece ,  </a:t>
            </a:r>
            <a:r>
              <a:rPr lang="en-US" dirty="0"/>
              <a:t>you get a recommended price but don't know where it came from. There's little transparency, so some hosts ignore it and others follow it blindly. So instead of asking whether we could build another pricing model, we asked something different: can we help hosts make better pricing decisions by combining accurate recommendations with clear explanations and real market comparisons? That became our focus."
TRANSITION: "To answer that, the first step was finding the right data." [Jai continues to Slide 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Jai (~1.5 min).
"We intentionally focused on New York City. Rather than model Airbnb's entire global marketplace, we wanted one market where we could build, test and evaluate. We used the public Inside Airbnb </a:t>
            </a:r>
            <a:r>
              <a:rPr lang="en-US"/>
              <a:t>dataset ,  </a:t>
            </a:r>
            <a:r>
              <a:rPr lang="en-US" dirty="0"/>
              <a:t>nearly 9,800 active listings with nightly price, availability, reviews, amenities, location and host characteristics. We cleaned the data, handled missing values, engineered features, and prepared it for analysis. Then, importantly, we didn't jump straight into machine </a:t>
            </a:r>
            <a:r>
              <a:rPr lang="en-US"/>
              <a:t>learning ,  </a:t>
            </a:r>
            <a:r>
              <a:rPr lang="en-US" dirty="0"/>
              <a:t>we first wanted to understand the data: which variables mattered, what relationships already existed, and what they told us about how listings are priced. That's where our exploratory analysis began."
TRANSITION: "And that brings us to the first insights in the data. I'll hand to Rachael." [Hand to Rachael]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Rachael (~1.5 min).
"Before building any models, we wanted to understand what drives price. We looked at location, property type, bedrooms and bathrooms, amenities, host experience, review scores and availability. Some variables matter far more than others: Manhattan listings command much higher rates than the outer boroughs, entire homes price above private rooms, and quality signals like cleanliness and self check-in carry clear premiums. But the big realization was that no single feature explains price on its </a:t>
            </a:r>
            <a:r>
              <a:rPr lang="en-US"/>
              <a:t>own ,  </a:t>
            </a:r>
            <a:r>
              <a:rPr lang="en-US" dirty="0"/>
              <a:t>two listings can look almost identical and still charge very different prices. Pricing is driven by a combination of factors working together, which gave us confidence that a machine-learning approach would beat a simple formula."
TRANSITION: "Once we understood the variables, we wanted to see how hosts were actually performing." [Rachael continues to Slide 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Rachael (~1.5 min).
"One of the most interesting relationships was between host quality and occupancy. More experienced, highly reviewed hosts maintain noticeably higher </a:t>
            </a:r>
            <a:r>
              <a:rPr lang="en-US"/>
              <a:t>occupancy ,  </a:t>
            </a:r>
            <a:r>
              <a:rPr lang="en-US" dirty="0"/>
              <a:t>listings with 51+ reviews average about 42% occupancy versus 34% for those with under ten, and superhosts run higher than regular hosts. That tells us pricing isn't the only thing driving </a:t>
            </a:r>
            <a:r>
              <a:rPr lang="en-US"/>
              <a:t>demand ,  </a:t>
            </a:r>
            <a:r>
              <a:rPr lang="en-US" dirty="0"/>
              <a:t>reviews, reputation and listing quality matter too, so we shouldn't treat price as the only lever. We also saw that some listings were priced close to what we'd expect while others were clearly above or below similar properties. That raised the real question: instead of asking whether a listing is expensive or cheap, could we estimate what a fair market price should be? Answering that became the focus of our model."
TRANSITION: "So we moved from exploration to building the product itself. Over to Manas." [Hand to Manas]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Manas (~1.5 min).
"Our goal wasn't to build another pricing </a:t>
            </a:r>
            <a:r>
              <a:rPr lang="en-US"/>
              <a:t>calculator ,  </a:t>
            </a:r>
            <a:r>
              <a:rPr lang="en-US" dirty="0"/>
              <a:t>Airbnb already has one. It was to help hosts understand the recommendation they're given. If someone tells you to change your price, your first question is usually 'why?' Our product answers that: instead of a single number, it gives a recommended fair value, shows comparable listings that support it, highlights amenity differences, and lets the host explore how changing price could affect revenue. One idea from our coach really shaped </a:t>
            </a:r>
            <a:r>
              <a:rPr lang="en-US"/>
              <a:t>this ,  </a:t>
            </a:r>
            <a:r>
              <a:rPr lang="en-US" dirty="0"/>
              <a:t>Commander's Intent: people make better decisions when they understand the reasoning, not when they're just told what to do. That applies perfectly here. So the product isn't only about predicting a </a:t>
            </a:r>
            <a:r>
              <a:rPr lang="en-US"/>
              <a:t>price ,  </a:t>
            </a:r>
            <a:r>
              <a:rPr lang="en-US" dirty="0"/>
              <a:t>it's about helping hosts price with confidence."
TRANSITION: "Of course, that only works if the recommendation is </a:t>
            </a:r>
            <a:r>
              <a:rPr lang="en-US"/>
              <a:t>accurate ,  </a:t>
            </a:r>
            <a:r>
              <a:rPr lang="en-US" dirty="0"/>
              <a:t>so next I'll walk through how we generated it." [Manas continues to Slide 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Manas (~2 min).
"To estimate fair market value we used a Gradient Boosting Machine, a GBM, because it performs well when many variables interact. Unlike a simple regression it captures nonlinear relationships between location, amenities, property type and host, and for each listing it predicts a fair price with a confidence interval. We did not want a black box, so alongside it we used a K-nearest-neighbors model to find similar listings, which lets us show hosts the comparable properties and amenities behind the price. It is also about twice as accurate as a plain regression. One important nuance on the split: about half of listings read underpriced and about half overpriced, but the two halves are NOT symmetric. Because demand is close to unit-elastic, cutting price on the overpriced side is actually revenue-negative for the host, so we treat that half as a fairness and peer-benchmarking signal, not a second revenue lever. The real revenue opportunity is the underpriced side, and Jai will show the elasticity work that proves it."
TRANSITION: "First let me walk you through the dashboard itself." [Manas continues to Slide 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Manas, PRE-RECORDED WALKTHROUGH (~2 min). We play a short pre-recorded clip of the dashboard (built by Rachael in Tableau), narrated live. Keep it to two or three moves so the story stays clear: the recommendation, why it is there, and what happens if the host acts.
1) Open a single listing and show its recommended fair value with the confidence interval around it.
2) Show the comparable listings the model surfaced, and point out how their amenities differ from this one.
3) Show whether the listing is priced above or below fair value, then move the slider to show how changing the nightly price changes projected revenue.
"So in just a few clicks, a host sees the recommendation, the comparable listings behind it, and what happens to their revenue if they act on it."
TRANSITION: "That is the product. But it only creates value if moving the price actually makes money, so I will hand to Jai for the piece that connects price to revenue." [Hand to Jai]
BACKUP: if the recording fails to play, present this slide as the walkthrough.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Jai (~1.5–2 min). This is our strongest analytical piece, so slow down.
"The model tells a host their fair price, but does moving toward it actually make money? To answer that we needed the price elasticity of demand, and we measured it directly. Using a third-party occupancy panel, we ran a two-way fixed-effects regression, controlling for each listing and each month, and got an elasticity of −0.92, with a 95% confidence interval of −1.30 to −0.54. In plain terms: a 1% price increase is associated with about a 0.92% drop in occupancy. Here is why that number is the whole game. Revenue elasticity is one plus beta, which is about 0.08, so demand is almost exactly unit-elastic. The breakeven is minus one: below it, cutting price wins; above it, raising price wins. Our estimate sits just on the inelastic side, which is why raising underpriced listings adds revenue while cutting overpriced ones is basically a wash for the host. Honest caveat: this is a 64-listing short-stay pilot of established listings, and the monthly segment was statistically insignificant so we hold it occupancy-neutral. Getting the full AirROI panel is our number-one data ask."
TRANSITION: "That measured elasticity is what lets Francois put an honest dollar figure on the opportunity." [Hand to Francois]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Francois (~1.5 min).
"Now the money, and we lead with the conservative floor, every assumption rounded against us. On the measured −0.92 elasticity, the underpriced opportunity is about $7.6M in host gross booking value a year. Airbnb monetizes 15.5% of that, so roughly $1.17M a year in incremental fees. That is our headline floor. The occupancy-neutral ceiling, if prices moved with no demand response, is about $4.15M in fees from roughly $26.8M in GBV, and we show that as upside, not the headline. On cost, the important move is that we cost this as an incremental feature on infrastructure Airbnb already owns, not a greenfield rebuild: about $65K of one-time engineering and about $30K a year to run, roughly $215K over five years. For honesty we also show the full standalone greenfield figure, about $190K plus $105K a year, but only as a worst-case."
TRANSITION: "So does that pay back? Yes, and fast." [Francois continues to Slide 12]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Francois (~1.5 min).
"Does it pay back? We ran the ROI on the conservative $1.17M fee floor against the incremental cost, presented as an adoption sensitivity rather than one invented adoption number. Read the middle rows, our conservative and expected cases: at 25% adoption it pays back in about four months and returns roughly 580% over five years; at 35% it is about three months and 850%. Even at a pessimistic 15% it clears 300% and pays back in about six months. And we are honest about time value: we discount at 10%, so the five-year net of $5.63M nominal becomes $4.26M in present value, about a 24% haircut, and it is still net-positive in Year 1. Separately, repricing the overpriced side fills about 77,606 booked nights a year. That is close to revenue-neutral for hosts but real liquidity and retention for Airbnb, and it is already baked into the floor."
TRANSITION: "Now, what our model can and cannot tell us." [Francois continues to Slide 13]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Francois (~1.5 min).
"We front-load our limits because it builds credibility. First, the elasticity is a pilot: β=−0.92 is measured on a 64-listing short-stay panel of established hosts, so the honest next step is the full AirROI panel to confirm it across every segment and review tier. Second, the monthly segment's elasticity came back statistically insignificant, so we hold it occupancy-neutral rather than invent a number, which keeps the floor conservative. Third, we are NYC-only, and pricing behavior varies by city, so the coefficients need re-fitting per market. And fourth, we do not have Airbnb's internal booking, churn, or lifetime-value data, so the retention and liquidity upside stays unpriced. That is exactly why we call this decision support, not a replacement for host judgment."
TRANSITION: "So with those limits in mind, what would we actually recommend Airbnb do?" [Francois continues to Slide 14]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Francois (~1.5 min), then team fields Q&amp;A.
"Our recommendation isn't to replace Smart </a:t>
            </a:r>
            <a:r>
              <a:rPr lang="en-US"/>
              <a:t>Pricing ,  </a:t>
            </a:r>
            <a:r>
              <a:rPr lang="en-US" dirty="0"/>
              <a:t>it's to build on it. The opportunity isn't simply another price recommendation; it's helping hosts understand, trust and act on it. As a next step we'd launch this as a pilot in a single market, measuring how hosts interact with the platform, how often they adopt the recommendations, and how pricing changes influence occupancy and revenue. Those real-world results would let Airbnb keep improving the model before expanding to more cities. Looking back, the biggest lesson is that successful analytics isn't just about accurate </a:t>
            </a:r>
            <a:r>
              <a:rPr lang="en-US"/>
              <a:t>models ,  </a:t>
            </a:r>
            <a:r>
              <a:rPr lang="en-US" dirty="0"/>
              <a:t>it's about solving the right business problem and presenting insights people are willing to use. For us this project combined machine learning, product thinking, business strategy and data storytelling. Thank you for your </a:t>
            </a:r>
            <a:r>
              <a:rPr lang="en-US"/>
              <a:t>time ,  </a:t>
            </a:r>
            <a:r>
              <a:rPr lang="en-US" dirty="0"/>
              <a:t>we'd be happy to take questions."
Q&amp;A: Brendan moderates; each owner takes their section. Appendix has the model bake-off, coefficients, financial assumptions, methodology and glossary.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  </a:t>
            </a:r>
            <a:r>
              <a:rPr lang="en-US" dirty="0"/>
              <a:t>reference only. Jump here during Q&amp;A as needed.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Rachael (~1.5 min).
"Before building any models, we wanted to understand what drives price. We looked at location, property type, bedrooms and bathrooms, amenities, host experience, review scores and availability. Some variables matter far more than others: Manhattan listings command much higher rates than the outer boroughs, entire homes price above private rooms, and quality signals like cleanliness and self check-in carry clear premiums. But the big realization was that no single feature explains price on its </a:t>
            </a:r>
            <a:r>
              <a:rPr lang="en-US"/>
              <a:t>own ,  </a:t>
            </a:r>
            <a:r>
              <a:rPr lang="en-US" dirty="0"/>
              <a:t>two listings can look almost identical and still charge very different prices. Pricing is driven by a combination of factors working together, which gave us confidence that a machine-learning approach would beat a simple formula."
TRANSITION: "Once we understood the variables, we wanted to see how hosts were actually performing." [Rachael continues to Slide 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228EB1-0FBA-A0F5-1945-BBB10877C584}"/>
              </a:ext>
            </a:extLst>
          </p:cNvPr>
          <p:cNvSpPr txBox="1"/>
          <p:nvPr userDrawn="1">
            <p:extLst>
              <p:ext uri="{1162E1C5-73C7-4A58-AE30-91384D911F3F}">
                <p184:classification xmlns:p184="http://schemas.microsoft.com/office/powerpoint/2018/4/main" val="ftr"/>
              </p:ext>
            </p:extLst>
          </p:nvPr>
        </p:nvSpPr>
        <p:spPr>
          <a:xfrm>
            <a:off x="5399850" y="6672580"/>
            <a:ext cx="1412875"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C2 - Confidential Business Data</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8.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33.png"/><Relationship Id="rId10"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dreamy-trusting-noether/mnt/outputs/build/assets/bg_coral.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7988521" y="539496"/>
            <a:ext cx="3960858" cy="658368"/>
          </a:xfrm>
          <a:prstGeom prst="roundRect">
            <a:avLst>
              <a:gd name="adj" fmla="val 50000"/>
            </a:avLst>
          </a:prstGeom>
          <a:solidFill>
            <a:srgbClr val="FFFFFF"/>
          </a:solidFill>
          <a:ln/>
          <a:effectLst>
            <a:outerShdw blurRad="101600" dist="25400" dir="5400000" algn="bl" rotWithShape="0">
              <a:srgbClr val="9AA0A6">
                <a:alpha val="16000"/>
              </a:srgbClr>
            </a:outerShdw>
          </a:effectLst>
        </p:spPr>
        <p:txBody>
          <a:bodyPr/>
          <a:lstStyle/>
          <a:p>
            <a:endParaRPr lang="en-US"/>
          </a:p>
        </p:txBody>
      </p:sp>
      <p:pic>
        <p:nvPicPr>
          <p:cNvPr id="4" name="Image 1" descr="/sessions/dreamy-trusting-noether/mnt/outputs/build/assets/cornell_dark.png"/>
          <p:cNvPicPr>
            <a:picLocks noChangeAspect="1"/>
          </p:cNvPicPr>
          <p:nvPr/>
        </p:nvPicPr>
        <p:blipFill>
          <a:blip r:embed="rId4"/>
          <a:stretch>
            <a:fillRect/>
          </a:stretch>
        </p:blipFill>
        <p:spPr>
          <a:xfrm>
            <a:off x="8251868" y="704088"/>
            <a:ext cx="2825173" cy="329184"/>
          </a:xfrm>
          <a:prstGeom prst="rect">
            <a:avLst/>
          </a:prstGeom>
        </p:spPr>
      </p:pic>
      <p:sp>
        <p:nvSpPr>
          <p:cNvPr id="5" name="Shape 1"/>
          <p:cNvSpPr/>
          <p:nvPr/>
        </p:nvSpPr>
        <p:spPr>
          <a:xfrm>
            <a:off x="11167567" y="664586"/>
            <a:ext cx="0" cy="408188"/>
          </a:xfrm>
          <a:prstGeom prst="line">
            <a:avLst/>
          </a:prstGeom>
          <a:noFill/>
          <a:ln w="12700">
            <a:solidFill>
              <a:srgbClr val="D8D8D8"/>
            </a:solidFill>
            <a:prstDash val="solid"/>
          </a:ln>
        </p:spPr>
        <p:txBody>
          <a:bodyPr/>
          <a:lstStyle/>
          <a:p>
            <a:endParaRPr lang="en-US"/>
          </a:p>
        </p:txBody>
      </p:sp>
      <p:pic>
        <p:nvPicPr>
          <p:cNvPr id="6" name="Image 2" descr="/sessions/dreamy-trusting-noether/mnt/outputs/build/assets/airbnb_logo.png"/>
          <p:cNvPicPr>
            <a:picLocks noChangeAspect="1"/>
          </p:cNvPicPr>
          <p:nvPr/>
        </p:nvPicPr>
        <p:blipFill>
          <a:blip r:embed="rId5"/>
          <a:stretch>
            <a:fillRect/>
          </a:stretch>
        </p:blipFill>
        <p:spPr>
          <a:xfrm>
            <a:off x="11258093" y="654710"/>
            <a:ext cx="427939" cy="427939"/>
          </a:xfrm>
          <a:prstGeom prst="rect">
            <a:avLst/>
          </a:prstGeom>
        </p:spPr>
      </p:pic>
      <p:sp>
        <p:nvSpPr>
          <p:cNvPr id="7" name="Text 2"/>
          <p:cNvSpPr/>
          <p:nvPr/>
        </p:nvSpPr>
        <p:spPr>
          <a:xfrm>
            <a:off x="777240" y="713232"/>
            <a:ext cx="7315200" cy="320040"/>
          </a:xfrm>
          <a:prstGeom prst="rect">
            <a:avLst/>
          </a:prstGeom>
          <a:noFill/>
          <a:ln/>
        </p:spPr>
        <p:txBody>
          <a:bodyPr wrap="square" lIns="0" tIns="0" rIns="0" bIns="0" rtlCol="0" anchor="ctr"/>
          <a:lstStyle/>
          <a:p>
            <a:pPr marL="0" indent="0">
              <a:buNone/>
            </a:pPr>
            <a:r>
              <a:rPr lang="en-US" sz="1200" b="1" kern="0" spc="150" dirty="0">
                <a:solidFill>
                  <a:srgbClr val="FFFFFF"/>
                </a:solidFill>
                <a:latin typeface="Poppins" pitchFamily="34" charset="0"/>
                <a:ea typeface="Poppins" pitchFamily="34" charset="-122"/>
                <a:cs typeface="Poppins" pitchFamily="34" charset="-120"/>
              </a:rPr>
              <a:t>BANA 5160 CAPSTONE  ·  CORNELL UNIVERSITY  ·  TEAM 6</a:t>
            </a:r>
            <a:endParaRPr lang="en-US" sz="1200" dirty="0"/>
          </a:p>
        </p:txBody>
      </p:sp>
      <p:sp>
        <p:nvSpPr>
          <p:cNvPr id="8" name="Text 3"/>
          <p:cNvSpPr/>
          <p:nvPr/>
        </p:nvSpPr>
        <p:spPr>
          <a:xfrm>
            <a:off x="731520" y="1828800"/>
            <a:ext cx="8778240" cy="1920240"/>
          </a:xfrm>
          <a:prstGeom prst="rect">
            <a:avLst/>
          </a:prstGeom>
          <a:noFill/>
          <a:ln/>
        </p:spPr>
        <p:txBody>
          <a:bodyPr wrap="square" lIns="0" tIns="0" rIns="0" bIns="0" rtlCol="0" anchor="ctr"/>
          <a:lstStyle/>
          <a:p>
            <a:pPr marL="0" indent="0">
              <a:lnSpc>
                <a:spcPct val="98000"/>
              </a:lnSpc>
              <a:buNone/>
            </a:pPr>
            <a:r>
              <a:rPr lang="en-US" sz="5600" b="1" dirty="0">
                <a:solidFill>
                  <a:srgbClr val="FFFFFF"/>
                </a:solidFill>
                <a:latin typeface="Poppins" pitchFamily="34" charset="0"/>
                <a:ea typeface="Poppins" pitchFamily="34" charset="-122"/>
                <a:cs typeface="Poppins" pitchFamily="34" charset="-120"/>
              </a:rPr>
              <a:t>Airbnb Pricing</a:t>
            </a:r>
            <a:endParaRPr lang="en-US" sz="5600" dirty="0"/>
          </a:p>
          <a:p>
            <a:pPr marL="0" indent="0">
              <a:lnSpc>
                <a:spcPct val="98000"/>
              </a:lnSpc>
              <a:buNone/>
            </a:pPr>
            <a:r>
              <a:rPr lang="en-US" sz="5600" b="1" dirty="0">
                <a:solidFill>
                  <a:srgbClr val="FFFFFF"/>
                </a:solidFill>
                <a:latin typeface="Poppins" pitchFamily="34" charset="0"/>
                <a:ea typeface="Poppins" pitchFamily="34" charset="-122"/>
                <a:cs typeface="Poppins" pitchFamily="34" charset="-120"/>
              </a:rPr>
              <a:t>Intelligence</a:t>
            </a:r>
            <a:endParaRPr lang="en-US" sz="5600" dirty="0"/>
          </a:p>
        </p:txBody>
      </p:sp>
      <p:sp>
        <p:nvSpPr>
          <p:cNvPr id="9" name="Text 4"/>
          <p:cNvSpPr/>
          <p:nvPr/>
        </p:nvSpPr>
        <p:spPr>
          <a:xfrm>
            <a:off x="777240" y="3767328"/>
            <a:ext cx="8046720" cy="457200"/>
          </a:xfrm>
          <a:prstGeom prst="rect">
            <a:avLst/>
          </a:prstGeom>
          <a:noFill/>
          <a:ln/>
        </p:spPr>
        <p:txBody>
          <a:bodyPr wrap="square" lIns="0" tIns="0" rIns="0" bIns="0" rtlCol="0" anchor="ctr"/>
          <a:lstStyle/>
          <a:p>
            <a:pPr marL="0" indent="0">
              <a:buNone/>
            </a:pPr>
            <a:r>
              <a:rPr lang="en-US" sz="1800" dirty="0">
                <a:solidFill>
                  <a:srgbClr val="FFFFFF">
                    <a:alpha val="94000"/>
                  </a:srgbClr>
                </a:solidFill>
                <a:latin typeface="Poppins" pitchFamily="34" charset="0"/>
                <a:ea typeface="Poppins" pitchFamily="34" charset="-122"/>
                <a:cs typeface="Poppins" pitchFamily="34" charset="-120"/>
              </a:rPr>
              <a:t>A fair-price tool hosts can actually understand and trust.</a:t>
            </a:r>
            <a:endParaRPr lang="en-US" sz="1800" dirty="0"/>
          </a:p>
        </p:txBody>
      </p:sp>
      <p:sp>
        <p:nvSpPr>
          <p:cNvPr id="10" name="Text 5"/>
          <p:cNvSpPr/>
          <p:nvPr/>
        </p:nvSpPr>
        <p:spPr>
          <a:xfrm>
            <a:off x="777240" y="4800600"/>
            <a:ext cx="10607040" cy="320040"/>
          </a:xfrm>
          <a:prstGeom prst="rect">
            <a:avLst/>
          </a:prstGeom>
          <a:noFill/>
          <a:ln/>
        </p:spPr>
        <p:txBody>
          <a:bodyPr wrap="square" lIns="0" tIns="0" rIns="0" bIns="0" rtlCol="0" anchor="ctr"/>
          <a:lstStyle/>
          <a:p>
            <a:pPr marL="0" indent="0">
              <a:buNone/>
            </a:pPr>
            <a:r>
              <a:rPr lang="en-US" sz="1250" b="1" dirty="0">
                <a:solidFill>
                  <a:srgbClr val="FFFFFF"/>
                </a:solidFill>
                <a:latin typeface="Poppins" pitchFamily="34" charset="0"/>
                <a:ea typeface="Poppins" pitchFamily="34" charset="-122"/>
                <a:cs typeface="Poppins" pitchFamily="34" charset="-120"/>
              </a:rPr>
              <a:t>Brendan Meara </a:t>
            </a:r>
            <a:r>
              <a:rPr lang="en-US" sz="1250" dirty="0">
                <a:solidFill>
                  <a:srgbClr val="FFFFFF">
                    <a:alpha val="78000"/>
                  </a:srgbClr>
                </a:solidFill>
                <a:latin typeface="Poppins" pitchFamily="34" charset="0"/>
                <a:ea typeface="Poppins" pitchFamily="34" charset="-122"/>
                <a:cs typeface="Poppins" pitchFamily="34" charset="-120"/>
              </a:rPr>
              <a:t>(PM)     </a:t>
            </a:r>
            <a:r>
              <a:rPr lang="en-US" sz="1250" b="1" dirty="0">
                <a:solidFill>
                  <a:srgbClr val="FFFFFF"/>
                </a:solidFill>
                <a:latin typeface="Poppins" pitchFamily="34" charset="0"/>
                <a:ea typeface="Poppins" pitchFamily="34" charset="-122"/>
                <a:cs typeface="Poppins" pitchFamily="34" charset="-120"/>
              </a:rPr>
              <a:t>Jai Manikandan </a:t>
            </a:r>
            <a:r>
              <a:rPr lang="en-US" sz="1250" dirty="0">
                <a:solidFill>
                  <a:srgbClr val="FFFFFF">
                    <a:alpha val="78000"/>
                  </a:srgbClr>
                </a:solidFill>
                <a:latin typeface="Poppins" pitchFamily="34" charset="0"/>
                <a:ea typeface="Poppins" pitchFamily="34" charset="-122"/>
                <a:cs typeface="Poppins" pitchFamily="34" charset="-120"/>
              </a:rPr>
              <a:t>(Data)     </a:t>
            </a:r>
            <a:r>
              <a:rPr lang="en-US" sz="1250" b="1" dirty="0">
                <a:solidFill>
                  <a:srgbClr val="FFFFFF"/>
                </a:solidFill>
                <a:latin typeface="Poppins" pitchFamily="34" charset="0"/>
                <a:ea typeface="Poppins" pitchFamily="34" charset="-122"/>
                <a:cs typeface="Poppins" pitchFamily="34" charset="-120"/>
              </a:rPr>
              <a:t>Manas Manu </a:t>
            </a:r>
            <a:r>
              <a:rPr lang="en-US" sz="1250" dirty="0">
                <a:solidFill>
                  <a:srgbClr val="FFFFFF">
                    <a:alpha val="78000"/>
                  </a:srgbClr>
                </a:solidFill>
                <a:latin typeface="Poppins" pitchFamily="34" charset="0"/>
                <a:ea typeface="Poppins" pitchFamily="34" charset="-122"/>
                <a:cs typeface="Poppins" pitchFamily="34" charset="-120"/>
              </a:rPr>
              <a:t>(Modeling)     </a:t>
            </a:r>
            <a:r>
              <a:rPr lang="en-US" sz="1250" b="1" dirty="0">
                <a:solidFill>
                  <a:srgbClr val="FFFFFF"/>
                </a:solidFill>
                <a:latin typeface="Poppins" pitchFamily="34" charset="0"/>
                <a:ea typeface="Poppins" pitchFamily="34" charset="-122"/>
                <a:cs typeface="Poppins" pitchFamily="34" charset="-120"/>
              </a:rPr>
              <a:t>Rachael Chin </a:t>
            </a:r>
            <a:r>
              <a:rPr lang="en-US" sz="1250" dirty="0">
                <a:solidFill>
                  <a:srgbClr val="FFFFFF">
                    <a:alpha val="78000"/>
                  </a:srgbClr>
                </a:solidFill>
                <a:latin typeface="Poppins" pitchFamily="34" charset="0"/>
                <a:ea typeface="Poppins" pitchFamily="34" charset="-122"/>
                <a:cs typeface="Poppins" pitchFamily="34" charset="-120"/>
              </a:rPr>
              <a:t>(Visualization)</a:t>
            </a:r>
            <a:endParaRPr lang="en-US" sz="1250" dirty="0"/>
          </a:p>
        </p:txBody>
      </p:sp>
      <p:sp>
        <p:nvSpPr>
          <p:cNvPr id="11" name="Text 6"/>
          <p:cNvSpPr/>
          <p:nvPr/>
        </p:nvSpPr>
        <p:spPr>
          <a:xfrm>
            <a:off x="777240" y="5138928"/>
            <a:ext cx="10607040" cy="320040"/>
          </a:xfrm>
          <a:prstGeom prst="rect">
            <a:avLst/>
          </a:prstGeom>
          <a:noFill/>
          <a:ln/>
        </p:spPr>
        <p:txBody>
          <a:bodyPr wrap="square" lIns="0" tIns="0" rIns="0" bIns="0" rtlCol="0" anchor="ctr"/>
          <a:lstStyle/>
          <a:p>
            <a:pPr marL="0" indent="0">
              <a:buNone/>
            </a:pPr>
            <a:r>
              <a:rPr lang="en-US" sz="1250" b="1" dirty="0">
                <a:solidFill>
                  <a:srgbClr val="FFFFFF"/>
                </a:solidFill>
                <a:latin typeface="Poppins" pitchFamily="34" charset="0"/>
                <a:ea typeface="Poppins" pitchFamily="34" charset="-122"/>
                <a:cs typeface="Poppins" pitchFamily="34" charset="-120"/>
              </a:rPr>
              <a:t>Francois Miaule </a:t>
            </a:r>
            <a:r>
              <a:rPr lang="en-US" sz="1250" dirty="0">
                <a:solidFill>
                  <a:srgbClr val="FFFFFF">
                    <a:alpha val="78000"/>
                  </a:srgbClr>
                </a:solidFill>
                <a:latin typeface="Poppins" pitchFamily="34" charset="0"/>
                <a:ea typeface="Poppins" pitchFamily="34" charset="-122"/>
                <a:cs typeface="Poppins" pitchFamily="34" charset="-120"/>
              </a:rPr>
              <a:t>(Insights &amp; Presentation)      Industry Coach: </a:t>
            </a:r>
            <a:r>
              <a:rPr lang="en-US" sz="1250" b="1" dirty="0">
                <a:solidFill>
                  <a:srgbClr val="FFFFFF"/>
                </a:solidFill>
                <a:latin typeface="Poppins" pitchFamily="34" charset="0"/>
                <a:ea typeface="Poppins" pitchFamily="34" charset="-122"/>
                <a:cs typeface="Poppins" pitchFamily="34" charset="-120"/>
              </a:rPr>
              <a:t>Stan</a:t>
            </a:r>
            <a:endParaRPr lang="en-US" sz="1250" dirty="0"/>
          </a:p>
        </p:txBody>
      </p:sp>
      <p:sp>
        <p:nvSpPr>
          <p:cNvPr id="12" name="Text 7"/>
          <p:cNvSpPr/>
          <p:nvPr/>
        </p:nvSpPr>
        <p:spPr>
          <a:xfrm>
            <a:off x="777240" y="5650992"/>
            <a:ext cx="10607040" cy="274320"/>
          </a:xfrm>
          <a:prstGeom prst="rect">
            <a:avLst/>
          </a:prstGeom>
          <a:noFill/>
          <a:ln/>
        </p:spPr>
        <p:txBody>
          <a:bodyPr wrap="square" lIns="0" tIns="0" rIns="0" bIns="0" rtlCol="0" anchor="ctr"/>
          <a:lstStyle/>
          <a:p>
            <a:pPr marL="0" indent="0">
              <a:buNone/>
            </a:pPr>
            <a:r>
              <a:rPr lang="en-US" sz="1150" dirty="0">
                <a:solidFill>
                  <a:srgbClr val="FFFFFF">
                    <a:alpha val="88000"/>
                  </a:srgbClr>
                </a:solidFill>
                <a:latin typeface="Poppins" pitchFamily="34" charset="0"/>
                <a:ea typeface="Poppins" pitchFamily="34" charset="-122"/>
                <a:cs typeface="Poppins" pitchFamily="34" charset="-120"/>
              </a:rPr>
              <a:t>Dataset: Inside Airbnb NYC  ·  9,752 active listings  ·  snapshot Jun 14, 2026</a:t>
            </a:r>
            <a:endParaRPr lang="en-US" sz="1150" dirty="0"/>
          </a:p>
        </p:txBody>
      </p:sp>
      <p:sp>
        <p:nvSpPr>
          <p:cNvPr id="13" name="Text 8"/>
          <p:cNvSpPr/>
          <p:nvPr/>
        </p:nvSpPr>
        <p:spPr>
          <a:xfrm>
            <a:off x="777240" y="6327648"/>
            <a:ext cx="10607040" cy="274320"/>
          </a:xfrm>
          <a:prstGeom prst="rect">
            <a:avLst/>
          </a:prstGeom>
          <a:noFill/>
          <a:ln/>
        </p:spPr>
        <p:txBody>
          <a:bodyPr wrap="square" lIns="0" tIns="0" rIns="0" bIns="0" rtlCol="0" anchor="ctr"/>
          <a:lstStyle/>
          <a:p>
            <a:pPr marL="0" indent="0">
              <a:buNone/>
            </a:pPr>
            <a:r>
              <a:rPr lang="en-US" sz="950" i="1" dirty="0">
                <a:solidFill>
                  <a:srgbClr val="FFFFFF">
                    <a:alpha val="78000"/>
                  </a:srgbClr>
                </a:solidFill>
                <a:latin typeface="Poppins" pitchFamily="34" charset="0"/>
                <a:ea typeface="Poppins" pitchFamily="34" charset="-122"/>
                <a:cs typeface="Poppins" pitchFamily="34" charset="-120"/>
              </a:rPr>
              <a:t>Independent academic analysis of public Inside Airbnb data. Not affiliated with or endorsed by Airbnb.</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01 · EXECUTIVE SUMMARY</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The pricing problem</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Hosts want to maximize revenue, but pricing is hard and today's help is a black box.</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Brendan</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2</a:t>
            </a:r>
            <a:endParaRPr lang="en-US" sz="900" dirty="0"/>
          </a:p>
        </p:txBody>
      </p:sp>
      <p:sp>
        <p:nvSpPr>
          <p:cNvPr id="12" name="Shape 8"/>
          <p:cNvSpPr/>
          <p:nvPr/>
        </p:nvSpPr>
        <p:spPr>
          <a:xfrm>
            <a:off x="502920" y="2286000"/>
            <a:ext cx="5468112" cy="1600200"/>
          </a:xfrm>
          <a:prstGeom prst="roundRect">
            <a:avLst>
              <a:gd name="adj" fmla="val 8000"/>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632399" y="2373783"/>
            <a:ext cx="603504" cy="603504"/>
          </a:xfrm>
          <a:prstGeom prst="ellipse">
            <a:avLst/>
          </a:prstGeom>
          <a:solidFill>
            <a:srgbClr val="FFEEF2"/>
          </a:solidFill>
          <a:ln/>
        </p:spPr>
        <p:txBody>
          <a:bodyPr/>
          <a:lstStyle/>
          <a:p>
            <a:endParaRPr lang="en-US"/>
          </a:p>
        </p:txBody>
      </p:sp>
      <p:pic>
        <p:nvPicPr>
          <p:cNvPr id="14" name="Image 2" descr="/sessions/dreamy-trusting-noether/mnt/outputs/build/assets/zap_coral.png"/>
          <p:cNvPicPr>
            <a:picLocks noChangeAspect="1"/>
          </p:cNvPicPr>
          <p:nvPr/>
        </p:nvPicPr>
        <p:blipFill>
          <a:blip r:embed="rId5"/>
          <a:stretch>
            <a:fillRect/>
          </a:stretch>
        </p:blipFill>
        <p:spPr>
          <a:xfrm>
            <a:off x="777875" y="2507102"/>
            <a:ext cx="313822" cy="313822"/>
          </a:xfrm>
          <a:prstGeom prst="rect">
            <a:avLst/>
          </a:prstGeom>
        </p:spPr>
      </p:pic>
      <p:sp>
        <p:nvSpPr>
          <p:cNvPr id="15" name="Text 10"/>
          <p:cNvSpPr/>
          <p:nvPr/>
        </p:nvSpPr>
        <p:spPr>
          <a:xfrm>
            <a:off x="1517904" y="2560320"/>
            <a:ext cx="3639312"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The problem</a:t>
            </a:r>
            <a:endParaRPr lang="en-US" sz="1500" dirty="0"/>
          </a:p>
        </p:txBody>
      </p:sp>
      <p:sp>
        <p:nvSpPr>
          <p:cNvPr id="16" name="Text 11"/>
          <p:cNvSpPr/>
          <p:nvPr/>
        </p:nvSpPr>
        <p:spPr>
          <a:xfrm>
            <a:off x="777240" y="3108960"/>
            <a:ext cx="4965192" cy="685800"/>
          </a:xfrm>
          <a:prstGeom prst="rect">
            <a:avLst/>
          </a:prstGeom>
          <a:noFill/>
          <a:ln/>
        </p:spPr>
        <p:txBody>
          <a:bodyPr wrap="square" lIns="0" tIns="0" rIns="0" bIns="0" rtlCol="0" anchor="t"/>
          <a:lstStyle/>
          <a:p>
            <a:pPr marL="0" indent="0">
              <a:lnSpc>
                <a:spcPct val="105000"/>
              </a:lnSpc>
              <a:buNone/>
            </a:pPr>
            <a:r>
              <a:rPr lang="en-US" sz="1200" dirty="0">
                <a:solidFill>
                  <a:srgbClr val="4A4A4A"/>
                </a:solidFill>
                <a:latin typeface="Poppins" pitchFamily="34" charset="0"/>
                <a:ea typeface="Poppins" pitchFamily="34" charset="-122"/>
                <a:cs typeface="Poppins" pitchFamily="34" charset="-120"/>
              </a:rPr>
              <a:t>Smart Pricing hands hosts a number with no “why” ,  no comparable listings, no drivers, no room to explore. Hosts either ignore it or follow it blindly.</a:t>
            </a:r>
            <a:endParaRPr lang="en-US" sz="1200" dirty="0"/>
          </a:p>
        </p:txBody>
      </p:sp>
      <p:sp>
        <p:nvSpPr>
          <p:cNvPr id="17" name="Shape 12"/>
          <p:cNvSpPr/>
          <p:nvPr/>
        </p:nvSpPr>
        <p:spPr>
          <a:xfrm>
            <a:off x="6217920" y="2286000"/>
            <a:ext cx="5468112" cy="1600200"/>
          </a:xfrm>
          <a:prstGeom prst="roundRect">
            <a:avLst>
              <a:gd name="adj" fmla="val 800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3"/>
          <p:cNvSpPr/>
          <p:nvPr/>
        </p:nvSpPr>
        <p:spPr>
          <a:xfrm>
            <a:off x="6335329" y="2373783"/>
            <a:ext cx="603504" cy="603504"/>
          </a:xfrm>
          <a:prstGeom prst="ellipse">
            <a:avLst/>
          </a:prstGeom>
          <a:solidFill>
            <a:srgbClr val="FFFFFF"/>
          </a:solidFill>
          <a:ln/>
        </p:spPr>
        <p:txBody>
          <a:bodyPr/>
          <a:lstStyle/>
          <a:p>
            <a:endParaRPr lang="en-US"/>
          </a:p>
        </p:txBody>
      </p:sp>
      <p:pic>
        <p:nvPicPr>
          <p:cNvPr id="19" name="Image 3" descr="/sessions/dreamy-trusting-noether/mnt/outputs/build/assets/bulb_coral.png"/>
          <p:cNvPicPr>
            <a:picLocks noChangeAspect="1"/>
          </p:cNvPicPr>
          <p:nvPr/>
        </p:nvPicPr>
        <p:blipFill>
          <a:blip r:embed="rId6"/>
          <a:stretch>
            <a:fillRect/>
          </a:stretch>
        </p:blipFill>
        <p:spPr>
          <a:xfrm>
            <a:off x="6492240" y="2518624"/>
            <a:ext cx="313822" cy="313822"/>
          </a:xfrm>
          <a:prstGeom prst="rect">
            <a:avLst/>
          </a:prstGeom>
        </p:spPr>
      </p:pic>
      <p:sp>
        <p:nvSpPr>
          <p:cNvPr id="20" name="Text 14"/>
          <p:cNvSpPr/>
          <p:nvPr/>
        </p:nvSpPr>
        <p:spPr>
          <a:xfrm>
            <a:off x="7232904" y="2560320"/>
            <a:ext cx="3639312"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Our answer</a:t>
            </a:r>
            <a:endParaRPr lang="en-US" sz="1500" dirty="0"/>
          </a:p>
        </p:txBody>
      </p:sp>
      <p:sp>
        <p:nvSpPr>
          <p:cNvPr id="21" name="Text 15"/>
          <p:cNvSpPr/>
          <p:nvPr/>
        </p:nvSpPr>
        <p:spPr>
          <a:xfrm>
            <a:off x="6492240" y="3108960"/>
            <a:ext cx="4965192" cy="713232"/>
          </a:xfrm>
          <a:prstGeom prst="rect">
            <a:avLst/>
          </a:prstGeom>
          <a:noFill/>
          <a:ln/>
        </p:spPr>
        <p:txBody>
          <a:bodyPr wrap="square" lIns="0" tIns="0" rIns="0" bIns="0" rtlCol="0" anchor="t"/>
          <a:lstStyle/>
          <a:p>
            <a:pPr marL="0" indent="0">
              <a:lnSpc>
                <a:spcPct val="105000"/>
              </a:lnSpc>
              <a:buNone/>
            </a:pPr>
            <a:r>
              <a:rPr lang="en-US" sz="1200" dirty="0">
                <a:solidFill>
                  <a:srgbClr val="4A4A4A"/>
                </a:solidFill>
                <a:latin typeface="Poppins" pitchFamily="34" charset="0"/>
                <a:ea typeface="Poppins" pitchFamily="34" charset="-122"/>
                <a:cs typeface="Poppins" pitchFamily="34" charset="-120"/>
              </a:rPr>
              <a:t>A platform that pairs a machine-learning fair price with comparable listings and an interactive dashboard ,  so hosts understand and trust the recommendation.</a:t>
            </a:r>
            <a:endParaRPr lang="en-US" sz="1200" dirty="0"/>
          </a:p>
        </p:txBody>
      </p:sp>
      <p:sp>
        <p:nvSpPr>
          <p:cNvPr id="22" name="Shape 16"/>
          <p:cNvSpPr/>
          <p:nvPr/>
        </p:nvSpPr>
        <p:spPr>
          <a:xfrm>
            <a:off x="533839" y="3891724"/>
            <a:ext cx="3563112" cy="1165281"/>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3" name="Shape 17"/>
          <p:cNvSpPr/>
          <p:nvPr/>
        </p:nvSpPr>
        <p:spPr>
          <a:xfrm>
            <a:off x="628287" y="3931006"/>
            <a:ext cx="548640" cy="548640"/>
          </a:xfrm>
          <a:prstGeom prst="ellipse">
            <a:avLst/>
          </a:prstGeom>
          <a:solidFill>
            <a:srgbClr val="FFEEF2"/>
          </a:solidFill>
          <a:ln/>
        </p:spPr>
        <p:txBody>
          <a:bodyPr/>
          <a:lstStyle/>
          <a:p>
            <a:endParaRPr lang="en-US"/>
          </a:p>
        </p:txBody>
      </p:sp>
      <p:pic>
        <p:nvPicPr>
          <p:cNvPr id="24" name="Image 4" descr="/sessions/dreamy-trusting-noether/mnt/outputs/build/assets/cpu_coral.png"/>
          <p:cNvPicPr>
            <a:picLocks noChangeAspect="1"/>
          </p:cNvPicPr>
          <p:nvPr/>
        </p:nvPicPr>
        <p:blipFill>
          <a:blip r:embed="rId7"/>
          <a:stretch>
            <a:fillRect/>
          </a:stretch>
        </p:blipFill>
        <p:spPr>
          <a:xfrm>
            <a:off x="758952" y="4062679"/>
            <a:ext cx="285293" cy="285293"/>
          </a:xfrm>
          <a:prstGeom prst="rect">
            <a:avLst/>
          </a:prstGeom>
        </p:spPr>
      </p:pic>
      <p:sp>
        <p:nvSpPr>
          <p:cNvPr id="25" name="Text 18"/>
          <p:cNvSpPr/>
          <p:nvPr/>
        </p:nvSpPr>
        <p:spPr>
          <a:xfrm>
            <a:off x="1282997" y="4079138"/>
            <a:ext cx="2557272" cy="365760"/>
          </a:xfrm>
          <a:prstGeom prst="rect">
            <a:avLst/>
          </a:prstGeom>
          <a:noFill/>
          <a:ln/>
        </p:spPr>
        <p:txBody>
          <a:bodyPr wrap="square" lIns="0" tIns="0" rIns="0" bIns="0" rtlCol="0" anchor="ctr"/>
          <a:lstStyle/>
          <a:p>
            <a:pPr marL="0" indent="0">
              <a:buNone/>
            </a:pPr>
            <a:r>
              <a:rPr lang="en-US" sz="1500" b="1" dirty="0">
                <a:solidFill>
                  <a:srgbClr val="FF385C"/>
                </a:solidFill>
                <a:latin typeface="Poppins" pitchFamily="34" charset="0"/>
                <a:ea typeface="Poppins" pitchFamily="34" charset="-122"/>
                <a:cs typeface="Poppins" pitchFamily="34" charset="-120"/>
              </a:rPr>
              <a:t>Predict</a:t>
            </a:r>
            <a:endParaRPr lang="en-US" sz="1500" dirty="0"/>
          </a:p>
        </p:txBody>
      </p:sp>
      <p:sp>
        <p:nvSpPr>
          <p:cNvPr id="26" name="Text 19"/>
          <p:cNvSpPr/>
          <p:nvPr/>
        </p:nvSpPr>
        <p:spPr>
          <a:xfrm>
            <a:off x="837696" y="4563229"/>
            <a:ext cx="3051048" cy="50292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A calibrated fair nightly price from a gradient-boosting model.</a:t>
            </a:r>
            <a:endParaRPr lang="en-US" sz="1100" dirty="0"/>
          </a:p>
        </p:txBody>
      </p:sp>
      <p:sp>
        <p:nvSpPr>
          <p:cNvPr id="27" name="Shape 20"/>
          <p:cNvSpPr/>
          <p:nvPr/>
        </p:nvSpPr>
        <p:spPr>
          <a:xfrm>
            <a:off x="4299204" y="3881628"/>
            <a:ext cx="3563112" cy="1165281"/>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8" name="Shape 21"/>
          <p:cNvSpPr/>
          <p:nvPr/>
        </p:nvSpPr>
        <p:spPr>
          <a:xfrm>
            <a:off x="4408018" y="3897490"/>
            <a:ext cx="548640" cy="548640"/>
          </a:xfrm>
          <a:prstGeom prst="ellipse">
            <a:avLst/>
          </a:prstGeom>
          <a:solidFill>
            <a:srgbClr val="E6F6F4"/>
          </a:solidFill>
          <a:ln/>
        </p:spPr>
        <p:txBody>
          <a:bodyPr/>
          <a:lstStyle/>
          <a:p>
            <a:endParaRPr lang="en-US"/>
          </a:p>
        </p:txBody>
      </p:sp>
      <p:pic>
        <p:nvPicPr>
          <p:cNvPr id="29" name="Image 5" descr="/sessions/dreamy-trusting-noether/mnt/outputs/build/assets/search_teal.png"/>
          <p:cNvPicPr>
            <a:picLocks noChangeAspect="1"/>
          </p:cNvPicPr>
          <p:nvPr/>
        </p:nvPicPr>
        <p:blipFill>
          <a:blip r:embed="rId8"/>
          <a:stretch>
            <a:fillRect/>
          </a:stretch>
        </p:blipFill>
        <p:spPr>
          <a:xfrm>
            <a:off x="4534989" y="4027315"/>
            <a:ext cx="285293" cy="285293"/>
          </a:xfrm>
          <a:prstGeom prst="rect">
            <a:avLst/>
          </a:prstGeom>
        </p:spPr>
      </p:pic>
      <p:sp>
        <p:nvSpPr>
          <p:cNvPr id="30" name="Text 22"/>
          <p:cNvSpPr/>
          <p:nvPr/>
        </p:nvSpPr>
        <p:spPr>
          <a:xfrm>
            <a:off x="5062728" y="4005072"/>
            <a:ext cx="2557272" cy="365760"/>
          </a:xfrm>
          <a:prstGeom prst="rect">
            <a:avLst/>
          </a:prstGeom>
          <a:noFill/>
          <a:ln/>
        </p:spPr>
        <p:txBody>
          <a:bodyPr wrap="square" lIns="0" tIns="0" rIns="0" bIns="0" rtlCol="0" anchor="ctr"/>
          <a:lstStyle/>
          <a:p>
            <a:pPr marL="0" indent="0">
              <a:buNone/>
            </a:pPr>
            <a:r>
              <a:rPr lang="en-US" sz="1500" b="1" dirty="0">
                <a:solidFill>
                  <a:srgbClr val="007A73"/>
                </a:solidFill>
                <a:latin typeface="Poppins" pitchFamily="34" charset="0"/>
                <a:ea typeface="Poppins" pitchFamily="34" charset="-122"/>
                <a:cs typeface="Poppins" pitchFamily="34" charset="-120"/>
              </a:rPr>
              <a:t>Explain</a:t>
            </a:r>
            <a:endParaRPr lang="en-US" sz="1500" dirty="0"/>
          </a:p>
        </p:txBody>
      </p:sp>
      <p:sp>
        <p:nvSpPr>
          <p:cNvPr id="31" name="Text 23"/>
          <p:cNvSpPr/>
          <p:nvPr/>
        </p:nvSpPr>
        <p:spPr>
          <a:xfrm>
            <a:off x="4550664" y="4590288"/>
            <a:ext cx="3051048" cy="50292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The comparable listings and features behind that number.</a:t>
            </a:r>
            <a:endParaRPr lang="en-US" sz="1100" dirty="0"/>
          </a:p>
        </p:txBody>
      </p:sp>
      <p:sp>
        <p:nvSpPr>
          <p:cNvPr id="32" name="Shape 24"/>
          <p:cNvSpPr/>
          <p:nvPr/>
        </p:nvSpPr>
        <p:spPr>
          <a:xfrm>
            <a:off x="8095488" y="3899916"/>
            <a:ext cx="3563112" cy="1146993"/>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3" name="Shape 25"/>
          <p:cNvSpPr/>
          <p:nvPr/>
        </p:nvSpPr>
        <p:spPr>
          <a:xfrm>
            <a:off x="8218018" y="3940150"/>
            <a:ext cx="548640" cy="548640"/>
          </a:xfrm>
          <a:prstGeom prst="ellipse">
            <a:avLst/>
          </a:prstGeom>
          <a:solidFill>
            <a:srgbClr val="FFEEF2"/>
          </a:solidFill>
          <a:ln/>
        </p:spPr>
        <p:txBody>
          <a:bodyPr/>
          <a:lstStyle/>
          <a:p>
            <a:endParaRPr lang="en-US"/>
          </a:p>
        </p:txBody>
      </p:sp>
      <p:pic>
        <p:nvPicPr>
          <p:cNvPr id="34" name="Image 6" descr="/sessions/dreamy-trusting-noether/mnt/outputs/build/assets/trend_coral.png"/>
          <p:cNvPicPr>
            <a:picLocks noChangeAspect="1"/>
          </p:cNvPicPr>
          <p:nvPr/>
        </p:nvPicPr>
        <p:blipFill>
          <a:blip r:embed="rId9"/>
          <a:stretch>
            <a:fillRect/>
          </a:stretch>
        </p:blipFill>
        <p:spPr>
          <a:xfrm>
            <a:off x="8349691" y="4045305"/>
            <a:ext cx="285293" cy="285293"/>
          </a:xfrm>
          <a:prstGeom prst="rect">
            <a:avLst/>
          </a:prstGeom>
        </p:spPr>
      </p:pic>
      <p:sp>
        <p:nvSpPr>
          <p:cNvPr id="35" name="Text 26"/>
          <p:cNvSpPr/>
          <p:nvPr/>
        </p:nvSpPr>
        <p:spPr>
          <a:xfrm>
            <a:off x="8951976" y="4005071"/>
            <a:ext cx="2557272" cy="365760"/>
          </a:xfrm>
          <a:prstGeom prst="rect">
            <a:avLst/>
          </a:prstGeom>
          <a:noFill/>
          <a:ln/>
        </p:spPr>
        <p:txBody>
          <a:bodyPr wrap="square" lIns="0" tIns="0" rIns="0" bIns="0" rtlCol="0" anchor="ctr"/>
          <a:lstStyle/>
          <a:p>
            <a:pPr marL="0" indent="0">
              <a:buNone/>
            </a:pPr>
            <a:r>
              <a:rPr lang="en-US" sz="1500" b="1" dirty="0">
                <a:solidFill>
                  <a:srgbClr val="FF385C"/>
                </a:solidFill>
                <a:latin typeface="Poppins" pitchFamily="34" charset="0"/>
                <a:ea typeface="Poppins" pitchFamily="34" charset="-122"/>
                <a:cs typeface="Poppins" pitchFamily="34" charset="-120"/>
              </a:rPr>
              <a:t>Act</a:t>
            </a:r>
            <a:endParaRPr lang="en-US" sz="1500" dirty="0"/>
          </a:p>
        </p:txBody>
      </p:sp>
      <p:sp>
        <p:nvSpPr>
          <p:cNvPr id="36" name="Text 27"/>
          <p:cNvSpPr/>
          <p:nvPr/>
        </p:nvSpPr>
        <p:spPr>
          <a:xfrm>
            <a:off x="8351520" y="4554085"/>
            <a:ext cx="3051048" cy="50292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A what-if view of how price changes affect projected revenue.</a:t>
            </a:r>
            <a:endParaRPr lang="en-US" sz="1100" dirty="0"/>
          </a:p>
        </p:txBody>
      </p:sp>
      <p:sp>
        <p:nvSpPr>
          <p:cNvPr id="38" name="Rectangle: Rounded Corners 37">
            <a:extLst>
              <a:ext uri="{FF2B5EF4-FFF2-40B4-BE49-F238E27FC236}">
                <a16:creationId xmlns:a16="http://schemas.microsoft.com/office/drawing/2014/main" id="{1225C129-5E8C-A2DA-628B-30F394883A4B}"/>
              </a:ext>
            </a:extLst>
          </p:cNvPr>
          <p:cNvSpPr/>
          <p:nvPr/>
        </p:nvSpPr>
        <p:spPr>
          <a:xfrm>
            <a:off x="521208" y="5197151"/>
            <a:ext cx="11183112" cy="112135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t>Estimated Revenue </a:t>
            </a:r>
          </a:p>
        </p:txBody>
      </p:sp>
      <p:pic>
        <p:nvPicPr>
          <p:cNvPr id="40" name="Graphic 39" descr="Dollar with solid fill">
            <a:extLst>
              <a:ext uri="{FF2B5EF4-FFF2-40B4-BE49-F238E27FC236}">
                <a16:creationId xmlns:a16="http://schemas.microsoft.com/office/drawing/2014/main" id="{4FC066AD-627F-7C2A-32DE-90A9B8B18FF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545721" y="5289617"/>
            <a:ext cx="914400" cy="914400"/>
          </a:xfrm>
          <a:prstGeom prst="rect">
            <a:avLst/>
          </a:prstGeom>
        </p:spPr>
      </p:pic>
      <p:pic>
        <p:nvPicPr>
          <p:cNvPr id="42" name="Graphic 41" descr="Dollar with solid fill">
            <a:extLst>
              <a:ext uri="{FF2B5EF4-FFF2-40B4-BE49-F238E27FC236}">
                <a16:creationId xmlns:a16="http://schemas.microsoft.com/office/drawing/2014/main" id="{C085B9ED-86B8-B6A7-D9A3-8B7D2385698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957816" y="5280940"/>
            <a:ext cx="914400" cy="914400"/>
          </a:xfrm>
          <a:prstGeom prst="rect">
            <a:avLst/>
          </a:prstGeom>
        </p:spPr>
      </p:pic>
      <p:pic>
        <p:nvPicPr>
          <p:cNvPr id="44" name="Graphic 43" descr="Dollar with solid fill">
            <a:extLst>
              <a:ext uri="{FF2B5EF4-FFF2-40B4-BE49-F238E27FC236}">
                <a16:creationId xmlns:a16="http://schemas.microsoft.com/office/drawing/2014/main" id="{C5D41FF8-BF7F-D083-0BFB-8AB69F3FE54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316212" y="5275808"/>
            <a:ext cx="914400" cy="914400"/>
          </a:xfrm>
          <a:prstGeom prst="rect">
            <a:avLst/>
          </a:prstGeom>
        </p:spPr>
      </p:pic>
      <p:sp>
        <p:nvSpPr>
          <p:cNvPr id="45" name="Arrow: Right 44">
            <a:extLst>
              <a:ext uri="{FF2B5EF4-FFF2-40B4-BE49-F238E27FC236}">
                <a16:creationId xmlns:a16="http://schemas.microsoft.com/office/drawing/2014/main" id="{C081311F-280D-16DF-658E-4924935D283D}"/>
              </a:ext>
            </a:extLst>
          </p:cNvPr>
          <p:cNvSpPr/>
          <p:nvPr/>
        </p:nvSpPr>
        <p:spPr>
          <a:xfrm>
            <a:off x="2910691" y="5542476"/>
            <a:ext cx="929578" cy="4572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02 · CONTEXT &amp; PROBLEM</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A huge marketplace with a transparency gap</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Airbnb connects millions of hosts and guests ,  and pricing moves both sides of the market.</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Jai</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3</a:t>
            </a:r>
            <a:endParaRPr lang="en-US" sz="900" dirty="0"/>
          </a:p>
        </p:txBody>
      </p:sp>
      <p:sp>
        <p:nvSpPr>
          <p:cNvPr id="12" name="Shape 8"/>
          <p:cNvSpPr/>
          <p:nvPr/>
        </p:nvSpPr>
        <p:spPr>
          <a:xfrm>
            <a:off x="502920" y="2212848"/>
            <a:ext cx="2610612" cy="1417320"/>
          </a:xfrm>
          <a:prstGeom prst="roundRect">
            <a:avLst>
              <a:gd name="adj" fmla="val 9032"/>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13" name="Image 2" descr="/sessions/dreamy-trusting-noether/mnt/outputs/build/assets/dollar_coral.png"/>
          <p:cNvPicPr>
            <a:picLocks noChangeAspect="1"/>
          </p:cNvPicPr>
          <p:nvPr/>
        </p:nvPicPr>
        <p:blipFill>
          <a:blip r:embed="rId5"/>
          <a:stretch>
            <a:fillRect/>
          </a:stretch>
        </p:blipFill>
        <p:spPr>
          <a:xfrm>
            <a:off x="619209" y="2281428"/>
            <a:ext cx="384048" cy="384048"/>
          </a:xfrm>
          <a:prstGeom prst="rect">
            <a:avLst/>
          </a:prstGeom>
        </p:spPr>
      </p:pic>
      <p:sp>
        <p:nvSpPr>
          <p:cNvPr id="14" name="Text 9"/>
          <p:cNvSpPr/>
          <p:nvPr/>
        </p:nvSpPr>
        <p:spPr>
          <a:xfrm>
            <a:off x="667512" y="2638044"/>
            <a:ext cx="2281428" cy="566928"/>
          </a:xfrm>
          <a:prstGeom prst="rect">
            <a:avLst/>
          </a:prstGeom>
          <a:noFill/>
          <a:ln/>
        </p:spPr>
        <p:txBody>
          <a:bodyPr wrap="square" lIns="0" tIns="0" rIns="0" bIns="0" rtlCol="0" anchor="ctr"/>
          <a:lstStyle/>
          <a:p>
            <a:pPr marL="0" indent="0" algn="l">
              <a:buNone/>
            </a:pPr>
            <a:r>
              <a:rPr lang="en-US" sz="3000" b="1" dirty="0">
                <a:solidFill>
                  <a:srgbClr val="FF385C"/>
                </a:solidFill>
                <a:latin typeface="Poppins" pitchFamily="34" charset="0"/>
                <a:ea typeface="Poppins" pitchFamily="34" charset="-122"/>
                <a:cs typeface="Poppins" pitchFamily="34" charset="-120"/>
              </a:rPr>
              <a:t>$12.2B</a:t>
            </a:r>
            <a:endParaRPr lang="en-US" sz="3000" dirty="0"/>
          </a:p>
        </p:txBody>
      </p:sp>
      <p:sp>
        <p:nvSpPr>
          <p:cNvPr id="15" name="Text 10"/>
          <p:cNvSpPr/>
          <p:nvPr/>
        </p:nvSpPr>
        <p:spPr>
          <a:xfrm>
            <a:off x="649224" y="3218688"/>
            <a:ext cx="2281428" cy="713232"/>
          </a:xfrm>
          <a:prstGeom prst="rect">
            <a:avLst/>
          </a:prstGeom>
          <a:noFill/>
          <a:ln/>
        </p:spPr>
        <p:txBody>
          <a:bodyPr wrap="square" lIns="0" tIns="0" rIns="0" bIns="0" rtlCol="0" anchor="t"/>
          <a:lstStyle/>
          <a:p>
            <a:pPr marL="0" indent="0" algn="l">
              <a:lnSpc>
                <a:spcPct val="102000"/>
              </a:lnSpc>
              <a:buNone/>
            </a:pPr>
            <a:r>
              <a:rPr lang="en-US" sz="1150" dirty="0">
                <a:solidFill>
                  <a:srgbClr val="717171"/>
                </a:solidFill>
                <a:latin typeface="Poppins" pitchFamily="34" charset="0"/>
                <a:ea typeface="Poppins" pitchFamily="34" charset="-122"/>
                <a:cs typeface="Poppins" pitchFamily="34" charset="-120"/>
              </a:rPr>
              <a:t>2025 revenue (+10% YoY)</a:t>
            </a:r>
            <a:endParaRPr lang="en-US" sz="1150" dirty="0"/>
          </a:p>
        </p:txBody>
      </p:sp>
      <p:sp>
        <p:nvSpPr>
          <p:cNvPr id="16" name="Shape 11"/>
          <p:cNvSpPr/>
          <p:nvPr/>
        </p:nvSpPr>
        <p:spPr>
          <a:xfrm>
            <a:off x="3360420" y="2212848"/>
            <a:ext cx="2610612" cy="1417320"/>
          </a:xfrm>
          <a:prstGeom prst="roundRect">
            <a:avLst>
              <a:gd name="adj" fmla="val 9032"/>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17" name="Image 3" descr="/sessions/dreamy-trusting-noether/mnt/outputs/build/assets/home_teal.png"/>
          <p:cNvPicPr>
            <a:picLocks noChangeAspect="1"/>
          </p:cNvPicPr>
          <p:nvPr/>
        </p:nvPicPr>
        <p:blipFill>
          <a:blip r:embed="rId6"/>
          <a:stretch>
            <a:fillRect/>
          </a:stretch>
        </p:blipFill>
        <p:spPr>
          <a:xfrm>
            <a:off x="3495294" y="2278815"/>
            <a:ext cx="384048" cy="384048"/>
          </a:xfrm>
          <a:prstGeom prst="rect">
            <a:avLst/>
          </a:prstGeom>
        </p:spPr>
      </p:pic>
      <p:sp>
        <p:nvSpPr>
          <p:cNvPr id="18" name="Text 12"/>
          <p:cNvSpPr/>
          <p:nvPr/>
        </p:nvSpPr>
        <p:spPr>
          <a:xfrm>
            <a:off x="3525012" y="2638044"/>
            <a:ext cx="2281428" cy="566928"/>
          </a:xfrm>
          <a:prstGeom prst="rect">
            <a:avLst/>
          </a:prstGeom>
          <a:noFill/>
          <a:ln/>
        </p:spPr>
        <p:txBody>
          <a:bodyPr wrap="square" lIns="0" tIns="0" rIns="0" bIns="0" rtlCol="0" anchor="ctr"/>
          <a:lstStyle/>
          <a:p>
            <a:pPr marL="0" indent="0" algn="l">
              <a:buNone/>
            </a:pPr>
            <a:r>
              <a:rPr lang="en-US" sz="3000" b="1" dirty="0">
                <a:solidFill>
                  <a:srgbClr val="00A699"/>
                </a:solidFill>
                <a:latin typeface="Poppins" pitchFamily="34" charset="0"/>
                <a:ea typeface="Poppins" pitchFamily="34" charset="-122"/>
                <a:cs typeface="Poppins" pitchFamily="34" charset="-120"/>
              </a:rPr>
              <a:t>8M+</a:t>
            </a:r>
            <a:endParaRPr lang="en-US" sz="3000" dirty="0"/>
          </a:p>
        </p:txBody>
      </p:sp>
      <p:sp>
        <p:nvSpPr>
          <p:cNvPr id="19" name="Text 13"/>
          <p:cNvSpPr/>
          <p:nvPr/>
        </p:nvSpPr>
        <p:spPr>
          <a:xfrm>
            <a:off x="3543300" y="3204413"/>
            <a:ext cx="2281428" cy="713232"/>
          </a:xfrm>
          <a:prstGeom prst="rect">
            <a:avLst/>
          </a:prstGeom>
          <a:noFill/>
          <a:ln/>
        </p:spPr>
        <p:txBody>
          <a:bodyPr wrap="square" lIns="0" tIns="0" rIns="0" bIns="0" rtlCol="0" anchor="t"/>
          <a:lstStyle/>
          <a:p>
            <a:pPr marL="0" indent="0" algn="l">
              <a:lnSpc>
                <a:spcPct val="102000"/>
              </a:lnSpc>
              <a:buNone/>
            </a:pPr>
            <a:r>
              <a:rPr lang="en-US" sz="1150" dirty="0">
                <a:solidFill>
                  <a:srgbClr val="717171"/>
                </a:solidFill>
                <a:latin typeface="Poppins" pitchFamily="34" charset="0"/>
                <a:ea typeface="Poppins" pitchFamily="34" charset="-122"/>
                <a:cs typeface="Poppins" pitchFamily="34" charset="-120"/>
              </a:rPr>
              <a:t>active listings worldwide</a:t>
            </a:r>
            <a:endParaRPr lang="en-US" sz="1150" dirty="0"/>
          </a:p>
        </p:txBody>
      </p:sp>
      <p:sp>
        <p:nvSpPr>
          <p:cNvPr id="20" name="Shape 14"/>
          <p:cNvSpPr/>
          <p:nvPr/>
        </p:nvSpPr>
        <p:spPr>
          <a:xfrm>
            <a:off x="6217920" y="2212848"/>
            <a:ext cx="2610612" cy="1417320"/>
          </a:xfrm>
          <a:prstGeom prst="roundRect">
            <a:avLst>
              <a:gd name="adj" fmla="val 9032"/>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21" name="Image 4" descr="/sessions/dreamy-trusting-noether/mnt/outputs/build/assets/users_coral.png"/>
          <p:cNvPicPr>
            <a:picLocks noChangeAspect="1"/>
          </p:cNvPicPr>
          <p:nvPr/>
        </p:nvPicPr>
        <p:blipFill>
          <a:blip r:embed="rId7"/>
          <a:stretch>
            <a:fillRect/>
          </a:stretch>
        </p:blipFill>
        <p:spPr>
          <a:xfrm>
            <a:off x="6298877" y="2281428"/>
            <a:ext cx="384048" cy="384048"/>
          </a:xfrm>
          <a:prstGeom prst="rect">
            <a:avLst/>
          </a:prstGeom>
        </p:spPr>
      </p:pic>
      <p:sp>
        <p:nvSpPr>
          <p:cNvPr id="22" name="Text 15"/>
          <p:cNvSpPr/>
          <p:nvPr/>
        </p:nvSpPr>
        <p:spPr>
          <a:xfrm>
            <a:off x="6382512" y="2638044"/>
            <a:ext cx="2281428" cy="566928"/>
          </a:xfrm>
          <a:prstGeom prst="rect">
            <a:avLst/>
          </a:prstGeom>
          <a:noFill/>
          <a:ln/>
        </p:spPr>
        <p:txBody>
          <a:bodyPr wrap="square" lIns="0" tIns="0" rIns="0" bIns="0" rtlCol="0" anchor="ctr"/>
          <a:lstStyle/>
          <a:p>
            <a:pPr marL="0" indent="0" algn="l">
              <a:buNone/>
            </a:pPr>
            <a:r>
              <a:rPr lang="en-US" sz="3000" b="1" dirty="0">
                <a:solidFill>
                  <a:srgbClr val="FF385C"/>
                </a:solidFill>
                <a:latin typeface="Poppins" pitchFamily="34" charset="0"/>
                <a:ea typeface="Poppins" pitchFamily="34" charset="-122"/>
                <a:cs typeface="Poppins" pitchFamily="34" charset="-120"/>
              </a:rPr>
              <a:t>5M+</a:t>
            </a:r>
            <a:endParaRPr lang="en-US" sz="3000" dirty="0"/>
          </a:p>
        </p:txBody>
      </p:sp>
      <p:sp>
        <p:nvSpPr>
          <p:cNvPr id="23" name="Text 16"/>
          <p:cNvSpPr/>
          <p:nvPr/>
        </p:nvSpPr>
        <p:spPr>
          <a:xfrm>
            <a:off x="6455664" y="3205345"/>
            <a:ext cx="2281428" cy="713232"/>
          </a:xfrm>
          <a:prstGeom prst="rect">
            <a:avLst/>
          </a:prstGeom>
          <a:noFill/>
          <a:ln/>
        </p:spPr>
        <p:txBody>
          <a:bodyPr wrap="square" lIns="0" tIns="0" rIns="0" bIns="0" rtlCol="0" anchor="t"/>
          <a:lstStyle/>
          <a:p>
            <a:pPr marL="0" indent="0" algn="l">
              <a:lnSpc>
                <a:spcPct val="102000"/>
              </a:lnSpc>
              <a:buNone/>
            </a:pPr>
            <a:r>
              <a:rPr lang="en-US" sz="1150" dirty="0">
                <a:solidFill>
                  <a:srgbClr val="717171"/>
                </a:solidFill>
                <a:latin typeface="Poppins" pitchFamily="34" charset="0"/>
                <a:ea typeface="Poppins" pitchFamily="34" charset="-122"/>
                <a:cs typeface="Poppins" pitchFamily="34" charset="-120"/>
              </a:rPr>
              <a:t>hosts on the platform</a:t>
            </a:r>
            <a:endParaRPr lang="en-US" sz="1150" dirty="0"/>
          </a:p>
        </p:txBody>
      </p:sp>
      <p:sp>
        <p:nvSpPr>
          <p:cNvPr id="24" name="Shape 17"/>
          <p:cNvSpPr/>
          <p:nvPr/>
        </p:nvSpPr>
        <p:spPr>
          <a:xfrm>
            <a:off x="9075420" y="2212848"/>
            <a:ext cx="2610612" cy="1417320"/>
          </a:xfrm>
          <a:prstGeom prst="roundRect">
            <a:avLst>
              <a:gd name="adj" fmla="val 9032"/>
            </a:avLst>
          </a:prstGeom>
          <a:solidFill>
            <a:srgbClr val="FFF1E9"/>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pic>
        <p:nvPicPr>
          <p:cNvPr id="25" name="Image 5" descr="/sessions/dreamy-trusting-noether/mnt/outputs/build/assets/zap_orange.png"/>
          <p:cNvPicPr>
            <a:picLocks noChangeAspect="1"/>
          </p:cNvPicPr>
          <p:nvPr/>
        </p:nvPicPr>
        <p:blipFill>
          <a:blip r:embed="rId8"/>
          <a:stretch>
            <a:fillRect/>
          </a:stretch>
        </p:blipFill>
        <p:spPr>
          <a:xfrm>
            <a:off x="9165031" y="2274803"/>
            <a:ext cx="384048" cy="384048"/>
          </a:xfrm>
          <a:prstGeom prst="rect">
            <a:avLst/>
          </a:prstGeom>
        </p:spPr>
      </p:pic>
      <p:sp>
        <p:nvSpPr>
          <p:cNvPr id="26" name="Text 18"/>
          <p:cNvSpPr/>
          <p:nvPr/>
        </p:nvSpPr>
        <p:spPr>
          <a:xfrm>
            <a:off x="9240012" y="2638044"/>
            <a:ext cx="2281428" cy="566928"/>
          </a:xfrm>
          <a:prstGeom prst="rect">
            <a:avLst/>
          </a:prstGeom>
          <a:noFill/>
          <a:ln/>
        </p:spPr>
        <p:txBody>
          <a:bodyPr wrap="square" lIns="0" tIns="0" rIns="0" bIns="0" rtlCol="0" anchor="ctr"/>
          <a:lstStyle/>
          <a:p>
            <a:pPr marL="0" indent="0" algn="l">
              <a:buNone/>
            </a:pPr>
            <a:r>
              <a:rPr lang="en-US" sz="3000" b="1" dirty="0">
                <a:solidFill>
                  <a:srgbClr val="FC642D"/>
                </a:solidFill>
                <a:latin typeface="Poppins" pitchFamily="34" charset="0"/>
                <a:ea typeface="Poppins" pitchFamily="34" charset="-122"/>
                <a:cs typeface="Poppins" pitchFamily="34" charset="-120"/>
              </a:rPr>
              <a:t>15.5%</a:t>
            </a:r>
            <a:endParaRPr lang="en-US" sz="3000" dirty="0"/>
          </a:p>
        </p:txBody>
      </p:sp>
      <p:sp>
        <p:nvSpPr>
          <p:cNvPr id="27" name="Text 19"/>
          <p:cNvSpPr/>
          <p:nvPr/>
        </p:nvSpPr>
        <p:spPr>
          <a:xfrm>
            <a:off x="9261348" y="3201519"/>
            <a:ext cx="2281428" cy="713232"/>
          </a:xfrm>
          <a:prstGeom prst="rect">
            <a:avLst/>
          </a:prstGeom>
          <a:noFill/>
          <a:ln/>
        </p:spPr>
        <p:txBody>
          <a:bodyPr wrap="square" lIns="0" tIns="0" rIns="0" bIns="0" rtlCol="0" anchor="t"/>
          <a:lstStyle/>
          <a:p>
            <a:pPr marL="0" indent="0" algn="l">
              <a:lnSpc>
                <a:spcPct val="102000"/>
              </a:lnSpc>
              <a:buNone/>
            </a:pPr>
            <a:r>
              <a:rPr lang="en-US" sz="1150" dirty="0">
                <a:solidFill>
                  <a:srgbClr val="717171"/>
                </a:solidFill>
                <a:latin typeface="Poppins" pitchFamily="34" charset="0"/>
                <a:ea typeface="Poppins" pitchFamily="34" charset="-122"/>
                <a:cs typeface="Poppins" pitchFamily="34" charset="-120"/>
              </a:rPr>
              <a:t>host-only service fee</a:t>
            </a:r>
            <a:endParaRPr lang="en-US" sz="1150" dirty="0"/>
          </a:p>
        </p:txBody>
      </p:sp>
      <p:sp>
        <p:nvSpPr>
          <p:cNvPr id="28" name="Shape 20"/>
          <p:cNvSpPr/>
          <p:nvPr/>
        </p:nvSpPr>
        <p:spPr>
          <a:xfrm>
            <a:off x="502920" y="3947969"/>
            <a:ext cx="5468112" cy="2103120"/>
          </a:xfrm>
          <a:prstGeom prst="roundRect">
            <a:avLst>
              <a:gd name="adj" fmla="val 6087"/>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9" name="Shape 21"/>
          <p:cNvSpPr/>
          <p:nvPr/>
        </p:nvSpPr>
        <p:spPr>
          <a:xfrm>
            <a:off x="777240" y="4206240"/>
            <a:ext cx="603504" cy="603504"/>
          </a:xfrm>
          <a:prstGeom prst="ellipse">
            <a:avLst/>
          </a:prstGeom>
          <a:solidFill>
            <a:srgbClr val="FFEEF2"/>
          </a:solidFill>
          <a:ln/>
        </p:spPr>
        <p:txBody>
          <a:bodyPr/>
          <a:lstStyle/>
          <a:p>
            <a:endParaRPr lang="en-US"/>
          </a:p>
        </p:txBody>
      </p:sp>
      <p:pic>
        <p:nvPicPr>
          <p:cNvPr id="30" name="Image 6" descr="/sessions/dreamy-trusting-noether/mnt/outputs/build/assets/alert_coral.png"/>
          <p:cNvPicPr>
            <a:picLocks noChangeAspect="1"/>
          </p:cNvPicPr>
          <p:nvPr/>
        </p:nvPicPr>
        <p:blipFill>
          <a:blip r:embed="rId9"/>
          <a:stretch>
            <a:fillRect/>
          </a:stretch>
        </p:blipFill>
        <p:spPr>
          <a:xfrm>
            <a:off x="922081" y="4351081"/>
            <a:ext cx="313822" cy="313822"/>
          </a:xfrm>
          <a:prstGeom prst="rect">
            <a:avLst/>
          </a:prstGeom>
        </p:spPr>
      </p:pic>
      <p:sp>
        <p:nvSpPr>
          <p:cNvPr id="31" name="Text 22"/>
          <p:cNvSpPr/>
          <p:nvPr/>
        </p:nvSpPr>
        <p:spPr>
          <a:xfrm>
            <a:off x="1517904" y="4224528"/>
            <a:ext cx="4206240"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The missing piece for hosts</a:t>
            </a:r>
            <a:endParaRPr lang="en-US" sz="1500" dirty="0"/>
          </a:p>
        </p:txBody>
      </p:sp>
      <p:sp>
        <p:nvSpPr>
          <p:cNvPr id="32" name="Text 23"/>
          <p:cNvSpPr/>
          <p:nvPr/>
        </p:nvSpPr>
        <p:spPr>
          <a:xfrm>
            <a:off x="768096" y="4908089"/>
            <a:ext cx="4937760" cy="1005840"/>
          </a:xfrm>
          <a:prstGeom prst="rect">
            <a:avLst/>
          </a:prstGeom>
          <a:noFill/>
          <a:ln/>
        </p:spPr>
        <p:txBody>
          <a:bodyPr wrap="square" lIns="0" tIns="0" rIns="0" bIns="0" rtlCol="0" anchor="t"/>
          <a:lstStyle/>
          <a:p>
            <a:pPr marL="0" indent="0">
              <a:lnSpc>
                <a:spcPct val="108000"/>
              </a:lnSpc>
              <a:buNone/>
            </a:pPr>
            <a:r>
              <a:rPr lang="en-US" sz="1250" dirty="0">
                <a:solidFill>
                  <a:srgbClr val="4A4A4A"/>
                </a:solidFill>
                <a:latin typeface="Poppins" pitchFamily="34" charset="0"/>
                <a:ea typeface="Poppins" pitchFamily="34" charset="-122"/>
                <a:cs typeface="Poppins" pitchFamily="34" charset="-120"/>
              </a:rPr>
              <a:t>You get a recommended price, but not where it came from. With little transparency, some hosts ignore it entirely and others follow it without knowing if it's right for their listing.</a:t>
            </a:r>
            <a:endParaRPr lang="en-US" sz="1250" dirty="0"/>
          </a:p>
        </p:txBody>
      </p:sp>
      <p:sp>
        <p:nvSpPr>
          <p:cNvPr id="33" name="Shape 24"/>
          <p:cNvSpPr/>
          <p:nvPr/>
        </p:nvSpPr>
        <p:spPr>
          <a:xfrm>
            <a:off x="6217920" y="3931920"/>
            <a:ext cx="5468112" cy="2103120"/>
          </a:xfrm>
          <a:prstGeom prst="roundRect">
            <a:avLst>
              <a:gd name="adj" fmla="val 6087"/>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4" name="Shape 25"/>
          <p:cNvSpPr/>
          <p:nvPr/>
        </p:nvSpPr>
        <p:spPr>
          <a:xfrm>
            <a:off x="6492240" y="4206240"/>
            <a:ext cx="603504" cy="603504"/>
          </a:xfrm>
          <a:prstGeom prst="ellipse">
            <a:avLst/>
          </a:prstGeom>
          <a:solidFill>
            <a:srgbClr val="FFFFFF"/>
          </a:solidFill>
          <a:ln/>
        </p:spPr>
        <p:txBody>
          <a:bodyPr/>
          <a:lstStyle/>
          <a:p>
            <a:endParaRPr lang="en-US"/>
          </a:p>
        </p:txBody>
      </p:sp>
      <p:pic>
        <p:nvPicPr>
          <p:cNvPr id="35" name="Image 7" descr="/sessions/dreamy-trusting-noether/mnt/outputs/build/assets/target_coral.png"/>
          <p:cNvPicPr>
            <a:picLocks noChangeAspect="1"/>
          </p:cNvPicPr>
          <p:nvPr/>
        </p:nvPicPr>
        <p:blipFill>
          <a:blip r:embed="rId10"/>
          <a:stretch>
            <a:fillRect/>
          </a:stretch>
        </p:blipFill>
        <p:spPr>
          <a:xfrm>
            <a:off x="6637081" y="4351081"/>
            <a:ext cx="313822" cy="313822"/>
          </a:xfrm>
          <a:prstGeom prst="rect">
            <a:avLst/>
          </a:prstGeom>
        </p:spPr>
      </p:pic>
      <p:sp>
        <p:nvSpPr>
          <p:cNvPr id="36" name="Text 26"/>
          <p:cNvSpPr/>
          <p:nvPr/>
        </p:nvSpPr>
        <p:spPr>
          <a:xfrm>
            <a:off x="7232904" y="4224528"/>
            <a:ext cx="4206240"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We reframed the question</a:t>
            </a:r>
            <a:endParaRPr lang="en-US" sz="1500" dirty="0"/>
          </a:p>
        </p:txBody>
      </p:sp>
      <p:sp>
        <p:nvSpPr>
          <p:cNvPr id="37" name="Text 27"/>
          <p:cNvSpPr/>
          <p:nvPr/>
        </p:nvSpPr>
        <p:spPr>
          <a:xfrm>
            <a:off x="6492240" y="4903237"/>
            <a:ext cx="4937760" cy="1051560"/>
          </a:xfrm>
          <a:prstGeom prst="rect">
            <a:avLst/>
          </a:prstGeom>
          <a:noFill/>
          <a:ln/>
        </p:spPr>
        <p:txBody>
          <a:bodyPr wrap="square" lIns="0" tIns="0" rIns="0" bIns="0" rtlCol="0" anchor="t"/>
          <a:lstStyle/>
          <a:p>
            <a:pPr marL="0" indent="0">
              <a:lnSpc>
                <a:spcPct val="108000"/>
              </a:lnSpc>
              <a:buNone/>
            </a:pPr>
            <a:r>
              <a:rPr lang="en-US" sz="1250" i="1" dirty="0">
                <a:solidFill>
                  <a:srgbClr val="222222"/>
                </a:solidFill>
                <a:latin typeface="Poppins" pitchFamily="34" charset="0"/>
                <a:ea typeface="Poppins" pitchFamily="34" charset="-122"/>
                <a:cs typeface="Poppins" pitchFamily="34" charset="-120"/>
              </a:rPr>
              <a:t>Not “can we build another pricing model?” but “can we help hosts make better pricing decisions by combining accurate recommendations with clear explanations and real market comparisons?”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03 · THE DATASET</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One market, done properly: New York City</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Inside Airbnb ,  public, open-source data. We chose one market to build, test and evaluate.</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Jai</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4</a:t>
            </a:r>
            <a:endParaRPr lang="en-US" sz="900" dirty="0"/>
          </a:p>
        </p:txBody>
      </p:sp>
      <p:sp>
        <p:nvSpPr>
          <p:cNvPr id="12" name="Shape 8"/>
          <p:cNvSpPr/>
          <p:nvPr/>
        </p:nvSpPr>
        <p:spPr>
          <a:xfrm>
            <a:off x="502920" y="2286000"/>
            <a:ext cx="2880360" cy="1371600"/>
          </a:xfrm>
          <a:prstGeom prst="roundRect">
            <a:avLst>
              <a:gd name="adj" fmla="val 9333"/>
            </a:avLst>
          </a:prstGeom>
          <a:solidFill>
            <a:srgbClr val="F2F3F5"/>
          </a:solidFill>
          <a:ln/>
        </p:spPr>
        <p:txBody>
          <a:bodyPr/>
          <a:lstStyle/>
          <a:p>
            <a:endParaRPr lang="en-US"/>
          </a:p>
        </p:txBody>
      </p:sp>
      <p:sp>
        <p:nvSpPr>
          <p:cNvPr id="13" name="Text 9"/>
          <p:cNvSpPr/>
          <p:nvPr/>
        </p:nvSpPr>
        <p:spPr>
          <a:xfrm>
            <a:off x="594360" y="2523744"/>
            <a:ext cx="2697480" cy="685800"/>
          </a:xfrm>
          <a:prstGeom prst="rect">
            <a:avLst/>
          </a:prstGeom>
          <a:noFill/>
          <a:ln/>
        </p:spPr>
        <p:txBody>
          <a:bodyPr wrap="square" lIns="0" tIns="0" rIns="0" bIns="0" rtlCol="0" anchor="ctr"/>
          <a:lstStyle/>
          <a:p>
            <a:pPr marL="0" indent="0" algn="ctr">
              <a:buNone/>
            </a:pPr>
            <a:r>
              <a:rPr lang="en-US" sz="3700" b="1" dirty="0">
                <a:solidFill>
                  <a:srgbClr val="9AA0A6"/>
                </a:solidFill>
                <a:latin typeface="Poppins" pitchFamily="34" charset="0"/>
                <a:ea typeface="Poppins" pitchFamily="34" charset="-122"/>
                <a:cs typeface="Poppins" pitchFamily="34" charset="-120"/>
              </a:rPr>
              <a:t>30,259</a:t>
            </a:r>
            <a:endParaRPr lang="en-US" sz="3700" dirty="0"/>
          </a:p>
        </p:txBody>
      </p:sp>
      <p:sp>
        <p:nvSpPr>
          <p:cNvPr id="14" name="Text 10"/>
          <p:cNvSpPr/>
          <p:nvPr/>
        </p:nvSpPr>
        <p:spPr>
          <a:xfrm>
            <a:off x="594360" y="3200400"/>
            <a:ext cx="2697480" cy="365760"/>
          </a:xfrm>
          <a:prstGeom prst="rect">
            <a:avLst/>
          </a:prstGeom>
          <a:noFill/>
          <a:ln/>
        </p:spPr>
        <p:txBody>
          <a:bodyPr wrap="square" lIns="0" tIns="0" rIns="0" bIns="0" rtlCol="0" anchor="ctr"/>
          <a:lstStyle/>
          <a:p>
            <a:pPr marL="0" indent="0" algn="ctr">
              <a:buNone/>
            </a:pPr>
            <a:r>
              <a:rPr lang="en-US" sz="1200" dirty="0">
                <a:solidFill>
                  <a:srgbClr val="4A4A4A"/>
                </a:solidFill>
                <a:latin typeface="Poppins" pitchFamily="34" charset="0"/>
                <a:ea typeface="Poppins" pitchFamily="34" charset="-122"/>
                <a:cs typeface="Poppins" pitchFamily="34" charset="-120"/>
              </a:rPr>
              <a:t>raw listings scraped</a:t>
            </a:r>
            <a:endParaRPr lang="en-US" sz="1200" dirty="0"/>
          </a:p>
        </p:txBody>
      </p:sp>
      <p:sp>
        <p:nvSpPr>
          <p:cNvPr id="15" name="Text 11"/>
          <p:cNvSpPr/>
          <p:nvPr/>
        </p:nvSpPr>
        <p:spPr>
          <a:xfrm>
            <a:off x="3401568" y="2286000"/>
            <a:ext cx="530352" cy="1371600"/>
          </a:xfrm>
          <a:prstGeom prst="rect">
            <a:avLst/>
          </a:prstGeom>
          <a:noFill/>
          <a:ln/>
        </p:spPr>
        <p:txBody>
          <a:bodyPr wrap="square" lIns="0" tIns="0" rIns="0" bIns="0" rtlCol="0" anchor="ctr"/>
          <a:lstStyle/>
          <a:p>
            <a:pPr marL="0" indent="0" algn="ctr">
              <a:buNone/>
            </a:pPr>
            <a:r>
              <a:rPr lang="en-US" sz="2600" b="1" dirty="0">
                <a:solidFill>
                  <a:srgbClr val="9AA0A6"/>
                </a:solidFill>
                <a:latin typeface="Poppins" pitchFamily="34" charset="0"/>
                <a:ea typeface="Poppins" pitchFamily="34" charset="-122"/>
                <a:cs typeface="Poppins" pitchFamily="34" charset="-120"/>
              </a:rPr>
              <a:t>→</a:t>
            </a:r>
            <a:endParaRPr lang="en-US" sz="2600" dirty="0"/>
          </a:p>
        </p:txBody>
      </p:sp>
      <p:sp>
        <p:nvSpPr>
          <p:cNvPr id="16" name="Shape 12"/>
          <p:cNvSpPr/>
          <p:nvPr/>
        </p:nvSpPr>
        <p:spPr>
          <a:xfrm>
            <a:off x="3950208" y="2286000"/>
            <a:ext cx="2880360" cy="1371600"/>
          </a:xfrm>
          <a:prstGeom prst="roundRect">
            <a:avLst>
              <a:gd name="adj" fmla="val 9333"/>
            </a:avLst>
          </a:prstGeom>
          <a:solidFill>
            <a:srgbClr val="FFEEF2"/>
          </a:solidFill>
          <a:ln/>
        </p:spPr>
        <p:txBody>
          <a:bodyPr/>
          <a:lstStyle/>
          <a:p>
            <a:endParaRPr lang="en-US"/>
          </a:p>
        </p:txBody>
      </p:sp>
      <p:sp>
        <p:nvSpPr>
          <p:cNvPr id="17" name="Text 13"/>
          <p:cNvSpPr/>
          <p:nvPr/>
        </p:nvSpPr>
        <p:spPr>
          <a:xfrm>
            <a:off x="4041648" y="2523744"/>
            <a:ext cx="2697480" cy="685800"/>
          </a:xfrm>
          <a:prstGeom prst="rect">
            <a:avLst/>
          </a:prstGeom>
          <a:noFill/>
          <a:ln/>
        </p:spPr>
        <p:txBody>
          <a:bodyPr wrap="square" lIns="0" tIns="0" rIns="0" bIns="0" rtlCol="0" anchor="ctr"/>
          <a:lstStyle/>
          <a:p>
            <a:pPr marL="0" indent="0" algn="ctr">
              <a:buNone/>
            </a:pPr>
            <a:r>
              <a:rPr lang="en-US" sz="3700" b="1" dirty="0">
                <a:solidFill>
                  <a:srgbClr val="FF385C"/>
                </a:solidFill>
                <a:latin typeface="Poppins" pitchFamily="34" charset="0"/>
                <a:ea typeface="Poppins" pitchFamily="34" charset="-122"/>
                <a:cs typeface="Poppins" pitchFamily="34" charset="-120"/>
              </a:rPr>
              <a:t>9,752</a:t>
            </a:r>
            <a:endParaRPr lang="en-US" sz="3700" dirty="0"/>
          </a:p>
        </p:txBody>
      </p:sp>
      <p:sp>
        <p:nvSpPr>
          <p:cNvPr id="18" name="Text 14"/>
          <p:cNvSpPr/>
          <p:nvPr/>
        </p:nvSpPr>
        <p:spPr>
          <a:xfrm>
            <a:off x="4041648" y="3200400"/>
            <a:ext cx="2697480" cy="365760"/>
          </a:xfrm>
          <a:prstGeom prst="rect">
            <a:avLst/>
          </a:prstGeom>
          <a:noFill/>
          <a:ln/>
        </p:spPr>
        <p:txBody>
          <a:bodyPr wrap="square" lIns="0" tIns="0" rIns="0" bIns="0" rtlCol="0" anchor="ctr"/>
          <a:lstStyle/>
          <a:p>
            <a:pPr marL="0" indent="0" algn="ctr">
              <a:buNone/>
            </a:pPr>
            <a:r>
              <a:rPr lang="en-US" sz="1200" dirty="0">
                <a:solidFill>
                  <a:srgbClr val="4A4A4A"/>
                </a:solidFill>
                <a:latin typeface="Poppins" pitchFamily="34" charset="0"/>
                <a:ea typeface="Poppins" pitchFamily="34" charset="-122"/>
                <a:cs typeface="Poppins" pitchFamily="34" charset="-120"/>
              </a:rPr>
              <a:t>active listings (≈9,800)</a:t>
            </a:r>
            <a:endParaRPr lang="en-US" sz="1200" dirty="0"/>
          </a:p>
        </p:txBody>
      </p:sp>
      <p:sp>
        <p:nvSpPr>
          <p:cNvPr id="19" name="Text 15"/>
          <p:cNvSpPr/>
          <p:nvPr/>
        </p:nvSpPr>
        <p:spPr>
          <a:xfrm>
            <a:off x="6848856" y="2286000"/>
            <a:ext cx="530352" cy="1371600"/>
          </a:xfrm>
          <a:prstGeom prst="rect">
            <a:avLst/>
          </a:prstGeom>
          <a:noFill/>
          <a:ln/>
        </p:spPr>
        <p:txBody>
          <a:bodyPr wrap="square" lIns="0" tIns="0" rIns="0" bIns="0" rtlCol="0" anchor="ctr"/>
          <a:lstStyle/>
          <a:p>
            <a:pPr marL="0" indent="0" algn="ctr">
              <a:buNone/>
            </a:pPr>
            <a:r>
              <a:rPr lang="en-US" sz="2600" b="1" dirty="0">
                <a:solidFill>
                  <a:srgbClr val="9AA0A6"/>
                </a:solidFill>
                <a:latin typeface="Poppins" pitchFamily="34" charset="0"/>
                <a:ea typeface="Poppins" pitchFamily="34" charset="-122"/>
                <a:cs typeface="Poppins" pitchFamily="34" charset="-120"/>
              </a:rPr>
              <a:t>→</a:t>
            </a:r>
            <a:endParaRPr lang="en-US" sz="2600" dirty="0"/>
          </a:p>
        </p:txBody>
      </p:sp>
      <p:sp>
        <p:nvSpPr>
          <p:cNvPr id="20" name="Shape 16"/>
          <p:cNvSpPr/>
          <p:nvPr/>
        </p:nvSpPr>
        <p:spPr>
          <a:xfrm>
            <a:off x="7397496" y="2286000"/>
            <a:ext cx="2880360" cy="1371600"/>
          </a:xfrm>
          <a:prstGeom prst="roundRect">
            <a:avLst>
              <a:gd name="adj" fmla="val 9333"/>
            </a:avLst>
          </a:prstGeom>
          <a:solidFill>
            <a:srgbClr val="E6F6F4"/>
          </a:solidFill>
          <a:ln/>
        </p:spPr>
        <p:txBody>
          <a:bodyPr/>
          <a:lstStyle/>
          <a:p>
            <a:endParaRPr lang="en-US"/>
          </a:p>
        </p:txBody>
      </p:sp>
      <p:sp>
        <p:nvSpPr>
          <p:cNvPr id="21" name="Text 17"/>
          <p:cNvSpPr/>
          <p:nvPr/>
        </p:nvSpPr>
        <p:spPr>
          <a:xfrm>
            <a:off x="7488936" y="2523744"/>
            <a:ext cx="2697480" cy="685800"/>
          </a:xfrm>
          <a:prstGeom prst="rect">
            <a:avLst/>
          </a:prstGeom>
          <a:noFill/>
          <a:ln/>
        </p:spPr>
        <p:txBody>
          <a:bodyPr wrap="square" lIns="0" tIns="0" rIns="0" bIns="0" rtlCol="0" anchor="ctr"/>
          <a:lstStyle/>
          <a:p>
            <a:pPr marL="0" indent="0" algn="ctr">
              <a:buNone/>
            </a:pPr>
            <a:r>
              <a:rPr lang="en-US" sz="3700" b="1" dirty="0">
                <a:solidFill>
                  <a:srgbClr val="007A73"/>
                </a:solidFill>
                <a:latin typeface="Poppins" pitchFamily="34" charset="0"/>
                <a:ea typeface="Poppins" pitchFamily="34" charset="-122"/>
                <a:cs typeface="Poppins" pitchFamily="34" charset="-120"/>
              </a:rPr>
              <a:t>80</a:t>
            </a:r>
            <a:endParaRPr lang="en-US" sz="3700" dirty="0"/>
          </a:p>
        </p:txBody>
      </p:sp>
      <p:sp>
        <p:nvSpPr>
          <p:cNvPr id="22" name="Text 18"/>
          <p:cNvSpPr/>
          <p:nvPr/>
        </p:nvSpPr>
        <p:spPr>
          <a:xfrm>
            <a:off x="7488936" y="3200400"/>
            <a:ext cx="2697480" cy="365760"/>
          </a:xfrm>
          <a:prstGeom prst="rect">
            <a:avLst/>
          </a:prstGeom>
          <a:noFill/>
          <a:ln/>
        </p:spPr>
        <p:txBody>
          <a:bodyPr wrap="square" lIns="0" tIns="0" rIns="0" bIns="0" rtlCol="0" anchor="ctr"/>
          <a:lstStyle/>
          <a:p>
            <a:pPr marL="0" indent="0" algn="ctr">
              <a:buNone/>
            </a:pPr>
            <a:r>
              <a:rPr lang="en-US" sz="1200" dirty="0">
                <a:solidFill>
                  <a:srgbClr val="4A4A4A"/>
                </a:solidFill>
                <a:latin typeface="Poppins" pitchFamily="34" charset="0"/>
                <a:ea typeface="Poppins" pitchFamily="34" charset="-122"/>
                <a:cs typeface="Poppins" pitchFamily="34" charset="-120"/>
              </a:rPr>
              <a:t>engineered features</a:t>
            </a:r>
            <a:endParaRPr lang="en-US" sz="1200" dirty="0"/>
          </a:p>
        </p:txBody>
      </p:sp>
      <p:sp>
        <p:nvSpPr>
          <p:cNvPr id="23" name="Text 19"/>
          <p:cNvSpPr/>
          <p:nvPr/>
        </p:nvSpPr>
        <p:spPr>
          <a:xfrm>
            <a:off x="502920" y="3794760"/>
            <a:ext cx="11183112" cy="365760"/>
          </a:xfrm>
          <a:prstGeom prst="rect">
            <a:avLst/>
          </a:prstGeom>
          <a:noFill/>
          <a:ln/>
        </p:spPr>
        <p:txBody>
          <a:bodyPr wrap="square" lIns="0" tIns="0" rIns="0" bIns="0" rtlCol="0" anchor="ctr"/>
          <a:lstStyle/>
          <a:p>
            <a:pPr marL="0" indent="0" algn="ctr">
              <a:buNone/>
            </a:pPr>
            <a:r>
              <a:rPr lang="en-US" sz="1250" b="1" dirty="0">
                <a:solidFill>
                  <a:srgbClr val="222222"/>
                </a:solidFill>
                <a:latin typeface="Poppins" pitchFamily="34" charset="0"/>
                <a:ea typeface="Poppins" pitchFamily="34" charset="-122"/>
                <a:cs typeface="Poppins" pitchFamily="34" charset="-120"/>
              </a:rPr>
              <a:t>For each listing:  </a:t>
            </a:r>
            <a:r>
              <a:rPr lang="en-US" sz="1250" dirty="0">
                <a:solidFill>
                  <a:srgbClr val="4A4A4A"/>
                </a:solidFill>
                <a:latin typeface="Poppins" pitchFamily="34" charset="0"/>
                <a:ea typeface="Poppins" pitchFamily="34" charset="-122"/>
                <a:cs typeface="Poppins" pitchFamily="34" charset="-120"/>
              </a:rPr>
              <a:t>nightly price · availability · reviews · amenities · location · host characteristics.</a:t>
            </a:r>
            <a:endParaRPr lang="en-US" sz="1250" dirty="0"/>
          </a:p>
        </p:txBody>
      </p:sp>
      <p:sp>
        <p:nvSpPr>
          <p:cNvPr id="24" name="Shape 20"/>
          <p:cNvSpPr/>
          <p:nvPr/>
        </p:nvSpPr>
        <p:spPr>
          <a:xfrm>
            <a:off x="502920" y="4343400"/>
            <a:ext cx="3563112" cy="1691640"/>
          </a:xfrm>
          <a:prstGeom prst="roundRect">
            <a:avLst>
              <a:gd name="adj" fmla="val 75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Shape 21"/>
          <p:cNvSpPr/>
          <p:nvPr/>
        </p:nvSpPr>
        <p:spPr>
          <a:xfrm>
            <a:off x="758952" y="4599432"/>
            <a:ext cx="566928" cy="566928"/>
          </a:xfrm>
          <a:prstGeom prst="ellipse">
            <a:avLst/>
          </a:prstGeom>
          <a:solidFill>
            <a:srgbClr val="E6F6F4"/>
          </a:solidFill>
          <a:ln/>
        </p:spPr>
        <p:txBody>
          <a:bodyPr/>
          <a:lstStyle/>
          <a:p>
            <a:endParaRPr lang="en-US"/>
          </a:p>
        </p:txBody>
      </p:sp>
      <p:pic>
        <p:nvPicPr>
          <p:cNvPr id="26" name="Image 2" descr="/sessions/dreamy-trusting-noether/mnt/outputs/build/assets/filter_teal.png"/>
          <p:cNvPicPr>
            <a:picLocks noChangeAspect="1"/>
          </p:cNvPicPr>
          <p:nvPr/>
        </p:nvPicPr>
        <p:blipFill>
          <a:blip r:embed="rId5"/>
          <a:stretch>
            <a:fillRect/>
          </a:stretch>
        </p:blipFill>
        <p:spPr>
          <a:xfrm>
            <a:off x="895015" y="4735495"/>
            <a:ext cx="294803" cy="294803"/>
          </a:xfrm>
          <a:prstGeom prst="rect">
            <a:avLst/>
          </a:prstGeom>
        </p:spPr>
      </p:pic>
      <p:sp>
        <p:nvSpPr>
          <p:cNvPr id="27" name="Text 22"/>
          <p:cNvSpPr/>
          <p:nvPr/>
        </p:nvSpPr>
        <p:spPr>
          <a:xfrm>
            <a:off x="1435608" y="4672584"/>
            <a:ext cx="2465832" cy="365760"/>
          </a:xfrm>
          <a:prstGeom prst="rect">
            <a:avLst/>
          </a:prstGeom>
          <a:noFill/>
          <a:ln/>
        </p:spPr>
        <p:txBody>
          <a:bodyPr wrap="square" lIns="0" tIns="0" rIns="0" bIns="0" rtlCol="0" anchor="ctr"/>
          <a:lstStyle/>
          <a:p>
            <a:pPr marL="0" indent="0">
              <a:buNone/>
            </a:pPr>
            <a:r>
              <a:rPr lang="en-US" sz="1350" b="1" dirty="0">
                <a:solidFill>
                  <a:srgbClr val="222222"/>
                </a:solidFill>
                <a:latin typeface="Poppins" pitchFamily="34" charset="0"/>
                <a:ea typeface="Poppins" pitchFamily="34" charset="-122"/>
                <a:cs typeface="Poppins" pitchFamily="34" charset="-120"/>
              </a:rPr>
              <a:t>Clean &amp; prepare</a:t>
            </a:r>
            <a:endParaRPr lang="en-US" sz="1350" dirty="0"/>
          </a:p>
        </p:txBody>
      </p:sp>
      <p:sp>
        <p:nvSpPr>
          <p:cNvPr id="28" name="Text 23"/>
          <p:cNvSpPr/>
          <p:nvPr/>
        </p:nvSpPr>
        <p:spPr>
          <a:xfrm>
            <a:off x="777240" y="5312664"/>
            <a:ext cx="3014472" cy="658368"/>
          </a:xfrm>
          <a:prstGeom prst="rect">
            <a:avLst/>
          </a:prstGeom>
          <a:noFill/>
          <a:ln/>
        </p:spPr>
        <p:txBody>
          <a:bodyPr wrap="square" lIns="0" tIns="0" rIns="0" bIns="0" rtlCol="0" anchor="ctr"/>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Handle missing values, parse amenities, engineer features into a reliable modeling table.</a:t>
            </a:r>
            <a:endParaRPr lang="en-US" sz="1100" dirty="0"/>
          </a:p>
        </p:txBody>
      </p:sp>
      <p:sp>
        <p:nvSpPr>
          <p:cNvPr id="29" name="Shape 24"/>
          <p:cNvSpPr/>
          <p:nvPr/>
        </p:nvSpPr>
        <p:spPr>
          <a:xfrm>
            <a:off x="4312920" y="4343400"/>
            <a:ext cx="3563112" cy="1691640"/>
          </a:xfrm>
          <a:prstGeom prst="roundRect">
            <a:avLst>
              <a:gd name="adj" fmla="val 75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0" name="Shape 25"/>
          <p:cNvSpPr/>
          <p:nvPr/>
        </p:nvSpPr>
        <p:spPr>
          <a:xfrm>
            <a:off x="4568952" y="4599432"/>
            <a:ext cx="566928" cy="566928"/>
          </a:xfrm>
          <a:prstGeom prst="ellipse">
            <a:avLst/>
          </a:prstGeom>
          <a:solidFill>
            <a:srgbClr val="FFEEF2"/>
          </a:solidFill>
          <a:ln/>
        </p:spPr>
        <p:txBody>
          <a:bodyPr/>
          <a:lstStyle/>
          <a:p>
            <a:endParaRPr lang="en-US"/>
          </a:p>
        </p:txBody>
      </p:sp>
      <p:pic>
        <p:nvPicPr>
          <p:cNvPr id="31" name="Image 3" descr="/sessions/dreamy-trusting-noether/mnt/outputs/build/assets/search_coral.png"/>
          <p:cNvPicPr>
            <a:picLocks noChangeAspect="1"/>
          </p:cNvPicPr>
          <p:nvPr/>
        </p:nvPicPr>
        <p:blipFill>
          <a:blip r:embed="rId6"/>
          <a:stretch>
            <a:fillRect/>
          </a:stretch>
        </p:blipFill>
        <p:spPr>
          <a:xfrm>
            <a:off x="4705015" y="4735495"/>
            <a:ext cx="294803" cy="294803"/>
          </a:xfrm>
          <a:prstGeom prst="rect">
            <a:avLst/>
          </a:prstGeom>
        </p:spPr>
      </p:pic>
      <p:sp>
        <p:nvSpPr>
          <p:cNvPr id="32" name="Text 26"/>
          <p:cNvSpPr/>
          <p:nvPr/>
        </p:nvSpPr>
        <p:spPr>
          <a:xfrm>
            <a:off x="5245608" y="4672584"/>
            <a:ext cx="2465832" cy="365760"/>
          </a:xfrm>
          <a:prstGeom prst="rect">
            <a:avLst/>
          </a:prstGeom>
          <a:noFill/>
          <a:ln/>
        </p:spPr>
        <p:txBody>
          <a:bodyPr wrap="square" lIns="0" tIns="0" rIns="0" bIns="0" rtlCol="0" anchor="ctr"/>
          <a:lstStyle/>
          <a:p>
            <a:pPr marL="0" indent="0">
              <a:buNone/>
            </a:pPr>
            <a:r>
              <a:rPr lang="en-US" sz="1350" b="1" dirty="0">
                <a:solidFill>
                  <a:srgbClr val="222222"/>
                </a:solidFill>
                <a:latin typeface="Poppins" pitchFamily="34" charset="0"/>
                <a:ea typeface="Poppins" pitchFamily="34" charset="-122"/>
                <a:cs typeface="Poppins" pitchFamily="34" charset="-120"/>
              </a:rPr>
              <a:t>Understand first</a:t>
            </a:r>
            <a:endParaRPr lang="en-US" sz="1350" dirty="0"/>
          </a:p>
        </p:txBody>
      </p:sp>
      <p:sp>
        <p:nvSpPr>
          <p:cNvPr id="33" name="Text 27"/>
          <p:cNvSpPr/>
          <p:nvPr/>
        </p:nvSpPr>
        <p:spPr>
          <a:xfrm>
            <a:off x="4587240" y="5312664"/>
            <a:ext cx="3014472" cy="658368"/>
          </a:xfrm>
          <a:prstGeom prst="rect">
            <a:avLst/>
          </a:prstGeom>
          <a:noFill/>
          <a:ln/>
        </p:spPr>
        <p:txBody>
          <a:bodyPr wrap="square" lIns="0" tIns="0" rIns="0" bIns="0" rtlCol="0" anchor="ctr"/>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Before modeling: which variables matter, and what relationships already exist in the data?</a:t>
            </a:r>
            <a:endParaRPr lang="en-US" sz="1100" dirty="0"/>
          </a:p>
        </p:txBody>
      </p:sp>
      <p:sp>
        <p:nvSpPr>
          <p:cNvPr id="34" name="Shape 28"/>
          <p:cNvSpPr/>
          <p:nvPr/>
        </p:nvSpPr>
        <p:spPr>
          <a:xfrm>
            <a:off x="8122920" y="4343400"/>
            <a:ext cx="3563112" cy="1691640"/>
          </a:xfrm>
          <a:prstGeom prst="roundRect">
            <a:avLst>
              <a:gd name="adj" fmla="val 75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5" name="Shape 29"/>
          <p:cNvSpPr/>
          <p:nvPr/>
        </p:nvSpPr>
        <p:spPr>
          <a:xfrm>
            <a:off x="8378952" y="4599432"/>
            <a:ext cx="566928" cy="566928"/>
          </a:xfrm>
          <a:prstGeom prst="ellipse">
            <a:avLst/>
          </a:prstGeom>
          <a:solidFill>
            <a:srgbClr val="E6F6F4"/>
          </a:solidFill>
          <a:ln/>
        </p:spPr>
        <p:txBody>
          <a:bodyPr/>
          <a:lstStyle/>
          <a:p>
            <a:endParaRPr lang="en-US"/>
          </a:p>
        </p:txBody>
      </p:sp>
      <p:pic>
        <p:nvPicPr>
          <p:cNvPr id="36" name="Image 4" descr="/sessions/dreamy-trusting-noether/mnt/outputs/build/assets/bar_teal.png"/>
          <p:cNvPicPr>
            <a:picLocks noChangeAspect="1"/>
          </p:cNvPicPr>
          <p:nvPr/>
        </p:nvPicPr>
        <p:blipFill>
          <a:blip r:embed="rId7"/>
          <a:stretch>
            <a:fillRect/>
          </a:stretch>
        </p:blipFill>
        <p:spPr>
          <a:xfrm>
            <a:off x="8515015" y="4735495"/>
            <a:ext cx="294803" cy="294803"/>
          </a:xfrm>
          <a:prstGeom prst="rect">
            <a:avLst/>
          </a:prstGeom>
        </p:spPr>
      </p:pic>
      <p:sp>
        <p:nvSpPr>
          <p:cNvPr id="37" name="Text 30"/>
          <p:cNvSpPr/>
          <p:nvPr/>
        </p:nvSpPr>
        <p:spPr>
          <a:xfrm>
            <a:off x="9055608" y="4672584"/>
            <a:ext cx="2465832" cy="365760"/>
          </a:xfrm>
          <a:prstGeom prst="rect">
            <a:avLst/>
          </a:prstGeom>
          <a:noFill/>
          <a:ln/>
        </p:spPr>
        <p:txBody>
          <a:bodyPr wrap="square" lIns="0" tIns="0" rIns="0" bIns="0" rtlCol="0" anchor="ctr"/>
          <a:lstStyle/>
          <a:p>
            <a:pPr marL="0" indent="0">
              <a:buNone/>
            </a:pPr>
            <a:r>
              <a:rPr lang="en-US" sz="1350" b="1" dirty="0">
                <a:solidFill>
                  <a:srgbClr val="222222"/>
                </a:solidFill>
                <a:latin typeface="Poppins" pitchFamily="34" charset="0"/>
                <a:ea typeface="Poppins" pitchFamily="34" charset="-122"/>
                <a:cs typeface="Poppins" pitchFamily="34" charset="-120"/>
              </a:rPr>
              <a:t>Then model</a:t>
            </a:r>
            <a:endParaRPr lang="en-US" sz="1350" dirty="0"/>
          </a:p>
        </p:txBody>
      </p:sp>
      <p:sp>
        <p:nvSpPr>
          <p:cNvPr id="38" name="Text 31"/>
          <p:cNvSpPr/>
          <p:nvPr/>
        </p:nvSpPr>
        <p:spPr>
          <a:xfrm>
            <a:off x="8397240" y="5312664"/>
            <a:ext cx="3014472" cy="658368"/>
          </a:xfrm>
          <a:prstGeom prst="rect">
            <a:avLst/>
          </a:prstGeom>
          <a:noFill/>
          <a:ln/>
        </p:spPr>
        <p:txBody>
          <a:bodyPr wrap="square" lIns="0" tIns="0" rIns="0" bIns="0" rtlCol="0" anchor="ctr"/>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Only once we understood the data did we move to machine learning ,  starting with EDA.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04 · KEY VARIABLES (EDA)</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One market, or two?</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The dataset splits almost evenly ,  and the two halves behave nothing alike.</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Rachael</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5</a:t>
            </a:r>
            <a:endParaRPr lang="en-US" sz="900" dirty="0"/>
          </a:p>
        </p:txBody>
      </p:sp>
      <p:sp>
        <p:nvSpPr>
          <p:cNvPr id="37" name="Shape 33"/>
          <p:cNvSpPr/>
          <p:nvPr/>
        </p:nvSpPr>
        <p:spPr>
          <a:xfrm>
            <a:off x="8001000" y="2286000"/>
            <a:ext cx="3685032" cy="3657600"/>
          </a:xfrm>
          <a:prstGeom prst="roundRect">
            <a:avLst>
              <a:gd name="adj" fmla="val 350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8" name="Shape 34"/>
          <p:cNvSpPr/>
          <p:nvPr/>
        </p:nvSpPr>
        <p:spPr>
          <a:xfrm>
            <a:off x="8275320" y="2560320"/>
            <a:ext cx="603504" cy="603504"/>
          </a:xfrm>
          <a:prstGeom prst="ellipse">
            <a:avLst/>
          </a:prstGeom>
          <a:solidFill>
            <a:srgbClr val="FFFFFF"/>
          </a:solidFill>
          <a:ln/>
        </p:spPr>
        <p:txBody>
          <a:bodyPr/>
          <a:lstStyle/>
          <a:p>
            <a:endParaRPr lang="en-US"/>
          </a:p>
        </p:txBody>
      </p:sp>
      <p:pic>
        <p:nvPicPr>
          <p:cNvPr id="39" name="Image 2" descr="/sessions/dreamy-trusting-noether/mnt/outputs/build/assets/bulb_coral.png"/>
          <p:cNvPicPr>
            <a:picLocks noChangeAspect="1"/>
          </p:cNvPicPr>
          <p:nvPr/>
        </p:nvPicPr>
        <p:blipFill>
          <a:blip r:embed="rId5"/>
          <a:stretch>
            <a:fillRect/>
          </a:stretch>
        </p:blipFill>
        <p:spPr>
          <a:xfrm>
            <a:off x="8420161" y="2705161"/>
            <a:ext cx="313822" cy="313822"/>
          </a:xfrm>
          <a:prstGeom prst="rect">
            <a:avLst/>
          </a:prstGeom>
        </p:spPr>
      </p:pic>
      <p:sp>
        <p:nvSpPr>
          <p:cNvPr id="40" name="Text 35"/>
          <p:cNvSpPr/>
          <p:nvPr/>
        </p:nvSpPr>
        <p:spPr>
          <a:xfrm>
            <a:off x="9006840" y="2578608"/>
            <a:ext cx="2560320"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Why this decides everything</a:t>
            </a:r>
            <a:endParaRPr lang="en-US" sz="1500" dirty="0"/>
          </a:p>
        </p:txBody>
      </p:sp>
      <p:sp>
        <p:nvSpPr>
          <p:cNvPr id="41" name="Text 36"/>
          <p:cNvSpPr/>
          <p:nvPr/>
        </p:nvSpPr>
        <p:spPr>
          <a:xfrm>
            <a:off x="8275320" y="3383280"/>
            <a:ext cx="3200400" cy="914400"/>
          </a:xfrm>
          <a:prstGeom prst="rect">
            <a:avLst/>
          </a:prstGeom>
          <a:noFill/>
          <a:ln/>
        </p:spPr>
        <p:txBody>
          <a:bodyPr wrap="square" lIns="0" tIns="0" rIns="0" bIns="0" rtlCol="0" anchor="t"/>
          <a:lstStyle/>
          <a:p>
            <a:pPr marL="0" indent="0">
              <a:lnSpc>
                <a:spcPct val="106000"/>
              </a:lnSpc>
              <a:buNone/>
            </a:pPr>
            <a:r>
              <a:rPr lang="en-US" sz="1250" dirty="0">
                <a:solidFill>
                  <a:srgbClr val="4A4A4A"/>
                </a:solidFill>
                <a:latin typeface="Poppins" pitchFamily="34" charset="0"/>
                <a:ea typeface="Poppins" pitchFamily="34" charset="-122"/>
                <a:cs typeface="Poppins" pitchFamily="34" charset="-120"/>
              </a:rPr>
              <a:t>A monthly renter commits to one property and barely shops on nightly rate. A weekend guest compares five listings in an hour.</a:t>
            </a:r>
            <a:endParaRPr lang="en-US" sz="1250" dirty="0"/>
          </a:p>
        </p:txBody>
      </p:sp>
      <p:sp>
        <p:nvSpPr>
          <p:cNvPr id="42" name="Text 37"/>
          <p:cNvSpPr/>
          <p:nvPr/>
        </p:nvSpPr>
        <p:spPr>
          <a:xfrm>
            <a:off x="8275320" y="4434840"/>
            <a:ext cx="3200400" cy="1371600"/>
          </a:xfrm>
          <a:prstGeom prst="rect">
            <a:avLst/>
          </a:prstGeom>
          <a:noFill/>
          <a:ln/>
        </p:spPr>
        <p:txBody>
          <a:bodyPr wrap="square" lIns="0" tIns="0" rIns="0" bIns="0" rtlCol="0" anchor="t"/>
          <a:lstStyle/>
          <a:p>
            <a:pPr marL="0" indent="0">
              <a:lnSpc>
                <a:spcPct val="106000"/>
              </a:lnSpc>
              <a:buNone/>
            </a:pPr>
            <a:r>
              <a:rPr lang="en-US" sz="1250" b="1" dirty="0">
                <a:solidFill>
                  <a:srgbClr val="222222"/>
                </a:solidFill>
                <a:latin typeface="Poppins" pitchFamily="34" charset="0"/>
                <a:ea typeface="Poppins" pitchFamily="34" charset="-122"/>
                <a:cs typeface="Poppins" pitchFamily="34" charset="-120"/>
              </a:rPr>
              <a:t>So we model them separately. </a:t>
            </a:r>
            <a:r>
              <a:rPr lang="en-US" sz="1250" dirty="0">
                <a:solidFill>
                  <a:srgbClr val="4A4A4A"/>
                </a:solidFill>
                <a:latin typeface="Poppins" pitchFamily="34" charset="0"/>
                <a:ea typeface="Poppins" pitchFamily="34" charset="-122"/>
                <a:cs typeface="Poppins" pitchFamily="34" charset="-120"/>
              </a:rPr>
              <a:t>Two engines, two sets of comparables, two elasticities. Every number that follows is segment-aware.</a:t>
            </a:r>
            <a:endParaRPr lang="en-US" sz="1250" dirty="0"/>
          </a:p>
        </p:txBody>
      </p:sp>
      <p:sp>
        <p:nvSpPr>
          <p:cNvPr id="43" name="Rounded Rectangle 42"/>
          <p:cNvSpPr/>
          <p:nvPr/>
        </p:nvSpPr>
        <p:spPr>
          <a:xfrm>
            <a:off x="640080" y="2240280"/>
            <a:ext cx="3337560" cy="3246120"/>
          </a:xfrm>
          <a:prstGeom prst="roundRect">
            <a:avLst>
              <a:gd name="adj" fmla="val 5000"/>
            </a:avLst>
          </a:prstGeom>
          <a:solidFill>
            <a:srgbClr val="FF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32688" y="2542032"/>
            <a:ext cx="2743200" cy="320040"/>
          </a:xfrm>
          <a:prstGeom prst="rect">
            <a:avLst/>
          </a:prstGeom>
          <a:noFill/>
        </p:spPr>
        <p:txBody>
          <a:bodyPr wrap="square" lIns="0" tIns="0" rIns="0" bIns="0">
            <a:spAutoFit/>
          </a:bodyPr>
          <a:lstStyle/>
          <a:p>
            <a:pPr algn="l"/>
            <a:r>
              <a:rPr sz="1500" b="1">
                <a:solidFill>
                  <a:srgbClr val="FF385C"/>
                </a:solidFill>
                <a:latin typeface="Poppins"/>
              </a:rPr>
              <a:t>SHORT-STAY</a:t>
            </a:r>
          </a:p>
        </p:txBody>
      </p:sp>
      <p:sp>
        <p:nvSpPr>
          <p:cNvPr id="45" name="TextBox 44"/>
          <p:cNvSpPr txBox="1"/>
          <p:nvPr/>
        </p:nvSpPr>
        <p:spPr>
          <a:xfrm>
            <a:off x="932688" y="3035808"/>
            <a:ext cx="2743200" cy="438912"/>
          </a:xfrm>
          <a:prstGeom prst="rect">
            <a:avLst/>
          </a:prstGeom>
          <a:noFill/>
        </p:spPr>
        <p:txBody>
          <a:bodyPr wrap="square" lIns="0" tIns="0" rIns="0" bIns="0">
            <a:spAutoFit/>
          </a:bodyPr>
          <a:lstStyle/>
          <a:p>
            <a:pPr algn="l"/>
            <a:r>
              <a:rPr sz="2500" b="1">
                <a:solidFill>
                  <a:srgbClr val="222222"/>
                </a:solidFill>
                <a:latin typeface="Poppins"/>
              </a:rPr>
              <a:t>4,008</a:t>
            </a:r>
          </a:p>
        </p:txBody>
      </p:sp>
      <p:sp>
        <p:nvSpPr>
          <p:cNvPr id="46" name="TextBox 45"/>
          <p:cNvSpPr txBox="1"/>
          <p:nvPr/>
        </p:nvSpPr>
        <p:spPr>
          <a:xfrm>
            <a:off x="932688" y="3456432"/>
            <a:ext cx="2743200" cy="256032"/>
          </a:xfrm>
          <a:prstGeom prst="rect">
            <a:avLst/>
          </a:prstGeom>
          <a:noFill/>
        </p:spPr>
        <p:txBody>
          <a:bodyPr wrap="square" lIns="0" tIns="0" rIns="0" bIns="0">
            <a:spAutoFit/>
          </a:bodyPr>
          <a:lstStyle/>
          <a:p>
            <a:pPr algn="l"/>
            <a:r>
              <a:rPr sz="1100" b="0">
                <a:solidFill>
                  <a:srgbClr val="717171"/>
                </a:solidFill>
                <a:latin typeface="Poppins"/>
              </a:rPr>
              <a:t>listings  ·  41% of the market</a:t>
            </a:r>
          </a:p>
        </p:txBody>
      </p:sp>
      <p:sp>
        <p:nvSpPr>
          <p:cNvPr id="47" name="TextBox 46"/>
          <p:cNvSpPr txBox="1"/>
          <p:nvPr/>
        </p:nvSpPr>
        <p:spPr>
          <a:xfrm>
            <a:off x="932688" y="3822191"/>
            <a:ext cx="2743200" cy="438912"/>
          </a:xfrm>
          <a:prstGeom prst="rect">
            <a:avLst/>
          </a:prstGeom>
          <a:noFill/>
        </p:spPr>
        <p:txBody>
          <a:bodyPr wrap="square" lIns="0" tIns="0" rIns="0" bIns="0">
            <a:spAutoFit/>
          </a:bodyPr>
          <a:lstStyle/>
          <a:p>
            <a:pPr algn="l"/>
            <a:r>
              <a:rPr sz="2500" b="1">
                <a:solidFill>
                  <a:srgbClr val="222222"/>
                </a:solidFill>
                <a:latin typeface="Poppins"/>
              </a:rPr>
              <a:t>$284</a:t>
            </a:r>
          </a:p>
        </p:txBody>
      </p:sp>
      <p:sp>
        <p:nvSpPr>
          <p:cNvPr id="48" name="TextBox 47"/>
          <p:cNvSpPr txBox="1"/>
          <p:nvPr/>
        </p:nvSpPr>
        <p:spPr>
          <a:xfrm>
            <a:off x="932688" y="4242816"/>
            <a:ext cx="2743200" cy="256032"/>
          </a:xfrm>
          <a:prstGeom prst="rect">
            <a:avLst/>
          </a:prstGeom>
          <a:noFill/>
        </p:spPr>
        <p:txBody>
          <a:bodyPr wrap="square" lIns="0" tIns="0" rIns="0" bIns="0">
            <a:spAutoFit/>
          </a:bodyPr>
          <a:lstStyle/>
          <a:p>
            <a:pPr algn="l"/>
            <a:r>
              <a:rPr sz="1100" b="0">
                <a:solidFill>
                  <a:srgbClr val="717171"/>
                </a:solidFill>
                <a:latin typeface="Poppins"/>
              </a:rPr>
              <a:t>median nightly rate</a:t>
            </a:r>
          </a:p>
        </p:txBody>
      </p:sp>
      <p:sp>
        <p:nvSpPr>
          <p:cNvPr id="49" name="TextBox 48"/>
          <p:cNvSpPr txBox="1"/>
          <p:nvPr/>
        </p:nvSpPr>
        <p:spPr>
          <a:xfrm>
            <a:off x="932688" y="4608576"/>
            <a:ext cx="2743200" cy="438912"/>
          </a:xfrm>
          <a:prstGeom prst="rect">
            <a:avLst/>
          </a:prstGeom>
          <a:noFill/>
        </p:spPr>
        <p:txBody>
          <a:bodyPr wrap="square" lIns="0" tIns="0" rIns="0" bIns="0">
            <a:spAutoFit/>
          </a:bodyPr>
          <a:lstStyle/>
          <a:p>
            <a:pPr algn="l"/>
            <a:r>
              <a:rPr sz="2500" b="1">
                <a:solidFill>
                  <a:srgbClr val="222222"/>
                </a:solidFill>
                <a:latin typeface="Poppins"/>
              </a:rPr>
              <a:t>−0.92</a:t>
            </a:r>
          </a:p>
        </p:txBody>
      </p:sp>
      <p:sp>
        <p:nvSpPr>
          <p:cNvPr id="50" name="TextBox 49"/>
          <p:cNvSpPr txBox="1"/>
          <p:nvPr/>
        </p:nvSpPr>
        <p:spPr>
          <a:xfrm>
            <a:off x="932688" y="5029200"/>
            <a:ext cx="2743200" cy="169277"/>
          </a:xfrm>
          <a:prstGeom prst="rect">
            <a:avLst/>
          </a:prstGeom>
          <a:noFill/>
        </p:spPr>
        <p:txBody>
          <a:bodyPr wrap="square" lIns="0" tIns="0" rIns="0" bIns="0">
            <a:spAutoFit/>
          </a:bodyPr>
          <a:lstStyle/>
          <a:p>
            <a:pPr algn="l"/>
            <a:r>
              <a:rPr sz="1100" b="0" dirty="0">
                <a:solidFill>
                  <a:srgbClr val="717171"/>
                </a:solidFill>
                <a:latin typeface="Poppins"/>
              </a:rPr>
              <a:t>price elasticity </a:t>
            </a:r>
            <a:r>
              <a:rPr lang="en-US" sz="1100" b="0" dirty="0">
                <a:solidFill>
                  <a:srgbClr val="717171"/>
                </a:solidFill>
                <a:latin typeface="Poppins"/>
              </a:rPr>
              <a:t>, </a:t>
            </a:r>
            <a:r>
              <a:rPr sz="1100" b="0" dirty="0">
                <a:solidFill>
                  <a:srgbClr val="717171"/>
                </a:solidFill>
                <a:latin typeface="Poppins"/>
              </a:rPr>
              <a:t> measured</a:t>
            </a:r>
          </a:p>
        </p:txBody>
      </p:sp>
      <p:sp>
        <p:nvSpPr>
          <p:cNvPr id="51" name="Rounded Rectangle 50"/>
          <p:cNvSpPr/>
          <p:nvPr/>
        </p:nvSpPr>
        <p:spPr>
          <a:xfrm>
            <a:off x="4251960" y="2240280"/>
            <a:ext cx="3337560" cy="3246120"/>
          </a:xfrm>
          <a:prstGeom prst="roundRect">
            <a:avLst>
              <a:gd name="adj" fmla="val 5000"/>
            </a:avLst>
          </a:prstGeom>
          <a:solidFill>
            <a:srgbClr val="E8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544568" y="2542032"/>
            <a:ext cx="2743200" cy="320040"/>
          </a:xfrm>
          <a:prstGeom prst="rect">
            <a:avLst/>
          </a:prstGeom>
          <a:noFill/>
        </p:spPr>
        <p:txBody>
          <a:bodyPr wrap="square" lIns="0" tIns="0" rIns="0" bIns="0">
            <a:spAutoFit/>
          </a:bodyPr>
          <a:lstStyle/>
          <a:p>
            <a:pPr algn="l"/>
            <a:r>
              <a:rPr sz="1500" b="1">
                <a:solidFill>
                  <a:srgbClr val="00A699"/>
                </a:solidFill>
                <a:latin typeface="Poppins"/>
              </a:rPr>
              <a:t>MONTHLY  (28+ nights)</a:t>
            </a:r>
          </a:p>
        </p:txBody>
      </p:sp>
      <p:sp>
        <p:nvSpPr>
          <p:cNvPr id="53" name="TextBox 52"/>
          <p:cNvSpPr txBox="1"/>
          <p:nvPr/>
        </p:nvSpPr>
        <p:spPr>
          <a:xfrm>
            <a:off x="4544568" y="3035808"/>
            <a:ext cx="2743200" cy="438912"/>
          </a:xfrm>
          <a:prstGeom prst="rect">
            <a:avLst/>
          </a:prstGeom>
          <a:noFill/>
        </p:spPr>
        <p:txBody>
          <a:bodyPr wrap="square" lIns="0" tIns="0" rIns="0" bIns="0">
            <a:spAutoFit/>
          </a:bodyPr>
          <a:lstStyle/>
          <a:p>
            <a:pPr algn="l"/>
            <a:r>
              <a:rPr sz="2500" b="1">
                <a:solidFill>
                  <a:srgbClr val="222222"/>
                </a:solidFill>
                <a:latin typeface="Poppins"/>
              </a:rPr>
              <a:t>5,744</a:t>
            </a:r>
          </a:p>
        </p:txBody>
      </p:sp>
      <p:sp>
        <p:nvSpPr>
          <p:cNvPr id="54" name="TextBox 53"/>
          <p:cNvSpPr txBox="1"/>
          <p:nvPr/>
        </p:nvSpPr>
        <p:spPr>
          <a:xfrm>
            <a:off x="4544568" y="3456432"/>
            <a:ext cx="2743200" cy="256032"/>
          </a:xfrm>
          <a:prstGeom prst="rect">
            <a:avLst/>
          </a:prstGeom>
          <a:noFill/>
        </p:spPr>
        <p:txBody>
          <a:bodyPr wrap="square" lIns="0" tIns="0" rIns="0" bIns="0">
            <a:spAutoFit/>
          </a:bodyPr>
          <a:lstStyle/>
          <a:p>
            <a:pPr algn="l"/>
            <a:r>
              <a:rPr sz="1100" b="0">
                <a:solidFill>
                  <a:srgbClr val="717171"/>
                </a:solidFill>
                <a:latin typeface="Poppins"/>
              </a:rPr>
              <a:t>listings  ·  59% of the market</a:t>
            </a:r>
          </a:p>
        </p:txBody>
      </p:sp>
      <p:sp>
        <p:nvSpPr>
          <p:cNvPr id="55" name="TextBox 54"/>
          <p:cNvSpPr txBox="1"/>
          <p:nvPr/>
        </p:nvSpPr>
        <p:spPr>
          <a:xfrm>
            <a:off x="4544568" y="3822191"/>
            <a:ext cx="2743200" cy="438912"/>
          </a:xfrm>
          <a:prstGeom prst="rect">
            <a:avLst/>
          </a:prstGeom>
          <a:noFill/>
        </p:spPr>
        <p:txBody>
          <a:bodyPr wrap="square" lIns="0" tIns="0" rIns="0" bIns="0">
            <a:spAutoFit/>
          </a:bodyPr>
          <a:lstStyle/>
          <a:p>
            <a:pPr algn="l"/>
            <a:r>
              <a:rPr sz="2500" b="1">
                <a:solidFill>
                  <a:srgbClr val="222222"/>
                </a:solidFill>
                <a:latin typeface="Poppins"/>
              </a:rPr>
              <a:t>$131</a:t>
            </a:r>
          </a:p>
        </p:txBody>
      </p:sp>
      <p:sp>
        <p:nvSpPr>
          <p:cNvPr id="56" name="TextBox 55"/>
          <p:cNvSpPr txBox="1"/>
          <p:nvPr/>
        </p:nvSpPr>
        <p:spPr>
          <a:xfrm>
            <a:off x="4544568" y="4242816"/>
            <a:ext cx="2743200" cy="256032"/>
          </a:xfrm>
          <a:prstGeom prst="rect">
            <a:avLst/>
          </a:prstGeom>
          <a:noFill/>
        </p:spPr>
        <p:txBody>
          <a:bodyPr wrap="square" lIns="0" tIns="0" rIns="0" bIns="0">
            <a:spAutoFit/>
          </a:bodyPr>
          <a:lstStyle/>
          <a:p>
            <a:pPr algn="l"/>
            <a:r>
              <a:rPr sz="1100" b="0">
                <a:solidFill>
                  <a:srgbClr val="717171"/>
                </a:solidFill>
                <a:latin typeface="Poppins"/>
              </a:rPr>
              <a:t>median nightly rate</a:t>
            </a:r>
          </a:p>
        </p:txBody>
      </p:sp>
      <p:sp>
        <p:nvSpPr>
          <p:cNvPr id="57" name="TextBox 56"/>
          <p:cNvSpPr txBox="1"/>
          <p:nvPr/>
        </p:nvSpPr>
        <p:spPr>
          <a:xfrm>
            <a:off x="4544568" y="4608576"/>
            <a:ext cx="2743200" cy="438912"/>
          </a:xfrm>
          <a:prstGeom prst="rect">
            <a:avLst/>
          </a:prstGeom>
          <a:noFill/>
        </p:spPr>
        <p:txBody>
          <a:bodyPr wrap="square" lIns="0" tIns="0" rIns="0" bIns="0">
            <a:spAutoFit/>
          </a:bodyPr>
          <a:lstStyle/>
          <a:p>
            <a:pPr algn="l"/>
            <a:r>
              <a:rPr sz="2500" b="1">
                <a:solidFill>
                  <a:srgbClr val="222222"/>
                </a:solidFill>
                <a:latin typeface="Poppins"/>
              </a:rPr>
              <a:t>none</a:t>
            </a:r>
          </a:p>
        </p:txBody>
      </p:sp>
      <p:sp>
        <p:nvSpPr>
          <p:cNvPr id="58" name="TextBox 57"/>
          <p:cNvSpPr txBox="1"/>
          <p:nvPr/>
        </p:nvSpPr>
        <p:spPr>
          <a:xfrm>
            <a:off x="4544568" y="5029200"/>
            <a:ext cx="2743200" cy="256032"/>
          </a:xfrm>
          <a:prstGeom prst="rect">
            <a:avLst/>
          </a:prstGeom>
          <a:noFill/>
        </p:spPr>
        <p:txBody>
          <a:bodyPr wrap="square" lIns="0" tIns="0" rIns="0" bIns="0">
            <a:spAutoFit/>
          </a:bodyPr>
          <a:lstStyle/>
          <a:p>
            <a:pPr algn="l"/>
            <a:r>
              <a:rPr sz="1100" b="0">
                <a:solidFill>
                  <a:srgbClr val="717171"/>
                </a:solidFill>
                <a:latin typeface="Poppins"/>
              </a:rPr>
              <a:t>no price response detected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05 · A KEY RELATIONSHIP</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Pricing isn't the only thing driving demand</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Reputation and quality move occupancy too ,  so we shouldn't treat price as the only lever.</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Rachael</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6</a:t>
            </a:r>
            <a:endParaRPr lang="en-US" sz="900" dirty="0"/>
          </a:p>
        </p:txBody>
      </p:sp>
      <p:sp>
        <p:nvSpPr>
          <p:cNvPr id="12" name="Shape 8"/>
          <p:cNvSpPr/>
          <p:nvPr/>
        </p:nvSpPr>
        <p:spPr>
          <a:xfrm>
            <a:off x="502920" y="2240280"/>
            <a:ext cx="5577840" cy="3794760"/>
          </a:xfrm>
          <a:prstGeom prst="roundRect">
            <a:avLst>
              <a:gd name="adj" fmla="val 3373"/>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Text 9"/>
          <p:cNvSpPr/>
          <p:nvPr/>
        </p:nvSpPr>
        <p:spPr>
          <a:xfrm>
            <a:off x="731520" y="2395728"/>
            <a:ext cx="5120640" cy="365760"/>
          </a:xfrm>
          <a:prstGeom prst="rect">
            <a:avLst/>
          </a:prstGeom>
          <a:noFill/>
          <a:ln/>
        </p:spPr>
        <p:txBody>
          <a:bodyPr wrap="square" lIns="0" tIns="0" rIns="0" bIns="0" rtlCol="0" anchor="ctr"/>
          <a:lstStyle/>
          <a:p>
            <a:pPr marL="0" indent="0">
              <a:buNone/>
            </a:pPr>
            <a:r>
              <a:rPr lang="en-US" sz="1350" b="1" dirty="0">
                <a:solidFill>
                  <a:srgbClr val="222222"/>
                </a:solidFill>
                <a:latin typeface="Poppins" pitchFamily="34" charset="0"/>
                <a:ea typeface="Poppins" pitchFamily="34" charset="-122"/>
                <a:cs typeface="Poppins" pitchFamily="34" charset="-120"/>
              </a:rPr>
              <a:t>Occupancy rises with a host's track record</a:t>
            </a:r>
            <a:endParaRPr lang="en-US" sz="1350" dirty="0"/>
          </a:p>
        </p:txBody>
      </p:sp>
      <p:sp>
        <p:nvSpPr>
          <p:cNvPr id="14" name="Shape 10"/>
          <p:cNvSpPr/>
          <p:nvPr/>
        </p:nvSpPr>
        <p:spPr>
          <a:xfrm>
            <a:off x="1051560" y="3588921"/>
            <a:ext cx="1188720" cy="1440279"/>
          </a:xfrm>
          <a:prstGeom prst="roundRect">
            <a:avLst>
              <a:gd name="adj" fmla="val 6154"/>
            </a:avLst>
          </a:prstGeom>
          <a:solidFill>
            <a:srgbClr val="9AA0A6"/>
          </a:solidFill>
          <a:ln/>
        </p:spPr>
        <p:txBody>
          <a:bodyPr/>
          <a:lstStyle/>
          <a:p>
            <a:endParaRPr lang="en-US"/>
          </a:p>
        </p:txBody>
      </p:sp>
      <p:sp>
        <p:nvSpPr>
          <p:cNvPr id="15" name="Text 11"/>
          <p:cNvSpPr/>
          <p:nvPr/>
        </p:nvSpPr>
        <p:spPr>
          <a:xfrm>
            <a:off x="960120" y="3278025"/>
            <a:ext cx="1371600" cy="274320"/>
          </a:xfrm>
          <a:prstGeom prst="rect">
            <a:avLst/>
          </a:prstGeom>
          <a:noFill/>
          <a:ln/>
        </p:spPr>
        <p:txBody>
          <a:bodyPr wrap="square" lIns="0" tIns="0" rIns="0" bIns="0" rtlCol="0" anchor="ctr"/>
          <a:lstStyle/>
          <a:p>
            <a:pPr marL="0" indent="0" algn="ctr">
              <a:buNone/>
            </a:pPr>
            <a:r>
              <a:rPr lang="en-US" sz="1200" b="1" dirty="0">
                <a:solidFill>
                  <a:srgbClr val="222222"/>
                </a:solidFill>
                <a:latin typeface="Poppins" pitchFamily="34" charset="0"/>
                <a:ea typeface="Poppins" pitchFamily="34" charset="-122"/>
                <a:cs typeface="Poppins" pitchFamily="34" charset="-120"/>
              </a:rPr>
              <a:t>34%</a:t>
            </a:r>
            <a:endParaRPr lang="en-US" sz="1200" dirty="0"/>
          </a:p>
        </p:txBody>
      </p:sp>
      <p:sp>
        <p:nvSpPr>
          <p:cNvPr id="16" name="Text 12"/>
          <p:cNvSpPr/>
          <p:nvPr/>
        </p:nvSpPr>
        <p:spPr>
          <a:xfrm>
            <a:off x="914400" y="5084064"/>
            <a:ext cx="1463040" cy="457200"/>
          </a:xfrm>
          <a:prstGeom prst="rect">
            <a:avLst/>
          </a:prstGeom>
          <a:noFill/>
          <a:ln/>
        </p:spPr>
        <p:txBody>
          <a:bodyPr wrap="square" lIns="0" tIns="0" rIns="0" bIns="0" rtlCol="0" anchor="t"/>
          <a:lstStyle/>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0–10</a:t>
            </a:r>
            <a:endParaRPr lang="en-US" sz="1050" dirty="0"/>
          </a:p>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reviews</a:t>
            </a:r>
            <a:endParaRPr lang="en-US" sz="1050" dirty="0"/>
          </a:p>
        </p:txBody>
      </p:sp>
      <p:sp>
        <p:nvSpPr>
          <p:cNvPr id="17" name="Shape 13"/>
          <p:cNvSpPr/>
          <p:nvPr/>
        </p:nvSpPr>
        <p:spPr>
          <a:xfrm>
            <a:off x="2743200" y="3456432"/>
            <a:ext cx="1188720" cy="1572768"/>
          </a:xfrm>
          <a:prstGeom prst="roundRect">
            <a:avLst>
              <a:gd name="adj" fmla="val 6154"/>
            </a:avLst>
          </a:prstGeom>
          <a:solidFill>
            <a:srgbClr val="00A699"/>
          </a:solidFill>
          <a:ln/>
        </p:spPr>
        <p:txBody>
          <a:bodyPr/>
          <a:lstStyle/>
          <a:p>
            <a:endParaRPr lang="en-US"/>
          </a:p>
        </p:txBody>
      </p:sp>
      <p:sp>
        <p:nvSpPr>
          <p:cNvPr id="18" name="Text 14"/>
          <p:cNvSpPr/>
          <p:nvPr/>
        </p:nvSpPr>
        <p:spPr>
          <a:xfrm>
            <a:off x="2651760" y="3145536"/>
            <a:ext cx="1371600" cy="274320"/>
          </a:xfrm>
          <a:prstGeom prst="rect">
            <a:avLst/>
          </a:prstGeom>
          <a:noFill/>
          <a:ln/>
        </p:spPr>
        <p:txBody>
          <a:bodyPr wrap="square" lIns="0" tIns="0" rIns="0" bIns="0" rtlCol="0" anchor="ctr"/>
          <a:lstStyle/>
          <a:p>
            <a:pPr marL="0" indent="0" algn="ctr">
              <a:buNone/>
            </a:pPr>
            <a:r>
              <a:rPr lang="en-US" sz="1200" b="1" dirty="0">
                <a:solidFill>
                  <a:srgbClr val="222222"/>
                </a:solidFill>
                <a:latin typeface="Poppins" pitchFamily="34" charset="0"/>
                <a:ea typeface="Poppins" pitchFamily="34" charset="-122"/>
                <a:cs typeface="Poppins" pitchFamily="34" charset="-120"/>
              </a:rPr>
              <a:t>37%</a:t>
            </a:r>
            <a:endParaRPr lang="en-US" sz="1200" dirty="0"/>
          </a:p>
        </p:txBody>
      </p:sp>
      <p:sp>
        <p:nvSpPr>
          <p:cNvPr id="19" name="Text 15"/>
          <p:cNvSpPr/>
          <p:nvPr/>
        </p:nvSpPr>
        <p:spPr>
          <a:xfrm>
            <a:off x="2606040" y="5084064"/>
            <a:ext cx="1463040" cy="457200"/>
          </a:xfrm>
          <a:prstGeom prst="rect">
            <a:avLst/>
          </a:prstGeom>
          <a:noFill/>
          <a:ln/>
        </p:spPr>
        <p:txBody>
          <a:bodyPr wrap="square" lIns="0" tIns="0" rIns="0" bIns="0" rtlCol="0" anchor="t"/>
          <a:lstStyle/>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11–50</a:t>
            </a:r>
            <a:endParaRPr lang="en-US" sz="1050" dirty="0"/>
          </a:p>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reviews</a:t>
            </a:r>
            <a:endParaRPr lang="en-US" sz="1050" dirty="0"/>
          </a:p>
        </p:txBody>
      </p:sp>
      <p:sp>
        <p:nvSpPr>
          <p:cNvPr id="20" name="Shape 16"/>
          <p:cNvSpPr/>
          <p:nvPr/>
        </p:nvSpPr>
        <p:spPr>
          <a:xfrm>
            <a:off x="4434840" y="3221372"/>
            <a:ext cx="1188720" cy="1807828"/>
          </a:xfrm>
          <a:prstGeom prst="roundRect">
            <a:avLst>
              <a:gd name="adj" fmla="val 6154"/>
            </a:avLst>
          </a:prstGeom>
          <a:solidFill>
            <a:srgbClr val="FF385C"/>
          </a:solidFill>
          <a:ln/>
        </p:spPr>
        <p:txBody>
          <a:bodyPr/>
          <a:lstStyle/>
          <a:p>
            <a:endParaRPr lang="en-US"/>
          </a:p>
        </p:txBody>
      </p:sp>
      <p:sp>
        <p:nvSpPr>
          <p:cNvPr id="21" name="Text 17"/>
          <p:cNvSpPr/>
          <p:nvPr/>
        </p:nvSpPr>
        <p:spPr>
          <a:xfrm>
            <a:off x="4343400" y="2910476"/>
            <a:ext cx="1371600" cy="274320"/>
          </a:xfrm>
          <a:prstGeom prst="rect">
            <a:avLst/>
          </a:prstGeom>
          <a:noFill/>
          <a:ln/>
        </p:spPr>
        <p:txBody>
          <a:bodyPr wrap="square" lIns="0" tIns="0" rIns="0" bIns="0" rtlCol="0" anchor="ctr"/>
          <a:lstStyle/>
          <a:p>
            <a:pPr marL="0" indent="0" algn="ctr">
              <a:buNone/>
            </a:pPr>
            <a:r>
              <a:rPr lang="en-US" sz="1200" b="1" dirty="0">
                <a:solidFill>
                  <a:srgbClr val="222222"/>
                </a:solidFill>
                <a:latin typeface="Poppins" pitchFamily="34" charset="0"/>
                <a:ea typeface="Poppins" pitchFamily="34" charset="-122"/>
                <a:cs typeface="Poppins" pitchFamily="34" charset="-120"/>
              </a:rPr>
              <a:t>42%</a:t>
            </a:r>
            <a:endParaRPr lang="en-US" sz="1200" dirty="0"/>
          </a:p>
        </p:txBody>
      </p:sp>
      <p:sp>
        <p:nvSpPr>
          <p:cNvPr id="22" name="Text 18"/>
          <p:cNvSpPr/>
          <p:nvPr/>
        </p:nvSpPr>
        <p:spPr>
          <a:xfrm>
            <a:off x="4297680" y="5084064"/>
            <a:ext cx="1463040" cy="457200"/>
          </a:xfrm>
          <a:prstGeom prst="rect">
            <a:avLst/>
          </a:prstGeom>
          <a:noFill/>
          <a:ln/>
        </p:spPr>
        <p:txBody>
          <a:bodyPr wrap="square" lIns="0" tIns="0" rIns="0" bIns="0" rtlCol="0" anchor="t"/>
          <a:lstStyle/>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51+</a:t>
            </a:r>
            <a:endParaRPr lang="en-US" sz="1050" dirty="0"/>
          </a:p>
          <a:p>
            <a:pPr marL="0" indent="0" algn="ctr">
              <a:lnSpc>
                <a:spcPct val="98000"/>
              </a:lnSpc>
              <a:buNone/>
            </a:pPr>
            <a:r>
              <a:rPr lang="en-US" sz="1050" dirty="0">
                <a:solidFill>
                  <a:srgbClr val="717171"/>
                </a:solidFill>
                <a:latin typeface="Poppins" pitchFamily="34" charset="0"/>
                <a:ea typeface="Poppins" pitchFamily="34" charset="-122"/>
                <a:cs typeface="Poppins" pitchFamily="34" charset="-120"/>
              </a:rPr>
              <a:t>reviews</a:t>
            </a:r>
            <a:endParaRPr lang="en-US" sz="1050" dirty="0"/>
          </a:p>
        </p:txBody>
      </p:sp>
      <p:sp>
        <p:nvSpPr>
          <p:cNvPr id="23" name="Text 19"/>
          <p:cNvSpPr/>
          <p:nvPr/>
        </p:nvSpPr>
        <p:spPr>
          <a:xfrm>
            <a:off x="731520" y="5532120"/>
            <a:ext cx="5120640" cy="411480"/>
          </a:xfrm>
          <a:prstGeom prst="rect">
            <a:avLst/>
          </a:prstGeom>
          <a:noFill/>
          <a:ln/>
        </p:spPr>
        <p:txBody>
          <a:bodyPr wrap="square" lIns="0" tIns="0" rIns="0" bIns="0" rtlCol="0" anchor="ctr"/>
          <a:lstStyle/>
          <a:p>
            <a:pPr marL="0" indent="0">
              <a:buNone/>
            </a:pPr>
            <a:r>
              <a:rPr lang="en-US" sz="1050" i="1" dirty="0">
                <a:solidFill>
                  <a:srgbClr val="717171"/>
                </a:solidFill>
                <a:latin typeface="Poppins" pitchFamily="34" charset="0"/>
                <a:ea typeface="Poppins" pitchFamily="34" charset="-122"/>
                <a:cs typeface="Poppins" pitchFamily="34" charset="-120"/>
              </a:rPr>
              <a:t>Superhosts average 39% occupancy vs 36% for regular hosts.</a:t>
            </a:r>
            <a:endParaRPr lang="en-US" sz="1050" dirty="0"/>
          </a:p>
        </p:txBody>
      </p:sp>
      <p:sp>
        <p:nvSpPr>
          <p:cNvPr id="24" name="Shape 20"/>
          <p:cNvSpPr/>
          <p:nvPr/>
        </p:nvSpPr>
        <p:spPr>
          <a:xfrm>
            <a:off x="6263640" y="2240280"/>
            <a:ext cx="5422392" cy="3794760"/>
          </a:xfrm>
          <a:prstGeom prst="roundRect">
            <a:avLst>
              <a:gd name="adj" fmla="val 3373"/>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Shape 21"/>
          <p:cNvSpPr/>
          <p:nvPr/>
        </p:nvSpPr>
        <p:spPr>
          <a:xfrm>
            <a:off x="6537960" y="2514600"/>
            <a:ext cx="603504" cy="603504"/>
          </a:xfrm>
          <a:prstGeom prst="ellipse">
            <a:avLst/>
          </a:prstGeom>
          <a:solidFill>
            <a:srgbClr val="FFFFFF"/>
          </a:solidFill>
          <a:ln/>
        </p:spPr>
        <p:txBody>
          <a:bodyPr/>
          <a:lstStyle/>
          <a:p>
            <a:endParaRPr lang="en-US"/>
          </a:p>
        </p:txBody>
      </p:sp>
      <p:pic>
        <p:nvPicPr>
          <p:cNvPr id="26" name="Image 2" descr="/sessions/dreamy-trusting-noether/mnt/outputs/build/assets/scale_teal.png"/>
          <p:cNvPicPr>
            <a:picLocks noChangeAspect="1"/>
          </p:cNvPicPr>
          <p:nvPr/>
        </p:nvPicPr>
        <p:blipFill>
          <a:blip r:embed="rId5"/>
          <a:stretch>
            <a:fillRect/>
          </a:stretch>
        </p:blipFill>
        <p:spPr>
          <a:xfrm>
            <a:off x="6682801" y="2659441"/>
            <a:ext cx="313822" cy="313822"/>
          </a:xfrm>
          <a:prstGeom prst="rect">
            <a:avLst/>
          </a:prstGeom>
        </p:spPr>
      </p:pic>
      <p:sp>
        <p:nvSpPr>
          <p:cNvPr id="27" name="Text 22"/>
          <p:cNvSpPr/>
          <p:nvPr/>
        </p:nvSpPr>
        <p:spPr>
          <a:xfrm>
            <a:off x="7278624" y="2542032"/>
            <a:ext cx="4206240"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Which raises the real question</a:t>
            </a:r>
            <a:endParaRPr lang="en-US" sz="1500" dirty="0"/>
          </a:p>
        </p:txBody>
      </p:sp>
      <p:sp>
        <p:nvSpPr>
          <p:cNvPr id="28" name="Text 23"/>
          <p:cNvSpPr/>
          <p:nvPr/>
        </p:nvSpPr>
        <p:spPr>
          <a:xfrm>
            <a:off x="6537960" y="3246120"/>
            <a:ext cx="4892040" cy="1371600"/>
          </a:xfrm>
          <a:prstGeom prst="rect">
            <a:avLst/>
          </a:prstGeom>
          <a:noFill/>
          <a:ln/>
        </p:spPr>
        <p:txBody>
          <a:bodyPr wrap="square" lIns="0" tIns="0" rIns="0" bIns="0" rtlCol="0" anchor="t"/>
          <a:lstStyle/>
          <a:p>
            <a:pPr marL="0" indent="0">
              <a:lnSpc>
                <a:spcPct val="107000"/>
              </a:lnSpc>
              <a:buNone/>
            </a:pPr>
            <a:r>
              <a:rPr lang="en-US" sz="1250" dirty="0">
                <a:solidFill>
                  <a:srgbClr val="4A4A4A"/>
                </a:solidFill>
                <a:latin typeface="Poppins" pitchFamily="34" charset="0"/>
                <a:ea typeface="Poppins" pitchFamily="34" charset="-122"/>
                <a:cs typeface="Poppins" pitchFamily="34" charset="-120"/>
              </a:rPr>
              <a:t>Reviews, reputation and listing quality all shape whether guests book ,  not just price. And when we looked at the market, some listings sat close to what we'd expect while others were clearly above or below similar properties.</a:t>
            </a:r>
            <a:endParaRPr lang="en-US" sz="1250" dirty="0"/>
          </a:p>
        </p:txBody>
      </p:sp>
      <p:sp>
        <p:nvSpPr>
          <p:cNvPr id="29" name="Shape 24"/>
          <p:cNvSpPr/>
          <p:nvPr/>
        </p:nvSpPr>
        <p:spPr>
          <a:xfrm>
            <a:off x="6537960" y="4800600"/>
            <a:ext cx="4892040" cy="960120"/>
          </a:xfrm>
          <a:prstGeom prst="roundRect">
            <a:avLst>
              <a:gd name="adj" fmla="val 11429"/>
            </a:avLst>
          </a:prstGeom>
          <a:solidFill>
            <a:srgbClr val="FFFFFF"/>
          </a:solidFill>
          <a:ln/>
        </p:spPr>
        <p:txBody>
          <a:bodyPr/>
          <a:lstStyle/>
          <a:p>
            <a:endParaRPr lang="en-US"/>
          </a:p>
        </p:txBody>
      </p:sp>
      <p:sp>
        <p:nvSpPr>
          <p:cNvPr id="30" name="Text 25"/>
          <p:cNvSpPr/>
          <p:nvPr/>
        </p:nvSpPr>
        <p:spPr>
          <a:xfrm>
            <a:off x="6766560" y="4937760"/>
            <a:ext cx="4434840" cy="731520"/>
          </a:xfrm>
          <a:prstGeom prst="rect">
            <a:avLst/>
          </a:prstGeom>
          <a:noFill/>
          <a:ln/>
        </p:spPr>
        <p:txBody>
          <a:bodyPr wrap="square" lIns="0" tIns="0" rIns="0" bIns="0" rtlCol="0" anchor="ctr"/>
          <a:lstStyle/>
          <a:p>
            <a:pPr marL="0" indent="0">
              <a:lnSpc>
                <a:spcPct val="105000"/>
              </a:lnSpc>
              <a:buNone/>
            </a:pPr>
            <a:r>
              <a:rPr lang="en-US" sz="1250" b="1" i="1" dirty="0">
                <a:solidFill>
                  <a:srgbClr val="007A73"/>
                </a:solidFill>
                <a:latin typeface="Poppins" pitchFamily="34" charset="0"/>
                <a:ea typeface="Poppins" pitchFamily="34" charset="-122"/>
                <a:cs typeface="Poppins" pitchFamily="34" charset="-120"/>
              </a:rPr>
              <a:t>So instead of asking “is this listing expensive or cheap?”, we asked: “what should a fair market price actually be?”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06 · THE SOLUTION</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Not another calculator ,  an explanation</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When someone tells you to change your price, your first question is “why?” Our product answers it.</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Manas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7</a:t>
            </a:r>
            <a:endParaRPr lang="en-US" sz="900" dirty="0"/>
          </a:p>
        </p:txBody>
      </p:sp>
      <p:sp>
        <p:nvSpPr>
          <p:cNvPr id="12" name="Shape 8"/>
          <p:cNvSpPr/>
          <p:nvPr/>
        </p:nvSpPr>
        <p:spPr>
          <a:xfrm>
            <a:off x="502920" y="2286000"/>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40664" y="2542032"/>
            <a:ext cx="548640" cy="548640"/>
          </a:xfrm>
          <a:prstGeom prst="ellipse">
            <a:avLst/>
          </a:prstGeom>
          <a:solidFill>
            <a:srgbClr val="FFEEF2"/>
          </a:solidFill>
          <a:ln/>
        </p:spPr>
        <p:txBody>
          <a:bodyPr/>
          <a:lstStyle/>
          <a:p>
            <a:endParaRPr lang="en-US"/>
          </a:p>
        </p:txBody>
      </p:sp>
      <p:pic>
        <p:nvPicPr>
          <p:cNvPr id="14" name="Image 2" descr="/sessions/dreamy-trusting-noether/mnt/outputs/build/assets/dollar_coral.png"/>
          <p:cNvPicPr>
            <a:picLocks noChangeAspect="1"/>
          </p:cNvPicPr>
          <p:nvPr/>
        </p:nvPicPr>
        <p:blipFill>
          <a:blip r:embed="rId5"/>
          <a:stretch>
            <a:fillRect/>
          </a:stretch>
        </p:blipFill>
        <p:spPr>
          <a:xfrm>
            <a:off x="872338" y="2673706"/>
            <a:ext cx="285293" cy="285293"/>
          </a:xfrm>
          <a:prstGeom prst="rect">
            <a:avLst/>
          </a:prstGeom>
        </p:spPr>
      </p:pic>
      <p:sp>
        <p:nvSpPr>
          <p:cNvPr id="15" name="Text 10"/>
          <p:cNvSpPr/>
          <p:nvPr/>
        </p:nvSpPr>
        <p:spPr>
          <a:xfrm>
            <a:off x="1380744" y="2578608"/>
            <a:ext cx="2391156" cy="502920"/>
          </a:xfrm>
          <a:prstGeom prst="rect">
            <a:avLst/>
          </a:prstGeom>
          <a:noFill/>
          <a:ln/>
        </p:spPr>
        <p:txBody>
          <a:bodyPr wrap="square" lIns="0" tIns="0" rIns="0" bIns="0" rtlCol="0" anchor="ctr"/>
          <a:lstStyle/>
          <a:p>
            <a:pPr marL="0" indent="0">
              <a:lnSpc>
                <a:spcPct val="95000"/>
              </a:lnSpc>
              <a:buNone/>
            </a:pPr>
            <a:r>
              <a:rPr lang="en-US" sz="1300" b="1" dirty="0">
                <a:solidFill>
                  <a:srgbClr val="222222"/>
                </a:solidFill>
                <a:latin typeface="Poppins" pitchFamily="34" charset="0"/>
                <a:ea typeface="Poppins" pitchFamily="34" charset="-122"/>
                <a:cs typeface="Poppins" pitchFamily="34" charset="-120"/>
              </a:rPr>
              <a:t>A recommended fair value</a:t>
            </a:r>
            <a:endParaRPr lang="en-US" sz="1300" dirty="0"/>
          </a:p>
        </p:txBody>
      </p:sp>
      <p:sp>
        <p:nvSpPr>
          <p:cNvPr id="16" name="Text 11"/>
          <p:cNvSpPr/>
          <p:nvPr/>
        </p:nvSpPr>
        <p:spPr>
          <a:xfrm>
            <a:off x="758952" y="3200400"/>
            <a:ext cx="2884932" cy="68580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One clear number, calibrated to the listing.</a:t>
            </a:r>
            <a:endParaRPr lang="en-US" sz="1100" dirty="0"/>
          </a:p>
        </p:txBody>
      </p:sp>
      <p:sp>
        <p:nvSpPr>
          <p:cNvPr id="17" name="Shape 12"/>
          <p:cNvSpPr/>
          <p:nvPr/>
        </p:nvSpPr>
        <p:spPr>
          <a:xfrm>
            <a:off x="4146804" y="2286000"/>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3"/>
          <p:cNvSpPr/>
          <p:nvPr/>
        </p:nvSpPr>
        <p:spPr>
          <a:xfrm>
            <a:off x="4384548" y="2542032"/>
            <a:ext cx="548640" cy="548640"/>
          </a:xfrm>
          <a:prstGeom prst="ellipse">
            <a:avLst/>
          </a:prstGeom>
          <a:solidFill>
            <a:srgbClr val="E6F6F4"/>
          </a:solidFill>
          <a:ln/>
        </p:spPr>
        <p:txBody>
          <a:bodyPr/>
          <a:lstStyle/>
          <a:p>
            <a:endParaRPr lang="en-US"/>
          </a:p>
        </p:txBody>
      </p:sp>
      <p:pic>
        <p:nvPicPr>
          <p:cNvPr id="19" name="Image 3" descr="/sessions/dreamy-trusting-noether/mnt/outputs/build/assets/search_teal.png"/>
          <p:cNvPicPr>
            <a:picLocks noChangeAspect="1"/>
          </p:cNvPicPr>
          <p:nvPr/>
        </p:nvPicPr>
        <p:blipFill>
          <a:blip r:embed="rId6"/>
          <a:stretch>
            <a:fillRect/>
          </a:stretch>
        </p:blipFill>
        <p:spPr>
          <a:xfrm>
            <a:off x="4516222" y="2673706"/>
            <a:ext cx="285293" cy="285293"/>
          </a:xfrm>
          <a:prstGeom prst="rect">
            <a:avLst/>
          </a:prstGeom>
        </p:spPr>
      </p:pic>
      <p:sp>
        <p:nvSpPr>
          <p:cNvPr id="20" name="Text 14"/>
          <p:cNvSpPr/>
          <p:nvPr/>
        </p:nvSpPr>
        <p:spPr>
          <a:xfrm>
            <a:off x="5024628" y="2578608"/>
            <a:ext cx="2391156" cy="502920"/>
          </a:xfrm>
          <a:prstGeom prst="rect">
            <a:avLst/>
          </a:prstGeom>
          <a:noFill/>
          <a:ln/>
        </p:spPr>
        <p:txBody>
          <a:bodyPr wrap="square" lIns="0" tIns="0" rIns="0" bIns="0" rtlCol="0" anchor="ctr"/>
          <a:lstStyle/>
          <a:p>
            <a:pPr marL="0" indent="0">
              <a:lnSpc>
                <a:spcPct val="95000"/>
              </a:lnSpc>
              <a:buNone/>
            </a:pPr>
            <a:r>
              <a:rPr lang="en-US" sz="1300" b="1" dirty="0">
                <a:solidFill>
                  <a:srgbClr val="222222"/>
                </a:solidFill>
                <a:latin typeface="Poppins" pitchFamily="34" charset="0"/>
                <a:ea typeface="Poppins" pitchFamily="34" charset="-122"/>
                <a:cs typeface="Poppins" pitchFamily="34" charset="-120"/>
              </a:rPr>
              <a:t>Comparable listings</a:t>
            </a:r>
            <a:endParaRPr lang="en-US" sz="1300" dirty="0"/>
          </a:p>
        </p:txBody>
      </p:sp>
      <p:sp>
        <p:nvSpPr>
          <p:cNvPr id="21" name="Text 15"/>
          <p:cNvSpPr/>
          <p:nvPr/>
        </p:nvSpPr>
        <p:spPr>
          <a:xfrm>
            <a:off x="4402836" y="3200400"/>
            <a:ext cx="2884932" cy="68580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The real, similar properties that support it.</a:t>
            </a:r>
            <a:endParaRPr lang="en-US" sz="1100" dirty="0"/>
          </a:p>
        </p:txBody>
      </p:sp>
      <p:sp>
        <p:nvSpPr>
          <p:cNvPr id="22" name="Shape 16"/>
          <p:cNvSpPr/>
          <p:nvPr/>
        </p:nvSpPr>
        <p:spPr>
          <a:xfrm>
            <a:off x="502920" y="4224528"/>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3" name="Shape 17"/>
          <p:cNvSpPr/>
          <p:nvPr/>
        </p:nvSpPr>
        <p:spPr>
          <a:xfrm>
            <a:off x="740664" y="4480560"/>
            <a:ext cx="548640" cy="548640"/>
          </a:xfrm>
          <a:prstGeom prst="ellipse">
            <a:avLst/>
          </a:prstGeom>
          <a:solidFill>
            <a:srgbClr val="FFEEF2"/>
          </a:solidFill>
          <a:ln/>
        </p:spPr>
        <p:txBody>
          <a:bodyPr/>
          <a:lstStyle/>
          <a:p>
            <a:endParaRPr lang="en-US"/>
          </a:p>
        </p:txBody>
      </p:sp>
      <p:pic>
        <p:nvPicPr>
          <p:cNvPr id="24" name="Image 4" descr="/sessions/dreamy-trusting-noether/mnt/outputs/build/assets/sparkle_coral.png"/>
          <p:cNvPicPr>
            <a:picLocks noChangeAspect="1"/>
          </p:cNvPicPr>
          <p:nvPr/>
        </p:nvPicPr>
        <p:blipFill>
          <a:blip r:embed="rId7"/>
          <a:stretch>
            <a:fillRect/>
          </a:stretch>
        </p:blipFill>
        <p:spPr>
          <a:xfrm>
            <a:off x="872338" y="4612234"/>
            <a:ext cx="285293" cy="285293"/>
          </a:xfrm>
          <a:prstGeom prst="rect">
            <a:avLst/>
          </a:prstGeom>
        </p:spPr>
      </p:pic>
      <p:sp>
        <p:nvSpPr>
          <p:cNvPr id="25" name="Text 18"/>
          <p:cNvSpPr/>
          <p:nvPr/>
        </p:nvSpPr>
        <p:spPr>
          <a:xfrm>
            <a:off x="1380744" y="4517136"/>
            <a:ext cx="2391156" cy="502920"/>
          </a:xfrm>
          <a:prstGeom prst="rect">
            <a:avLst/>
          </a:prstGeom>
          <a:noFill/>
          <a:ln/>
        </p:spPr>
        <p:txBody>
          <a:bodyPr wrap="square" lIns="0" tIns="0" rIns="0" bIns="0" rtlCol="0" anchor="ctr"/>
          <a:lstStyle/>
          <a:p>
            <a:pPr marL="0" indent="0">
              <a:lnSpc>
                <a:spcPct val="95000"/>
              </a:lnSpc>
              <a:buNone/>
            </a:pPr>
            <a:r>
              <a:rPr lang="en-US" sz="1300" b="1" dirty="0">
                <a:solidFill>
                  <a:srgbClr val="222222"/>
                </a:solidFill>
                <a:latin typeface="Poppins" pitchFamily="34" charset="0"/>
                <a:ea typeface="Poppins" pitchFamily="34" charset="-122"/>
                <a:cs typeface="Poppins" pitchFamily="34" charset="-120"/>
              </a:rPr>
              <a:t>Amenity differences</a:t>
            </a:r>
            <a:endParaRPr lang="en-US" sz="1300" dirty="0"/>
          </a:p>
        </p:txBody>
      </p:sp>
      <p:sp>
        <p:nvSpPr>
          <p:cNvPr id="26" name="Text 19"/>
          <p:cNvSpPr/>
          <p:nvPr/>
        </p:nvSpPr>
        <p:spPr>
          <a:xfrm>
            <a:off x="758952" y="5138928"/>
            <a:ext cx="2884932" cy="68580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What comparable high performers offer that you don't.</a:t>
            </a:r>
            <a:endParaRPr lang="en-US" sz="1100" dirty="0"/>
          </a:p>
        </p:txBody>
      </p:sp>
      <p:sp>
        <p:nvSpPr>
          <p:cNvPr id="27" name="Shape 20"/>
          <p:cNvSpPr/>
          <p:nvPr/>
        </p:nvSpPr>
        <p:spPr>
          <a:xfrm>
            <a:off x="4146804" y="4224528"/>
            <a:ext cx="3396996"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8" name="Shape 21"/>
          <p:cNvSpPr/>
          <p:nvPr/>
        </p:nvSpPr>
        <p:spPr>
          <a:xfrm>
            <a:off x="4384548" y="4480560"/>
            <a:ext cx="548640" cy="548640"/>
          </a:xfrm>
          <a:prstGeom prst="ellipse">
            <a:avLst/>
          </a:prstGeom>
          <a:solidFill>
            <a:srgbClr val="E6F6F4"/>
          </a:solidFill>
          <a:ln/>
        </p:spPr>
        <p:txBody>
          <a:bodyPr/>
          <a:lstStyle/>
          <a:p>
            <a:endParaRPr lang="en-US"/>
          </a:p>
        </p:txBody>
      </p:sp>
      <p:pic>
        <p:nvPicPr>
          <p:cNvPr id="29" name="Image 5" descr="/sessions/dreamy-trusting-noether/mnt/outputs/build/assets/trend_teal.png"/>
          <p:cNvPicPr>
            <a:picLocks noChangeAspect="1"/>
          </p:cNvPicPr>
          <p:nvPr/>
        </p:nvPicPr>
        <p:blipFill>
          <a:blip r:embed="rId8"/>
          <a:stretch>
            <a:fillRect/>
          </a:stretch>
        </p:blipFill>
        <p:spPr>
          <a:xfrm>
            <a:off x="4516222" y="4612234"/>
            <a:ext cx="285293" cy="285293"/>
          </a:xfrm>
          <a:prstGeom prst="rect">
            <a:avLst/>
          </a:prstGeom>
        </p:spPr>
      </p:pic>
      <p:sp>
        <p:nvSpPr>
          <p:cNvPr id="30" name="Text 22"/>
          <p:cNvSpPr/>
          <p:nvPr/>
        </p:nvSpPr>
        <p:spPr>
          <a:xfrm>
            <a:off x="5024628" y="4517136"/>
            <a:ext cx="2391156" cy="502920"/>
          </a:xfrm>
          <a:prstGeom prst="rect">
            <a:avLst/>
          </a:prstGeom>
          <a:noFill/>
          <a:ln/>
        </p:spPr>
        <p:txBody>
          <a:bodyPr wrap="square" lIns="0" tIns="0" rIns="0" bIns="0" rtlCol="0" anchor="ctr"/>
          <a:lstStyle/>
          <a:p>
            <a:pPr marL="0" indent="0">
              <a:lnSpc>
                <a:spcPct val="95000"/>
              </a:lnSpc>
              <a:buNone/>
            </a:pPr>
            <a:r>
              <a:rPr lang="en-US" sz="1300" b="1" dirty="0">
                <a:solidFill>
                  <a:srgbClr val="222222"/>
                </a:solidFill>
                <a:latin typeface="Poppins" pitchFamily="34" charset="0"/>
                <a:ea typeface="Poppins" pitchFamily="34" charset="-122"/>
                <a:cs typeface="Poppins" pitchFamily="34" charset="-120"/>
              </a:rPr>
              <a:t>A revenue what-if</a:t>
            </a:r>
            <a:endParaRPr lang="en-US" sz="1300" dirty="0"/>
          </a:p>
        </p:txBody>
      </p:sp>
      <p:sp>
        <p:nvSpPr>
          <p:cNvPr id="31" name="Text 23"/>
          <p:cNvSpPr/>
          <p:nvPr/>
        </p:nvSpPr>
        <p:spPr>
          <a:xfrm>
            <a:off x="4402836" y="5138928"/>
            <a:ext cx="2884932" cy="68580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Explore how changing price could affect revenue.</a:t>
            </a:r>
            <a:endParaRPr lang="en-US" sz="1100" dirty="0"/>
          </a:p>
        </p:txBody>
      </p:sp>
      <p:sp>
        <p:nvSpPr>
          <p:cNvPr id="32" name="Shape 24"/>
          <p:cNvSpPr/>
          <p:nvPr/>
        </p:nvSpPr>
        <p:spPr>
          <a:xfrm>
            <a:off x="7772400" y="2286000"/>
            <a:ext cx="3913632" cy="3657600"/>
          </a:xfrm>
          <a:prstGeom prst="roundRect">
            <a:avLst>
              <a:gd name="adj" fmla="val 350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3" name="Shape 25"/>
          <p:cNvSpPr/>
          <p:nvPr/>
        </p:nvSpPr>
        <p:spPr>
          <a:xfrm>
            <a:off x="8046720" y="2560320"/>
            <a:ext cx="603504" cy="603504"/>
          </a:xfrm>
          <a:prstGeom prst="ellipse">
            <a:avLst/>
          </a:prstGeom>
          <a:solidFill>
            <a:srgbClr val="FFFFFF"/>
          </a:solidFill>
          <a:ln/>
        </p:spPr>
        <p:txBody>
          <a:bodyPr/>
          <a:lstStyle/>
          <a:p>
            <a:endParaRPr lang="en-US"/>
          </a:p>
        </p:txBody>
      </p:sp>
      <p:pic>
        <p:nvPicPr>
          <p:cNvPr id="34" name="Image 6" descr="/sessions/dreamy-trusting-noether/mnt/outputs/build/assets/compass_coral.png"/>
          <p:cNvPicPr>
            <a:picLocks noChangeAspect="1"/>
          </p:cNvPicPr>
          <p:nvPr/>
        </p:nvPicPr>
        <p:blipFill>
          <a:blip r:embed="rId9"/>
          <a:stretch>
            <a:fillRect/>
          </a:stretch>
        </p:blipFill>
        <p:spPr>
          <a:xfrm>
            <a:off x="8191561" y="2705161"/>
            <a:ext cx="313822" cy="313822"/>
          </a:xfrm>
          <a:prstGeom prst="rect">
            <a:avLst/>
          </a:prstGeom>
        </p:spPr>
      </p:pic>
      <p:sp>
        <p:nvSpPr>
          <p:cNvPr id="35" name="Text 26"/>
          <p:cNvSpPr/>
          <p:nvPr/>
        </p:nvSpPr>
        <p:spPr>
          <a:xfrm>
            <a:off x="8778240" y="2578608"/>
            <a:ext cx="2743200" cy="365760"/>
          </a:xfrm>
          <a:prstGeom prst="rect">
            <a:avLst/>
          </a:prstGeom>
          <a:noFill/>
          <a:ln/>
        </p:spPr>
        <p:txBody>
          <a:bodyPr wrap="square" lIns="0" tIns="0" rIns="0" bIns="0" rtlCol="0" anchor="ctr"/>
          <a:lstStyle/>
          <a:p>
            <a:pPr marL="0" indent="0">
              <a:buNone/>
            </a:pPr>
            <a:r>
              <a:rPr lang="en-US" sz="1450" b="1" dirty="0">
                <a:solidFill>
                  <a:srgbClr val="222222"/>
                </a:solidFill>
                <a:latin typeface="Poppins" pitchFamily="34" charset="0"/>
                <a:ea typeface="Poppins" pitchFamily="34" charset="-122"/>
                <a:cs typeface="Poppins" pitchFamily="34" charset="-120"/>
              </a:rPr>
              <a:t>“Commander's Intent”</a:t>
            </a:r>
            <a:endParaRPr lang="en-US" sz="1450" dirty="0"/>
          </a:p>
        </p:txBody>
      </p:sp>
      <p:sp>
        <p:nvSpPr>
          <p:cNvPr id="36" name="Text 27"/>
          <p:cNvSpPr/>
          <p:nvPr/>
        </p:nvSpPr>
        <p:spPr>
          <a:xfrm>
            <a:off x="8046720" y="3337560"/>
            <a:ext cx="3383280" cy="1234440"/>
          </a:xfrm>
          <a:prstGeom prst="rect">
            <a:avLst/>
          </a:prstGeom>
          <a:noFill/>
          <a:ln/>
        </p:spPr>
        <p:txBody>
          <a:bodyPr wrap="square" lIns="0" tIns="0" rIns="0" bIns="0" rtlCol="0" anchor="t"/>
          <a:lstStyle/>
          <a:p>
            <a:pPr marL="0" indent="0">
              <a:lnSpc>
                <a:spcPct val="106000"/>
              </a:lnSpc>
              <a:buNone/>
            </a:pPr>
            <a:r>
              <a:rPr lang="en-US" sz="1250" dirty="0">
                <a:solidFill>
                  <a:srgbClr val="4A4A4A"/>
                </a:solidFill>
                <a:latin typeface="Poppins" pitchFamily="34" charset="0"/>
                <a:ea typeface="Poppins" pitchFamily="34" charset="-122"/>
                <a:cs typeface="Poppins" pitchFamily="34" charset="-120"/>
              </a:rPr>
              <a:t>An idea from our coach: people make better decisions when they understand the reasoning ,  not when they're simply told what to do.</a:t>
            </a:r>
            <a:endParaRPr lang="en-US" sz="1250" dirty="0"/>
          </a:p>
        </p:txBody>
      </p:sp>
      <p:sp>
        <p:nvSpPr>
          <p:cNvPr id="37" name="Text 28"/>
          <p:cNvSpPr/>
          <p:nvPr/>
        </p:nvSpPr>
        <p:spPr>
          <a:xfrm>
            <a:off x="8046720" y="4617720"/>
            <a:ext cx="3383280" cy="1280160"/>
          </a:xfrm>
          <a:prstGeom prst="rect">
            <a:avLst/>
          </a:prstGeom>
          <a:noFill/>
          <a:ln/>
        </p:spPr>
        <p:txBody>
          <a:bodyPr wrap="square" lIns="0" tIns="0" rIns="0" bIns="0" rtlCol="0" anchor="t"/>
          <a:lstStyle/>
          <a:p>
            <a:pPr marL="0" indent="0">
              <a:lnSpc>
                <a:spcPct val="106000"/>
              </a:lnSpc>
              <a:buNone/>
            </a:pPr>
            <a:r>
              <a:rPr lang="en-US" sz="1250" b="1" dirty="0">
                <a:solidFill>
                  <a:srgbClr val="FF385C"/>
                </a:solidFill>
                <a:latin typeface="Poppins" pitchFamily="34" charset="0"/>
                <a:ea typeface="Poppins" pitchFamily="34" charset="-122"/>
                <a:cs typeface="Poppins" pitchFamily="34" charset="-120"/>
              </a:rPr>
              <a:t>Hosts trust and act on a recommendation when they understand where it came from. So this is about pricing with confidence ,  not just predicting a price.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07 · MODEL &amp; INSIGHTS</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700" b="1" dirty="0">
                <a:solidFill>
                  <a:srgbClr val="222222"/>
                </a:solidFill>
                <a:latin typeface="Poppins" pitchFamily="34" charset="0"/>
                <a:ea typeface="Poppins" pitchFamily="34" charset="-122"/>
                <a:cs typeface="Poppins" pitchFamily="34" charset="-120"/>
              </a:rPr>
              <a:t>A price you can trust, and the reason behind it</a:t>
            </a:r>
            <a:endParaRPr lang="en-US" sz="27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A gradient-boosting model sets the fair price; a nearest-neighbor model explains it.</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Manas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8</a:t>
            </a:r>
            <a:endParaRPr lang="en-US" sz="900" dirty="0"/>
          </a:p>
        </p:txBody>
      </p:sp>
      <p:sp>
        <p:nvSpPr>
          <p:cNvPr id="12" name="Shape 8"/>
          <p:cNvSpPr/>
          <p:nvPr/>
        </p:nvSpPr>
        <p:spPr>
          <a:xfrm>
            <a:off x="502920" y="2240280"/>
            <a:ext cx="5468112" cy="2148840"/>
          </a:xfrm>
          <a:prstGeom prst="roundRect">
            <a:avLst>
              <a:gd name="adj" fmla="val 5957"/>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77240" y="2514600"/>
            <a:ext cx="1371600" cy="402336"/>
          </a:xfrm>
          <a:prstGeom prst="roundRect">
            <a:avLst>
              <a:gd name="adj" fmla="val 50000"/>
            </a:avLst>
          </a:prstGeom>
          <a:solidFill>
            <a:srgbClr val="FF385C"/>
          </a:solidFill>
          <a:ln/>
        </p:spPr>
        <p:txBody>
          <a:bodyPr/>
          <a:lstStyle/>
          <a:p>
            <a:endParaRPr lang="en-US"/>
          </a:p>
        </p:txBody>
      </p:sp>
      <p:sp>
        <p:nvSpPr>
          <p:cNvPr id="14" name="Text 10"/>
          <p:cNvSpPr/>
          <p:nvPr/>
        </p:nvSpPr>
        <p:spPr>
          <a:xfrm>
            <a:off x="777240" y="2514600"/>
            <a:ext cx="13716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pitchFamily="34" charset="0"/>
                <a:ea typeface="Poppins" pitchFamily="34" charset="-122"/>
                <a:cs typeface="Poppins" pitchFamily="34" charset="-120"/>
              </a:rPr>
              <a:t>GBM</a:t>
            </a:r>
            <a:endParaRPr lang="en-US" sz="1100" dirty="0"/>
          </a:p>
        </p:txBody>
      </p:sp>
      <p:pic>
        <p:nvPicPr>
          <p:cNvPr id="15" name="Image 2" descr="/sessions/dreamy-trusting-noether/mnt/outputs/build/assets/cpu_coral.png"/>
          <p:cNvPicPr>
            <a:picLocks noChangeAspect="1"/>
          </p:cNvPicPr>
          <p:nvPr/>
        </p:nvPicPr>
        <p:blipFill>
          <a:blip r:embed="rId5"/>
          <a:stretch>
            <a:fillRect/>
          </a:stretch>
        </p:blipFill>
        <p:spPr>
          <a:xfrm>
            <a:off x="4965192" y="2514600"/>
            <a:ext cx="457200" cy="457200"/>
          </a:xfrm>
          <a:prstGeom prst="rect">
            <a:avLst/>
          </a:prstGeom>
        </p:spPr>
      </p:pic>
      <p:sp>
        <p:nvSpPr>
          <p:cNvPr id="16" name="Text 11"/>
          <p:cNvSpPr/>
          <p:nvPr/>
        </p:nvSpPr>
        <p:spPr>
          <a:xfrm>
            <a:off x="777240" y="3063240"/>
            <a:ext cx="4462272"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Fair market value</a:t>
            </a:r>
            <a:endParaRPr lang="en-US" sz="1500" dirty="0"/>
          </a:p>
        </p:txBody>
      </p:sp>
      <p:sp>
        <p:nvSpPr>
          <p:cNvPr id="17" name="Text 12"/>
          <p:cNvSpPr/>
          <p:nvPr/>
        </p:nvSpPr>
        <p:spPr>
          <a:xfrm>
            <a:off x="777240" y="3483864"/>
            <a:ext cx="4462272" cy="822960"/>
          </a:xfrm>
          <a:prstGeom prst="rect">
            <a:avLst/>
          </a:prstGeom>
          <a:noFill/>
          <a:ln/>
        </p:spPr>
        <p:txBody>
          <a:bodyPr wrap="square" lIns="0" tIns="0" rIns="0" bIns="0" rtlCol="0" anchor="t"/>
          <a:lstStyle/>
          <a:p>
            <a:pPr marL="0" indent="0">
              <a:lnSpc>
                <a:spcPct val="105000"/>
              </a:lnSpc>
              <a:buNone/>
            </a:pPr>
            <a:r>
              <a:rPr lang="en-US" sz="1150" dirty="0">
                <a:solidFill>
                  <a:srgbClr val="4A4A4A"/>
                </a:solidFill>
                <a:latin typeface="Poppins" pitchFamily="34" charset="0"/>
                <a:ea typeface="Poppins" pitchFamily="34" charset="-122"/>
                <a:cs typeface="Poppins" pitchFamily="34" charset="-120"/>
              </a:rPr>
              <a:t>Gradient boosting captures nonlinear interactions between location, amenities, property type and host ,  and returns a fair price with a confidence interval.</a:t>
            </a:r>
            <a:endParaRPr lang="en-US" sz="1150" dirty="0"/>
          </a:p>
        </p:txBody>
      </p:sp>
      <p:sp>
        <p:nvSpPr>
          <p:cNvPr id="18" name="Shape 13"/>
          <p:cNvSpPr/>
          <p:nvPr/>
        </p:nvSpPr>
        <p:spPr>
          <a:xfrm>
            <a:off x="6217920" y="2240280"/>
            <a:ext cx="5468112" cy="2148840"/>
          </a:xfrm>
          <a:prstGeom prst="roundRect">
            <a:avLst>
              <a:gd name="adj" fmla="val 5957"/>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9" name="Shape 14"/>
          <p:cNvSpPr/>
          <p:nvPr/>
        </p:nvSpPr>
        <p:spPr>
          <a:xfrm>
            <a:off x="6492240" y="2514600"/>
            <a:ext cx="1371600" cy="402336"/>
          </a:xfrm>
          <a:prstGeom prst="roundRect">
            <a:avLst>
              <a:gd name="adj" fmla="val 50000"/>
            </a:avLst>
          </a:prstGeom>
          <a:solidFill>
            <a:srgbClr val="007A73"/>
          </a:solidFill>
          <a:ln/>
        </p:spPr>
        <p:txBody>
          <a:bodyPr/>
          <a:lstStyle/>
          <a:p>
            <a:endParaRPr lang="en-US"/>
          </a:p>
        </p:txBody>
      </p:sp>
      <p:sp>
        <p:nvSpPr>
          <p:cNvPr id="20" name="Text 15"/>
          <p:cNvSpPr/>
          <p:nvPr/>
        </p:nvSpPr>
        <p:spPr>
          <a:xfrm>
            <a:off x="6492240" y="2514600"/>
            <a:ext cx="13716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Poppins" pitchFamily="34" charset="0"/>
                <a:ea typeface="Poppins" pitchFamily="34" charset="-122"/>
                <a:cs typeface="Poppins" pitchFamily="34" charset="-120"/>
              </a:rPr>
              <a:t>KNN</a:t>
            </a:r>
            <a:endParaRPr lang="en-US" sz="1100" dirty="0"/>
          </a:p>
        </p:txBody>
      </p:sp>
      <p:pic>
        <p:nvPicPr>
          <p:cNvPr id="21" name="Image 3" descr="/sessions/dreamy-trusting-noether/mnt/outputs/build/assets/search_teal.png"/>
          <p:cNvPicPr>
            <a:picLocks noChangeAspect="1"/>
          </p:cNvPicPr>
          <p:nvPr/>
        </p:nvPicPr>
        <p:blipFill>
          <a:blip r:embed="rId6"/>
          <a:stretch>
            <a:fillRect/>
          </a:stretch>
        </p:blipFill>
        <p:spPr>
          <a:xfrm>
            <a:off x="11183112" y="2514600"/>
            <a:ext cx="457200" cy="457200"/>
          </a:xfrm>
          <a:prstGeom prst="rect">
            <a:avLst/>
          </a:prstGeom>
        </p:spPr>
      </p:pic>
      <p:sp>
        <p:nvSpPr>
          <p:cNvPr id="22" name="Text 16"/>
          <p:cNvSpPr/>
          <p:nvPr/>
        </p:nvSpPr>
        <p:spPr>
          <a:xfrm>
            <a:off x="6492240" y="3063240"/>
            <a:ext cx="4919472"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Comparable listings</a:t>
            </a:r>
            <a:endParaRPr lang="en-US" sz="1500" dirty="0"/>
          </a:p>
        </p:txBody>
      </p:sp>
      <p:sp>
        <p:nvSpPr>
          <p:cNvPr id="23" name="Text 17"/>
          <p:cNvSpPr/>
          <p:nvPr/>
        </p:nvSpPr>
        <p:spPr>
          <a:xfrm>
            <a:off x="6492240" y="3483864"/>
            <a:ext cx="4919472" cy="822960"/>
          </a:xfrm>
          <a:prstGeom prst="rect">
            <a:avLst/>
          </a:prstGeom>
          <a:noFill/>
          <a:ln/>
        </p:spPr>
        <p:txBody>
          <a:bodyPr wrap="square" lIns="0" tIns="0" rIns="0" bIns="0" rtlCol="0" anchor="t"/>
          <a:lstStyle/>
          <a:p>
            <a:pPr marL="0" indent="0">
              <a:lnSpc>
                <a:spcPct val="105000"/>
              </a:lnSpc>
              <a:buNone/>
            </a:pPr>
            <a:r>
              <a:rPr lang="en-US" sz="1150" dirty="0">
                <a:solidFill>
                  <a:srgbClr val="4A4A4A"/>
                </a:solidFill>
                <a:latin typeface="Poppins" pitchFamily="34" charset="0"/>
                <a:ea typeface="Poppins" pitchFamily="34" charset="-122"/>
                <a:cs typeface="Poppins" pitchFamily="34" charset="-120"/>
              </a:rPr>
              <a:t>The price isn't a black box: nearest-neighbors surfaces the similar listings ,  and their amenities ,  that stand behind each recommendation.</a:t>
            </a:r>
            <a:endParaRPr lang="en-US" sz="1150" dirty="0"/>
          </a:p>
        </p:txBody>
      </p:sp>
      <p:sp>
        <p:nvSpPr>
          <p:cNvPr id="24" name="Shape 18"/>
          <p:cNvSpPr/>
          <p:nvPr/>
        </p:nvSpPr>
        <p:spPr>
          <a:xfrm>
            <a:off x="502920" y="4617720"/>
            <a:ext cx="11183112" cy="1417320"/>
          </a:xfrm>
          <a:prstGeom prst="roundRect">
            <a:avLst>
              <a:gd name="adj" fmla="val 9032"/>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19"/>
          <p:cNvSpPr/>
          <p:nvPr/>
        </p:nvSpPr>
        <p:spPr>
          <a:xfrm>
            <a:off x="777240" y="4773168"/>
            <a:ext cx="2011680" cy="640080"/>
          </a:xfrm>
          <a:prstGeom prst="rect">
            <a:avLst/>
          </a:prstGeom>
          <a:noFill/>
          <a:ln/>
        </p:spPr>
        <p:txBody>
          <a:bodyPr wrap="square" lIns="0" tIns="0" rIns="0" bIns="0" rtlCol="0" anchor="ctr"/>
          <a:lstStyle/>
          <a:p>
            <a:pPr marL="0" indent="0">
              <a:buNone/>
            </a:pPr>
            <a:r>
              <a:rPr lang="en-US" sz="3400" b="1" dirty="0">
                <a:solidFill>
                  <a:srgbClr val="FF385C"/>
                </a:solidFill>
                <a:latin typeface="Poppins" pitchFamily="34" charset="0"/>
                <a:ea typeface="Poppins" pitchFamily="34" charset="-122"/>
                <a:cs typeface="Poppins" pitchFamily="34" charset="-120"/>
              </a:rPr>
              <a:t>19.2%</a:t>
            </a:r>
            <a:endParaRPr lang="en-US" sz="3400" dirty="0"/>
          </a:p>
        </p:txBody>
      </p:sp>
      <p:sp>
        <p:nvSpPr>
          <p:cNvPr id="26" name="Text 20"/>
          <p:cNvSpPr/>
          <p:nvPr/>
        </p:nvSpPr>
        <p:spPr>
          <a:xfrm>
            <a:off x="777240" y="5413248"/>
            <a:ext cx="2651760" cy="548640"/>
          </a:xfrm>
          <a:prstGeom prst="rect">
            <a:avLst/>
          </a:prstGeom>
          <a:noFill/>
          <a:ln/>
        </p:spPr>
        <p:txBody>
          <a:bodyPr wrap="square" lIns="0" tIns="0" rIns="0" bIns="0" rtlCol="0" anchor="ctr"/>
          <a:lstStyle/>
          <a:p>
            <a:pPr marL="0" indent="0">
              <a:lnSpc>
                <a:spcPct val="100000"/>
              </a:lnSpc>
              <a:buNone/>
            </a:pPr>
            <a:r>
              <a:rPr lang="en-US" sz="1050" dirty="0">
                <a:solidFill>
                  <a:srgbClr val="717171"/>
                </a:solidFill>
                <a:latin typeface="Poppins" pitchFamily="34" charset="0"/>
                <a:ea typeface="Poppins" pitchFamily="34" charset="-122"/>
                <a:cs typeface="Poppins" pitchFamily="34" charset="-120"/>
              </a:rPr>
              <a:t>median error ,  roughly half the error of a plain regression</a:t>
            </a:r>
            <a:endParaRPr lang="en-US" sz="1050" dirty="0"/>
          </a:p>
        </p:txBody>
      </p:sp>
      <p:sp>
        <p:nvSpPr>
          <p:cNvPr id="27" name="Shape 21"/>
          <p:cNvSpPr/>
          <p:nvPr/>
        </p:nvSpPr>
        <p:spPr>
          <a:xfrm>
            <a:off x="3611880" y="4800600"/>
            <a:ext cx="0" cy="1005840"/>
          </a:xfrm>
          <a:prstGeom prst="line">
            <a:avLst/>
          </a:prstGeom>
          <a:noFill/>
          <a:ln w="12700">
            <a:solidFill>
              <a:srgbClr val="EBEBEB"/>
            </a:solidFill>
            <a:prstDash val="solid"/>
          </a:ln>
        </p:spPr>
        <p:txBody>
          <a:bodyPr/>
          <a:lstStyle/>
          <a:p>
            <a:endParaRPr lang="en-US"/>
          </a:p>
        </p:txBody>
      </p:sp>
      <p:sp>
        <p:nvSpPr>
          <p:cNvPr id="28" name="Text 22"/>
          <p:cNvSpPr/>
          <p:nvPr/>
        </p:nvSpPr>
        <p:spPr>
          <a:xfrm>
            <a:off x="3840480" y="4754880"/>
            <a:ext cx="7635240" cy="1188720"/>
          </a:xfrm>
          <a:prstGeom prst="rect">
            <a:avLst/>
          </a:prstGeom>
          <a:noFill/>
          <a:ln/>
        </p:spPr>
        <p:txBody>
          <a:bodyPr wrap="square" lIns="0" tIns="0" rIns="0" bIns="0" rtlCol="0" anchor="ctr"/>
          <a:lstStyle/>
          <a:p>
            <a:pPr marL="0" indent="0">
              <a:lnSpc>
                <a:spcPct val="104000"/>
              </a:lnSpc>
              <a:buNone/>
            </a:pPr>
            <a:r>
              <a:rPr lang="en-US" sz="1150" b="1" dirty="0">
                <a:solidFill>
                  <a:srgbClr val="222222"/>
                </a:solidFill>
                <a:latin typeface="Poppins" pitchFamily="34" charset="0"/>
                <a:ea typeface="Poppins" pitchFamily="34" charset="-122"/>
                <a:cs typeface="Poppins" pitchFamily="34" charset="-120"/>
              </a:rPr>
              <a:t>Two halves, and both pay off ,  differently.  </a:t>
            </a:r>
            <a:r>
              <a:rPr lang="en-US" sz="1150" dirty="0">
                <a:solidFill>
                  <a:srgbClr val="4A4A4A"/>
                </a:solidFill>
                <a:latin typeface="Poppins" pitchFamily="34" charset="0"/>
                <a:ea typeface="Poppins" pitchFamily="34" charset="-122"/>
                <a:cs typeface="Poppins" pitchFamily="34" charset="-120"/>
              </a:rPr>
              <a:t>Roughly half of listings read underpriced against fair value and half overpriced. Raising an underpriced listing adds margin. Cutting an overpriced one adds volume ,  it fills nights that were sitting empty. Our number counts both.</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3F5"/>
        </a:solidFill>
        <a:effectLst/>
      </p:bgPr>
    </p:bg>
    <p:spTree>
      <p:nvGrpSpPr>
        <p:cNvPr id="1" name=""/>
        <p:cNvGrpSpPr/>
        <p:nvPr/>
      </p:nvGrpSpPr>
      <p:grpSpPr>
        <a:xfrm>
          <a:off x="0" y="0"/>
          <a:ext cx="0" cy="0"/>
          <a:chOff x="0" y="0"/>
          <a:chExt cx="0" cy="0"/>
        </a:xfrm>
      </p:grpSpPr>
      <p:sp>
        <p:nvSpPr>
          <p:cNvPr id="2" name="Text 0"/>
          <p:cNvSpPr/>
          <p:nvPr/>
        </p:nvSpPr>
        <p:spPr>
          <a:xfrm>
            <a:off x="521208" y="457200"/>
            <a:ext cx="73152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08 · PRODUCT WALKTHROUGH</a:t>
            </a:r>
            <a:endParaRPr lang="en-US" sz="1200" dirty="0"/>
          </a:p>
        </p:txBody>
      </p:sp>
      <p:sp>
        <p:nvSpPr>
          <p:cNvPr id="3" name="Text 1"/>
          <p:cNvSpPr/>
          <p:nvPr/>
        </p:nvSpPr>
        <p:spPr>
          <a:xfrm>
            <a:off x="493776" y="749808"/>
            <a:ext cx="8229600" cy="548640"/>
          </a:xfrm>
          <a:prstGeom prst="rect">
            <a:avLst/>
          </a:prstGeom>
          <a:noFill/>
          <a:ln/>
        </p:spPr>
        <p:txBody>
          <a:bodyPr wrap="square" lIns="0" tIns="0" rIns="0" bIns="0" rtlCol="0" anchor="ctr"/>
          <a:lstStyle/>
          <a:p>
            <a:pPr marL="0" indent="0">
              <a:buNone/>
            </a:pPr>
            <a:r>
              <a:rPr lang="en-US" sz="3000" b="1" dirty="0">
                <a:solidFill>
                  <a:srgbClr val="222222"/>
                </a:solidFill>
                <a:latin typeface="Poppins" pitchFamily="34" charset="0"/>
                <a:ea typeface="Poppins" pitchFamily="34" charset="-122"/>
                <a:cs typeface="Poppins" pitchFamily="34" charset="-120"/>
              </a:rPr>
              <a:t>The dashboard, in three clicks</a:t>
            </a:r>
            <a:endParaRPr lang="en-US" sz="3000" dirty="0"/>
          </a:p>
        </p:txBody>
      </p:sp>
      <p:sp>
        <p:nvSpPr>
          <p:cNvPr id="4" name="Shape 2"/>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5" name="Shape 3"/>
          <p:cNvSpPr/>
          <p:nvPr/>
        </p:nvSpPr>
        <p:spPr>
          <a:xfrm>
            <a:off x="9503359" y="585216"/>
            <a:ext cx="146304" cy="146304"/>
          </a:xfrm>
          <a:prstGeom prst="ellipse">
            <a:avLst/>
          </a:prstGeom>
          <a:solidFill>
            <a:srgbClr val="FF385C"/>
          </a:solidFill>
          <a:ln/>
        </p:spPr>
        <p:txBody>
          <a:bodyPr/>
          <a:lstStyle/>
          <a:p>
            <a:endParaRPr lang="en-US"/>
          </a:p>
        </p:txBody>
      </p:sp>
      <p:sp>
        <p:nvSpPr>
          <p:cNvPr id="6" name="Text 4"/>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Manas</a:t>
            </a:r>
            <a:endParaRPr lang="en-US" sz="950" dirty="0"/>
          </a:p>
        </p:txBody>
      </p:sp>
      <p:sp>
        <p:nvSpPr>
          <p:cNvPr id="7" name="Shape 5"/>
          <p:cNvSpPr/>
          <p:nvPr/>
        </p:nvSpPr>
        <p:spPr>
          <a:xfrm>
            <a:off x="502920" y="1600200"/>
            <a:ext cx="7360920" cy="4160520"/>
          </a:xfrm>
          <a:prstGeom prst="roundRect">
            <a:avLst>
              <a:gd name="adj" fmla="val 3516"/>
            </a:avLst>
          </a:prstGeom>
          <a:solidFill>
            <a:srgbClr val="FFFFFF"/>
          </a:solidFill>
          <a:ln w="12700">
            <a:solidFill>
              <a:srgbClr val="EBEBEB"/>
            </a:solidFill>
            <a:prstDash val="solid"/>
          </a:ln>
          <a:effectLst>
            <a:outerShdw blurRad="152400" dist="38100" dir="5400000" algn="bl" rotWithShape="0">
              <a:srgbClr val="9AA0A6">
                <a:alpha val="22000"/>
              </a:srgbClr>
            </a:outerShdw>
          </a:effectLst>
        </p:spPr>
        <p:txBody>
          <a:bodyPr/>
          <a:lstStyle/>
          <a:p>
            <a:endParaRPr lang="en-US"/>
          </a:p>
        </p:txBody>
      </p:sp>
      <p:sp>
        <p:nvSpPr>
          <p:cNvPr id="8" name="Shape 6"/>
          <p:cNvSpPr/>
          <p:nvPr/>
        </p:nvSpPr>
        <p:spPr>
          <a:xfrm>
            <a:off x="502920" y="1600200"/>
            <a:ext cx="7360920" cy="566928"/>
          </a:xfrm>
          <a:prstGeom prst="roundRect">
            <a:avLst>
              <a:gd name="adj" fmla="val 25806"/>
            </a:avLst>
          </a:prstGeom>
          <a:solidFill>
            <a:srgbClr val="FF385C"/>
          </a:solidFill>
          <a:ln/>
        </p:spPr>
        <p:txBody>
          <a:bodyPr/>
          <a:lstStyle/>
          <a:p>
            <a:endParaRPr lang="en-US"/>
          </a:p>
        </p:txBody>
      </p:sp>
      <p:sp>
        <p:nvSpPr>
          <p:cNvPr id="9" name="Shape 7"/>
          <p:cNvSpPr/>
          <p:nvPr/>
        </p:nvSpPr>
        <p:spPr>
          <a:xfrm>
            <a:off x="502920" y="1883664"/>
            <a:ext cx="7360920" cy="283464"/>
          </a:xfrm>
          <a:prstGeom prst="rect">
            <a:avLst/>
          </a:prstGeom>
          <a:solidFill>
            <a:srgbClr val="FF385C"/>
          </a:solidFill>
          <a:ln/>
        </p:spPr>
        <p:txBody>
          <a:bodyPr/>
          <a:lstStyle/>
          <a:p>
            <a:endParaRPr lang="en-US"/>
          </a:p>
        </p:txBody>
      </p:sp>
      <p:sp>
        <p:nvSpPr>
          <p:cNvPr id="10" name="Shape 8"/>
          <p:cNvSpPr/>
          <p:nvPr/>
        </p:nvSpPr>
        <p:spPr>
          <a:xfrm>
            <a:off x="685800" y="1719072"/>
            <a:ext cx="329184" cy="329184"/>
          </a:xfrm>
          <a:prstGeom prst="ellipse">
            <a:avLst/>
          </a:prstGeom>
          <a:solidFill>
            <a:srgbClr val="FFFFFF"/>
          </a:solidFill>
          <a:ln/>
        </p:spPr>
        <p:txBody>
          <a:bodyPr/>
          <a:lstStyle/>
          <a:p>
            <a:endParaRPr lang="en-US"/>
          </a:p>
        </p:txBody>
      </p:sp>
      <p:pic>
        <p:nvPicPr>
          <p:cNvPr id="11" name="Image 0" descr="/sessions/dreamy-trusting-noether/mnt/outputs/build/assets/airbnb_logo.png"/>
          <p:cNvPicPr>
            <a:picLocks noChangeAspect="1"/>
          </p:cNvPicPr>
          <p:nvPr/>
        </p:nvPicPr>
        <p:blipFill>
          <a:blip r:embed="rId3"/>
          <a:stretch>
            <a:fillRect/>
          </a:stretch>
        </p:blipFill>
        <p:spPr>
          <a:xfrm>
            <a:off x="722376" y="1755648"/>
            <a:ext cx="256032" cy="256032"/>
          </a:xfrm>
          <a:prstGeom prst="rect">
            <a:avLst/>
          </a:prstGeom>
        </p:spPr>
      </p:pic>
      <p:sp>
        <p:nvSpPr>
          <p:cNvPr id="12" name="Text 9"/>
          <p:cNvSpPr/>
          <p:nvPr/>
        </p:nvSpPr>
        <p:spPr>
          <a:xfrm>
            <a:off x="1124712" y="1600200"/>
            <a:ext cx="4572000" cy="566928"/>
          </a:xfrm>
          <a:prstGeom prst="rect">
            <a:avLst/>
          </a:prstGeom>
          <a:noFill/>
          <a:ln/>
        </p:spPr>
        <p:txBody>
          <a:bodyPr wrap="square" lIns="0" tIns="0" rIns="0" bIns="0"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Airbnb Pricing Intelligence</a:t>
            </a:r>
            <a:endParaRPr lang="en-US" sz="1300" dirty="0"/>
          </a:p>
        </p:txBody>
      </p:sp>
      <p:sp>
        <p:nvSpPr>
          <p:cNvPr id="13" name="Text 10"/>
          <p:cNvSpPr/>
          <p:nvPr/>
        </p:nvSpPr>
        <p:spPr>
          <a:xfrm>
            <a:off x="4023360" y="1600200"/>
            <a:ext cx="3657600" cy="566928"/>
          </a:xfrm>
          <a:prstGeom prst="rect">
            <a:avLst/>
          </a:prstGeom>
          <a:noFill/>
          <a:ln/>
        </p:spPr>
        <p:txBody>
          <a:bodyPr wrap="square" lIns="0" tIns="0" rIns="0" bIns="0" rtlCol="0" anchor="ctr"/>
          <a:lstStyle/>
          <a:p>
            <a:pPr marL="0" indent="0" algn="r">
              <a:buNone/>
            </a:pPr>
            <a:r>
              <a:rPr lang="en-US" sz="1050" dirty="0">
                <a:solidFill>
                  <a:srgbClr val="FFFFFF"/>
                </a:solidFill>
                <a:latin typeface="Poppins" pitchFamily="34" charset="0"/>
                <a:ea typeface="Poppins" pitchFamily="34" charset="-122"/>
                <a:cs typeface="Poppins" pitchFamily="34" charset="-120"/>
              </a:rPr>
              <a:t>Greenpoint Place · Entire home · Brooklyn</a:t>
            </a:r>
            <a:endParaRPr lang="en-US" sz="1050" dirty="0"/>
          </a:p>
        </p:txBody>
      </p:sp>
      <p:sp>
        <p:nvSpPr>
          <p:cNvPr id="14" name="Text 11"/>
          <p:cNvSpPr/>
          <p:nvPr/>
        </p:nvSpPr>
        <p:spPr>
          <a:xfrm>
            <a:off x="822960" y="2377440"/>
            <a:ext cx="3657600" cy="274320"/>
          </a:xfrm>
          <a:prstGeom prst="rect">
            <a:avLst/>
          </a:prstGeom>
          <a:noFill/>
          <a:ln/>
        </p:spPr>
        <p:txBody>
          <a:bodyPr wrap="square" lIns="0" tIns="0" rIns="0" bIns="0" rtlCol="0" anchor="ctr"/>
          <a:lstStyle/>
          <a:p>
            <a:pPr marL="0" indent="0">
              <a:buNone/>
            </a:pPr>
            <a:r>
              <a:rPr lang="en-US" sz="1000" b="1" kern="0" spc="100" dirty="0">
                <a:solidFill>
                  <a:srgbClr val="9AA0A6"/>
                </a:solidFill>
                <a:latin typeface="Poppins" pitchFamily="34" charset="0"/>
                <a:ea typeface="Poppins" pitchFamily="34" charset="-122"/>
                <a:cs typeface="Poppins" pitchFamily="34" charset="-120"/>
              </a:rPr>
              <a:t>RECOMMENDED FAIR VALUE</a:t>
            </a:r>
            <a:endParaRPr lang="en-US" sz="1000" dirty="0"/>
          </a:p>
        </p:txBody>
      </p:sp>
      <p:sp>
        <p:nvSpPr>
          <p:cNvPr id="15" name="Text 12"/>
          <p:cNvSpPr/>
          <p:nvPr/>
        </p:nvSpPr>
        <p:spPr>
          <a:xfrm>
            <a:off x="804672" y="2606040"/>
            <a:ext cx="4114800" cy="731520"/>
          </a:xfrm>
          <a:prstGeom prst="rect">
            <a:avLst/>
          </a:prstGeom>
          <a:noFill/>
          <a:ln/>
        </p:spPr>
        <p:txBody>
          <a:bodyPr wrap="square" lIns="0" tIns="0" rIns="0" bIns="0" rtlCol="0" anchor="ctr"/>
          <a:lstStyle/>
          <a:p>
            <a:pPr marL="0" indent="0">
              <a:buNone/>
            </a:pPr>
            <a:r>
              <a:rPr lang="en-US" sz="4400" b="1" dirty="0">
                <a:solidFill>
                  <a:srgbClr val="222222"/>
                </a:solidFill>
                <a:latin typeface="Poppins" pitchFamily="34" charset="0"/>
                <a:ea typeface="Poppins" pitchFamily="34" charset="-122"/>
                <a:cs typeface="Poppins" pitchFamily="34" charset="-120"/>
              </a:rPr>
              <a:t>$222</a:t>
            </a:r>
            <a:r>
              <a:rPr lang="en-US" sz="1400" dirty="0">
                <a:solidFill>
                  <a:srgbClr val="717171"/>
                </a:solidFill>
                <a:latin typeface="Poppins" pitchFamily="34" charset="0"/>
                <a:ea typeface="Poppins" pitchFamily="34" charset="-122"/>
                <a:cs typeface="Poppins" pitchFamily="34" charset="-120"/>
              </a:rPr>
              <a:t>  /night</a:t>
            </a:r>
            <a:endParaRPr lang="en-US" sz="4400" dirty="0"/>
          </a:p>
        </p:txBody>
      </p:sp>
      <p:sp>
        <p:nvSpPr>
          <p:cNvPr id="16" name="Text 13"/>
          <p:cNvSpPr/>
          <p:nvPr/>
        </p:nvSpPr>
        <p:spPr>
          <a:xfrm>
            <a:off x="822960" y="3383280"/>
            <a:ext cx="3657600" cy="274320"/>
          </a:xfrm>
          <a:prstGeom prst="rect">
            <a:avLst/>
          </a:prstGeom>
          <a:noFill/>
          <a:ln/>
        </p:spPr>
        <p:txBody>
          <a:bodyPr wrap="square" lIns="0" tIns="0" rIns="0" bIns="0" rtlCol="0" anchor="ctr"/>
          <a:lstStyle/>
          <a:p>
            <a:pPr marL="0" indent="0">
              <a:buNone/>
            </a:pPr>
            <a:r>
              <a:rPr lang="en-US" sz="1100" dirty="0">
                <a:solidFill>
                  <a:srgbClr val="717171"/>
                </a:solidFill>
                <a:latin typeface="Poppins" pitchFamily="34" charset="0"/>
                <a:ea typeface="Poppins" pitchFamily="34" charset="-122"/>
                <a:cs typeface="Poppins" pitchFamily="34" charset="-120"/>
              </a:rPr>
              <a:t>Confidence range $188 – $256</a:t>
            </a:r>
            <a:endParaRPr lang="en-US" sz="1100" dirty="0"/>
          </a:p>
        </p:txBody>
      </p:sp>
      <p:sp>
        <p:nvSpPr>
          <p:cNvPr id="17" name="Shape 14"/>
          <p:cNvSpPr/>
          <p:nvPr/>
        </p:nvSpPr>
        <p:spPr>
          <a:xfrm>
            <a:off x="4480560" y="2651760"/>
            <a:ext cx="3063240" cy="914400"/>
          </a:xfrm>
          <a:prstGeom prst="roundRect">
            <a:avLst>
              <a:gd name="adj" fmla="val 12000"/>
            </a:avLst>
          </a:prstGeom>
          <a:solidFill>
            <a:srgbClr val="FFEEF2"/>
          </a:solidFill>
          <a:ln/>
        </p:spPr>
        <p:txBody>
          <a:bodyPr/>
          <a:lstStyle/>
          <a:p>
            <a:endParaRPr lang="en-US"/>
          </a:p>
        </p:txBody>
      </p:sp>
      <p:sp>
        <p:nvSpPr>
          <p:cNvPr id="18" name="Text 15"/>
          <p:cNvSpPr/>
          <p:nvPr/>
        </p:nvSpPr>
        <p:spPr>
          <a:xfrm>
            <a:off x="4663440" y="2770632"/>
            <a:ext cx="2743200" cy="274320"/>
          </a:xfrm>
          <a:prstGeom prst="rect">
            <a:avLst/>
          </a:prstGeom>
          <a:noFill/>
          <a:ln/>
        </p:spPr>
        <p:txBody>
          <a:bodyPr wrap="square" lIns="0" tIns="0" rIns="0" bIns="0" rtlCol="0" anchor="ctr"/>
          <a:lstStyle/>
          <a:p>
            <a:pPr marL="0" indent="0">
              <a:buNone/>
            </a:pPr>
            <a:r>
              <a:rPr lang="en-US" sz="1100" b="1" dirty="0">
                <a:solidFill>
                  <a:srgbClr val="222222"/>
                </a:solidFill>
                <a:latin typeface="Poppins" pitchFamily="34" charset="0"/>
                <a:ea typeface="Poppins" pitchFamily="34" charset="-122"/>
                <a:cs typeface="Poppins" pitchFamily="34" charset="-120"/>
              </a:rPr>
              <a:t>YOUR PRICE $138</a:t>
            </a:r>
            <a:endParaRPr lang="en-US" sz="1100" dirty="0"/>
          </a:p>
        </p:txBody>
      </p:sp>
      <p:sp>
        <p:nvSpPr>
          <p:cNvPr id="19" name="Text 16"/>
          <p:cNvSpPr/>
          <p:nvPr/>
        </p:nvSpPr>
        <p:spPr>
          <a:xfrm>
            <a:off x="4663440" y="3017520"/>
            <a:ext cx="2743200" cy="411480"/>
          </a:xfrm>
          <a:prstGeom prst="rect">
            <a:avLst/>
          </a:prstGeom>
          <a:noFill/>
          <a:ln/>
        </p:spPr>
        <p:txBody>
          <a:bodyPr wrap="square" lIns="0" tIns="0" rIns="0" bIns="0" rtlCol="0" anchor="ctr"/>
          <a:lstStyle/>
          <a:p>
            <a:pPr marL="0" indent="0">
              <a:buNone/>
            </a:pPr>
            <a:r>
              <a:rPr lang="en-US" sz="1600" b="1" dirty="0">
                <a:solidFill>
                  <a:srgbClr val="FF385C"/>
                </a:solidFill>
                <a:latin typeface="Poppins" pitchFamily="34" charset="0"/>
                <a:ea typeface="Poppins" pitchFamily="34" charset="-122"/>
                <a:cs typeface="Poppins" pitchFamily="34" charset="-120"/>
              </a:rPr>
              <a:t>38% below fair value</a:t>
            </a:r>
            <a:endParaRPr lang="en-US" sz="1600" dirty="0"/>
          </a:p>
        </p:txBody>
      </p:sp>
      <p:sp>
        <p:nvSpPr>
          <p:cNvPr id="20" name="Text 17"/>
          <p:cNvSpPr/>
          <p:nvPr/>
        </p:nvSpPr>
        <p:spPr>
          <a:xfrm>
            <a:off x="822960" y="3886200"/>
            <a:ext cx="6400800" cy="274320"/>
          </a:xfrm>
          <a:prstGeom prst="rect">
            <a:avLst/>
          </a:prstGeom>
          <a:noFill/>
          <a:ln/>
        </p:spPr>
        <p:txBody>
          <a:bodyPr wrap="square" lIns="0" tIns="0" rIns="0" bIns="0" rtlCol="0" anchor="ctr"/>
          <a:lstStyle/>
          <a:p>
            <a:pPr marL="0" indent="0">
              <a:buNone/>
            </a:pPr>
            <a:r>
              <a:rPr lang="en-US" sz="1000" b="1" kern="0" spc="100" dirty="0">
                <a:solidFill>
                  <a:srgbClr val="9AA0A6"/>
                </a:solidFill>
                <a:latin typeface="Poppins" pitchFamily="34" charset="0"/>
                <a:ea typeface="Poppins" pitchFamily="34" charset="-122"/>
                <a:cs typeface="Poppins" pitchFamily="34" charset="-120"/>
              </a:rPr>
              <a:t>PROJECTED REVENUE ,  DRAG TO EXPLORE</a:t>
            </a:r>
            <a:endParaRPr lang="en-US" sz="1000" dirty="0"/>
          </a:p>
        </p:txBody>
      </p:sp>
      <p:sp>
        <p:nvSpPr>
          <p:cNvPr id="21" name="Shape 18"/>
          <p:cNvSpPr/>
          <p:nvPr/>
        </p:nvSpPr>
        <p:spPr>
          <a:xfrm>
            <a:off x="822960" y="4251960"/>
            <a:ext cx="6720840" cy="128016"/>
          </a:xfrm>
          <a:prstGeom prst="roundRect">
            <a:avLst>
              <a:gd name="adj" fmla="val 50000"/>
            </a:avLst>
          </a:prstGeom>
          <a:solidFill>
            <a:srgbClr val="EBEBEB"/>
          </a:solidFill>
          <a:ln/>
        </p:spPr>
        <p:txBody>
          <a:bodyPr/>
          <a:lstStyle/>
          <a:p>
            <a:endParaRPr lang="en-US"/>
          </a:p>
        </p:txBody>
      </p:sp>
      <p:sp>
        <p:nvSpPr>
          <p:cNvPr id="22" name="Shape 19"/>
          <p:cNvSpPr/>
          <p:nvPr/>
        </p:nvSpPr>
        <p:spPr>
          <a:xfrm>
            <a:off x="822960" y="4251960"/>
            <a:ext cx="4297680" cy="128016"/>
          </a:xfrm>
          <a:prstGeom prst="roundRect">
            <a:avLst>
              <a:gd name="adj" fmla="val 50000"/>
            </a:avLst>
          </a:prstGeom>
          <a:solidFill>
            <a:srgbClr val="00A699"/>
          </a:solidFill>
          <a:ln/>
        </p:spPr>
        <p:txBody>
          <a:bodyPr/>
          <a:lstStyle/>
          <a:p>
            <a:endParaRPr lang="en-US"/>
          </a:p>
        </p:txBody>
      </p:sp>
      <p:sp>
        <p:nvSpPr>
          <p:cNvPr id="23" name="Shape 20"/>
          <p:cNvSpPr/>
          <p:nvPr/>
        </p:nvSpPr>
        <p:spPr>
          <a:xfrm>
            <a:off x="5001768" y="4142232"/>
            <a:ext cx="347472" cy="347472"/>
          </a:xfrm>
          <a:prstGeom prst="ellipse">
            <a:avLst/>
          </a:prstGeom>
          <a:solidFill>
            <a:srgbClr val="FFFFFF"/>
          </a:solidFill>
          <a:ln w="31750">
            <a:solidFill>
              <a:srgbClr val="00A699"/>
            </a:solidFill>
            <a:prstDash val="solid"/>
          </a:ln>
        </p:spPr>
        <p:txBody>
          <a:bodyPr/>
          <a:lstStyle/>
          <a:p>
            <a:endParaRPr lang="en-US"/>
          </a:p>
        </p:txBody>
      </p:sp>
      <p:sp>
        <p:nvSpPr>
          <p:cNvPr id="24" name="Shape 21"/>
          <p:cNvSpPr/>
          <p:nvPr/>
        </p:nvSpPr>
        <p:spPr>
          <a:xfrm>
            <a:off x="822960" y="5097780"/>
            <a:ext cx="1051560" cy="342900"/>
          </a:xfrm>
          <a:prstGeom prst="roundRect">
            <a:avLst>
              <a:gd name="adj" fmla="val 13333"/>
            </a:avLst>
          </a:prstGeom>
          <a:solidFill>
            <a:srgbClr val="9AA0A6"/>
          </a:solidFill>
          <a:ln/>
        </p:spPr>
        <p:txBody>
          <a:bodyPr/>
          <a:lstStyle/>
          <a:p>
            <a:endParaRPr lang="en-US"/>
          </a:p>
        </p:txBody>
      </p:sp>
      <p:sp>
        <p:nvSpPr>
          <p:cNvPr id="25" name="Text 22"/>
          <p:cNvSpPr/>
          <p:nvPr/>
        </p:nvSpPr>
        <p:spPr>
          <a:xfrm>
            <a:off x="457200" y="5486400"/>
            <a:ext cx="1783080" cy="228600"/>
          </a:xfrm>
          <a:prstGeom prst="rect">
            <a:avLst/>
          </a:prstGeom>
          <a:noFill/>
          <a:ln/>
        </p:spPr>
        <p:txBody>
          <a:bodyPr wrap="square" lIns="0" tIns="0" rIns="0" bIns="0" rtlCol="0" anchor="ctr"/>
          <a:lstStyle/>
          <a:p>
            <a:pPr marL="0" indent="0" algn="ctr">
              <a:buNone/>
            </a:pPr>
            <a:r>
              <a:rPr lang="en-US" sz="900" dirty="0">
                <a:solidFill>
                  <a:srgbClr val="717171"/>
                </a:solidFill>
                <a:latin typeface="Poppins" pitchFamily="34" charset="0"/>
                <a:ea typeface="Poppins" pitchFamily="34" charset="-122"/>
                <a:cs typeface="Poppins" pitchFamily="34" charset="-120"/>
              </a:rPr>
              <a:t>At $138</a:t>
            </a:r>
            <a:endParaRPr lang="en-US" sz="900" dirty="0"/>
          </a:p>
        </p:txBody>
      </p:sp>
      <p:sp>
        <p:nvSpPr>
          <p:cNvPr id="26" name="Shape 23"/>
          <p:cNvSpPr/>
          <p:nvPr/>
        </p:nvSpPr>
        <p:spPr>
          <a:xfrm>
            <a:off x="3154680" y="4878324"/>
            <a:ext cx="1051560" cy="562356"/>
          </a:xfrm>
          <a:prstGeom prst="roundRect">
            <a:avLst>
              <a:gd name="adj" fmla="val 8130"/>
            </a:avLst>
          </a:prstGeom>
          <a:solidFill>
            <a:srgbClr val="00A699"/>
          </a:solidFill>
          <a:ln/>
        </p:spPr>
        <p:txBody>
          <a:bodyPr/>
          <a:lstStyle/>
          <a:p>
            <a:endParaRPr lang="en-US"/>
          </a:p>
        </p:txBody>
      </p:sp>
      <p:sp>
        <p:nvSpPr>
          <p:cNvPr id="27" name="Text 24"/>
          <p:cNvSpPr/>
          <p:nvPr/>
        </p:nvSpPr>
        <p:spPr>
          <a:xfrm>
            <a:off x="2788920" y="5486400"/>
            <a:ext cx="1783080" cy="228600"/>
          </a:xfrm>
          <a:prstGeom prst="rect">
            <a:avLst/>
          </a:prstGeom>
          <a:noFill/>
          <a:ln/>
        </p:spPr>
        <p:txBody>
          <a:bodyPr wrap="square" lIns="0" tIns="0" rIns="0" bIns="0" rtlCol="0" anchor="ctr"/>
          <a:lstStyle/>
          <a:p>
            <a:pPr marL="0" indent="0" algn="ctr">
              <a:buNone/>
            </a:pPr>
            <a:r>
              <a:rPr lang="en-US" sz="900" dirty="0">
                <a:solidFill>
                  <a:srgbClr val="717171"/>
                </a:solidFill>
                <a:latin typeface="Poppins" pitchFamily="34" charset="0"/>
                <a:ea typeface="Poppins" pitchFamily="34" charset="-122"/>
                <a:cs typeface="Poppins" pitchFamily="34" charset="-120"/>
              </a:rPr>
              <a:t>At $222 (fair)</a:t>
            </a:r>
            <a:endParaRPr lang="en-US" sz="900" dirty="0"/>
          </a:p>
        </p:txBody>
      </p:sp>
      <p:sp>
        <p:nvSpPr>
          <p:cNvPr id="28" name="Shape 25"/>
          <p:cNvSpPr/>
          <p:nvPr/>
        </p:nvSpPr>
        <p:spPr>
          <a:xfrm>
            <a:off x="5486400" y="4754880"/>
            <a:ext cx="1051560" cy="685800"/>
          </a:xfrm>
          <a:prstGeom prst="roundRect">
            <a:avLst>
              <a:gd name="adj" fmla="val 6667"/>
            </a:avLst>
          </a:prstGeom>
          <a:solidFill>
            <a:srgbClr val="FF5A5F"/>
          </a:solidFill>
          <a:ln/>
        </p:spPr>
        <p:txBody>
          <a:bodyPr/>
          <a:lstStyle/>
          <a:p>
            <a:endParaRPr lang="en-US"/>
          </a:p>
        </p:txBody>
      </p:sp>
      <p:sp>
        <p:nvSpPr>
          <p:cNvPr id="29" name="Text 26"/>
          <p:cNvSpPr/>
          <p:nvPr/>
        </p:nvSpPr>
        <p:spPr>
          <a:xfrm>
            <a:off x="5120640" y="5486400"/>
            <a:ext cx="1783080" cy="228600"/>
          </a:xfrm>
          <a:prstGeom prst="rect">
            <a:avLst/>
          </a:prstGeom>
          <a:noFill/>
          <a:ln/>
        </p:spPr>
        <p:txBody>
          <a:bodyPr wrap="square" lIns="0" tIns="0" rIns="0" bIns="0" rtlCol="0" anchor="ctr"/>
          <a:lstStyle/>
          <a:p>
            <a:pPr marL="0" indent="0" algn="ctr">
              <a:buNone/>
            </a:pPr>
            <a:r>
              <a:rPr lang="en-US" sz="900" dirty="0">
                <a:solidFill>
                  <a:srgbClr val="717171"/>
                </a:solidFill>
                <a:latin typeface="Poppins" pitchFamily="34" charset="0"/>
                <a:ea typeface="Poppins" pitchFamily="34" charset="-122"/>
                <a:cs typeface="Poppins" pitchFamily="34" charset="-120"/>
              </a:rPr>
              <a:t>At $256 (max)</a:t>
            </a:r>
            <a:endParaRPr lang="en-US" sz="900" dirty="0"/>
          </a:p>
        </p:txBody>
      </p:sp>
      <p:sp>
        <p:nvSpPr>
          <p:cNvPr id="30" name="Shape 27"/>
          <p:cNvSpPr/>
          <p:nvPr/>
        </p:nvSpPr>
        <p:spPr>
          <a:xfrm>
            <a:off x="8046720" y="1600200"/>
            <a:ext cx="3639312" cy="4160520"/>
          </a:xfrm>
          <a:prstGeom prst="roundRect">
            <a:avLst>
              <a:gd name="adj" fmla="val 4020"/>
            </a:avLst>
          </a:prstGeom>
          <a:solidFill>
            <a:srgbClr val="FFFFFF"/>
          </a:solidFill>
          <a:ln w="12700">
            <a:solidFill>
              <a:srgbClr val="EBEBEB"/>
            </a:solidFill>
            <a:prstDash val="solid"/>
          </a:ln>
          <a:effectLst>
            <a:outerShdw blurRad="127000" dist="25400" dir="5400000" algn="bl" rotWithShape="0">
              <a:srgbClr val="9AA0A6">
                <a:alpha val="18000"/>
              </a:srgbClr>
            </a:outerShdw>
          </a:effectLst>
        </p:spPr>
        <p:txBody>
          <a:bodyPr/>
          <a:lstStyle/>
          <a:p>
            <a:endParaRPr lang="en-US"/>
          </a:p>
        </p:txBody>
      </p:sp>
      <p:sp>
        <p:nvSpPr>
          <p:cNvPr id="31" name="Text 28"/>
          <p:cNvSpPr/>
          <p:nvPr/>
        </p:nvSpPr>
        <p:spPr>
          <a:xfrm>
            <a:off x="8302752" y="1819656"/>
            <a:ext cx="3182112" cy="274320"/>
          </a:xfrm>
          <a:prstGeom prst="rect">
            <a:avLst/>
          </a:prstGeom>
          <a:noFill/>
          <a:ln/>
        </p:spPr>
        <p:txBody>
          <a:bodyPr wrap="square" lIns="0" tIns="0" rIns="0" bIns="0" rtlCol="0" anchor="ctr"/>
          <a:lstStyle/>
          <a:p>
            <a:pPr marL="0" indent="0">
              <a:buNone/>
            </a:pPr>
            <a:r>
              <a:rPr lang="en-US" sz="1050" b="1" kern="0" spc="100" dirty="0">
                <a:solidFill>
                  <a:srgbClr val="9AA0A6"/>
                </a:solidFill>
                <a:latin typeface="Poppins" pitchFamily="34" charset="0"/>
                <a:ea typeface="Poppins" pitchFamily="34" charset="-122"/>
                <a:cs typeface="Poppins" pitchFamily="34" charset="-120"/>
              </a:rPr>
              <a:t>COMPARABLE LISTINGS</a:t>
            </a:r>
            <a:endParaRPr lang="en-US" sz="1050" dirty="0"/>
          </a:p>
        </p:txBody>
      </p:sp>
      <p:sp>
        <p:nvSpPr>
          <p:cNvPr id="32" name="Shape 29"/>
          <p:cNvSpPr/>
          <p:nvPr/>
        </p:nvSpPr>
        <p:spPr>
          <a:xfrm>
            <a:off x="8266176" y="2203704"/>
            <a:ext cx="3200400" cy="914400"/>
          </a:xfrm>
          <a:prstGeom prst="roundRect">
            <a:avLst>
              <a:gd name="adj" fmla="val 10000"/>
            </a:avLst>
          </a:prstGeom>
          <a:solidFill>
            <a:srgbClr val="F7F7F7"/>
          </a:solidFill>
          <a:ln/>
        </p:spPr>
        <p:txBody>
          <a:bodyPr/>
          <a:lstStyle/>
          <a:p>
            <a:endParaRPr lang="en-US"/>
          </a:p>
        </p:txBody>
      </p:sp>
      <p:sp>
        <p:nvSpPr>
          <p:cNvPr id="33" name="Text 30"/>
          <p:cNvSpPr/>
          <p:nvPr/>
        </p:nvSpPr>
        <p:spPr>
          <a:xfrm>
            <a:off x="8430768" y="2313432"/>
            <a:ext cx="2450592" cy="320040"/>
          </a:xfrm>
          <a:prstGeom prst="rect">
            <a:avLst/>
          </a:prstGeom>
          <a:noFill/>
          <a:ln/>
        </p:spPr>
        <p:txBody>
          <a:bodyPr wrap="square" lIns="0" tIns="0" rIns="0" bIns="0" rtlCol="0" anchor="ctr"/>
          <a:lstStyle/>
          <a:p>
            <a:pPr marL="0" indent="0">
              <a:buNone/>
            </a:pPr>
            <a:r>
              <a:rPr lang="en-US" sz="1100" b="1" dirty="0">
                <a:solidFill>
                  <a:srgbClr val="222222"/>
                </a:solidFill>
                <a:latin typeface="Poppins" pitchFamily="34" charset="0"/>
                <a:ea typeface="Poppins" pitchFamily="34" charset="-122"/>
                <a:cs typeface="Poppins" pitchFamily="34" charset="-120"/>
              </a:rPr>
              <a:t>Sunny Greenpoint 1BR</a:t>
            </a:r>
            <a:endParaRPr lang="en-US" sz="1100" dirty="0"/>
          </a:p>
        </p:txBody>
      </p:sp>
      <p:sp>
        <p:nvSpPr>
          <p:cNvPr id="34" name="Text 31"/>
          <p:cNvSpPr/>
          <p:nvPr/>
        </p:nvSpPr>
        <p:spPr>
          <a:xfrm>
            <a:off x="10634472" y="2313432"/>
            <a:ext cx="822960" cy="320040"/>
          </a:xfrm>
          <a:prstGeom prst="rect">
            <a:avLst/>
          </a:prstGeom>
          <a:noFill/>
          <a:ln/>
        </p:spPr>
        <p:txBody>
          <a:bodyPr wrap="square" lIns="0" tIns="0" rIns="0" bIns="0" rtlCol="0" anchor="ctr"/>
          <a:lstStyle/>
          <a:p>
            <a:pPr marL="0" indent="0" algn="r">
              <a:buNone/>
            </a:pPr>
            <a:r>
              <a:rPr lang="en-US" sz="1300" b="1" dirty="0">
                <a:solidFill>
                  <a:srgbClr val="007A73"/>
                </a:solidFill>
                <a:latin typeface="Poppins" pitchFamily="34" charset="0"/>
                <a:ea typeface="Poppins" pitchFamily="34" charset="-122"/>
                <a:cs typeface="Poppins" pitchFamily="34" charset="-120"/>
              </a:rPr>
              <a:t>$229</a:t>
            </a:r>
            <a:endParaRPr lang="en-US" sz="1300" dirty="0"/>
          </a:p>
        </p:txBody>
      </p:sp>
      <p:sp>
        <p:nvSpPr>
          <p:cNvPr id="35" name="Shape 32"/>
          <p:cNvSpPr/>
          <p:nvPr/>
        </p:nvSpPr>
        <p:spPr>
          <a:xfrm>
            <a:off x="8430768" y="2706624"/>
            <a:ext cx="2651760" cy="310896"/>
          </a:xfrm>
          <a:prstGeom prst="roundRect">
            <a:avLst>
              <a:gd name="adj" fmla="val 50000"/>
            </a:avLst>
          </a:prstGeom>
          <a:solidFill>
            <a:srgbClr val="FFEEF2"/>
          </a:solidFill>
          <a:ln/>
        </p:spPr>
        <p:txBody>
          <a:bodyPr/>
          <a:lstStyle/>
          <a:p>
            <a:endParaRPr lang="en-US"/>
          </a:p>
        </p:txBody>
      </p:sp>
      <p:sp>
        <p:nvSpPr>
          <p:cNvPr id="36" name="Text 33"/>
          <p:cNvSpPr/>
          <p:nvPr/>
        </p:nvSpPr>
        <p:spPr>
          <a:xfrm>
            <a:off x="8430768" y="2706624"/>
            <a:ext cx="2651760" cy="310896"/>
          </a:xfrm>
          <a:prstGeom prst="rect">
            <a:avLst/>
          </a:prstGeom>
          <a:noFill/>
          <a:ln/>
        </p:spPr>
        <p:txBody>
          <a:bodyPr wrap="square" lIns="0" tIns="0" rIns="0" bIns="0" rtlCol="0" anchor="ctr"/>
          <a:lstStyle/>
          <a:p>
            <a:pPr marL="0" indent="0" algn="ctr">
              <a:buNone/>
            </a:pPr>
            <a:r>
              <a:rPr lang="en-US" sz="950" b="1" dirty="0">
                <a:solidFill>
                  <a:srgbClr val="FF385C"/>
                </a:solidFill>
                <a:latin typeface="Poppins" pitchFamily="34" charset="0"/>
                <a:ea typeface="Poppins" pitchFamily="34" charset="-122"/>
                <a:cs typeface="Poppins" pitchFamily="34" charset="-120"/>
              </a:rPr>
              <a:t>+ Self check-in</a:t>
            </a:r>
            <a:endParaRPr lang="en-US" sz="950" dirty="0"/>
          </a:p>
        </p:txBody>
      </p:sp>
      <p:sp>
        <p:nvSpPr>
          <p:cNvPr id="37" name="Shape 34"/>
          <p:cNvSpPr/>
          <p:nvPr/>
        </p:nvSpPr>
        <p:spPr>
          <a:xfrm>
            <a:off x="8266176" y="3282696"/>
            <a:ext cx="3200400" cy="914400"/>
          </a:xfrm>
          <a:prstGeom prst="roundRect">
            <a:avLst>
              <a:gd name="adj" fmla="val 10000"/>
            </a:avLst>
          </a:prstGeom>
          <a:solidFill>
            <a:srgbClr val="F7F7F7"/>
          </a:solidFill>
          <a:ln/>
        </p:spPr>
        <p:txBody>
          <a:bodyPr/>
          <a:lstStyle/>
          <a:p>
            <a:endParaRPr lang="en-US"/>
          </a:p>
        </p:txBody>
      </p:sp>
      <p:sp>
        <p:nvSpPr>
          <p:cNvPr id="38" name="Text 35"/>
          <p:cNvSpPr/>
          <p:nvPr/>
        </p:nvSpPr>
        <p:spPr>
          <a:xfrm>
            <a:off x="8430768" y="3392424"/>
            <a:ext cx="2450592" cy="320040"/>
          </a:xfrm>
          <a:prstGeom prst="rect">
            <a:avLst/>
          </a:prstGeom>
          <a:noFill/>
          <a:ln/>
        </p:spPr>
        <p:txBody>
          <a:bodyPr wrap="square" lIns="0" tIns="0" rIns="0" bIns="0" rtlCol="0" anchor="ctr"/>
          <a:lstStyle/>
          <a:p>
            <a:pPr marL="0" indent="0">
              <a:buNone/>
            </a:pPr>
            <a:r>
              <a:rPr lang="en-US" sz="1100" b="1" dirty="0">
                <a:solidFill>
                  <a:srgbClr val="222222"/>
                </a:solidFill>
                <a:latin typeface="Poppins" pitchFamily="34" charset="0"/>
                <a:ea typeface="Poppins" pitchFamily="34" charset="-122"/>
                <a:cs typeface="Poppins" pitchFamily="34" charset="-120"/>
              </a:rPr>
              <a:t>Bright Williamsburg flat</a:t>
            </a:r>
            <a:endParaRPr lang="en-US" sz="1100" dirty="0"/>
          </a:p>
        </p:txBody>
      </p:sp>
      <p:sp>
        <p:nvSpPr>
          <p:cNvPr id="39" name="Text 36"/>
          <p:cNvSpPr/>
          <p:nvPr/>
        </p:nvSpPr>
        <p:spPr>
          <a:xfrm>
            <a:off x="10634472" y="3392424"/>
            <a:ext cx="822960" cy="320040"/>
          </a:xfrm>
          <a:prstGeom prst="rect">
            <a:avLst/>
          </a:prstGeom>
          <a:noFill/>
          <a:ln/>
        </p:spPr>
        <p:txBody>
          <a:bodyPr wrap="square" lIns="0" tIns="0" rIns="0" bIns="0" rtlCol="0" anchor="ctr"/>
          <a:lstStyle/>
          <a:p>
            <a:pPr marL="0" indent="0" algn="r">
              <a:buNone/>
            </a:pPr>
            <a:r>
              <a:rPr lang="en-US" sz="1300" b="1" dirty="0">
                <a:solidFill>
                  <a:srgbClr val="007A73"/>
                </a:solidFill>
                <a:latin typeface="Poppins" pitchFamily="34" charset="0"/>
                <a:ea typeface="Poppins" pitchFamily="34" charset="-122"/>
                <a:cs typeface="Poppins" pitchFamily="34" charset="-120"/>
              </a:rPr>
              <a:t>$241</a:t>
            </a:r>
            <a:endParaRPr lang="en-US" sz="1300" dirty="0"/>
          </a:p>
        </p:txBody>
      </p:sp>
      <p:sp>
        <p:nvSpPr>
          <p:cNvPr id="40" name="Shape 37"/>
          <p:cNvSpPr/>
          <p:nvPr/>
        </p:nvSpPr>
        <p:spPr>
          <a:xfrm>
            <a:off x="8430768" y="3785616"/>
            <a:ext cx="2651760" cy="310896"/>
          </a:xfrm>
          <a:prstGeom prst="roundRect">
            <a:avLst>
              <a:gd name="adj" fmla="val 50000"/>
            </a:avLst>
          </a:prstGeom>
          <a:solidFill>
            <a:srgbClr val="FFEEF2"/>
          </a:solidFill>
          <a:ln/>
        </p:spPr>
        <p:txBody>
          <a:bodyPr/>
          <a:lstStyle/>
          <a:p>
            <a:endParaRPr lang="en-US"/>
          </a:p>
        </p:txBody>
      </p:sp>
      <p:sp>
        <p:nvSpPr>
          <p:cNvPr id="41" name="Text 38"/>
          <p:cNvSpPr/>
          <p:nvPr/>
        </p:nvSpPr>
        <p:spPr>
          <a:xfrm>
            <a:off x="8430768" y="3785616"/>
            <a:ext cx="2651760" cy="310896"/>
          </a:xfrm>
          <a:prstGeom prst="rect">
            <a:avLst/>
          </a:prstGeom>
          <a:noFill/>
          <a:ln/>
        </p:spPr>
        <p:txBody>
          <a:bodyPr wrap="square" lIns="0" tIns="0" rIns="0" bIns="0" rtlCol="0" anchor="ctr"/>
          <a:lstStyle/>
          <a:p>
            <a:pPr marL="0" indent="0" algn="ctr">
              <a:buNone/>
            </a:pPr>
            <a:r>
              <a:rPr lang="en-US" sz="950" b="1" dirty="0">
                <a:solidFill>
                  <a:srgbClr val="FF385C"/>
                </a:solidFill>
                <a:latin typeface="Poppins" pitchFamily="34" charset="0"/>
                <a:ea typeface="Poppins" pitchFamily="34" charset="-122"/>
                <a:cs typeface="Poppins" pitchFamily="34" charset="-120"/>
              </a:rPr>
              <a:t>+ Dedicated workspace</a:t>
            </a:r>
            <a:endParaRPr lang="en-US" sz="950" dirty="0"/>
          </a:p>
        </p:txBody>
      </p:sp>
      <p:sp>
        <p:nvSpPr>
          <p:cNvPr id="42" name="Shape 39"/>
          <p:cNvSpPr/>
          <p:nvPr/>
        </p:nvSpPr>
        <p:spPr>
          <a:xfrm>
            <a:off x="8266176" y="4361688"/>
            <a:ext cx="3200400" cy="914400"/>
          </a:xfrm>
          <a:prstGeom prst="roundRect">
            <a:avLst>
              <a:gd name="adj" fmla="val 10000"/>
            </a:avLst>
          </a:prstGeom>
          <a:solidFill>
            <a:srgbClr val="F7F7F7"/>
          </a:solidFill>
          <a:ln/>
        </p:spPr>
        <p:txBody>
          <a:bodyPr/>
          <a:lstStyle/>
          <a:p>
            <a:endParaRPr lang="en-US"/>
          </a:p>
        </p:txBody>
      </p:sp>
      <p:sp>
        <p:nvSpPr>
          <p:cNvPr id="43" name="Text 40"/>
          <p:cNvSpPr/>
          <p:nvPr/>
        </p:nvSpPr>
        <p:spPr>
          <a:xfrm>
            <a:off x="8430768" y="4471416"/>
            <a:ext cx="2450592" cy="320040"/>
          </a:xfrm>
          <a:prstGeom prst="rect">
            <a:avLst/>
          </a:prstGeom>
          <a:noFill/>
          <a:ln/>
        </p:spPr>
        <p:txBody>
          <a:bodyPr wrap="square" lIns="0" tIns="0" rIns="0" bIns="0" rtlCol="0" anchor="ctr"/>
          <a:lstStyle/>
          <a:p>
            <a:pPr marL="0" indent="0">
              <a:buNone/>
            </a:pPr>
            <a:r>
              <a:rPr lang="en-US" sz="1100" b="1" dirty="0">
                <a:solidFill>
                  <a:srgbClr val="222222"/>
                </a:solidFill>
                <a:latin typeface="Poppins" pitchFamily="34" charset="0"/>
                <a:ea typeface="Poppins" pitchFamily="34" charset="-122"/>
                <a:cs typeface="Poppins" pitchFamily="34" charset="-120"/>
              </a:rPr>
              <a:t>Modern McCarren loft</a:t>
            </a:r>
            <a:endParaRPr lang="en-US" sz="1100" dirty="0"/>
          </a:p>
        </p:txBody>
      </p:sp>
      <p:sp>
        <p:nvSpPr>
          <p:cNvPr id="44" name="Text 41"/>
          <p:cNvSpPr/>
          <p:nvPr/>
        </p:nvSpPr>
        <p:spPr>
          <a:xfrm>
            <a:off x="10634472" y="4471416"/>
            <a:ext cx="822960" cy="320040"/>
          </a:xfrm>
          <a:prstGeom prst="rect">
            <a:avLst/>
          </a:prstGeom>
          <a:noFill/>
          <a:ln/>
        </p:spPr>
        <p:txBody>
          <a:bodyPr wrap="square" lIns="0" tIns="0" rIns="0" bIns="0" rtlCol="0" anchor="ctr"/>
          <a:lstStyle/>
          <a:p>
            <a:pPr marL="0" indent="0" algn="r">
              <a:buNone/>
            </a:pPr>
            <a:r>
              <a:rPr lang="en-US" sz="1300" b="1" dirty="0">
                <a:solidFill>
                  <a:srgbClr val="007A73"/>
                </a:solidFill>
                <a:latin typeface="Poppins" pitchFamily="34" charset="0"/>
                <a:ea typeface="Poppins" pitchFamily="34" charset="-122"/>
                <a:cs typeface="Poppins" pitchFamily="34" charset="-120"/>
              </a:rPr>
              <a:t>$208</a:t>
            </a:r>
            <a:endParaRPr lang="en-US" sz="1300" dirty="0"/>
          </a:p>
        </p:txBody>
      </p:sp>
      <p:sp>
        <p:nvSpPr>
          <p:cNvPr id="45" name="Shape 42"/>
          <p:cNvSpPr/>
          <p:nvPr/>
        </p:nvSpPr>
        <p:spPr>
          <a:xfrm>
            <a:off x="8430768" y="4864608"/>
            <a:ext cx="2651760" cy="310896"/>
          </a:xfrm>
          <a:prstGeom prst="roundRect">
            <a:avLst>
              <a:gd name="adj" fmla="val 50000"/>
            </a:avLst>
          </a:prstGeom>
          <a:solidFill>
            <a:srgbClr val="FFEEF2"/>
          </a:solidFill>
          <a:ln/>
        </p:spPr>
        <p:txBody>
          <a:bodyPr/>
          <a:lstStyle/>
          <a:p>
            <a:endParaRPr lang="en-US"/>
          </a:p>
        </p:txBody>
      </p:sp>
      <p:sp>
        <p:nvSpPr>
          <p:cNvPr id="46" name="Text 43"/>
          <p:cNvSpPr/>
          <p:nvPr/>
        </p:nvSpPr>
        <p:spPr>
          <a:xfrm>
            <a:off x="8430768" y="4864608"/>
            <a:ext cx="2651760" cy="310896"/>
          </a:xfrm>
          <a:prstGeom prst="rect">
            <a:avLst/>
          </a:prstGeom>
          <a:noFill/>
          <a:ln/>
        </p:spPr>
        <p:txBody>
          <a:bodyPr wrap="square" lIns="0" tIns="0" rIns="0" bIns="0" rtlCol="0" anchor="ctr"/>
          <a:lstStyle/>
          <a:p>
            <a:pPr marL="0" indent="0" algn="ctr">
              <a:buNone/>
            </a:pPr>
            <a:r>
              <a:rPr lang="en-US" sz="950" b="1" dirty="0">
                <a:solidFill>
                  <a:srgbClr val="FF385C"/>
                </a:solidFill>
                <a:latin typeface="Poppins" pitchFamily="34" charset="0"/>
                <a:ea typeface="Poppins" pitchFamily="34" charset="-122"/>
                <a:cs typeface="Poppins" pitchFamily="34" charset="-120"/>
              </a:rPr>
              <a:t>+ Air conditioning</a:t>
            </a:r>
            <a:endParaRPr lang="en-US" sz="950" dirty="0"/>
          </a:p>
        </p:txBody>
      </p:sp>
      <p:sp>
        <p:nvSpPr>
          <p:cNvPr id="47" name="Text 44"/>
          <p:cNvSpPr/>
          <p:nvPr/>
        </p:nvSpPr>
        <p:spPr>
          <a:xfrm>
            <a:off x="521208" y="5989320"/>
            <a:ext cx="11155680" cy="274320"/>
          </a:xfrm>
          <a:prstGeom prst="rect">
            <a:avLst/>
          </a:prstGeom>
          <a:noFill/>
          <a:ln/>
        </p:spPr>
        <p:txBody>
          <a:bodyPr wrap="square" lIns="0" tIns="0" rIns="0" bIns="0" rtlCol="0" anchor="ctr"/>
          <a:lstStyle/>
          <a:p>
            <a:pPr marL="0" indent="0" algn="ctr">
              <a:buNone/>
            </a:pPr>
            <a:r>
              <a:rPr lang="en-US" sz="950" i="1" dirty="0">
                <a:solidFill>
                  <a:srgbClr val="9AA0A6"/>
                </a:solidFill>
                <a:latin typeface="Poppins" pitchFamily="34" charset="0"/>
                <a:ea typeface="Poppins" pitchFamily="34" charset="-122"/>
                <a:cs typeface="Poppins" pitchFamily="34" charset="-120"/>
              </a:rPr>
              <a:t>Illustrative product UI, shown as a short pre-recorded walkthrough (this slide mirrors it as a backup).</a:t>
            </a:r>
            <a:endParaRPr lang="en-US" sz="950" dirty="0"/>
          </a:p>
        </p:txBody>
      </p:sp>
      <p:pic>
        <p:nvPicPr>
          <p:cNvPr id="48" name="Image 1" descr="/sessions/dreamy-trusting-noether/mnt/outputs/build/assets/cornell_dark.png"/>
          <p:cNvPicPr>
            <a:picLocks noChangeAspect="1"/>
          </p:cNvPicPr>
          <p:nvPr/>
        </p:nvPicPr>
        <p:blipFill>
          <a:blip r:embed="rId4"/>
          <a:stretch>
            <a:fillRect/>
          </a:stretch>
        </p:blipFill>
        <p:spPr>
          <a:xfrm>
            <a:off x="502920" y="6451092"/>
            <a:ext cx="1491064" cy="173736"/>
          </a:xfrm>
          <a:prstGeom prst="rect">
            <a:avLst/>
          </a:prstGeom>
        </p:spPr>
      </p:pic>
      <p:sp>
        <p:nvSpPr>
          <p:cNvPr id="49" name="Shape 45"/>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50" name="Image 2" descr="/sessions/dreamy-trusting-noether/mnt/outputs/build/assets/airbnb_logo.png"/>
          <p:cNvPicPr>
            <a:picLocks noChangeAspect="1"/>
          </p:cNvPicPr>
          <p:nvPr/>
        </p:nvPicPr>
        <p:blipFill>
          <a:blip r:embed="rId3"/>
          <a:stretch>
            <a:fillRect/>
          </a:stretch>
        </p:blipFill>
        <p:spPr>
          <a:xfrm>
            <a:off x="2089538" y="6425032"/>
            <a:ext cx="225857" cy="225857"/>
          </a:xfrm>
          <a:prstGeom prst="rect">
            <a:avLst/>
          </a:prstGeom>
        </p:spPr>
      </p:pic>
      <p:sp>
        <p:nvSpPr>
          <p:cNvPr id="51" name="Text 46"/>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09 · FROM PRICE TO REVENUE</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700" b="1" dirty="0">
                <a:solidFill>
                  <a:srgbClr val="222222"/>
                </a:solidFill>
                <a:latin typeface="Poppins" pitchFamily="34" charset="0"/>
                <a:ea typeface="Poppins" pitchFamily="34" charset="-122"/>
                <a:cs typeface="Poppins" pitchFamily="34" charset="-120"/>
              </a:rPr>
              <a:t>Does moving the price actually make money?</a:t>
            </a:r>
            <a:endParaRPr lang="en-US" sz="27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Our most rigorous piece of analysis: we measured price sensitivity directly, on real third-party data.</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Jai</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10</a:t>
            </a:r>
            <a:endParaRPr lang="en-US" sz="900" dirty="0"/>
          </a:p>
        </p:txBody>
      </p:sp>
      <p:sp>
        <p:nvSpPr>
          <p:cNvPr id="12" name="Shape 8"/>
          <p:cNvSpPr/>
          <p:nvPr/>
        </p:nvSpPr>
        <p:spPr>
          <a:xfrm>
            <a:off x="502920" y="2194560"/>
            <a:ext cx="5468112" cy="1783080"/>
          </a:xfrm>
          <a:prstGeom prst="roundRect">
            <a:avLst>
              <a:gd name="adj" fmla="val 7179"/>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77240" y="2450592"/>
            <a:ext cx="548640" cy="548640"/>
          </a:xfrm>
          <a:prstGeom prst="ellipse">
            <a:avLst/>
          </a:prstGeom>
          <a:solidFill>
            <a:srgbClr val="FFFFFF"/>
          </a:solidFill>
          <a:ln/>
        </p:spPr>
        <p:txBody>
          <a:bodyPr/>
          <a:lstStyle/>
          <a:p>
            <a:endParaRPr lang="en-US"/>
          </a:p>
        </p:txBody>
      </p:sp>
      <p:pic>
        <p:nvPicPr>
          <p:cNvPr id="14" name="Image 2" descr="/sessions/dreamy-trusting-noether/mnt/outputs/build/assets/bar_teal.png"/>
          <p:cNvPicPr>
            <a:picLocks noChangeAspect="1"/>
          </p:cNvPicPr>
          <p:nvPr/>
        </p:nvPicPr>
        <p:blipFill>
          <a:blip r:embed="rId5"/>
          <a:stretch>
            <a:fillRect/>
          </a:stretch>
        </p:blipFill>
        <p:spPr>
          <a:xfrm>
            <a:off x="908914" y="2582266"/>
            <a:ext cx="285293" cy="285293"/>
          </a:xfrm>
          <a:prstGeom prst="rect">
            <a:avLst/>
          </a:prstGeom>
        </p:spPr>
      </p:pic>
      <p:sp>
        <p:nvSpPr>
          <p:cNvPr id="15" name="Text 10"/>
          <p:cNvSpPr/>
          <p:nvPr/>
        </p:nvSpPr>
        <p:spPr>
          <a:xfrm>
            <a:off x="1481328" y="2505456"/>
            <a:ext cx="3730752" cy="274320"/>
          </a:xfrm>
          <a:prstGeom prst="rect">
            <a:avLst/>
          </a:prstGeom>
          <a:noFill/>
          <a:ln/>
        </p:spPr>
        <p:txBody>
          <a:bodyPr wrap="square" lIns="0" tIns="0" rIns="0" bIns="0" rtlCol="0" anchor="ctr"/>
          <a:lstStyle/>
          <a:p>
            <a:pPr marL="0" indent="0">
              <a:buNone/>
            </a:pPr>
            <a:r>
              <a:rPr lang="en-US" sz="1050" b="1" kern="0" spc="100" dirty="0">
                <a:solidFill>
                  <a:srgbClr val="007A73"/>
                </a:solidFill>
                <a:latin typeface="Poppins" pitchFamily="34" charset="0"/>
                <a:ea typeface="Poppins" pitchFamily="34" charset="-122"/>
                <a:cs typeface="Poppins" pitchFamily="34" charset="-120"/>
              </a:rPr>
              <a:t>THE MEASUREMENT</a:t>
            </a:r>
            <a:endParaRPr lang="en-US" sz="1050" dirty="0"/>
          </a:p>
        </p:txBody>
      </p:sp>
      <p:sp>
        <p:nvSpPr>
          <p:cNvPr id="16" name="Text 11"/>
          <p:cNvSpPr/>
          <p:nvPr/>
        </p:nvSpPr>
        <p:spPr>
          <a:xfrm>
            <a:off x="777240" y="2834640"/>
            <a:ext cx="4965192" cy="457200"/>
          </a:xfrm>
          <a:prstGeom prst="rect">
            <a:avLst/>
          </a:prstGeom>
          <a:noFill/>
          <a:ln/>
        </p:spPr>
        <p:txBody>
          <a:bodyPr wrap="square" lIns="0" tIns="0" rIns="0" bIns="0" rtlCol="0" anchor="ctr"/>
          <a:lstStyle/>
          <a:p>
            <a:pPr marL="0" indent="0">
              <a:buNone/>
            </a:pPr>
            <a:r>
              <a:rPr lang="en-US" sz="2900" b="1" dirty="0">
                <a:solidFill>
                  <a:srgbClr val="007A73"/>
                </a:solidFill>
                <a:latin typeface="Poppins" pitchFamily="34" charset="0"/>
                <a:ea typeface="Poppins" pitchFamily="34" charset="-122"/>
                <a:cs typeface="Poppins" pitchFamily="34" charset="-120"/>
              </a:rPr>
              <a:t>β = −0.92</a:t>
            </a:r>
            <a:r>
              <a:rPr lang="en-US" sz="1150" dirty="0">
                <a:solidFill>
                  <a:srgbClr val="4A4A4A"/>
                </a:solidFill>
                <a:latin typeface="Poppins" pitchFamily="34" charset="0"/>
                <a:ea typeface="Poppins" pitchFamily="34" charset="-122"/>
                <a:cs typeface="Poppins" pitchFamily="34" charset="-120"/>
              </a:rPr>
              <a:t>    95% CI  −1.30 to −0.54</a:t>
            </a:r>
            <a:endParaRPr lang="en-US" sz="2900" dirty="0"/>
          </a:p>
        </p:txBody>
      </p:sp>
      <p:sp>
        <p:nvSpPr>
          <p:cNvPr id="17" name="Text 12"/>
          <p:cNvSpPr/>
          <p:nvPr/>
        </p:nvSpPr>
        <p:spPr>
          <a:xfrm>
            <a:off x="777240" y="3310128"/>
            <a:ext cx="4965192" cy="603504"/>
          </a:xfrm>
          <a:prstGeom prst="rect">
            <a:avLst/>
          </a:prstGeom>
          <a:noFill/>
          <a:ln/>
        </p:spPr>
        <p:txBody>
          <a:bodyPr wrap="square" lIns="0" tIns="0" rIns="0" bIns="0" rtlCol="0" anchor="t"/>
          <a:lstStyle/>
          <a:p>
            <a:pPr marL="0" indent="0">
              <a:lnSpc>
                <a:spcPct val="104000"/>
              </a:lnSpc>
              <a:buNone/>
            </a:pPr>
            <a:r>
              <a:rPr lang="en-US" sz="1100" dirty="0">
                <a:solidFill>
                  <a:srgbClr val="4A4A4A"/>
                </a:solidFill>
                <a:latin typeface="Poppins" pitchFamily="34" charset="0"/>
                <a:ea typeface="Poppins" pitchFamily="34" charset="-122"/>
                <a:cs typeface="Poppins" pitchFamily="34" charset="-120"/>
              </a:rPr>
              <a:t>A two-way fixed-effects regression on a third-party occupancy panel, controlling for each listing and each month. A +1% change in price maps to a −0.92% change in booked occupancy.</a:t>
            </a:r>
            <a:endParaRPr lang="en-US" sz="1100" dirty="0"/>
          </a:p>
        </p:txBody>
      </p:sp>
      <p:sp>
        <p:nvSpPr>
          <p:cNvPr id="18" name="Shape 13"/>
          <p:cNvSpPr/>
          <p:nvPr/>
        </p:nvSpPr>
        <p:spPr>
          <a:xfrm>
            <a:off x="6217920" y="2194560"/>
            <a:ext cx="5468112" cy="1783080"/>
          </a:xfrm>
          <a:prstGeom prst="roundRect">
            <a:avLst>
              <a:gd name="adj" fmla="val 7179"/>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9" name="Shape 14"/>
          <p:cNvSpPr/>
          <p:nvPr/>
        </p:nvSpPr>
        <p:spPr>
          <a:xfrm>
            <a:off x="6492240" y="2450592"/>
            <a:ext cx="548640" cy="548640"/>
          </a:xfrm>
          <a:prstGeom prst="ellipse">
            <a:avLst/>
          </a:prstGeom>
          <a:solidFill>
            <a:srgbClr val="FFFFFF"/>
          </a:solidFill>
          <a:ln/>
        </p:spPr>
        <p:txBody>
          <a:bodyPr/>
          <a:lstStyle/>
          <a:p>
            <a:endParaRPr lang="en-US"/>
          </a:p>
        </p:txBody>
      </p:sp>
      <p:pic>
        <p:nvPicPr>
          <p:cNvPr id="20" name="Image 3" descr="/sessions/dreamy-trusting-noether/mnt/outputs/build/assets/trend_coral.png"/>
          <p:cNvPicPr>
            <a:picLocks noChangeAspect="1"/>
          </p:cNvPicPr>
          <p:nvPr/>
        </p:nvPicPr>
        <p:blipFill>
          <a:blip r:embed="rId6"/>
          <a:stretch>
            <a:fillRect/>
          </a:stretch>
        </p:blipFill>
        <p:spPr>
          <a:xfrm>
            <a:off x="6623914" y="2582266"/>
            <a:ext cx="285293" cy="285293"/>
          </a:xfrm>
          <a:prstGeom prst="rect">
            <a:avLst/>
          </a:prstGeom>
        </p:spPr>
      </p:pic>
      <p:sp>
        <p:nvSpPr>
          <p:cNvPr id="21" name="Text 15"/>
          <p:cNvSpPr/>
          <p:nvPr/>
        </p:nvSpPr>
        <p:spPr>
          <a:xfrm>
            <a:off x="7196328" y="2505456"/>
            <a:ext cx="4279392" cy="274320"/>
          </a:xfrm>
          <a:prstGeom prst="rect">
            <a:avLst/>
          </a:prstGeom>
          <a:noFill/>
          <a:ln/>
        </p:spPr>
        <p:txBody>
          <a:bodyPr wrap="square" lIns="0" tIns="0" rIns="0" bIns="0" rtlCol="0" anchor="ctr"/>
          <a:lstStyle/>
          <a:p>
            <a:pPr marL="0" indent="0">
              <a:buNone/>
            </a:pPr>
            <a:r>
              <a:rPr lang="en-US" sz="1050" b="1" kern="0" spc="100" dirty="0">
                <a:solidFill>
                  <a:srgbClr val="FF385C"/>
                </a:solidFill>
                <a:latin typeface="Poppins" pitchFamily="34" charset="0"/>
                <a:ea typeface="Poppins" pitchFamily="34" charset="-122"/>
                <a:cs typeface="Poppins" pitchFamily="34" charset="-120"/>
              </a:rPr>
              <a:t>WHAT IT MEANS FOR REVENUE</a:t>
            </a:r>
            <a:endParaRPr lang="en-US" sz="1050" dirty="0"/>
          </a:p>
        </p:txBody>
      </p:sp>
      <p:sp>
        <p:nvSpPr>
          <p:cNvPr id="22" name="Text 16"/>
          <p:cNvSpPr/>
          <p:nvPr/>
        </p:nvSpPr>
        <p:spPr>
          <a:xfrm>
            <a:off x="6492240" y="2852928"/>
            <a:ext cx="4965192" cy="457200"/>
          </a:xfrm>
          <a:prstGeom prst="rect">
            <a:avLst/>
          </a:prstGeom>
          <a:noFill/>
          <a:ln/>
        </p:spPr>
        <p:txBody>
          <a:bodyPr wrap="square" lIns="0" tIns="0" rIns="0" bIns="0" rtlCol="0" anchor="ctr"/>
          <a:lstStyle/>
          <a:p>
            <a:pPr marL="0" indent="0">
              <a:buNone/>
            </a:pPr>
            <a:r>
              <a:rPr lang="en-US" sz="2000" b="1" dirty="0">
                <a:solidFill>
                  <a:srgbClr val="FF385C"/>
                </a:solidFill>
                <a:latin typeface="Poppins" pitchFamily="34" charset="0"/>
                <a:ea typeface="Poppins" pitchFamily="34" charset="-122"/>
                <a:cs typeface="Poppins" pitchFamily="34" charset="-120"/>
              </a:rPr>
              <a:t>revenue elasticity = 1 + β ≈ 0.08</a:t>
            </a:r>
            <a:endParaRPr lang="en-US" sz="2000" dirty="0"/>
          </a:p>
        </p:txBody>
      </p:sp>
      <p:sp>
        <p:nvSpPr>
          <p:cNvPr id="23" name="Text 17"/>
          <p:cNvSpPr/>
          <p:nvPr/>
        </p:nvSpPr>
        <p:spPr>
          <a:xfrm>
            <a:off x="6492240" y="3310128"/>
            <a:ext cx="4919472" cy="603504"/>
          </a:xfrm>
          <a:prstGeom prst="rect">
            <a:avLst/>
          </a:prstGeom>
          <a:noFill/>
          <a:ln/>
        </p:spPr>
        <p:txBody>
          <a:bodyPr wrap="square" lIns="0" tIns="0" rIns="0" bIns="0" rtlCol="0" anchor="t"/>
          <a:lstStyle/>
          <a:p>
            <a:pPr marL="0" indent="0">
              <a:lnSpc>
                <a:spcPct val="104000"/>
              </a:lnSpc>
              <a:buNone/>
            </a:pPr>
            <a:r>
              <a:rPr lang="en-US" sz="1100" dirty="0">
                <a:solidFill>
                  <a:srgbClr val="4A4A4A"/>
                </a:solidFill>
                <a:latin typeface="Poppins" pitchFamily="34" charset="0"/>
                <a:ea typeface="Poppins" pitchFamily="34" charset="-122"/>
                <a:cs typeface="Poppins" pitchFamily="34" charset="-120"/>
              </a:rPr>
              <a:t>Revenue barely moves with price at the margin. Breakeven is β = −1.0: cutting price only wins if demand is more elastic than that. So the real lift is raising underpriced listings; cutting overpriced ones is near revenue-neutral for the host.</a:t>
            </a:r>
            <a:endParaRPr lang="en-US" sz="1100" dirty="0"/>
          </a:p>
        </p:txBody>
      </p:sp>
      <p:sp>
        <p:nvSpPr>
          <p:cNvPr id="24" name="Shape 18"/>
          <p:cNvSpPr/>
          <p:nvPr/>
        </p:nvSpPr>
        <p:spPr>
          <a:xfrm>
            <a:off x="502920" y="4160520"/>
            <a:ext cx="11183112" cy="1298448"/>
          </a:xfrm>
          <a:prstGeom prst="roundRect">
            <a:avLst>
              <a:gd name="adj" fmla="val 985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19"/>
          <p:cNvSpPr/>
          <p:nvPr/>
        </p:nvSpPr>
        <p:spPr>
          <a:xfrm>
            <a:off x="777240" y="4261104"/>
            <a:ext cx="7315200" cy="274320"/>
          </a:xfrm>
          <a:prstGeom prst="rect">
            <a:avLst/>
          </a:prstGeom>
          <a:noFill/>
          <a:ln/>
        </p:spPr>
        <p:txBody>
          <a:bodyPr wrap="square" lIns="0" tIns="0" rIns="0" bIns="0" rtlCol="0" anchor="ctr"/>
          <a:lstStyle/>
          <a:p>
            <a:pPr marL="0" indent="0">
              <a:buNone/>
            </a:pPr>
            <a:r>
              <a:rPr lang="en-US" sz="1200" b="1" dirty="0">
                <a:solidFill>
                  <a:srgbClr val="222222"/>
                </a:solidFill>
                <a:latin typeface="Poppins" pitchFamily="34" charset="0"/>
                <a:ea typeface="Poppins" pitchFamily="34" charset="-122"/>
                <a:cs typeface="Poppins" pitchFamily="34" charset="-120"/>
              </a:rPr>
              <a:t>Where our estimate sits on the elasticity line</a:t>
            </a:r>
            <a:endParaRPr lang="en-US" sz="1200" dirty="0"/>
          </a:p>
        </p:txBody>
      </p:sp>
      <p:sp>
        <p:nvSpPr>
          <p:cNvPr id="26" name="Shape 20"/>
          <p:cNvSpPr/>
          <p:nvPr/>
        </p:nvSpPr>
        <p:spPr>
          <a:xfrm>
            <a:off x="1554480" y="4919472"/>
            <a:ext cx="4572000" cy="219456"/>
          </a:xfrm>
          <a:prstGeom prst="roundRect">
            <a:avLst>
              <a:gd name="adj" fmla="val 20833"/>
            </a:avLst>
          </a:prstGeom>
          <a:solidFill>
            <a:srgbClr val="E6F6F4"/>
          </a:solidFill>
          <a:ln/>
        </p:spPr>
        <p:txBody>
          <a:bodyPr/>
          <a:lstStyle/>
          <a:p>
            <a:endParaRPr lang="en-US"/>
          </a:p>
        </p:txBody>
      </p:sp>
      <p:sp>
        <p:nvSpPr>
          <p:cNvPr id="27" name="Shape 21"/>
          <p:cNvSpPr/>
          <p:nvPr/>
        </p:nvSpPr>
        <p:spPr>
          <a:xfrm>
            <a:off x="6126480" y="4919472"/>
            <a:ext cx="4572000" cy="219456"/>
          </a:xfrm>
          <a:prstGeom prst="roundRect">
            <a:avLst>
              <a:gd name="adj" fmla="val 20833"/>
            </a:avLst>
          </a:prstGeom>
          <a:solidFill>
            <a:srgbClr val="FFEEF2"/>
          </a:solidFill>
          <a:ln/>
        </p:spPr>
        <p:txBody>
          <a:bodyPr/>
          <a:lstStyle/>
          <a:p>
            <a:endParaRPr lang="en-US"/>
          </a:p>
        </p:txBody>
      </p:sp>
      <p:sp>
        <p:nvSpPr>
          <p:cNvPr id="28" name="Shape 22"/>
          <p:cNvSpPr/>
          <p:nvPr/>
        </p:nvSpPr>
        <p:spPr>
          <a:xfrm>
            <a:off x="1554480" y="5029200"/>
            <a:ext cx="9144000" cy="0"/>
          </a:xfrm>
          <a:prstGeom prst="line">
            <a:avLst/>
          </a:prstGeom>
          <a:noFill/>
          <a:ln w="19050">
            <a:solidFill>
              <a:srgbClr val="9AA0A6"/>
            </a:solidFill>
            <a:prstDash val="solid"/>
          </a:ln>
        </p:spPr>
        <p:txBody>
          <a:bodyPr/>
          <a:lstStyle/>
          <a:p>
            <a:endParaRPr lang="en-US"/>
          </a:p>
        </p:txBody>
      </p:sp>
      <p:sp>
        <p:nvSpPr>
          <p:cNvPr id="29" name="Shape 23"/>
          <p:cNvSpPr/>
          <p:nvPr/>
        </p:nvSpPr>
        <p:spPr>
          <a:xfrm>
            <a:off x="6126480" y="4791456"/>
            <a:ext cx="0" cy="475488"/>
          </a:xfrm>
          <a:prstGeom prst="line">
            <a:avLst/>
          </a:prstGeom>
          <a:noFill/>
          <a:ln w="19050">
            <a:solidFill>
              <a:srgbClr val="222222"/>
            </a:solidFill>
            <a:prstDash val="dash"/>
          </a:ln>
        </p:spPr>
        <p:txBody>
          <a:bodyPr/>
          <a:lstStyle/>
          <a:p>
            <a:endParaRPr lang="en-US"/>
          </a:p>
        </p:txBody>
      </p:sp>
      <p:sp>
        <p:nvSpPr>
          <p:cNvPr id="30" name="Text 24"/>
          <p:cNvSpPr/>
          <p:nvPr/>
        </p:nvSpPr>
        <p:spPr>
          <a:xfrm>
            <a:off x="4297680" y="4572000"/>
            <a:ext cx="1691640" cy="219456"/>
          </a:xfrm>
          <a:prstGeom prst="rect">
            <a:avLst/>
          </a:prstGeom>
          <a:noFill/>
          <a:ln/>
        </p:spPr>
        <p:txBody>
          <a:bodyPr wrap="square" lIns="0" tIns="0" rIns="0" bIns="0" rtlCol="0" anchor="ctr"/>
          <a:lstStyle/>
          <a:p>
            <a:pPr marL="0" indent="0" algn="r">
              <a:buNone/>
            </a:pPr>
            <a:r>
              <a:rPr lang="en-US" sz="950" b="1" dirty="0">
                <a:solidFill>
                  <a:srgbClr val="222222"/>
                </a:solidFill>
                <a:latin typeface="Poppins" pitchFamily="34" charset="0"/>
                <a:ea typeface="Poppins" pitchFamily="34" charset="-122"/>
                <a:cs typeface="Poppins" pitchFamily="34" charset="-120"/>
              </a:rPr>
              <a:t>breakeven −1.0</a:t>
            </a:r>
            <a:endParaRPr lang="en-US" sz="950" dirty="0"/>
          </a:p>
        </p:txBody>
      </p:sp>
      <p:sp>
        <p:nvSpPr>
          <p:cNvPr id="31" name="Shape 25"/>
          <p:cNvSpPr/>
          <p:nvPr/>
        </p:nvSpPr>
        <p:spPr>
          <a:xfrm>
            <a:off x="6391656" y="4928616"/>
            <a:ext cx="201168" cy="201168"/>
          </a:xfrm>
          <a:prstGeom prst="ellipse">
            <a:avLst/>
          </a:prstGeom>
          <a:solidFill>
            <a:srgbClr val="FF385C"/>
          </a:solidFill>
          <a:ln w="25400">
            <a:solidFill>
              <a:srgbClr val="FFFFFF"/>
            </a:solidFill>
            <a:prstDash val="solid"/>
          </a:ln>
        </p:spPr>
        <p:txBody>
          <a:bodyPr/>
          <a:lstStyle/>
          <a:p>
            <a:endParaRPr lang="en-US"/>
          </a:p>
        </p:txBody>
      </p:sp>
      <p:sp>
        <p:nvSpPr>
          <p:cNvPr id="32" name="Text 26"/>
          <p:cNvSpPr/>
          <p:nvPr/>
        </p:nvSpPr>
        <p:spPr>
          <a:xfrm>
            <a:off x="6720840" y="4572000"/>
            <a:ext cx="2560320" cy="219456"/>
          </a:xfrm>
          <a:prstGeom prst="rect">
            <a:avLst/>
          </a:prstGeom>
          <a:noFill/>
          <a:ln/>
        </p:spPr>
        <p:txBody>
          <a:bodyPr wrap="square" lIns="0" tIns="0" rIns="0" bIns="0" rtlCol="0" anchor="ctr"/>
          <a:lstStyle/>
          <a:p>
            <a:pPr marL="0" indent="0" algn="l">
              <a:buNone/>
            </a:pPr>
            <a:r>
              <a:rPr lang="en-US" sz="950" b="1" dirty="0">
                <a:solidFill>
                  <a:srgbClr val="FF385C"/>
                </a:solidFill>
                <a:latin typeface="Poppins" pitchFamily="34" charset="0"/>
                <a:ea typeface="Poppins" pitchFamily="34" charset="-122"/>
                <a:cs typeface="Poppins" pitchFamily="34" charset="-120"/>
              </a:rPr>
              <a:t>our estimate  β = −0.92</a:t>
            </a:r>
            <a:endParaRPr lang="en-US" sz="950" dirty="0"/>
          </a:p>
        </p:txBody>
      </p:sp>
      <p:sp>
        <p:nvSpPr>
          <p:cNvPr id="33" name="Text 27"/>
          <p:cNvSpPr/>
          <p:nvPr/>
        </p:nvSpPr>
        <p:spPr>
          <a:xfrm>
            <a:off x="1554480" y="5175504"/>
            <a:ext cx="4572000" cy="219456"/>
          </a:xfrm>
          <a:prstGeom prst="rect">
            <a:avLst/>
          </a:prstGeom>
          <a:noFill/>
          <a:ln/>
        </p:spPr>
        <p:txBody>
          <a:bodyPr wrap="square" lIns="0" tIns="0" rIns="0" bIns="0" rtlCol="0" anchor="ctr"/>
          <a:lstStyle/>
          <a:p>
            <a:pPr marL="0" indent="0" algn="ctr">
              <a:buNone/>
            </a:pPr>
            <a:r>
              <a:rPr lang="en-US" sz="900" dirty="0">
                <a:solidFill>
                  <a:srgbClr val="007A73"/>
                </a:solidFill>
                <a:latin typeface="Poppins" pitchFamily="34" charset="0"/>
                <a:ea typeface="Poppins" pitchFamily="34" charset="-122"/>
                <a:cs typeface="Poppins" pitchFamily="34" charset="-120"/>
              </a:rPr>
              <a:t>ELASTIC  ·  cutting price adds revenue</a:t>
            </a:r>
            <a:endParaRPr lang="en-US" sz="900" dirty="0"/>
          </a:p>
        </p:txBody>
      </p:sp>
      <p:sp>
        <p:nvSpPr>
          <p:cNvPr id="34" name="Text 28"/>
          <p:cNvSpPr/>
          <p:nvPr/>
        </p:nvSpPr>
        <p:spPr>
          <a:xfrm>
            <a:off x="6126480" y="5175504"/>
            <a:ext cx="4572000" cy="219456"/>
          </a:xfrm>
          <a:prstGeom prst="rect">
            <a:avLst/>
          </a:prstGeom>
          <a:noFill/>
          <a:ln/>
        </p:spPr>
        <p:txBody>
          <a:bodyPr wrap="square" lIns="0" tIns="0" rIns="0" bIns="0" rtlCol="0" anchor="ctr"/>
          <a:lstStyle/>
          <a:p>
            <a:pPr marL="0" indent="0" algn="ctr">
              <a:buNone/>
            </a:pPr>
            <a:r>
              <a:rPr lang="en-US" sz="900" dirty="0">
                <a:solidFill>
                  <a:srgbClr val="FF385C"/>
                </a:solidFill>
                <a:latin typeface="Poppins" pitchFamily="34" charset="0"/>
                <a:ea typeface="Poppins" pitchFamily="34" charset="-122"/>
                <a:cs typeface="Poppins" pitchFamily="34" charset="-120"/>
              </a:rPr>
              <a:t>INELASTIC  ·  raising price adds revenue</a:t>
            </a:r>
            <a:endParaRPr lang="en-US" sz="900" dirty="0"/>
          </a:p>
        </p:txBody>
      </p:sp>
      <p:sp>
        <p:nvSpPr>
          <p:cNvPr id="35" name="Text 29"/>
          <p:cNvSpPr/>
          <p:nvPr/>
        </p:nvSpPr>
        <p:spPr>
          <a:xfrm>
            <a:off x="1234440" y="4919472"/>
            <a:ext cx="274320" cy="219456"/>
          </a:xfrm>
          <a:prstGeom prst="rect">
            <a:avLst/>
          </a:prstGeom>
          <a:noFill/>
          <a:ln/>
        </p:spPr>
        <p:txBody>
          <a:bodyPr wrap="square" lIns="0" tIns="0" rIns="0" bIns="0" rtlCol="0" anchor="ctr"/>
          <a:lstStyle/>
          <a:p>
            <a:pPr marL="0" indent="0" algn="r">
              <a:buNone/>
            </a:pPr>
            <a:r>
              <a:rPr lang="en-US" sz="900" dirty="0">
                <a:solidFill>
                  <a:srgbClr val="9AA0A6"/>
                </a:solidFill>
                <a:latin typeface="Poppins" pitchFamily="34" charset="0"/>
                <a:ea typeface="Poppins" pitchFamily="34" charset="-122"/>
                <a:cs typeface="Poppins" pitchFamily="34" charset="-120"/>
              </a:rPr>
              <a:t>−2</a:t>
            </a:r>
            <a:endParaRPr lang="en-US" sz="900" dirty="0"/>
          </a:p>
        </p:txBody>
      </p:sp>
      <p:sp>
        <p:nvSpPr>
          <p:cNvPr id="36" name="Text 30"/>
          <p:cNvSpPr/>
          <p:nvPr/>
        </p:nvSpPr>
        <p:spPr>
          <a:xfrm>
            <a:off x="10753344" y="4919472"/>
            <a:ext cx="274320" cy="219456"/>
          </a:xfrm>
          <a:prstGeom prst="rect">
            <a:avLst/>
          </a:prstGeom>
          <a:noFill/>
          <a:ln/>
        </p:spPr>
        <p:txBody>
          <a:bodyPr wrap="square" lIns="0" tIns="0" rIns="0" bIns="0" rtlCol="0" anchor="ctr"/>
          <a:lstStyle/>
          <a:p>
            <a:pPr marL="0" indent="0" algn="l">
              <a:buNone/>
            </a:pPr>
            <a:r>
              <a:rPr lang="en-US" sz="900" dirty="0">
                <a:solidFill>
                  <a:srgbClr val="9AA0A6"/>
                </a:solidFill>
                <a:latin typeface="Poppins" pitchFamily="34" charset="0"/>
                <a:ea typeface="Poppins" pitchFamily="34" charset="-122"/>
                <a:cs typeface="Poppins" pitchFamily="34" charset="-120"/>
              </a:rPr>
              <a:t>10</a:t>
            </a:r>
            <a:endParaRPr lang="en-US" sz="900" dirty="0"/>
          </a:p>
        </p:txBody>
      </p:sp>
      <p:sp>
        <p:nvSpPr>
          <p:cNvPr id="37" name="Text 31"/>
          <p:cNvSpPr/>
          <p:nvPr/>
        </p:nvSpPr>
        <p:spPr>
          <a:xfrm>
            <a:off x="502920" y="5961888"/>
            <a:ext cx="11183112" cy="365760"/>
          </a:xfrm>
          <a:prstGeom prst="rect">
            <a:avLst/>
          </a:prstGeom>
          <a:noFill/>
          <a:ln/>
        </p:spPr>
        <p:txBody>
          <a:bodyPr wrap="square" lIns="0" tIns="0" rIns="0" bIns="0" rtlCol="0" anchor="ctr"/>
          <a:lstStyle/>
          <a:p>
            <a:pPr marL="0" indent="0">
              <a:lnSpc>
                <a:spcPct val="100000"/>
              </a:lnSpc>
              <a:buNone/>
            </a:pPr>
            <a:r>
              <a:rPr lang="en-US" sz="950" b="1" i="1" dirty="0">
                <a:solidFill>
                  <a:srgbClr val="717171"/>
                </a:solidFill>
                <a:latin typeface="Poppins" pitchFamily="34" charset="0"/>
                <a:ea typeface="Poppins" pitchFamily="34" charset="-122"/>
                <a:cs typeface="Poppins" pitchFamily="34" charset="-120"/>
              </a:rPr>
              <a:t>Honest caveat:  </a:t>
            </a:r>
            <a:r>
              <a:rPr lang="en-US" sz="950" i="1" dirty="0">
                <a:solidFill>
                  <a:srgbClr val="9AA0A6"/>
                </a:solidFill>
                <a:latin typeface="Poppins" pitchFamily="34" charset="0"/>
                <a:ea typeface="Poppins" pitchFamily="34" charset="-122"/>
                <a:cs typeface="Poppins" pitchFamily="34" charset="-120"/>
              </a:rPr>
              <a:t>measured on a 64-listing short-stay pilot of established listings (median 142 reviews). The monthly segment came back statistically insignificant (β=+0.084, p=0.73), so we hold it occupancy-neutral. Broadening this across every segment is exactly our AirROI data ask.</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10 · THE FINANCIAL CASE</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What it is worth, and what it costs</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We lead with the conservative floor, every assumption rounded against us, and show the ceiling as upside.</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Francois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11</a:t>
            </a:r>
            <a:endParaRPr lang="en-US" sz="900" dirty="0"/>
          </a:p>
        </p:txBody>
      </p:sp>
      <p:sp>
        <p:nvSpPr>
          <p:cNvPr id="12" name="Shape 8"/>
          <p:cNvSpPr/>
          <p:nvPr/>
        </p:nvSpPr>
        <p:spPr>
          <a:xfrm>
            <a:off x="502920" y="2194560"/>
            <a:ext cx="11183112" cy="1463040"/>
          </a:xfrm>
          <a:prstGeom prst="roundRect">
            <a:avLst>
              <a:gd name="adj" fmla="val 875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Text 9"/>
          <p:cNvSpPr/>
          <p:nvPr/>
        </p:nvSpPr>
        <p:spPr>
          <a:xfrm>
            <a:off x="777240" y="2322576"/>
            <a:ext cx="7863840" cy="274320"/>
          </a:xfrm>
          <a:prstGeom prst="rect">
            <a:avLst/>
          </a:prstGeom>
          <a:noFill/>
          <a:ln/>
        </p:spPr>
        <p:txBody>
          <a:bodyPr wrap="square" lIns="0" tIns="0" rIns="0" bIns="0" rtlCol="0" anchor="ctr"/>
          <a:lstStyle/>
          <a:p>
            <a:pPr marL="0" indent="0">
              <a:buNone/>
            </a:pPr>
            <a:r>
              <a:rPr lang="en-US" sz="1100" b="1" kern="0" spc="50" dirty="0">
                <a:solidFill>
                  <a:srgbClr val="FF385C"/>
                </a:solidFill>
                <a:latin typeface="Poppins" pitchFamily="34" charset="0"/>
                <a:ea typeface="Poppins" pitchFamily="34" charset="-122"/>
                <a:cs typeface="Poppins" pitchFamily="34" charset="-120"/>
              </a:rPr>
              <a:t>CONSERVATIVE REVENUE FLOOR  ·  NYC, built on the measured −0.92 elasticity</a:t>
            </a:r>
            <a:endParaRPr lang="en-US" sz="1100" dirty="0"/>
          </a:p>
        </p:txBody>
      </p:sp>
      <p:sp>
        <p:nvSpPr>
          <p:cNvPr id="14" name="Text 10"/>
          <p:cNvSpPr/>
          <p:nvPr/>
        </p:nvSpPr>
        <p:spPr>
          <a:xfrm>
            <a:off x="777240" y="2670048"/>
            <a:ext cx="7955280" cy="731520"/>
          </a:xfrm>
          <a:prstGeom prst="rect">
            <a:avLst/>
          </a:prstGeom>
          <a:noFill/>
          <a:ln/>
        </p:spPr>
        <p:txBody>
          <a:bodyPr wrap="square" lIns="0" tIns="0" rIns="0" bIns="0" rtlCol="0" anchor="ctr"/>
          <a:lstStyle/>
          <a:p>
            <a:pPr marL="0" indent="0">
              <a:buNone/>
            </a:pPr>
            <a:r>
              <a:rPr lang="en-US" sz="2900" b="1" dirty="0">
                <a:solidFill>
                  <a:srgbClr val="222222"/>
                </a:solidFill>
                <a:latin typeface="Poppins" pitchFamily="34" charset="0"/>
                <a:ea typeface="Poppins" pitchFamily="34" charset="-122"/>
                <a:cs typeface="Poppins" pitchFamily="34" charset="-120"/>
              </a:rPr>
              <a:t>~$7.6M</a:t>
            </a:r>
            <a:r>
              <a:rPr lang="en-US" sz="1300" dirty="0">
                <a:solidFill>
                  <a:srgbClr val="4A4A4A"/>
                </a:solidFill>
                <a:latin typeface="Poppins" pitchFamily="34" charset="0"/>
                <a:ea typeface="Poppins" pitchFamily="34" charset="-122"/>
                <a:cs typeface="Poppins" pitchFamily="34" charset="-120"/>
              </a:rPr>
              <a:t> host GBV</a:t>
            </a:r>
            <a:r>
              <a:rPr lang="en-US" sz="1250" dirty="0">
                <a:solidFill>
                  <a:srgbClr val="9AA0A6"/>
                </a:solidFill>
                <a:latin typeface="Poppins" pitchFamily="34" charset="0"/>
                <a:ea typeface="Poppins" pitchFamily="34" charset="-122"/>
                <a:cs typeface="Poppins" pitchFamily="34" charset="-120"/>
              </a:rPr>
              <a:t>      ×15.5%  →      </a:t>
            </a:r>
            <a:r>
              <a:rPr lang="en-US" sz="2900" b="1" dirty="0">
                <a:solidFill>
                  <a:srgbClr val="FF385C"/>
                </a:solidFill>
                <a:latin typeface="Poppins" pitchFamily="34" charset="0"/>
                <a:ea typeface="Poppins" pitchFamily="34" charset="-122"/>
                <a:cs typeface="Poppins" pitchFamily="34" charset="-120"/>
              </a:rPr>
              <a:t>$1.17M</a:t>
            </a:r>
            <a:r>
              <a:rPr lang="en-US" sz="1300" dirty="0">
                <a:solidFill>
                  <a:srgbClr val="4A4A4A"/>
                </a:solidFill>
                <a:latin typeface="Poppins" pitchFamily="34" charset="0"/>
                <a:ea typeface="Poppins" pitchFamily="34" charset="-122"/>
                <a:cs typeface="Poppins" pitchFamily="34" charset="-120"/>
              </a:rPr>
              <a:t> / yr Airbnb fee</a:t>
            </a:r>
            <a:endParaRPr lang="en-US" sz="2900" dirty="0"/>
          </a:p>
        </p:txBody>
      </p:sp>
      <p:sp>
        <p:nvSpPr>
          <p:cNvPr id="15" name="Shape 11"/>
          <p:cNvSpPr/>
          <p:nvPr/>
        </p:nvSpPr>
        <p:spPr>
          <a:xfrm>
            <a:off x="8887968" y="2395728"/>
            <a:ext cx="0" cy="1060704"/>
          </a:xfrm>
          <a:prstGeom prst="line">
            <a:avLst/>
          </a:prstGeom>
          <a:noFill/>
          <a:ln w="12700">
            <a:solidFill>
              <a:srgbClr val="FF385C"/>
            </a:solidFill>
            <a:prstDash val="solid"/>
          </a:ln>
        </p:spPr>
        <p:txBody>
          <a:bodyPr/>
          <a:lstStyle/>
          <a:p>
            <a:endParaRPr lang="en-US"/>
          </a:p>
        </p:txBody>
      </p:sp>
      <p:sp>
        <p:nvSpPr>
          <p:cNvPr id="16" name="Text 12"/>
          <p:cNvSpPr/>
          <p:nvPr/>
        </p:nvSpPr>
        <p:spPr>
          <a:xfrm>
            <a:off x="9052560" y="2377440"/>
            <a:ext cx="2514600" cy="1143000"/>
          </a:xfrm>
          <a:prstGeom prst="rect">
            <a:avLst/>
          </a:prstGeom>
          <a:noFill/>
          <a:ln/>
        </p:spPr>
        <p:txBody>
          <a:bodyPr wrap="square" lIns="0" tIns="0" rIns="0" bIns="0" rtlCol="0" anchor="ctr"/>
          <a:lstStyle/>
          <a:p>
            <a:pPr marL="0" indent="0">
              <a:lnSpc>
                <a:spcPct val="106000"/>
              </a:lnSpc>
              <a:buNone/>
            </a:pPr>
            <a:r>
              <a:rPr lang="en-US" sz="1050" b="1" dirty="0">
                <a:solidFill>
                  <a:srgbClr val="222222"/>
                </a:solidFill>
                <a:latin typeface="Poppins" pitchFamily="34" charset="0"/>
                <a:ea typeface="Poppins" pitchFamily="34" charset="-122"/>
                <a:cs typeface="Poppins" pitchFamily="34" charset="-120"/>
              </a:rPr>
              <a:t>Ceiling (upside): </a:t>
            </a:r>
            <a:r>
              <a:rPr lang="en-US" sz="1050" dirty="0">
                <a:solidFill>
                  <a:srgbClr val="4A4A4A"/>
                </a:solidFill>
                <a:latin typeface="Poppins" pitchFamily="34" charset="0"/>
                <a:ea typeface="Poppins" pitchFamily="34" charset="-122"/>
                <a:cs typeface="Poppins" pitchFamily="34" charset="-120"/>
              </a:rPr>
              <a:t>~$4.15M/yr fees, from ~$26.8M GBV, occupancy-neutral. Shown as upside, not the headline.</a:t>
            </a:r>
            <a:endParaRPr lang="en-US" sz="1050" dirty="0"/>
          </a:p>
        </p:txBody>
      </p:sp>
      <p:sp>
        <p:nvSpPr>
          <p:cNvPr id="17" name="Shape 13"/>
          <p:cNvSpPr/>
          <p:nvPr/>
        </p:nvSpPr>
        <p:spPr>
          <a:xfrm>
            <a:off x="502920" y="3931920"/>
            <a:ext cx="3563112" cy="1417320"/>
          </a:xfrm>
          <a:prstGeom prst="roundRect">
            <a:avLst>
              <a:gd name="adj" fmla="val 9032"/>
            </a:avLst>
          </a:prstGeom>
          <a:solidFill>
            <a:srgbClr val="E6F6F4"/>
          </a:solidFill>
          <a:ln/>
        </p:spPr>
        <p:txBody>
          <a:bodyPr/>
          <a:lstStyle/>
          <a:p>
            <a:endParaRPr lang="en-US"/>
          </a:p>
        </p:txBody>
      </p:sp>
      <p:pic>
        <p:nvPicPr>
          <p:cNvPr id="18" name="Image 2" descr="/sessions/dreamy-trusting-noether/mnt/outputs/build/assets/cpu_teal.png"/>
          <p:cNvPicPr>
            <a:picLocks noChangeAspect="1"/>
          </p:cNvPicPr>
          <p:nvPr/>
        </p:nvPicPr>
        <p:blipFill>
          <a:blip r:embed="rId5"/>
          <a:stretch>
            <a:fillRect/>
          </a:stretch>
        </p:blipFill>
        <p:spPr>
          <a:xfrm>
            <a:off x="722376" y="4151376"/>
            <a:ext cx="365760" cy="365760"/>
          </a:xfrm>
          <a:prstGeom prst="rect">
            <a:avLst/>
          </a:prstGeom>
        </p:spPr>
      </p:pic>
      <p:sp>
        <p:nvSpPr>
          <p:cNvPr id="19" name="Text 14"/>
          <p:cNvSpPr/>
          <p:nvPr/>
        </p:nvSpPr>
        <p:spPr>
          <a:xfrm>
            <a:off x="685800" y="4462272"/>
            <a:ext cx="3197352" cy="502920"/>
          </a:xfrm>
          <a:prstGeom prst="rect">
            <a:avLst/>
          </a:prstGeom>
          <a:noFill/>
          <a:ln/>
        </p:spPr>
        <p:txBody>
          <a:bodyPr wrap="square" lIns="0" tIns="0" rIns="0" bIns="0" rtlCol="0" anchor="ctr"/>
          <a:lstStyle/>
          <a:p>
            <a:pPr marL="0" indent="0">
              <a:buNone/>
            </a:pPr>
            <a:r>
              <a:rPr lang="en-US" sz="2500" b="1" dirty="0">
                <a:solidFill>
                  <a:srgbClr val="007A73"/>
                </a:solidFill>
                <a:latin typeface="Poppins" pitchFamily="34" charset="0"/>
                <a:ea typeface="Poppins" pitchFamily="34" charset="-122"/>
                <a:cs typeface="Poppins" pitchFamily="34" charset="-120"/>
              </a:rPr>
              <a:t>$65K</a:t>
            </a:r>
            <a:endParaRPr lang="en-US" sz="2500" dirty="0"/>
          </a:p>
        </p:txBody>
      </p:sp>
      <p:sp>
        <p:nvSpPr>
          <p:cNvPr id="20" name="Text 15"/>
          <p:cNvSpPr/>
          <p:nvPr/>
        </p:nvSpPr>
        <p:spPr>
          <a:xfrm>
            <a:off x="704088" y="4937760"/>
            <a:ext cx="3160776" cy="384048"/>
          </a:xfrm>
          <a:prstGeom prst="rect">
            <a:avLst/>
          </a:prstGeom>
          <a:noFill/>
          <a:ln/>
        </p:spPr>
        <p:txBody>
          <a:bodyPr wrap="square" lIns="0" tIns="0" rIns="0" bIns="0" rtlCol="0" anchor="ctr"/>
          <a:lstStyle/>
          <a:p>
            <a:pPr marL="0" indent="0">
              <a:lnSpc>
                <a:spcPct val="100000"/>
              </a:lnSpc>
              <a:buNone/>
            </a:pPr>
            <a:r>
              <a:rPr lang="en-US" sz="1000" dirty="0">
                <a:solidFill>
                  <a:srgbClr val="4A4A4A"/>
                </a:solidFill>
                <a:latin typeface="Poppins" pitchFamily="34" charset="0"/>
                <a:ea typeface="Poppins" pitchFamily="34" charset="-122"/>
                <a:cs typeface="Poppins" pitchFamily="34" charset="-120"/>
              </a:rPr>
              <a:t>one-time build (incremental engineering on Airbnb's existing stack)</a:t>
            </a:r>
            <a:endParaRPr lang="en-US" sz="1000" dirty="0"/>
          </a:p>
        </p:txBody>
      </p:sp>
      <p:sp>
        <p:nvSpPr>
          <p:cNvPr id="21" name="Shape 16"/>
          <p:cNvSpPr/>
          <p:nvPr/>
        </p:nvSpPr>
        <p:spPr>
          <a:xfrm>
            <a:off x="4312920" y="3931920"/>
            <a:ext cx="3563112" cy="1417320"/>
          </a:xfrm>
          <a:prstGeom prst="roundRect">
            <a:avLst>
              <a:gd name="adj" fmla="val 9032"/>
            </a:avLst>
          </a:prstGeom>
          <a:solidFill>
            <a:srgbClr val="FFEEF2"/>
          </a:solidFill>
          <a:ln/>
        </p:spPr>
        <p:txBody>
          <a:bodyPr/>
          <a:lstStyle/>
          <a:p>
            <a:endParaRPr lang="en-US"/>
          </a:p>
        </p:txBody>
      </p:sp>
      <p:pic>
        <p:nvPicPr>
          <p:cNvPr id="22" name="Image 3" descr="/sessions/dreamy-trusting-noether/mnt/outputs/build/assets/clock_coral.png"/>
          <p:cNvPicPr>
            <a:picLocks noChangeAspect="1"/>
          </p:cNvPicPr>
          <p:nvPr/>
        </p:nvPicPr>
        <p:blipFill>
          <a:blip r:embed="rId6"/>
          <a:stretch>
            <a:fillRect/>
          </a:stretch>
        </p:blipFill>
        <p:spPr>
          <a:xfrm>
            <a:off x="4532376" y="4151376"/>
            <a:ext cx="365760" cy="365760"/>
          </a:xfrm>
          <a:prstGeom prst="rect">
            <a:avLst/>
          </a:prstGeom>
        </p:spPr>
      </p:pic>
      <p:sp>
        <p:nvSpPr>
          <p:cNvPr id="23" name="Text 17"/>
          <p:cNvSpPr/>
          <p:nvPr/>
        </p:nvSpPr>
        <p:spPr>
          <a:xfrm>
            <a:off x="4495800" y="4462272"/>
            <a:ext cx="3197352" cy="502920"/>
          </a:xfrm>
          <a:prstGeom prst="rect">
            <a:avLst/>
          </a:prstGeom>
          <a:noFill/>
          <a:ln/>
        </p:spPr>
        <p:txBody>
          <a:bodyPr wrap="square" lIns="0" tIns="0" rIns="0" bIns="0" rtlCol="0" anchor="ctr"/>
          <a:lstStyle/>
          <a:p>
            <a:pPr marL="0" indent="0">
              <a:buNone/>
            </a:pPr>
            <a:r>
              <a:rPr lang="en-US" sz="2500" b="1" dirty="0">
                <a:solidFill>
                  <a:srgbClr val="FF385C"/>
                </a:solidFill>
                <a:latin typeface="Poppins" pitchFamily="34" charset="0"/>
                <a:ea typeface="Poppins" pitchFamily="34" charset="-122"/>
                <a:cs typeface="Poppins" pitchFamily="34" charset="-120"/>
              </a:rPr>
              <a:t>$30K / yr</a:t>
            </a:r>
            <a:endParaRPr lang="en-US" sz="2500" dirty="0"/>
          </a:p>
        </p:txBody>
      </p:sp>
      <p:sp>
        <p:nvSpPr>
          <p:cNvPr id="24" name="Text 18"/>
          <p:cNvSpPr/>
          <p:nvPr/>
        </p:nvSpPr>
        <p:spPr>
          <a:xfrm>
            <a:off x="4514088" y="4937760"/>
            <a:ext cx="3160776" cy="384048"/>
          </a:xfrm>
          <a:prstGeom prst="rect">
            <a:avLst/>
          </a:prstGeom>
          <a:noFill/>
          <a:ln/>
        </p:spPr>
        <p:txBody>
          <a:bodyPr wrap="square" lIns="0" tIns="0" rIns="0" bIns="0" rtlCol="0" anchor="ctr"/>
          <a:lstStyle/>
          <a:p>
            <a:pPr marL="0" indent="0">
              <a:lnSpc>
                <a:spcPct val="100000"/>
              </a:lnSpc>
              <a:buNone/>
            </a:pPr>
            <a:r>
              <a:rPr lang="en-US" sz="1000" dirty="0">
                <a:solidFill>
                  <a:srgbClr val="4A4A4A"/>
                </a:solidFill>
                <a:latin typeface="Poppins" pitchFamily="34" charset="0"/>
                <a:ea typeface="Poppins" pitchFamily="34" charset="-122"/>
                <a:cs typeface="Poppins" pitchFamily="34" charset="-120"/>
              </a:rPr>
              <a:t>to run (retraining, monitoring, ~$3K infra)</a:t>
            </a:r>
            <a:endParaRPr lang="en-US" sz="1000" dirty="0"/>
          </a:p>
        </p:txBody>
      </p:sp>
      <p:sp>
        <p:nvSpPr>
          <p:cNvPr id="25" name="Shape 19"/>
          <p:cNvSpPr/>
          <p:nvPr/>
        </p:nvSpPr>
        <p:spPr>
          <a:xfrm>
            <a:off x="8122920" y="3931920"/>
            <a:ext cx="3563112" cy="1417320"/>
          </a:xfrm>
          <a:prstGeom prst="roundRect">
            <a:avLst>
              <a:gd name="adj" fmla="val 9032"/>
            </a:avLst>
          </a:prstGeom>
          <a:solidFill>
            <a:srgbClr val="E6F6F4"/>
          </a:solidFill>
          <a:ln/>
        </p:spPr>
        <p:txBody>
          <a:bodyPr/>
          <a:lstStyle/>
          <a:p>
            <a:endParaRPr lang="en-US"/>
          </a:p>
        </p:txBody>
      </p:sp>
      <p:pic>
        <p:nvPicPr>
          <p:cNvPr id="26" name="Image 4" descr="/sessions/dreamy-trusting-noether/mnt/outputs/build/assets/dollar_teal.png"/>
          <p:cNvPicPr>
            <a:picLocks noChangeAspect="1"/>
          </p:cNvPicPr>
          <p:nvPr/>
        </p:nvPicPr>
        <p:blipFill>
          <a:blip r:embed="rId7"/>
          <a:stretch>
            <a:fillRect/>
          </a:stretch>
        </p:blipFill>
        <p:spPr>
          <a:xfrm>
            <a:off x="8342376" y="4151376"/>
            <a:ext cx="365760" cy="365760"/>
          </a:xfrm>
          <a:prstGeom prst="rect">
            <a:avLst/>
          </a:prstGeom>
        </p:spPr>
      </p:pic>
      <p:sp>
        <p:nvSpPr>
          <p:cNvPr id="27" name="Text 20"/>
          <p:cNvSpPr/>
          <p:nvPr/>
        </p:nvSpPr>
        <p:spPr>
          <a:xfrm>
            <a:off x="8305800" y="4462272"/>
            <a:ext cx="3197352" cy="502920"/>
          </a:xfrm>
          <a:prstGeom prst="rect">
            <a:avLst/>
          </a:prstGeom>
          <a:noFill/>
          <a:ln/>
        </p:spPr>
        <p:txBody>
          <a:bodyPr wrap="square" lIns="0" tIns="0" rIns="0" bIns="0" rtlCol="0" anchor="ctr"/>
          <a:lstStyle/>
          <a:p>
            <a:pPr marL="0" indent="0">
              <a:buNone/>
            </a:pPr>
            <a:r>
              <a:rPr lang="en-US" sz="2500" b="1" dirty="0">
                <a:solidFill>
                  <a:srgbClr val="007A73"/>
                </a:solidFill>
                <a:latin typeface="Poppins" pitchFamily="34" charset="0"/>
                <a:ea typeface="Poppins" pitchFamily="34" charset="-122"/>
                <a:cs typeface="Poppins" pitchFamily="34" charset="-120"/>
              </a:rPr>
              <a:t>~$215K</a:t>
            </a:r>
            <a:endParaRPr lang="en-US" sz="2500" dirty="0"/>
          </a:p>
        </p:txBody>
      </p:sp>
      <p:sp>
        <p:nvSpPr>
          <p:cNvPr id="28" name="Text 21"/>
          <p:cNvSpPr/>
          <p:nvPr/>
        </p:nvSpPr>
        <p:spPr>
          <a:xfrm>
            <a:off x="8324088" y="4937760"/>
            <a:ext cx="3160776" cy="384048"/>
          </a:xfrm>
          <a:prstGeom prst="rect">
            <a:avLst/>
          </a:prstGeom>
          <a:noFill/>
          <a:ln/>
        </p:spPr>
        <p:txBody>
          <a:bodyPr wrap="square" lIns="0" tIns="0" rIns="0" bIns="0" rtlCol="0" anchor="ctr"/>
          <a:lstStyle/>
          <a:p>
            <a:pPr marL="0" indent="0">
              <a:lnSpc>
                <a:spcPct val="100000"/>
              </a:lnSpc>
              <a:buNone/>
            </a:pPr>
            <a:r>
              <a:rPr lang="en-US" sz="1000" dirty="0">
                <a:solidFill>
                  <a:srgbClr val="4A4A4A"/>
                </a:solidFill>
                <a:latin typeface="Poppins" pitchFamily="34" charset="0"/>
                <a:ea typeface="Poppins" pitchFamily="34" charset="-122"/>
                <a:cs typeface="Poppins" pitchFamily="34" charset="-120"/>
              </a:rPr>
              <a:t>total 5-year cost of ownership</a:t>
            </a:r>
            <a:endParaRPr lang="en-US" sz="1000" dirty="0"/>
          </a:p>
        </p:txBody>
      </p:sp>
      <p:sp>
        <p:nvSpPr>
          <p:cNvPr id="29" name="Text 22"/>
          <p:cNvSpPr/>
          <p:nvPr/>
        </p:nvSpPr>
        <p:spPr>
          <a:xfrm>
            <a:off x="502920" y="5623560"/>
            <a:ext cx="11183112" cy="457200"/>
          </a:xfrm>
          <a:prstGeom prst="rect">
            <a:avLst/>
          </a:prstGeom>
          <a:noFill/>
          <a:ln/>
        </p:spPr>
        <p:txBody>
          <a:bodyPr wrap="square" lIns="0" tIns="0" rIns="0" bIns="0" rtlCol="0" anchor="ctr"/>
          <a:lstStyle/>
          <a:p>
            <a:pPr marL="0" indent="0">
              <a:lnSpc>
                <a:spcPct val="104000"/>
              </a:lnSpc>
              <a:buNone/>
            </a:pPr>
            <a:r>
              <a:rPr lang="en-US" sz="1050" dirty="0">
                <a:solidFill>
                  <a:srgbClr val="4A4A4A"/>
                </a:solidFill>
                <a:latin typeface="Poppins" pitchFamily="34" charset="0"/>
                <a:ea typeface="Poppins" pitchFamily="34" charset="-122"/>
                <a:cs typeface="Poppins" pitchFamily="34" charset="-120"/>
              </a:rPr>
              <a:t>Costed as an incremental feature on infrastructure Airbnb already owns (model-serving, pricing, A/B testing). </a:t>
            </a:r>
            <a:r>
              <a:rPr lang="en-US" sz="1050" i="1" dirty="0">
                <a:solidFill>
                  <a:srgbClr val="9AA0A6"/>
                </a:solidFill>
                <a:latin typeface="Poppins" pitchFamily="34" charset="0"/>
                <a:ea typeface="Poppins" pitchFamily="34" charset="-122"/>
                <a:cs typeface="Poppins" pitchFamily="34" charset="-120"/>
              </a:rPr>
              <a:t>A full greenfield build (~$190K + $105K/yr) is shown only as a worst-case if built standalone.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11 · ROI &amp; FINANCIAL TIMELINE</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Payback in months, not years</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Adoption sensitivity on the $1.17M floor and the incremental cost. Even 15% adoption clears 300% ROI.</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Francois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377440"/>
          <a:ext cx="6858000" cy="2688336"/>
        </p:xfrm>
        <a:graphic>
          <a:graphicData uri="http://schemas.openxmlformats.org/drawingml/2006/table">
            <a:tbl>
              <a:tblPr/>
              <a:tblGrid>
                <a:gridCol w="1554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02336">
                <a:tc>
                  <a:txBody>
                    <a:bodyPr/>
                    <a:lstStyle/>
                    <a:p>
                      <a:pPr marL="0" indent="0" algn="ctr">
                        <a:buNone/>
                      </a:pPr>
                      <a:r>
                        <a:rPr lang="en-US" sz="1200" b="1" dirty="0">
                          <a:solidFill>
                            <a:srgbClr val="FFFFFF"/>
                          </a:solidFill>
                          <a:latin typeface="Poppins" pitchFamily="34" charset="0"/>
                          <a:ea typeface="Poppins" pitchFamily="34" charset="-122"/>
                          <a:cs typeface="Poppins" pitchFamily="34" charset="-120"/>
                        </a:rPr>
                        <a:t>Adoption</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200" b="1" dirty="0">
                          <a:solidFill>
                            <a:srgbClr val="FFFFFF"/>
                          </a:solidFill>
                          <a:latin typeface="Poppins" pitchFamily="34" charset="0"/>
                          <a:ea typeface="Poppins" pitchFamily="34" charset="-122"/>
                          <a:cs typeface="Poppins" pitchFamily="34" charset="-120"/>
                        </a:rPr>
                        <a:t>Airbnb fee / yr</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200" b="1" dirty="0">
                          <a:solidFill>
                            <a:srgbClr val="FFFFFF"/>
                          </a:solidFill>
                          <a:latin typeface="Poppins" pitchFamily="34" charset="0"/>
                          <a:ea typeface="Poppins" pitchFamily="34" charset="-122"/>
                          <a:cs typeface="Poppins" pitchFamily="34" charset="-120"/>
                        </a:rPr>
                        <a:t>Payback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200" b="1" dirty="0">
                          <a:solidFill>
                            <a:srgbClr val="FFFFFF"/>
                          </a:solidFill>
                          <a:latin typeface="Poppins" pitchFamily="34" charset="0"/>
                          <a:ea typeface="Poppins" pitchFamily="34" charset="-122"/>
                          <a:cs typeface="Poppins" pitchFamily="34" charset="-120"/>
                        </a:rPr>
                        <a:t>5-yr ROI</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extLst>
                  <a:ext uri="{0D108BD9-81ED-4DB2-BD59-A6C34878D82A}">
                    <a16:rowId xmlns:a16="http://schemas.microsoft.com/office/drawing/2014/main" val="10000"/>
                  </a:ext>
                </a:extLst>
              </a:tr>
              <a:tr h="457200">
                <a:tc>
                  <a:txBody>
                    <a:bodyPr/>
                    <a:lstStyle/>
                    <a:p>
                      <a:pPr marL="0" indent="0" algn="ctr">
                        <a:buNone/>
                      </a:pPr>
                      <a:r>
                        <a:rPr lang="en-US" sz="1200" b="1" dirty="0">
                          <a:solidFill>
                            <a:srgbClr val="222222"/>
                          </a:solidFill>
                          <a:latin typeface="Poppins" pitchFamily="34" charset="0"/>
                          <a:ea typeface="Poppins" pitchFamily="34" charset="-122"/>
                          <a:cs typeface="Poppins" pitchFamily="34" charset="-120"/>
                        </a:rPr>
                        <a:t>15%</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$176K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~6 mo</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4A4A4A"/>
                          </a:solidFill>
                          <a:latin typeface="Poppins" pitchFamily="34" charset="0"/>
                          <a:ea typeface="Poppins" pitchFamily="34" charset="-122"/>
                          <a:cs typeface="Poppins" pitchFamily="34" charset="-120"/>
                        </a:rPr>
                        <a:t>308%</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200" b="1" dirty="0">
                          <a:solidFill>
                            <a:srgbClr val="222222"/>
                          </a:solidFill>
                          <a:latin typeface="Poppins" pitchFamily="34" charset="0"/>
                          <a:ea typeface="Poppins" pitchFamily="34" charset="-122"/>
                          <a:cs typeface="Poppins" pitchFamily="34" charset="-120"/>
                        </a:rPr>
                        <a:t>25%</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$292K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~4 mo</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b="1" dirty="0">
                          <a:solidFill>
                            <a:srgbClr val="4A4A4A"/>
                          </a:solidFill>
                          <a:latin typeface="Poppins" pitchFamily="34" charset="0"/>
                          <a:ea typeface="Poppins" pitchFamily="34" charset="-122"/>
                          <a:cs typeface="Poppins" pitchFamily="34" charset="-120"/>
                        </a:rPr>
                        <a:t>580%</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457200">
                <a:tc>
                  <a:txBody>
                    <a:bodyPr/>
                    <a:lstStyle/>
                    <a:p>
                      <a:pPr marL="0" indent="0" algn="ctr">
                        <a:buNone/>
                      </a:pPr>
                      <a:r>
                        <a:rPr lang="en-US" sz="1200" b="1" dirty="0">
                          <a:solidFill>
                            <a:srgbClr val="222222"/>
                          </a:solidFill>
                          <a:latin typeface="Poppins" pitchFamily="34" charset="0"/>
                          <a:ea typeface="Poppins" pitchFamily="34" charset="-122"/>
                          <a:cs typeface="Poppins" pitchFamily="34" charset="-120"/>
                        </a:rPr>
                        <a:t>35%</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$410K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~3 mo</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4A4A4A"/>
                          </a:solidFill>
                          <a:latin typeface="Poppins" pitchFamily="34" charset="0"/>
                          <a:ea typeface="Poppins" pitchFamily="34" charset="-122"/>
                          <a:cs typeface="Poppins" pitchFamily="34" charset="-120"/>
                        </a:rPr>
                        <a:t>852%</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200" b="1" dirty="0">
                          <a:solidFill>
                            <a:srgbClr val="222222"/>
                          </a:solidFill>
                          <a:latin typeface="Poppins" pitchFamily="34" charset="0"/>
                          <a:ea typeface="Poppins" pitchFamily="34" charset="-122"/>
                          <a:cs typeface="Poppins" pitchFamily="34" charset="-120"/>
                        </a:rPr>
                        <a:t>50%</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$585K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~2 mo</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200" b="1" dirty="0">
                          <a:solidFill>
                            <a:srgbClr val="4A4A4A"/>
                          </a:solidFill>
                          <a:latin typeface="Poppins" pitchFamily="34" charset="0"/>
                          <a:ea typeface="Poppins" pitchFamily="34" charset="-122"/>
                          <a:cs typeface="Poppins" pitchFamily="34" charset="-120"/>
                        </a:rPr>
                        <a:t>1,260%</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457200">
                <a:tc>
                  <a:txBody>
                    <a:bodyPr/>
                    <a:lstStyle/>
                    <a:p>
                      <a:pPr marL="0" indent="0" algn="ctr">
                        <a:buNone/>
                      </a:pPr>
                      <a:r>
                        <a:rPr lang="en-US" sz="1200" b="1" dirty="0">
                          <a:solidFill>
                            <a:srgbClr val="222222"/>
                          </a:solidFill>
                          <a:latin typeface="Poppins" pitchFamily="34" charset="0"/>
                          <a:ea typeface="Poppins" pitchFamily="34" charset="-122"/>
                          <a:cs typeface="Poppins" pitchFamily="34" charset="-120"/>
                        </a:rPr>
                        <a:t>75%</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$878K</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4A4A4A"/>
                          </a:solidFill>
                          <a:latin typeface="Poppins" pitchFamily="34" charset="0"/>
                          <a:ea typeface="Poppins" pitchFamily="34" charset="-122"/>
                          <a:cs typeface="Poppins" pitchFamily="34" charset="-120"/>
                        </a:rPr>
                        <a:t>~1 mo</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4A4A4A"/>
                          </a:solidFill>
                          <a:latin typeface="Poppins" pitchFamily="34" charset="0"/>
                          <a:ea typeface="Poppins" pitchFamily="34" charset="-122"/>
                          <a:cs typeface="Poppins" pitchFamily="34" charset="-120"/>
                        </a:rPr>
                        <a:t>1,941%</a:t>
                      </a:r>
                      <a:endParaRPr lang="en-US" sz="12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Text 8"/>
          <p:cNvSpPr/>
          <p:nvPr/>
        </p:nvSpPr>
        <p:spPr>
          <a:xfrm>
            <a:off x="502920" y="5257800"/>
            <a:ext cx="6858000" cy="274320"/>
          </a:xfrm>
          <a:prstGeom prst="rect">
            <a:avLst/>
          </a:prstGeom>
          <a:noFill/>
          <a:ln/>
        </p:spPr>
        <p:txBody>
          <a:bodyPr wrap="square" lIns="0" tIns="0" rIns="0" bIns="0" rtlCol="0" anchor="ctr"/>
          <a:lstStyle/>
          <a:p>
            <a:pPr marL="0" indent="0" algn="ctr">
              <a:buNone/>
            </a:pPr>
            <a:r>
              <a:rPr lang="en-US" sz="1050" i="1" dirty="0">
                <a:solidFill>
                  <a:srgbClr val="9AA0A6"/>
                </a:solidFill>
                <a:latin typeface="Poppins" pitchFamily="34" charset="0"/>
                <a:ea typeface="Poppins" pitchFamily="34" charset="-122"/>
                <a:cs typeface="Poppins" pitchFamily="34" charset="-120"/>
              </a:rPr>
              <a:t>We headline the 25% and 35% rows: the conservative and expected cases.</a:t>
            </a:r>
            <a:endParaRPr lang="en-US" sz="1050" dirty="0"/>
          </a:p>
        </p:txBody>
      </p:sp>
      <p:sp>
        <p:nvSpPr>
          <p:cNvPr id="14" name="Shape 9"/>
          <p:cNvSpPr/>
          <p:nvPr/>
        </p:nvSpPr>
        <p:spPr>
          <a:xfrm>
            <a:off x="7589520" y="2377440"/>
            <a:ext cx="4096512" cy="3063240"/>
          </a:xfrm>
          <a:prstGeom prst="roundRect">
            <a:avLst>
              <a:gd name="adj" fmla="val 4179"/>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5" name="Shape 10"/>
          <p:cNvSpPr/>
          <p:nvPr/>
        </p:nvSpPr>
        <p:spPr>
          <a:xfrm>
            <a:off x="7845552" y="2615184"/>
            <a:ext cx="530352" cy="530352"/>
          </a:xfrm>
          <a:prstGeom prst="ellipse">
            <a:avLst/>
          </a:prstGeom>
          <a:solidFill>
            <a:srgbClr val="FFFFFF"/>
          </a:solidFill>
          <a:ln/>
        </p:spPr>
        <p:txBody>
          <a:bodyPr/>
          <a:lstStyle/>
          <a:p>
            <a:endParaRPr lang="en-US"/>
          </a:p>
        </p:txBody>
      </p:sp>
      <p:pic>
        <p:nvPicPr>
          <p:cNvPr id="16" name="Image 2" descr="/sessions/dreamy-trusting-noether/mnt/outputs/build/assets/scale_coral.png"/>
          <p:cNvPicPr>
            <a:picLocks noChangeAspect="1"/>
          </p:cNvPicPr>
          <p:nvPr/>
        </p:nvPicPr>
        <p:blipFill>
          <a:blip r:embed="rId5"/>
          <a:stretch>
            <a:fillRect/>
          </a:stretch>
        </p:blipFill>
        <p:spPr>
          <a:xfrm>
            <a:off x="7972836" y="2742468"/>
            <a:ext cx="275783" cy="275783"/>
          </a:xfrm>
          <a:prstGeom prst="rect">
            <a:avLst/>
          </a:prstGeom>
        </p:spPr>
      </p:pic>
      <p:sp>
        <p:nvSpPr>
          <p:cNvPr id="17" name="Text 11"/>
          <p:cNvSpPr/>
          <p:nvPr/>
        </p:nvSpPr>
        <p:spPr>
          <a:xfrm>
            <a:off x="8595360" y="2651760"/>
            <a:ext cx="2926080" cy="365760"/>
          </a:xfrm>
          <a:prstGeom prst="rect">
            <a:avLst/>
          </a:prstGeom>
          <a:noFill/>
          <a:ln/>
        </p:spPr>
        <p:txBody>
          <a:bodyPr wrap="square" lIns="0" tIns="0" rIns="0" bIns="0" rtlCol="0" anchor="ctr"/>
          <a:lstStyle/>
          <a:p>
            <a:pPr marL="0" indent="0">
              <a:buNone/>
            </a:pPr>
            <a:r>
              <a:rPr lang="en-US" sz="1400" b="1" dirty="0">
                <a:solidFill>
                  <a:srgbClr val="222222"/>
                </a:solidFill>
                <a:latin typeface="Poppins" pitchFamily="34" charset="0"/>
                <a:ea typeface="Poppins" pitchFamily="34" charset="-122"/>
                <a:cs typeface="Poppins" pitchFamily="34" charset="-120"/>
              </a:rPr>
              <a:t>Honest about time value</a:t>
            </a:r>
            <a:endParaRPr lang="en-US" sz="1400" dirty="0"/>
          </a:p>
        </p:txBody>
      </p:sp>
      <p:sp>
        <p:nvSpPr>
          <p:cNvPr id="18" name="Text 12"/>
          <p:cNvSpPr/>
          <p:nvPr/>
        </p:nvSpPr>
        <p:spPr>
          <a:xfrm>
            <a:off x="7845552" y="3291840"/>
            <a:ext cx="3657600" cy="2057400"/>
          </a:xfrm>
          <a:prstGeom prst="rect">
            <a:avLst/>
          </a:prstGeom>
          <a:noFill/>
          <a:ln/>
        </p:spPr>
        <p:txBody>
          <a:bodyPr wrap="square" lIns="0" tIns="0" rIns="0" bIns="0" rtlCol="0" anchor="t"/>
          <a:lstStyle/>
          <a:p>
            <a:pPr marL="0" indent="0">
              <a:lnSpc>
                <a:spcPct val="106000"/>
              </a:lnSpc>
              <a:buNone/>
            </a:pPr>
            <a:r>
              <a:rPr lang="en-US" sz="1150" b="1" dirty="0">
                <a:solidFill>
                  <a:srgbClr val="FF385C"/>
                </a:solidFill>
                <a:latin typeface="Poppins" pitchFamily="34" charset="0"/>
                <a:ea typeface="Poppins" pitchFamily="34" charset="-122"/>
                <a:cs typeface="Poppins" pitchFamily="34" charset="-120"/>
              </a:rPr>
              <a:t>Net-positive in Year 1</a:t>
            </a:r>
            <a:r>
              <a:rPr lang="en-US" sz="1150" dirty="0">
                <a:solidFill>
                  <a:srgbClr val="4A4A4A"/>
                </a:solidFill>
                <a:latin typeface="Poppins" pitchFamily="34" charset="0"/>
                <a:ea typeface="Poppins" pitchFamily="34" charset="-122"/>
                <a:cs typeface="Poppins" pitchFamily="34" charset="-120"/>
              </a:rPr>
              <a:t>, even at 10% first-year adoption.
5-year net: </a:t>
            </a:r>
            <a:r>
              <a:rPr lang="en-US" sz="1150" b="1" dirty="0">
                <a:solidFill>
                  <a:srgbClr val="222222"/>
                </a:solidFill>
                <a:latin typeface="Poppins" pitchFamily="34" charset="0"/>
                <a:ea typeface="Poppins" pitchFamily="34" charset="-122"/>
                <a:cs typeface="Poppins" pitchFamily="34" charset="-120"/>
              </a:rPr>
              <a:t>$5.63M nominal → $4.26M NPV</a:t>
            </a:r>
            <a:r>
              <a:rPr lang="en-US" sz="1150" dirty="0">
                <a:solidFill>
                  <a:srgbClr val="4A4A4A"/>
                </a:solidFill>
                <a:latin typeface="Poppins" pitchFamily="34" charset="0"/>
                <a:ea typeface="Poppins" pitchFamily="34" charset="-122"/>
                <a:cs typeface="Poppins" pitchFamily="34" charset="-120"/>
              </a:rPr>
              <a:t> at a 10% discount (~24% haircut).
</a:t>
            </a:r>
            <a:r>
              <a:rPr lang="en-US" sz="1150" dirty="0">
                <a:solidFill>
                  <a:srgbClr val="717171"/>
                </a:solidFill>
                <a:latin typeface="Poppins" pitchFamily="34" charset="0"/>
                <a:ea typeface="Poppins" pitchFamily="34" charset="-122"/>
                <a:cs typeface="Poppins" pitchFamily="34" charset="-120"/>
              </a:rPr>
              <a:t>We discount at 10% and show both, rather than present nominal sums under an NPV banner.</a:t>
            </a:r>
            <a:endParaRPr lang="en-US" sz="1150" dirty="0"/>
          </a:p>
        </p:txBody>
      </p:sp>
      <p:sp>
        <p:nvSpPr>
          <p:cNvPr id="19" name="Text 13"/>
          <p:cNvSpPr/>
          <p:nvPr/>
        </p:nvSpPr>
        <p:spPr>
          <a:xfrm>
            <a:off x="502920" y="5669280"/>
            <a:ext cx="11183112" cy="548640"/>
          </a:xfrm>
          <a:prstGeom prst="rect">
            <a:avLst/>
          </a:prstGeom>
          <a:noFill/>
          <a:ln/>
        </p:spPr>
        <p:txBody>
          <a:bodyPr wrap="square" lIns="0" tIns="0" rIns="0" bIns="0" rtlCol="0" anchor="ctr"/>
          <a:lstStyle/>
          <a:p>
            <a:pPr marL="0" indent="0">
              <a:lnSpc>
                <a:spcPct val="104000"/>
              </a:lnSpc>
              <a:buNone/>
            </a:pPr>
            <a:r>
              <a:rPr lang="en-US" sz="1050" b="1" dirty="0">
                <a:solidFill>
                  <a:srgbClr val="222222"/>
                </a:solidFill>
                <a:latin typeface="Poppins" pitchFamily="34" charset="0"/>
                <a:ea typeface="Poppins" pitchFamily="34" charset="-122"/>
                <a:cs typeface="Poppins" pitchFamily="34" charset="-120"/>
              </a:rPr>
              <a:t>And on the overpriced side: </a:t>
            </a:r>
            <a:r>
              <a:rPr lang="en-US" sz="1050" dirty="0">
                <a:solidFill>
                  <a:srgbClr val="4A4A4A"/>
                </a:solidFill>
                <a:latin typeface="Poppins" pitchFamily="34" charset="0"/>
                <a:ea typeface="Poppins" pitchFamily="34" charset="-122"/>
                <a:cs typeface="Poppins" pitchFamily="34" charset="-120"/>
              </a:rPr>
              <a:t>repricing unlocks ~77,606 booked nights/yr. Near revenue-neutral for hosts, but real marketplace liquidity and host retention for Airbnb (already inside the floor).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12 · WHAT WE'D DO WITH MORE</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The number is a floor. Here is what lifts it.</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Every unmeasured quantity was resolved against us. Four asks would let us prove how much bigger this is.</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Francois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13</a:t>
            </a:r>
            <a:endParaRPr lang="en-US" sz="900" dirty="0"/>
          </a:p>
        </p:txBody>
      </p:sp>
      <p:sp>
        <p:nvSpPr>
          <p:cNvPr id="12" name="Shape 8"/>
          <p:cNvSpPr/>
          <p:nvPr/>
        </p:nvSpPr>
        <p:spPr>
          <a:xfrm>
            <a:off x="502920" y="2331720"/>
            <a:ext cx="5468112" cy="1783080"/>
          </a:xfrm>
          <a:prstGeom prst="roundRect">
            <a:avLst>
              <a:gd name="adj" fmla="val 717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58952" y="2606040"/>
            <a:ext cx="566928" cy="566928"/>
          </a:xfrm>
          <a:prstGeom prst="ellipse">
            <a:avLst/>
          </a:prstGeom>
          <a:solidFill>
            <a:srgbClr val="FFF1E9"/>
          </a:solidFill>
          <a:ln/>
        </p:spPr>
        <p:txBody>
          <a:bodyPr/>
          <a:lstStyle/>
          <a:p>
            <a:endParaRPr lang="en-US"/>
          </a:p>
        </p:txBody>
      </p:sp>
      <p:pic>
        <p:nvPicPr>
          <p:cNvPr id="14" name="Image 2" descr="/sessions/dreamy-trusting-noether/mnt/outputs/build/assets/bar_orange.png"/>
          <p:cNvPicPr>
            <a:picLocks noChangeAspect="1"/>
          </p:cNvPicPr>
          <p:nvPr/>
        </p:nvPicPr>
        <p:blipFill>
          <a:blip r:embed="rId5"/>
          <a:stretch>
            <a:fillRect/>
          </a:stretch>
        </p:blipFill>
        <p:spPr>
          <a:xfrm>
            <a:off x="895015" y="2742103"/>
            <a:ext cx="294803" cy="294803"/>
          </a:xfrm>
          <a:prstGeom prst="rect">
            <a:avLst/>
          </a:prstGeom>
        </p:spPr>
      </p:pic>
      <p:sp>
        <p:nvSpPr>
          <p:cNvPr id="15" name="Text 10"/>
          <p:cNvSpPr/>
          <p:nvPr/>
        </p:nvSpPr>
        <p:spPr>
          <a:xfrm>
            <a:off x="1453896" y="2642616"/>
            <a:ext cx="4325112" cy="502920"/>
          </a:xfrm>
          <a:prstGeom prst="rect">
            <a:avLst/>
          </a:prstGeom>
          <a:noFill/>
          <a:ln/>
        </p:spPr>
        <p:txBody>
          <a:bodyPr wrap="square" lIns="0" tIns="0" rIns="0" bIns="0" rtlCol="0" anchor="ctr"/>
          <a:lstStyle/>
          <a:p>
            <a:pPr marL="0" indent="0">
              <a:lnSpc>
                <a:spcPct val="95000"/>
              </a:lnSpc>
              <a:buNone/>
            </a:pPr>
            <a:r>
              <a:rPr lang="en-US" sz="1400" b="1" dirty="0">
                <a:solidFill>
                  <a:srgbClr val="222222"/>
                </a:solidFill>
                <a:latin typeface="Poppins" pitchFamily="34" charset="0"/>
                <a:ea typeface="Poppins" pitchFamily="34" charset="-122"/>
                <a:cs typeface="Poppins" pitchFamily="34" charset="-120"/>
              </a:rPr>
              <a:t>Give us the full elasticity panel</a:t>
            </a:r>
            <a:endParaRPr lang="en-US" sz="1400" dirty="0"/>
          </a:p>
        </p:txBody>
      </p:sp>
      <p:sp>
        <p:nvSpPr>
          <p:cNvPr id="16" name="Text 11"/>
          <p:cNvSpPr/>
          <p:nvPr/>
        </p:nvSpPr>
        <p:spPr>
          <a:xfrm>
            <a:off x="777240" y="3264408"/>
            <a:ext cx="4919472" cy="777240"/>
          </a:xfrm>
          <a:prstGeom prst="rect">
            <a:avLst/>
          </a:prstGeom>
          <a:noFill/>
          <a:ln/>
        </p:spPr>
        <p:txBody>
          <a:bodyPr wrap="square" lIns="0" tIns="0" rIns="0" bIns="0" rtlCol="0" anchor="t"/>
          <a:lstStyle/>
          <a:p>
            <a:pPr marL="0" indent="0">
              <a:lnSpc>
                <a:spcPct val="105000"/>
              </a:lnSpc>
              <a:buNone/>
            </a:pPr>
            <a:r>
              <a:rPr lang="en-US" sz="1180" dirty="0">
                <a:solidFill>
                  <a:srgbClr val="4A4A4A"/>
                </a:solidFill>
                <a:latin typeface="Poppins" pitchFamily="34" charset="0"/>
                <a:ea typeface="Poppins" pitchFamily="34" charset="-122"/>
                <a:cs typeface="Poppins" pitchFamily="34" charset="-120"/>
              </a:rPr>
              <a:t>We proved the mechanism on 64 established short-stay listings and measured −0.92. The full panel would confirm it across every segment and review tier ,  and likely raises the number, since newer listings are more price-sensitive.</a:t>
            </a:r>
            <a:endParaRPr lang="en-US" sz="1180" dirty="0"/>
          </a:p>
        </p:txBody>
      </p:sp>
      <p:sp>
        <p:nvSpPr>
          <p:cNvPr id="17" name="Shape 12"/>
          <p:cNvSpPr/>
          <p:nvPr/>
        </p:nvSpPr>
        <p:spPr>
          <a:xfrm>
            <a:off x="6217920" y="2331720"/>
            <a:ext cx="5468112" cy="1783080"/>
          </a:xfrm>
          <a:prstGeom prst="roundRect">
            <a:avLst>
              <a:gd name="adj" fmla="val 7179"/>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3"/>
          <p:cNvSpPr/>
          <p:nvPr/>
        </p:nvSpPr>
        <p:spPr>
          <a:xfrm>
            <a:off x="6473952" y="2606040"/>
            <a:ext cx="566928" cy="566928"/>
          </a:xfrm>
          <a:prstGeom prst="ellipse">
            <a:avLst/>
          </a:prstGeom>
          <a:solidFill>
            <a:srgbClr val="FFFFFF"/>
          </a:solidFill>
          <a:ln/>
        </p:spPr>
        <p:txBody>
          <a:bodyPr/>
          <a:lstStyle/>
          <a:p>
            <a:endParaRPr lang="en-US"/>
          </a:p>
        </p:txBody>
      </p:sp>
      <p:pic>
        <p:nvPicPr>
          <p:cNvPr id="19" name="Image 3" descr="/sessions/dreamy-trusting-noether/mnt/outputs/build/assets/calendar_teal.png"/>
          <p:cNvPicPr>
            <a:picLocks noChangeAspect="1"/>
          </p:cNvPicPr>
          <p:nvPr/>
        </p:nvPicPr>
        <p:blipFill>
          <a:blip r:embed="rId6"/>
          <a:stretch>
            <a:fillRect/>
          </a:stretch>
        </p:blipFill>
        <p:spPr>
          <a:xfrm>
            <a:off x="6610015" y="2742103"/>
            <a:ext cx="294803" cy="294803"/>
          </a:xfrm>
          <a:prstGeom prst="rect">
            <a:avLst/>
          </a:prstGeom>
        </p:spPr>
      </p:pic>
      <p:sp>
        <p:nvSpPr>
          <p:cNvPr id="20" name="Text 14"/>
          <p:cNvSpPr/>
          <p:nvPr/>
        </p:nvSpPr>
        <p:spPr>
          <a:xfrm>
            <a:off x="7168896" y="2642616"/>
            <a:ext cx="4325112" cy="502920"/>
          </a:xfrm>
          <a:prstGeom prst="rect">
            <a:avLst/>
          </a:prstGeom>
          <a:noFill/>
          <a:ln/>
        </p:spPr>
        <p:txBody>
          <a:bodyPr wrap="square" lIns="0" tIns="0" rIns="0" bIns="0" rtlCol="0" anchor="ctr"/>
          <a:lstStyle/>
          <a:p>
            <a:pPr marL="0" indent="0">
              <a:lnSpc>
                <a:spcPct val="95000"/>
              </a:lnSpc>
              <a:buNone/>
            </a:pPr>
            <a:r>
              <a:rPr lang="en-US" sz="1400" b="1" dirty="0">
                <a:solidFill>
                  <a:srgbClr val="222222"/>
                </a:solidFill>
                <a:latin typeface="Poppins" pitchFamily="34" charset="0"/>
                <a:ea typeface="Poppins" pitchFamily="34" charset="-122"/>
                <a:cs typeface="Poppins" pitchFamily="34" charset="-120"/>
              </a:rPr>
              <a:t>Let us measure the monthly segment</a:t>
            </a:r>
            <a:endParaRPr lang="en-US" sz="1400" dirty="0"/>
          </a:p>
        </p:txBody>
      </p:sp>
      <p:sp>
        <p:nvSpPr>
          <p:cNvPr id="21" name="Text 15"/>
          <p:cNvSpPr/>
          <p:nvPr/>
        </p:nvSpPr>
        <p:spPr>
          <a:xfrm>
            <a:off x="6492240" y="3264408"/>
            <a:ext cx="4919472" cy="777240"/>
          </a:xfrm>
          <a:prstGeom prst="rect">
            <a:avLst/>
          </a:prstGeom>
          <a:noFill/>
          <a:ln/>
        </p:spPr>
        <p:txBody>
          <a:bodyPr wrap="square" lIns="0" tIns="0" rIns="0" bIns="0" rtlCol="0" anchor="t"/>
          <a:lstStyle/>
          <a:p>
            <a:pPr marL="0" indent="0">
              <a:lnSpc>
                <a:spcPct val="105000"/>
              </a:lnSpc>
              <a:buNone/>
            </a:pPr>
            <a:r>
              <a:rPr lang="en-US" sz="1180" dirty="0">
                <a:solidFill>
                  <a:srgbClr val="4A4A4A"/>
                </a:solidFill>
                <a:latin typeface="Poppins" pitchFamily="34" charset="0"/>
                <a:ea typeface="Poppins" pitchFamily="34" charset="-122"/>
                <a:cs typeface="Poppins" pitchFamily="34" charset="-120"/>
              </a:rPr>
              <a:t>No significant price response showed up in the pilot, so we assumed none and let the full price gap flow through. With more within-listing price variation we could measure it properly instead of assuming it.</a:t>
            </a:r>
            <a:endParaRPr lang="en-US" sz="1180" dirty="0"/>
          </a:p>
        </p:txBody>
      </p:sp>
      <p:sp>
        <p:nvSpPr>
          <p:cNvPr id="22" name="Shape 16"/>
          <p:cNvSpPr/>
          <p:nvPr/>
        </p:nvSpPr>
        <p:spPr>
          <a:xfrm>
            <a:off x="502920" y="4334256"/>
            <a:ext cx="5468112" cy="1783080"/>
          </a:xfrm>
          <a:prstGeom prst="roundRect">
            <a:avLst>
              <a:gd name="adj" fmla="val 717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3" name="Shape 17"/>
          <p:cNvSpPr/>
          <p:nvPr/>
        </p:nvSpPr>
        <p:spPr>
          <a:xfrm>
            <a:off x="758952" y="4608576"/>
            <a:ext cx="566928" cy="566928"/>
          </a:xfrm>
          <a:prstGeom prst="ellipse">
            <a:avLst/>
          </a:prstGeom>
          <a:solidFill>
            <a:srgbClr val="FFF1E9"/>
          </a:solidFill>
          <a:ln/>
        </p:spPr>
        <p:txBody>
          <a:bodyPr/>
          <a:lstStyle/>
          <a:p>
            <a:endParaRPr lang="en-US"/>
          </a:p>
        </p:txBody>
      </p:sp>
      <p:pic>
        <p:nvPicPr>
          <p:cNvPr id="24" name="Image 4" descr="/sessions/dreamy-trusting-noether/mnt/outputs/build/assets/pin_orange.png"/>
          <p:cNvPicPr>
            <a:picLocks noChangeAspect="1"/>
          </p:cNvPicPr>
          <p:nvPr/>
        </p:nvPicPr>
        <p:blipFill>
          <a:blip r:embed="rId7"/>
          <a:stretch>
            <a:fillRect/>
          </a:stretch>
        </p:blipFill>
        <p:spPr>
          <a:xfrm>
            <a:off x="895015" y="4744639"/>
            <a:ext cx="294803" cy="294803"/>
          </a:xfrm>
          <a:prstGeom prst="rect">
            <a:avLst/>
          </a:prstGeom>
        </p:spPr>
      </p:pic>
      <p:sp>
        <p:nvSpPr>
          <p:cNvPr id="25" name="Text 18"/>
          <p:cNvSpPr/>
          <p:nvPr/>
        </p:nvSpPr>
        <p:spPr>
          <a:xfrm>
            <a:off x="1453896" y="4645152"/>
            <a:ext cx="4325112" cy="502920"/>
          </a:xfrm>
          <a:prstGeom prst="rect">
            <a:avLst/>
          </a:prstGeom>
          <a:noFill/>
          <a:ln/>
        </p:spPr>
        <p:txBody>
          <a:bodyPr wrap="square" lIns="0" tIns="0" rIns="0" bIns="0" rtlCol="0" anchor="ctr"/>
          <a:lstStyle/>
          <a:p>
            <a:pPr marL="0" indent="0">
              <a:lnSpc>
                <a:spcPct val="95000"/>
              </a:lnSpc>
              <a:buNone/>
            </a:pPr>
            <a:r>
              <a:rPr lang="en-US" sz="1400" b="1" dirty="0">
                <a:solidFill>
                  <a:srgbClr val="222222"/>
                </a:solidFill>
                <a:latin typeface="Poppins" pitchFamily="34" charset="0"/>
                <a:ea typeface="Poppins" pitchFamily="34" charset="-122"/>
                <a:cs typeface="Poppins" pitchFamily="34" charset="-120"/>
              </a:rPr>
              <a:t>Open the booking-flow data</a:t>
            </a:r>
            <a:endParaRPr lang="en-US" sz="1400" dirty="0"/>
          </a:p>
        </p:txBody>
      </p:sp>
      <p:sp>
        <p:nvSpPr>
          <p:cNvPr id="26" name="Text 19"/>
          <p:cNvSpPr/>
          <p:nvPr/>
        </p:nvSpPr>
        <p:spPr>
          <a:xfrm>
            <a:off x="777240" y="5266944"/>
            <a:ext cx="4919472" cy="777240"/>
          </a:xfrm>
          <a:prstGeom prst="rect">
            <a:avLst/>
          </a:prstGeom>
          <a:noFill/>
          <a:ln/>
        </p:spPr>
        <p:txBody>
          <a:bodyPr wrap="square" lIns="0" tIns="0" rIns="0" bIns="0" rtlCol="0" anchor="t"/>
          <a:lstStyle/>
          <a:p>
            <a:pPr marL="0" indent="0">
              <a:lnSpc>
                <a:spcPct val="105000"/>
              </a:lnSpc>
              <a:buNone/>
            </a:pPr>
            <a:r>
              <a:rPr lang="en-US" sz="1180" dirty="0">
                <a:solidFill>
                  <a:srgbClr val="4A4A4A"/>
                </a:solidFill>
                <a:latin typeface="Poppins" pitchFamily="34" charset="0"/>
                <a:ea typeface="Poppins" pitchFamily="34" charset="-122"/>
                <a:cs typeface="Poppins" pitchFamily="34" charset="-120"/>
              </a:rPr>
              <a:t>We counted zero credit for guests won back from hotels and competitors. Airbnb's own conversion data would price that, along with the churn and lifetime-value effects we can describe but not yet quantify.</a:t>
            </a:r>
            <a:endParaRPr lang="en-US" sz="1180" dirty="0"/>
          </a:p>
        </p:txBody>
      </p:sp>
      <p:sp>
        <p:nvSpPr>
          <p:cNvPr id="27" name="Shape 20"/>
          <p:cNvSpPr/>
          <p:nvPr/>
        </p:nvSpPr>
        <p:spPr>
          <a:xfrm>
            <a:off x="6217920" y="4334256"/>
            <a:ext cx="5468112" cy="1783080"/>
          </a:xfrm>
          <a:prstGeom prst="roundRect">
            <a:avLst>
              <a:gd name="adj" fmla="val 7179"/>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8" name="Shape 21"/>
          <p:cNvSpPr/>
          <p:nvPr/>
        </p:nvSpPr>
        <p:spPr>
          <a:xfrm>
            <a:off x="6473952" y="4608576"/>
            <a:ext cx="566928" cy="566928"/>
          </a:xfrm>
          <a:prstGeom prst="ellipse">
            <a:avLst/>
          </a:prstGeom>
          <a:solidFill>
            <a:srgbClr val="FFF1E9"/>
          </a:solidFill>
          <a:ln/>
        </p:spPr>
        <p:txBody>
          <a:bodyPr/>
          <a:lstStyle/>
          <a:p>
            <a:endParaRPr lang="en-US"/>
          </a:p>
        </p:txBody>
      </p:sp>
      <p:pic>
        <p:nvPicPr>
          <p:cNvPr id="29" name="Image 5" descr="/sessions/dreamy-trusting-noether/mnt/outputs/build/assets/alert_orange.png"/>
          <p:cNvPicPr>
            <a:picLocks noChangeAspect="1"/>
          </p:cNvPicPr>
          <p:nvPr/>
        </p:nvPicPr>
        <p:blipFill>
          <a:blip r:embed="rId8"/>
          <a:stretch>
            <a:fillRect/>
          </a:stretch>
        </p:blipFill>
        <p:spPr>
          <a:xfrm>
            <a:off x="6610015" y="4744639"/>
            <a:ext cx="294803" cy="294803"/>
          </a:xfrm>
          <a:prstGeom prst="rect">
            <a:avLst/>
          </a:prstGeom>
        </p:spPr>
      </p:pic>
      <p:sp>
        <p:nvSpPr>
          <p:cNvPr id="30" name="Text 22"/>
          <p:cNvSpPr/>
          <p:nvPr/>
        </p:nvSpPr>
        <p:spPr>
          <a:xfrm>
            <a:off x="7168896" y="4645152"/>
            <a:ext cx="4325112" cy="502920"/>
          </a:xfrm>
          <a:prstGeom prst="rect">
            <a:avLst/>
          </a:prstGeom>
          <a:noFill/>
          <a:ln/>
        </p:spPr>
        <p:txBody>
          <a:bodyPr wrap="square" lIns="0" tIns="0" rIns="0" bIns="0" rtlCol="0" anchor="ctr"/>
          <a:lstStyle/>
          <a:p>
            <a:pPr marL="0" indent="0">
              <a:lnSpc>
                <a:spcPct val="95000"/>
              </a:lnSpc>
              <a:buNone/>
            </a:pPr>
            <a:r>
              <a:rPr lang="en-US" sz="1400" b="1" dirty="0">
                <a:solidFill>
                  <a:srgbClr val="222222"/>
                </a:solidFill>
                <a:latin typeface="Poppins" pitchFamily="34" charset="0"/>
                <a:ea typeface="Poppins" pitchFamily="34" charset="-122"/>
                <a:cs typeface="Poppins" pitchFamily="34" charset="-120"/>
              </a:rPr>
              <a:t>Then take it beyond New York</a:t>
            </a:r>
            <a:endParaRPr lang="en-US" sz="1400" dirty="0"/>
          </a:p>
        </p:txBody>
      </p:sp>
      <p:sp>
        <p:nvSpPr>
          <p:cNvPr id="31" name="Text 23"/>
          <p:cNvSpPr/>
          <p:nvPr/>
        </p:nvSpPr>
        <p:spPr>
          <a:xfrm>
            <a:off x="6492240" y="5266944"/>
            <a:ext cx="4919472" cy="777240"/>
          </a:xfrm>
          <a:prstGeom prst="rect">
            <a:avLst/>
          </a:prstGeom>
          <a:noFill/>
          <a:ln/>
        </p:spPr>
        <p:txBody>
          <a:bodyPr wrap="square" lIns="0" tIns="0" rIns="0" bIns="0" rtlCol="0" anchor="t"/>
          <a:lstStyle/>
          <a:p>
            <a:pPr marL="0" indent="0">
              <a:lnSpc>
                <a:spcPct val="105000"/>
              </a:lnSpc>
              <a:buNone/>
            </a:pPr>
            <a:r>
              <a:rPr lang="en-US" sz="1180" dirty="0">
                <a:solidFill>
                  <a:srgbClr val="4A4A4A"/>
                </a:solidFill>
                <a:latin typeface="Poppins" pitchFamily="34" charset="0"/>
                <a:ea typeface="Poppins" pitchFamily="34" charset="-122"/>
                <a:cs typeface="Poppins" pitchFamily="34" charset="-120"/>
              </a:rPr>
              <a:t>Coefficients need re-fitting per market ,  tourism, regulation and seasonality all differ. The method transfers; these particular numbers are New York's.</a:t>
            </a:r>
            <a:endParaRPr lang="en-US" sz="11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13 · RECOMMENDATIONS &amp; CLOSING</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Build on Smart Pricing ,  don't replace it</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The opportunity isn't another number. It's helping hosts understand, trust and act on it.</a:t>
            </a:r>
            <a:endParaRPr lang="en-US" sz="1450" dirty="0"/>
          </a:p>
        </p:txBody>
      </p:sp>
      <p:sp>
        <p:nvSpPr>
          <p:cNvPr id="5" name="Shape 3"/>
          <p:cNvSpPr/>
          <p:nvPr/>
        </p:nvSpPr>
        <p:spPr>
          <a:xfrm>
            <a:off x="9357055" y="475488"/>
            <a:ext cx="2331720" cy="365760"/>
          </a:xfrm>
          <a:prstGeom prst="roundRect">
            <a:avLst>
              <a:gd name="adj" fmla="val 50000"/>
            </a:avLst>
          </a:prstGeom>
          <a:solidFill>
            <a:srgbClr val="F2F3F5"/>
          </a:solidFill>
          <a:ln/>
        </p:spPr>
        <p:txBody>
          <a:bodyPr/>
          <a:lstStyle/>
          <a:p>
            <a:endParaRPr lang="en-US"/>
          </a:p>
        </p:txBody>
      </p:sp>
      <p:sp>
        <p:nvSpPr>
          <p:cNvPr id="6" name="Shape 4"/>
          <p:cNvSpPr/>
          <p:nvPr/>
        </p:nvSpPr>
        <p:spPr>
          <a:xfrm>
            <a:off x="9503359" y="585216"/>
            <a:ext cx="146304" cy="146304"/>
          </a:xfrm>
          <a:prstGeom prst="ellipse">
            <a:avLst/>
          </a:prstGeom>
          <a:solidFill>
            <a:srgbClr val="FF385C"/>
          </a:solidFill>
          <a:ln/>
        </p:spPr>
        <p:txBody>
          <a:bodyPr/>
          <a:lstStyle/>
          <a:p>
            <a:endParaRPr lang="en-US"/>
          </a:p>
        </p:txBody>
      </p:sp>
      <p:sp>
        <p:nvSpPr>
          <p:cNvPr id="7" name="Text 5"/>
          <p:cNvSpPr/>
          <p:nvPr/>
        </p:nvSpPr>
        <p:spPr>
          <a:xfrm>
            <a:off x="9667951" y="475488"/>
            <a:ext cx="1965960" cy="365760"/>
          </a:xfrm>
          <a:prstGeom prst="rect">
            <a:avLst/>
          </a:prstGeom>
          <a:noFill/>
          <a:ln/>
        </p:spPr>
        <p:txBody>
          <a:bodyPr wrap="square" lIns="0" tIns="0" rIns="0" bIns="0" rtlCol="0" anchor="ctr"/>
          <a:lstStyle/>
          <a:p>
            <a:pPr marL="0" indent="0">
              <a:buNone/>
            </a:pPr>
            <a:r>
              <a:rPr lang="en-US" sz="950" b="1" kern="0" spc="100" dirty="0">
                <a:solidFill>
                  <a:srgbClr val="9AA0A6"/>
                </a:solidFill>
                <a:latin typeface="Poppins" pitchFamily="34" charset="0"/>
                <a:ea typeface="Poppins" pitchFamily="34" charset="-122"/>
                <a:cs typeface="Poppins" pitchFamily="34" charset="-120"/>
              </a:rPr>
              <a:t>PRESENTS  </a:t>
            </a:r>
            <a:r>
              <a:rPr lang="en-US" sz="950" b="1" dirty="0">
                <a:solidFill>
                  <a:srgbClr val="222222"/>
                </a:solidFill>
                <a:latin typeface="Poppins" pitchFamily="34" charset="0"/>
                <a:ea typeface="Poppins" pitchFamily="34" charset="-122"/>
                <a:cs typeface="Poppins" pitchFamily="34" charset="-120"/>
              </a:rPr>
              <a:t>Francois</a:t>
            </a:r>
            <a:endParaRPr lang="en-US" sz="9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14</a:t>
            </a:r>
            <a:endParaRPr lang="en-US" sz="900" dirty="0"/>
          </a:p>
        </p:txBody>
      </p:sp>
      <p:sp>
        <p:nvSpPr>
          <p:cNvPr id="12" name="Shape 8"/>
          <p:cNvSpPr/>
          <p:nvPr/>
        </p:nvSpPr>
        <p:spPr>
          <a:xfrm>
            <a:off x="502920" y="2286000"/>
            <a:ext cx="3563112" cy="1554480"/>
          </a:xfrm>
          <a:prstGeom prst="roundRect">
            <a:avLst>
              <a:gd name="adj" fmla="val 8235"/>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Shape 9"/>
          <p:cNvSpPr/>
          <p:nvPr/>
        </p:nvSpPr>
        <p:spPr>
          <a:xfrm>
            <a:off x="758952" y="2542032"/>
            <a:ext cx="566928" cy="566928"/>
          </a:xfrm>
          <a:prstGeom prst="ellipse">
            <a:avLst/>
          </a:prstGeom>
          <a:solidFill>
            <a:srgbClr val="FF385C"/>
          </a:solidFill>
          <a:ln/>
        </p:spPr>
        <p:txBody>
          <a:bodyPr/>
          <a:lstStyle/>
          <a:p>
            <a:endParaRPr lang="en-US"/>
          </a:p>
        </p:txBody>
      </p:sp>
      <p:sp>
        <p:nvSpPr>
          <p:cNvPr id="14" name="Text 10"/>
          <p:cNvSpPr/>
          <p:nvPr/>
        </p:nvSpPr>
        <p:spPr>
          <a:xfrm>
            <a:off x="758952" y="254203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1</a:t>
            </a:r>
            <a:endParaRPr lang="en-US" sz="2000" dirty="0"/>
          </a:p>
        </p:txBody>
      </p:sp>
      <p:sp>
        <p:nvSpPr>
          <p:cNvPr id="15" name="Text 11"/>
          <p:cNvSpPr/>
          <p:nvPr/>
        </p:nvSpPr>
        <p:spPr>
          <a:xfrm>
            <a:off x="1463040" y="2578608"/>
            <a:ext cx="2420112" cy="502920"/>
          </a:xfrm>
          <a:prstGeom prst="rect">
            <a:avLst/>
          </a:prstGeom>
          <a:noFill/>
          <a:ln/>
        </p:spPr>
        <p:txBody>
          <a:bodyPr wrap="square" lIns="0" tIns="0" rIns="0" bIns="0" rtlCol="0" anchor="ctr"/>
          <a:lstStyle/>
          <a:p>
            <a:pPr marL="0" indent="0">
              <a:lnSpc>
                <a:spcPct val="95000"/>
              </a:lnSpc>
              <a:buNone/>
            </a:pPr>
            <a:r>
              <a:rPr lang="en-US" sz="1350" b="1" dirty="0">
                <a:solidFill>
                  <a:srgbClr val="222222"/>
                </a:solidFill>
                <a:latin typeface="Poppins" pitchFamily="34" charset="0"/>
                <a:ea typeface="Poppins" pitchFamily="34" charset="-122"/>
                <a:cs typeface="Poppins" pitchFamily="34" charset="-120"/>
              </a:rPr>
              <a:t>Enhance, don't replace</a:t>
            </a:r>
            <a:endParaRPr lang="en-US" sz="1350" dirty="0"/>
          </a:p>
        </p:txBody>
      </p:sp>
      <p:sp>
        <p:nvSpPr>
          <p:cNvPr id="16" name="Text 12"/>
          <p:cNvSpPr/>
          <p:nvPr/>
        </p:nvSpPr>
        <p:spPr>
          <a:xfrm>
            <a:off x="777240" y="3182112"/>
            <a:ext cx="3014472" cy="59436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Layer explanations and comparables onto the existing Smart Pricing hosts already know.</a:t>
            </a:r>
            <a:endParaRPr lang="en-US" sz="1100" dirty="0"/>
          </a:p>
        </p:txBody>
      </p:sp>
      <p:sp>
        <p:nvSpPr>
          <p:cNvPr id="17" name="Shape 13"/>
          <p:cNvSpPr/>
          <p:nvPr/>
        </p:nvSpPr>
        <p:spPr>
          <a:xfrm>
            <a:off x="4312920" y="2286000"/>
            <a:ext cx="3563112" cy="1554480"/>
          </a:xfrm>
          <a:prstGeom prst="roundRect">
            <a:avLst>
              <a:gd name="adj" fmla="val 8235"/>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8" name="Shape 14"/>
          <p:cNvSpPr/>
          <p:nvPr/>
        </p:nvSpPr>
        <p:spPr>
          <a:xfrm>
            <a:off x="4568952" y="2542032"/>
            <a:ext cx="566928" cy="566928"/>
          </a:xfrm>
          <a:prstGeom prst="ellipse">
            <a:avLst/>
          </a:prstGeom>
          <a:solidFill>
            <a:srgbClr val="FF385C"/>
          </a:solidFill>
          <a:ln/>
        </p:spPr>
        <p:txBody>
          <a:bodyPr/>
          <a:lstStyle/>
          <a:p>
            <a:endParaRPr lang="en-US"/>
          </a:p>
        </p:txBody>
      </p:sp>
      <p:sp>
        <p:nvSpPr>
          <p:cNvPr id="19" name="Text 15"/>
          <p:cNvSpPr/>
          <p:nvPr/>
        </p:nvSpPr>
        <p:spPr>
          <a:xfrm>
            <a:off x="4568952" y="254203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2</a:t>
            </a:r>
            <a:endParaRPr lang="en-US" sz="2000" dirty="0"/>
          </a:p>
        </p:txBody>
      </p:sp>
      <p:sp>
        <p:nvSpPr>
          <p:cNvPr id="20" name="Text 16"/>
          <p:cNvSpPr/>
          <p:nvPr/>
        </p:nvSpPr>
        <p:spPr>
          <a:xfrm>
            <a:off x="5273040" y="2578608"/>
            <a:ext cx="2420112" cy="502920"/>
          </a:xfrm>
          <a:prstGeom prst="rect">
            <a:avLst/>
          </a:prstGeom>
          <a:noFill/>
          <a:ln/>
        </p:spPr>
        <p:txBody>
          <a:bodyPr wrap="square" lIns="0" tIns="0" rIns="0" bIns="0" rtlCol="0" anchor="ctr"/>
          <a:lstStyle/>
          <a:p>
            <a:pPr marL="0" indent="0">
              <a:lnSpc>
                <a:spcPct val="95000"/>
              </a:lnSpc>
              <a:buNone/>
            </a:pPr>
            <a:r>
              <a:rPr lang="en-US" sz="1350" b="1" dirty="0">
                <a:solidFill>
                  <a:srgbClr val="222222"/>
                </a:solidFill>
                <a:latin typeface="Poppins" pitchFamily="34" charset="0"/>
                <a:ea typeface="Poppins" pitchFamily="34" charset="-122"/>
                <a:cs typeface="Poppins" pitchFamily="34" charset="-120"/>
              </a:rPr>
              <a:t>Pilot in one market</a:t>
            </a:r>
            <a:endParaRPr lang="en-US" sz="1350" dirty="0"/>
          </a:p>
        </p:txBody>
      </p:sp>
      <p:sp>
        <p:nvSpPr>
          <p:cNvPr id="21" name="Text 17"/>
          <p:cNvSpPr/>
          <p:nvPr/>
        </p:nvSpPr>
        <p:spPr>
          <a:xfrm>
            <a:off x="4587240" y="3182112"/>
            <a:ext cx="3014472" cy="59436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Measure adoption and how pricing changes move both occupancy and revenue.</a:t>
            </a:r>
            <a:endParaRPr lang="en-US" sz="1100" dirty="0"/>
          </a:p>
        </p:txBody>
      </p:sp>
      <p:sp>
        <p:nvSpPr>
          <p:cNvPr id="22" name="Shape 18"/>
          <p:cNvSpPr/>
          <p:nvPr/>
        </p:nvSpPr>
        <p:spPr>
          <a:xfrm>
            <a:off x="8122920" y="2286000"/>
            <a:ext cx="3563112" cy="1554480"/>
          </a:xfrm>
          <a:prstGeom prst="roundRect">
            <a:avLst>
              <a:gd name="adj" fmla="val 8235"/>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3" name="Shape 19"/>
          <p:cNvSpPr/>
          <p:nvPr/>
        </p:nvSpPr>
        <p:spPr>
          <a:xfrm>
            <a:off x="8378952" y="2542032"/>
            <a:ext cx="566928" cy="566928"/>
          </a:xfrm>
          <a:prstGeom prst="ellipse">
            <a:avLst/>
          </a:prstGeom>
          <a:solidFill>
            <a:srgbClr val="FF385C"/>
          </a:solidFill>
          <a:ln/>
        </p:spPr>
        <p:txBody>
          <a:bodyPr/>
          <a:lstStyle/>
          <a:p>
            <a:endParaRPr lang="en-US"/>
          </a:p>
        </p:txBody>
      </p:sp>
      <p:sp>
        <p:nvSpPr>
          <p:cNvPr id="24" name="Text 20"/>
          <p:cNvSpPr/>
          <p:nvPr/>
        </p:nvSpPr>
        <p:spPr>
          <a:xfrm>
            <a:off x="8378952" y="254203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3</a:t>
            </a:r>
            <a:endParaRPr lang="en-US" sz="2000" dirty="0"/>
          </a:p>
        </p:txBody>
      </p:sp>
      <p:sp>
        <p:nvSpPr>
          <p:cNvPr id="25" name="Text 21"/>
          <p:cNvSpPr/>
          <p:nvPr/>
        </p:nvSpPr>
        <p:spPr>
          <a:xfrm>
            <a:off x="9083040" y="2578608"/>
            <a:ext cx="2420112" cy="502920"/>
          </a:xfrm>
          <a:prstGeom prst="rect">
            <a:avLst/>
          </a:prstGeom>
          <a:noFill/>
          <a:ln/>
        </p:spPr>
        <p:txBody>
          <a:bodyPr wrap="square" lIns="0" tIns="0" rIns="0" bIns="0" rtlCol="0" anchor="ctr"/>
          <a:lstStyle/>
          <a:p>
            <a:pPr marL="0" indent="0">
              <a:lnSpc>
                <a:spcPct val="95000"/>
              </a:lnSpc>
              <a:buNone/>
            </a:pPr>
            <a:r>
              <a:rPr lang="en-US" sz="1350" b="1" dirty="0">
                <a:solidFill>
                  <a:srgbClr val="222222"/>
                </a:solidFill>
                <a:latin typeface="Poppins" pitchFamily="34" charset="0"/>
                <a:ea typeface="Poppins" pitchFamily="34" charset="-122"/>
                <a:cs typeface="Poppins" pitchFamily="34" charset="-120"/>
              </a:rPr>
              <a:t>Learn, then scale</a:t>
            </a:r>
            <a:endParaRPr lang="en-US" sz="1350" dirty="0"/>
          </a:p>
        </p:txBody>
      </p:sp>
      <p:sp>
        <p:nvSpPr>
          <p:cNvPr id="26" name="Text 22"/>
          <p:cNvSpPr/>
          <p:nvPr/>
        </p:nvSpPr>
        <p:spPr>
          <a:xfrm>
            <a:off x="8397240" y="3182112"/>
            <a:ext cx="3014472" cy="594360"/>
          </a:xfrm>
          <a:prstGeom prst="rect">
            <a:avLst/>
          </a:prstGeom>
          <a:noFill/>
          <a:ln/>
        </p:spPr>
        <p:txBody>
          <a:bodyPr wrap="square" lIns="0" tIns="0" rIns="0" bIns="0" rtlCol="0" anchor="t"/>
          <a:lstStyle/>
          <a:p>
            <a:pPr marL="0" indent="0">
              <a:lnSpc>
                <a:spcPct val="103000"/>
              </a:lnSpc>
              <a:buNone/>
            </a:pPr>
            <a:r>
              <a:rPr lang="en-US" sz="1100" dirty="0">
                <a:solidFill>
                  <a:srgbClr val="717171"/>
                </a:solidFill>
                <a:latin typeface="Poppins" pitchFamily="34" charset="0"/>
                <a:ea typeface="Poppins" pitchFamily="34" charset="-122"/>
                <a:cs typeface="Poppins" pitchFamily="34" charset="-120"/>
              </a:rPr>
              <a:t>Use real-world results to improve the model before expanding to more cities.</a:t>
            </a:r>
            <a:endParaRPr lang="en-US" sz="1100" dirty="0"/>
          </a:p>
        </p:txBody>
      </p:sp>
      <p:sp>
        <p:nvSpPr>
          <p:cNvPr id="27" name="Shape 23"/>
          <p:cNvSpPr/>
          <p:nvPr/>
        </p:nvSpPr>
        <p:spPr>
          <a:xfrm>
            <a:off x="502920" y="4069080"/>
            <a:ext cx="7040880" cy="1965960"/>
          </a:xfrm>
          <a:prstGeom prst="roundRect">
            <a:avLst>
              <a:gd name="adj" fmla="val 6512"/>
            </a:avLst>
          </a:prstGeom>
          <a:solidFill>
            <a:srgbClr val="F2F3F5"/>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8" name="Shape 24"/>
          <p:cNvSpPr/>
          <p:nvPr/>
        </p:nvSpPr>
        <p:spPr>
          <a:xfrm>
            <a:off x="777240" y="4343400"/>
            <a:ext cx="566928" cy="566928"/>
          </a:xfrm>
          <a:prstGeom prst="ellipse">
            <a:avLst/>
          </a:prstGeom>
          <a:solidFill>
            <a:srgbClr val="E6F6F4"/>
          </a:solidFill>
          <a:ln/>
        </p:spPr>
        <p:txBody>
          <a:bodyPr/>
          <a:lstStyle/>
          <a:p>
            <a:endParaRPr lang="en-US"/>
          </a:p>
        </p:txBody>
      </p:sp>
      <p:pic>
        <p:nvPicPr>
          <p:cNvPr id="29" name="Image 2" descr="/sessions/dreamy-trusting-noether/mnt/outputs/build/assets/briefcase_teal.png"/>
          <p:cNvPicPr>
            <a:picLocks noChangeAspect="1"/>
          </p:cNvPicPr>
          <p:nvPr/>
        </p:nvPicPr>
        <p:blipFill>
          <a:blip r:embed="rId5"/>
          <a:stretch>
            <a:fillRect/>
          </a:stretch>
        </p:blipFill>
        <p:spPr>
          <a:xfrm>
            <a:off x="913303" y="4479463"/>
            <a:ext cx="294803" cy="294803"/>
          </a:xfrm>
          <a:prstGeom prst="rect">
            <a:avLst/>
          </a:prstGeom>
        </p:spPr>
      </p:pic>
      <p:sp>
        <p:nvSpPr>
          <p:cNvPr id="30" name="Text 25"/>
          <p:cNvSpPr/>
          <p:nvPr/>
        </p:nvSpPr>
        <p:spPr>
          <a:xfrm>
            <a:off x="1481328" y="4370832"/>
            <a:ext cx="5486400" cy="365760"/>
          </a:xfrm>
          <a:prstGeom prst="rect">
            <a:avLst/>
          </a:prstGeom>
          <a:noFill/>
          <a:ln/>
        </p:spPr>
        <p:txBody>
          <a:bodyPr wrap="square" lIns="0" tIns="0" rIns="0" bIns="0" rtlCol="0" anchor="ctr"/>
          <a:lstStyle/>
          <a:p>
            <a:pPr marL="0" indent="0">
              <a:buNone/>
            </a:pPr>
            <a:r>
              <a:rPr lang="en-US" sz="1400" b="1" dirty="0">
                <a:solidFill>
                  <a:srgbClr val="222222"/>
                </a:solidFill>
                <a:latin typeface="Poppins" pitchFamily="34" charset="0"/>
                <a:ea typeface="Poppins" pitchFamily="34" charset="-122"/>
                <a:cs typeface="Poppins" pitchFamily="34" charset="-120"/>
              </a:rPr>
              <a:t>The bigger lesson</a:t>
            </a:r>
            <a:endParaRPr lang="en-US" sz="1400" dirty="0"/>
          </a:p>
        </p:txBody>
      </p:sp>
      <p:sp>
        <p:nvSpPr>
          <p:cNvPr id="31" name="Text 26"/>
          <p:cNvSpPr/>
          <p:nvPr/>
        </p:nvSpPr>
        <p:spPr>
          <a:xfrm>
            <a:off x="777240" y="4892040"/>
            <a:ext cx="6537960" cy="1051560"/>
          </a:xfrm>
          <a:prstGeom prst="rect">
            <a:avLst/>
          </a:prstGeom>
          <a:noFill/>
          <a:ln/>
        </p:spPr>
        <p:txBody>
          <a:bodyPr wrap="square" lIns="0" tIns="0" rIns="0" bIns="0" rtlCol="0" anchor="t"/>
          <a:lstStyle/>
          <a:p>
            <a:pPr marL="0" indent="0">
              <a:lnSpc>
                <a:spcPct val="106000"/>
              </a:lnSpc>
              <a:buNone/>
            </a:pPr>
            <a:r>
              <a:rPr lang="en-US" sz="1180" dirty="0">
                <a:solidFill>
                  <a:srgbClr val="4A4A4A"/>
                </a:solidFill>
                <a:latin typeface="Poppins" pitchFamily="34" charset="0"/>
                <a:ea typeface="Poppins" pitchFamily="34" charset="-122"/>
                <a:cs typeface="Poppins" pitchFamily="34" charset="-120"/>
              </a:rPr>
              <a:t>Good analytics isn't only accurate models ,  it's solving the right business problem and presenting insight people will actually use. This project brought together machine learning, product thinking, business strategy and data storytelling in one solution ,  skills that carry directly into our careers.</a:t>
            </a:r>
            <a:endParaRPr lang="en-US" sz="1180" dirty="0"/>
          </a:p>
        </p:txBody>
      </p:sp>
      <p:sp>
        <p:nvSpPr>
          <p:cNvPr id="32" name="Shape 27"/>
          <p:cNvSpPr/>
          <p:nvPr/>
        </p:nvSpPr>
        <p:spPr>
          <a:xfrm>
            <a:off x="7726680" y="4069080"/>
            <a:ext cx="3959352" cy="1965960"/>
          </a:xfrm>
          <a:prstGeom prst="roundRect">
            <a:avLst>
              <a:gd name="adj" fmla="val 6512"/>
            </a:avLst>
          </a:prstGeom>
          <a:solidFill>
            <a:srgbClr val="FF385C"/>
          </a:solidFill>
          <a:ln/>
        </p:spPr>
        <p:txBody>
          <a:bodyPr/>
          <a:lstStyle/>
          <a:p>
            <a:endParaRPr lang="en-US"/>
          </a:p>
        </p:txBody>
      </p:sp>
      <p:sp>
        <p:nvSpPr>
          <p:cNvPr id="33" name="Text 28"/>
          <p:cNvSpPr/>
          <p:nvPr/>
        </p:nvSpPr>
        <p:spPr>
          <a:xfrm>
            <a:off x="7955280" y="4343400"/>
            <a:ext cx="3474720" cy="548640"/>
          </a:xfrm>
          <a:prstGeom prst="rect">
            <a:avLst/>
          </a:prstGeom>
          <a:noFill/>
          <a:ln/>
        </p:spPr>
        <p:txBody>
          <a:bodyPr wrap="square" lIns="0" tIns="0" rIns="0" bIns="0" rtlCol="0" anchor="ctr"/>
          <a:lstStyle/>
          <a:p>
            <a:pPr marL="0" indent="0">
              <a:buNone/>
            </a:pPr>
            <a:r>
              <a:rPr lang="en-US" sz="2600" b="1" dirty="0">
                <a:solidFill>
                  <a:srgbClr val="FFFFFF"/>
                </a:solidFill>
                <a:latin typeface="Poppins" pitchFamily="34" charset="0"/>
                <a:ea typeface="Poppins" pitchFamily="34" charset="-122"/>
                <a:cs typeface="Poppins" pitchFamily="34" charset="-120"/>
              </a:rPr>
              <a:t>Thank you</a:t>
            </a:r>
            <a:endParaRPr lang="en-US" sz="2600" dirty="0"/>
          </a:p>
        </p:txBody>
      </p:sp>
      <p:sp>
        <p:nvSpPr>
          <p:cNvPr id="34" name="Text 29"/>
          <p:cNvSpPr/>
          <p:nvPr/>
        </p:nvSpPr>
        <p:spPr>
          <a:xfrm>
            <a:off x="7973568" y="5029200"/>
            <a:ext cx="3474720" cy="457200"/>
          </a:xfrm>
          <a:prstGeom prst="rect">
            <a:avLst/>
          </a:prstGeom>
          <a:noFill/>
          <a:ln/>
        </p:spPr>
        <p:txBody>
          <a:bodyPr wrap="square" lIns="0" tIns="0" rIns="0" bIns="0" rtlCol="0" anchor="ctr"/>
          <a:lstStyle/>
          <a:p>
            <a:pPr marL="0" indent="0">
              <a:buNone/>
            </a:pPr>
            <a:r>
              <a:rPr lang="en-US" sz="1250" dirty="0">
                <a:solidFill>
                  <a:srgbClr val="FFFFFF"/>
                </a:solidFill>
                <a:latin typeface="Poppins" pitchFamily="34" charset="0"/>
                <a:ea typeface="Poppins" pitchFamily="34" charset="-122"/>
                <a:cs typeface="Poppins" pitchFamily="34" charset="-120"/>
              </a:rPr>
              <a:t>We'd be happy to answer any questions.</a:t>
            </a:r>
            <a:endParaRPr lang="en-US" sz="1250" dirty="0"/>
          </a:p>
        </p:txBody>
      </p:sp>
      <p:sp>
        <p:nvSpPr>
          <p:cNvPr id="35" name="Text 30"/>
          <p:cNvSpPr/>
          <p:nvPr/>
        </p:nvSpPr>
        <p:spPr>
          <a:xfrm>
            <a:off x="7973568" y="5532120"/>
            <a:ext cx="3566160" cy="365760"/>
          </a:xfrm>
          <a:prstGeom prst="rect">
            <a:avLst/>
          </a:prstGeom>
          <a:noFill/>
          <a:ln/>
        </p:spPr>
        <p:txBody>
          <a:bodyPr wrap="square" lIns="0" tIns="0" rIns="0" bIns="0" rtlCol="0" anchor="ctr"/>
          <a:lstStyle/>
          <a:p>
            <a:pPr marL="0" indent="0">
              <a:buNone/>
            </a:pPr>
            <a:r>
              <a:rPr lang="en-US" sz="1000" b="1" dirty="0">
                <a:solidFill>
                  <a:srgbClr val="FFFFFF"/>
                </a:solidFill>
                <a:latin typeface="Poppins" pitchFamily="34" charset="0"/>
                <a:ea typeface="Poppins" pitchFamily="34" charset="-122"/>
                <a:cs typeface="Poppins" pitchFamily="34" charset="-120"/>
              </a:rPr>
              <a:t>GitHub: mkdn007/Cornell-Airbnb-Capstone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essions/dreamy-trusting-noether/mnt/outputs/build/assets/bg_plum.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8193938" y="768096"/>
            <a:ext cx="3740810" cy="621792"/>
          </a:xfrm>
          <a:prstGeom prst="roundRect">
            <a:avLst>
              <a:gd name="adj" fmla="val 50000"/>
            </a:avLst>
          </a:prstGeom>
          <a:solidFill>
            <a:srgbClr val="FFFFFF"/>
          </a:solidFill>
          <a:ln/>
          <a:effectLst>
            <a:outerShdw blurRad="101600" dist="25400" dir="5400000" algn="bl" rotWithShape="0">
              <a:srgbClr val="9AA0A6">
                <a:alpha val="16000"/>
              </a:srgbClr>
            </a:outerShdw>
          </a:effectLst>
        </p:spPr>
        <p:txBody>
          <a:bodyPr/>
          <a:lstStyle/>
          <a:p>
            <a:endParaRPr lang="en-US"/>
          </a:p>
        </p:txBody>
      </p:sp>
      <p:pic>
        <p:nvPicPr>
          <p:cNvPr id="4" name="Image 1" descr="/sessions/dreamy-trusting-noether/mnt/outputs/build/assets/cornell_dark.png"/>
          <p:cNvPicPr>
            <a:picLocks noChangeAspect="1"/>
          </p:cNvPicPr>
          <p:nvPr/>
        </p:nvPicPr>
        <p:blipFill>
          <a:blip r:embed="rId4"/>
          <a:stretch>
            <a:fillRect/>
          </a:stretch>
        </p:blipFill>
        <p:spPr>
          <a:xfrm>
            <a:off x="8442655" y="923544"/>
            <a:ext cx="2668219" cy="310896"/>
          </a:xfrm>
          <a:prstGeom prst="rect">
            <a:avLst/>
          </a:prstGeom>
        </p:spPr>
      </p:pic>
      <p:sp>
        <p:nvSpPr>
          <p:cNvPr id="5" name="Shape 1"/>
          <p:cNvSpPr/>
          <p:nvPr/>
        </p:nvSpPr>
        <p:spPr>
          <a:xfrm>
            <a:off x="11196371" y="886236"/>
            <a:ext cx="0" cy="385511"/>
          </a:xfrm>
          <a:prstGeom prst="line">
            <a:avLst/>
          </a:prstGeom>
          <a:noFill/>
          <a:ln w="12700">
            <a:solidFill>
              <a:srgbClr val="D8D8D8"/>
            </a:solidFill>
            <a:prstDash val="solid"/>
          </a:ln>
        </p:spPr>
        <p:txBody>
          <a:bodyPr/>
          <a:lstStyle/>
          <a:p>
            <a:endParaRPr lang="en-US"/>
          </a:p>
        </p:txBody>
      </p:sp>
      <p:pic>
        <p:nvPicPr>
          <p:cNvPr id="6" name="Image 2" descr="/sessions/dreamy-trusting-noether/mnt/outputs/build/assets/airbnb_logo.png"/>
          <p:cNvPicPr>
            <a:picLocks noChangeAspect="1"/>
          </p:cNvPicPr>
          <p:nvPr/>
        </p:nvPicPr>
        <p:blipFill>
          <a:blip r:embed="rId5"/>
          <a:stretch>
            <a:fillRect/>
          </a:stretch>
        </p:blipFill>
        <p:spPr>
          <a:xfrm>
            <a:off x="11281867" y="876910"/>
            <a:ext cx="404165" cy="404165"/>
          </a:xfrm>
          <a:prstGeom prst="rect">
            <a:avLst/>
          </a:prstGeom>
        </p:spPr>
      </p:pic>
      <p:sp>
        <p:nvSpPr>
          <p:cNvPr id="7" name="Text 2"/>
          <p:cNvSpPr/>
          <p:nvPr/>
        </p:nvSpPr>
        <p:spPr>
          <a:xfrm>
            <a:off x="777240" y="1965960"/>
            <a:ext cx="10058400" cy="1005840"/>
          </a:xfrm>
          <a:prstGeom prst="rect">
            <a:avLst/>
          </a:prstGeom>
          <a:noFill/>
          <a:ln/>
        </p:spPr>
        <p:txBody>
          <a:bodyPr wrap="square" lIns="0" tIns="0" rIns="0" bIns="0" rtlCol="0" anchor="ctr"/>
          <a:lstStyle/>
          <a:p>
            <a:pPr marL="0" indent="0">
              <a:buNone/>
            </a:pPr>
            <a:r>
              <a:rPr lang="en-US" sz="6000" b="1" dirty="0">
                <a:solidFill>
                  <a:srgbClr val="FFFFFF"/>
                </a:solidFill>
                <a:latin typeface="Poppins" pitchFamily="34" charset="0"/>
                <a:ea typeface="Poppins" pitchFamily="34" charset="-122"/>
                <a:cs typeface="Poppins" pitchFamily="34" charset="-120"/>
              </a:rPr>
              <a:t>BACKUP</a:t>
            </a:r>
            <a:endParaRPr lang="en-US" sz="6000" dirty="0"/>
          </a:p>
        </p:txBody>
      </p:sp>
      <p:sp>
        <p:nvSpPr>
          <p:cNvPr id="8" name="Text 3"/>
          <p:cNvSpPr/>
          <p:nvPr/>
        </p:nvSpPr>
        <p:spPr>
          <a:xfrm>
            <a:off x="804672" y="3108960"/>
            <a:ext cx="9601200" cy="457200"/>
          </a:xfrm>
          <a:prstGeom prst="rect">
            <a:avLst/>
          </a:prstGeom>
          <a:noFill/>
          <a:ln/>
        </p:spPr>
        <p:txBody>
          <a:bodyPr wrap="square" lIns="0" tIns="0" rIns="0" bIns="0" rtlCol="0" anchor="ctr"/>
          <a:lstStyle/>
          <a:p>
            <a:pPr marL="0" indent="0">
              <a:buNone/>
            </a:pPr>
            <a:r>
              <a:rPr lang="en-US" sz="1700" dirty="0">
                <a:solidFill>
                  <a:srgbClr val="FFFFFF">
                    <a:alpha val="92000"/>
                  </a:srgbClr>
                </a:solidFill>
                <a:latin typeface="Poppins" pitchFamily="34" charset="0"/>
                <a:ea typeface="Poppins" pitchFamily="34" charset="-122"/>
                <a:cs typeface="Poppins" pitchFamily="34" charset="-120"/>
              </a:rPr>
              <a:t>Not presented ,  held in reserve to answer questions. The full technical write-up lives in the appendix document.</a:t>
            </a:r>
            <a:endParaRPr lang="en-US" sz="1700" dirty="0"/>
          </a:p>
        </p:txBody>
      </p:sp>
      <p:sp>
        <p:nvSpPr>
          <p:cNvPr id="9" name="Shape 4"/>
          <p:cNvSpPr/>
          <p:nvPr/>
        </p:nvSpPr>
        <p:spPr>
          <a:xfrm>
            <a:off x="804672" y="4023360"/>
            <a:ext cx="2606040" cy="457200"/>
          </a:xfrm>
          <a:prstGeom prst="roundRect">
            <a:avLst>
              <a:gd name="adj" fmla="val 20000"/>
            </a:avLst>
          </a:prstGeom>
          <a:solidFill>
            <a:srgbClr val="FFFFFF">
              <a:alpha val="16000"/>
            </a:srgbClr>
          </a:solidFill>
          <a:ln/>
        </p:spPr>
        <p:txBody>
          <a:bodyPr/>
          <a:lstStyle/>
          <a:p>
            <a:endParaRPr lang="en-US"/>
          </a:p>
        </p:txBody>
      </p:sp>
      <p:sp>
        <p:nvSpPr>
          <p:cNvPr id="10" name="Text 5"/>
          <p:cNvSpPr/>
          <p:nvPr/>
        </p:nvSpPr>
        <p:spPr>
          <a:xfrm>
            <a:off x="941832" y="4023360"/>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B1  Model bake-off</a:t>
            </a:r>
            <a:endParaRPr lang="en-US" sz="1100" dirty="0"/>
          </a:p>
        </p:txBody>
      </p:sp>
      <p:sp>
        <p:nvSpPr>
          <p:cNvPr id="11" name="Shape 6"/>
          <p:cNvSpPr/>
          <p:nvPr/>
        </p:nvSpPr>
        <p:spPr>
          <a:xfrm>
            <a:off x="3547872" y="4023360"/>
            <a:ext cx="2606040" cy="457200"/>
          </a:xfrm>
          <a:prstGeom prst="roundRect">
            <a:avLst>
              <a:gd name="adj" fmla="val 20000"/>
            </a:avLst>
          </a:prstGeom>
          <a:solidFill>
            <a:srgbClr val="FFFFFF">
              <a:alpha val="16000"/>
            </a:srgbClr>
          </a:solidFill>
          <a:ln/>
        </p:spPr>
        <p:txBody>
          <a:bodyPr/>
          <a:lstStyle/>
          <a:p>
            <a:endParaRPr lang="en-US"/>
          </a:p>
        </p:txBody>
      </p:sp>
      <p:sp>
        <p:nvSpPr>
          <p:cNvPr id="12" name="Text 7"/>
          <p:cNvSpPr/>
          <p:nvPr/>
        </p:nvSpPr>
        <p:spPr>
          <a:xfrm>
            <a:off x="3685032" y="4023360"/>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B2  How the $7.6M is built</a:t>
            </a:r>
            <a:endParaRPr lang="en-US" sz="1100" dirty="0"/>
          </a:p>
        </p:txBody>
      </p:sp>
      <p:sp>
        <p:nvSpPr>
          <p:cNvPr id="13" name="Shape 8"/>
          <p:cNvSpPr/>
          <p:nvPr/>
        </p:nvSpPr>
        <p:spPr>
          <a:xfrm>
            <a:off x="6291072" y="4023360"/>
            <a:ext cx="2606040" cy="457200"/>
          </a:xfrm>
          <a:prstGeom prst="roundRect">
            <a:avLst>
              <a:gd name="adj" fmla="val 20000"/>
            </a:avLst>
          </a:prstGeom>
          <a:solidFill>
            <a:srgbClr val="FFFFFF">
              <a:alpha val="16000"/>
            </a:srgbClr>
          </a:solidFill>
          <a:ln/>
        </p:spPr>
        <p:txBody>
          <a:bodyPr/>
          <a:lstStyle/>
          <a:p>
            <a:endParaRPr lang="en-US"/>
          </a:p>
        </p:txBody>
      </p:sp>
      <p:sp>
        <p:nvSpPr>
          <p:cNvPr id="14" name="Text 9"/>
          <p:cNvSpPr/>
          <p:nvPr/>
        </p:nvSpPr>
        <p:spPr>
          <a:xfrm>
            <a:off x="6428232" y="4023360"/>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B3  Why we split at 142 reviews</a:t>
            </a:r>
            <a:endParaRPr lang="en-US" sz="1100" dirty="0"/>
          </a:p>
        </p:txBody>
      </p:sp>
      <p:sp>
        <p:nvSpPr>
          <p:cNvPr id="15" name="Shape 10"/>
          <p:cNvSpPr/>
          <p:nvPr/>
        </p:nvSpPr>
        <p:spPr>
          <a:xfrm>
            <a:off x="9034272" y="4023360"/>
            <a:ext cx="2606040" cy="457200"/>
          </a:xfrm>
          <a:prstGeom prst="roundRect">
            <a:avLst>
              <a:gd name="adj" fmla="val 20000"/>
            </a:avLst>
          </a:prstGeom>
          <a:solidFill>
            <a:srgbClr val="FFFFFF">
              <a:alpha val="16000"/>
            </a:srgbClr>
          </a:solidFill>
          <a:ln/>
        </p:spPr>
        <p:txBody>
          <a:bodyPr/>
          <a:lstStyle/>
          <a:p>
            <a:endParaRPr lang="en-US"/>
          </a:p>
        </p:txBody>
      </p:sp>
      <p:sp>
        <p:nvSpPr>
          <p:cNvPr id="16" name="Text 11"/>
          <p:cNvSpPr/>
          <p:nvPr/>
        </p:nvSpPr>
        <p:spPr>
          <a:xfrm>
            <a:off x="9171432" y="4023360"/>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B4  Revenue by confidence</a:t>
            </a:r>
            <a:endParaRPr lang="en-US" sz="1100" dirty="0"/>
          </a:p>
        </p:txBody>
      </p:sp>
      <p:sp>
        <p:nvSpPr>
          <p:cNvPr id="17" name="Shape 12"/>
          <p:cNvSpPr/>
          <p:nvPr/>
        </p:nvSpPr>
        <p:spPr>
          <a:xfrm>
            <a:off x="804672" y="4590288"/>
            <a:ext cx="2606040" cy="457200"/>
          </a:xfrm>
          <a:prstGeom prst="roundRect">
            <a:avLst>
              <a:gd name="adj" fmla="val 20000"/>
            </a:avLst>
          </a:prstGeom>
          <a:solidFill>
            <a:srgbClr val="FFFFFF">
              <a:alpha val="16000"/>
            </a:srgbClr>
          </a:solidFill>
          <a:ln/>
        </p:spPr>
        <p:txBody>
          <a:bodyPr/>
          <a:lstStyle/>
          <a:p>
            <a:endParaRPr lang="en-US"/>
          </a:p>
        </p:txBody>
      </p:sp>
      <p:sp>
        <p:nvSpPr>
          <p:cNvPr id="18" name="Text 13"/>
          <p:cNvSpPr/>
          <p:nvPr/>
        </p:nvSpPr>
        <p:spPr>
          <a:xfrm>
            <a:off x="941832" y="4590288"/>
            <a:ext cx="2377440" cy="457200"/>
          </a:xfrm>
          <a:prstGeom prst="rect">
            <a:avLst/>
          </a:prstGeom>
          <a:noFill/>
          <a:ln/>
        </p:spPr>
        <p:txBody>
          <a:bodyPr wrap="square" lIns="0" tIns="0" rIns="0" bIns="0" rtlCol="0" anchor="ctr"/>
          <a:lstStyle/>
          <a:p>
            <a:pPr marL="0" indent="0">
              <a:buNone/>
            </a:pPr>
            <a:r>
              <a:rPr lang="en-US" sz="1100" b="1" dirty="0">
                <a:solidFill>
                  <a:srgbClr val="FFFFFF"/>
                </a:solidFill>
                <a:latin typeface="Poppins" pitchFamily="34" charset="0"/>
                <a:ea typeface="Poppins" pitchFamily="34" charset="-122"/>
                <a:cs typeface="Poppins" pitchFamily="34" charset="-120"/>
              </a:rPr>
              <a:t>B5  Validation &amp; methodology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BACKUP B1 · MODEL BAKE-OFF</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Models tested, held-out performance</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What each model scored, and exactly where the number comes from.</a:t>
            </a:r>
            <a:endParaRPr lang="en-US" sz="1450" dirty="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16</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11183112" cy="3072384"/>
        </p:xfrm>
        <a:graphic>
          <a:graphicData uri="http://schemas.openxmlformats.org/drawingml/2006/table">
            <a:tbl>
              <a:tblPr/>
              <a:tblGrid>
                <a:gridCol w="27432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490472">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tblGrid>
              <a:tr h="384048">
                <a:tc>
                  <a:txBody>
                    <a:bodyPr/>
                    <a:lstStyle/>
                    <a:p>
                      <a:pPr marL="0" indent="0" algn="l">
                        <a:buNone/>
                      </a:pPr>
                      <a:r>
                        <a:rPr lang="en-US" sz="1100" b="1" dirty="0">
                          <a:solidFill>
                            <a:srgbClr val="FFFFFF"/>
                          </a:solidFill>
                          <a:latin typeface="Poppins" pitchFamily="34" charset="0"/>
                          <a:ea typeface="Poppins" pitchFamily="34" charset="-122"/>
                          <a:cs typeface="Poppins" pitchFamily="34" charset="-120"/>
                        </a:rPr>
                        <a:t>Model</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Median APE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MAE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R² (price)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ctr">
                        <a:buNone/>
                      </a:pPr>
                      <a:r>
                        <a:rPr lang="en-US" sz="1100" b="1" dirty="0">
                          <a:solidFill>
                            <a:srgbClr val="FFFFFF"/>
                          </a:solidFill>
                          <a:latin typeface="Poppins" pitchFamily="34" charset="0"/>
                          <a:ea typeface="Poppins" pitchFamily="34" charset="-122"/>
                          <a:cs typeface="Poppins" pitchFamily="34" charset="-120"/>
                        </a:rPr>
                        <a:t>R² (log)</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tc>
                  <a:txBody>
                    <a:bodyPr/>
                    <a:lstStyle/>
                    <a:p>
                      <a:pPr marL="0" indent="0" algn="l">
                        <a:buNone/>
                      </a:pPr>
                      <a:r>
                        <a:rPr lang="en-US" sz="1100" b="1" dirty="0">
                          <a:solidFill>
                            <a:srgbClr val="FFFFFF"/>
                          </a:solidFill>
                          <a:latin typeface="Poppins" pitchFamily="34" charset="0"/>
                          <a:ea typeface="Poppins" pitchFamily="34" charset="-122"/>
                          <a:cs typeface="Poppins" pitchFamily="34" charset="-120"/>
                        </a:rPr>
                        <a:t>Source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222"/>
                    </a:solidFill>
                  </a:tcPr>
                </a:tc>
                <a:extLst>
                  <a:ext uri="{0D108BD9-81ED-4DB2-BD59-A6C34878D82A}">
                    <a16:rowId xmlns:a16="http://schemas.microsoft.com/office/drawing/2014/main" val="10000"/>
                  </a:ext>
                </a:extLst>
              </a:tr>
              <a:tr h="384048">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V1  Log-linear OLS (baseline)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39.2%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$113.22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0.243</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0.486</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manas_model_metrics.csv</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V1  Random Forest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29.3%</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$92.94</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0.506</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0.619</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manas_model_metrics.csv</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2"/>
                  </a:ext>
                </a:extLst>
              </a:tr>
              <a:tr h="384048">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V2  OLS (expanded features)</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23.7%</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$81.20</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0.539</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0.751</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master_metrics.csv</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V2  Ridge</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23.8%</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$81.03</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0.539</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0.752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master_metrics.csv</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7F7F7"/>
                    </a:solidFill>
                  </a:tcPr>
                </a:tc>
                <a:extLst>
                  <a:ext uri="{0D108BD9-81ED-4DB2-BD59-A6C34878D82A}">
                    <a16:rowId xmlns:a16="http://schemas.microsoft.com/office/drawing/2014/main" val="10004"/>
                  </a:ext>
                </a:extLst>
              </a:tr>
              <a:tr h="384048">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V2  Random Forest</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20.8%</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$75.07</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0.574</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0.782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master_metrics.csv</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V4  GBM short-stay (prod.)</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19.2%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$102.81</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0.528</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0.714</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v3_gbm_segment_metrics.csv</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852137233"/>
                  </a:ext>
                </a:extLst>
              </a:tr>
              <a:tr h="384048">
                <a:tc>
                  <a:txBody>
                    <a:bodyPr/>
                    <a:lstStyle/>
                    <a:p>
                      <a:pPr marL="0" indent="0" algn="l">
                        <a:buNone/>
                      </a:pPr>
                      <a:r>
                        <a:rPr lang="en-US" sz="1100" b="1" dirty="0">
                          <a:solidFill>
                            <a:srgbClr val="222222"/>
                          </a:solidFill>
                          <a:latin typeface="Poppins" pitchFamily="34" charset="0"/>
                          <a:ea typeface="Poppins" pitchFamily="34" charset="-122"/>
                          <a:cs typeface="Poppins" pitchFamily="34" charset="-120"/>
                        </a:rPr>
                        <a:t>V4  GBM monthly (prod.)</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4A4A4A"/>
                          </a:solidFill>
                          <a:latin typeface="Poppins" pitchFamily="34" charset="0"/>
                          <a:ea typeface="Poppins" pitchFamily="34" charset="-122"/>
                          <a:cs typeface="Poppins" pitchFamily="34" charset="-120"/>
                        </a:rPr>
                        <a:t>15.2%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$39.92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0.532</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A4A4A"/>
                          </a:solidFill>
                          <a:latin typeface="Poppins" pitchFamily="34" charset="0"/>
                          <a:ea typeface="Poppins" pitchFamily="34" charset="-122"/>
                          <a:cs typeface="Poppins" pitchFamily="34" charset="-120"/>
                        </a:rPr>
                        <a:t>0.777</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A4A4A"/>
                          </a:solidFill>
                          <a:latin typeface="Poppins" pitchFamily="34" charset="0"/>
                          <a:ea typeface="Poppins" pitchFamily="34" charset="-122"/>
                          <a:cs typeface="Poppins" pitchFamily="34" charset="-120"/>
                        </a:rPr>
                        <a:t>v3_gbm_segment_metrics.csv</a:t>
                      </a:r>
                      <a:endParaRPr lang="en-US" sz="1100" dirty="0">
                        <a:latin typeface="Poppins" charset="0"/>
                        <a:ea typeface="Poppins" charset="0"/>
                        <a:cs typeface="Poppins" charset="0"/>
                      </a:endParaRPr>
                    </a:p>
                  </a:txBody>
                  <a:tcPr marL="63500" marR="63500" marT="25400" marB="2540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FFFFFF"/>
                    </a:solidFill>
                  </a:tcPr>
                </a:tc>
                <a:extLst>
                  <a:ext uri="{0D108BD9-81ED-4DB2-BD59-A6C34878D82A}">
                    <a16:rowId xmlns:a16="http://schemas.microsoft.com/office/drawing/2014/main" val="2199302119"/>
                  </a:ext>
                </a:extLst>
              </a:tr>
            </a:tbl>
          </a:graphicData>
        </a:graphic>
      </p:graphicFrame>
      <p:sp>
        <p:nvSpPr>
          <p:cNvPr id="10" name="Text 5"/>
          <p:cNvSpPr/>
          <p:nvPr/>
        </p:nvSpPr>
        <p:spPr>
          <a:xfrm>
            <a:off x="502920" y="5577840"/>
            <a:ext cx="11183112" cy="777240"/>
          </a:xfrm>
          <a:prstGeom prst="rect">
            <a:avLst/>
          </a:prstGeom>
          <a:noFill/>
          <a:ln/>
        </p:spPr>
        <p:txBody>
          <a:bodyPr wrap="square" lIns="0" tIns="0" rIns="0" bIns="0" rtlCol="0" anchor="t"/>
          <a:lstStyle/>
          <a:p>
            <a:pPr marL="0" indent="0">
              <a:lnSpc>
                <a:spcPct val="110000"/>
              </a:lnSpc>
              <a:buNone/>
            </a:pPr>
            <a:r>
              <a:rPr lang="en-US" sz="1100" b="1" dirty="0">
                <a:solidFill>
                  <a:srgbClr val="222222"/>
                </a:solidFill>
                <a:latin typeface="Poppins" pitchFamily="34" charset="0"/>
                <a:ea typeface="Poppins" pitchFamily="34" charset="-122"/>
                <a:cs typeface="Poppins" pitchFamily="34" charset="-120"/>
              </a:rPr>
              <a:t>How to read it.  </a:t>
            </a:r>
            <a:r>
              <a:rPr lang="en-US" sz="1100" dirty="0">
                <a:solidFill>
                  <a:srgbClr val="4A4A4A"/>
                </a:solidFill>
                <a:latin typeface="Poppins" pitchFamily="34" charset="0"/>
                <a:ea typeface="Poppins" pitchFamily="34" charset="-122"/>
                <a:cs typeface="Poppins" pitchFamily="34" charset="-120"/>
              </a:rPr>
              <a:t>The V1 and V2 rows are pooled across both segments; the production GBM is fitted per segment, so compare like with like ,  V2 Ridge scored 25.1% on short-stay alone and 20.9% on monthly. Two distinct stages of gain: richer features took pooled error from 39.2% to 23.7%, then the segment-split GBM took short-stay to 19.2% and monthly to 15.2%.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BACKUP B2 · HOW THE $7.6M IS BUILT</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How we built the business case</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Deliberately conservative. These are our model assumptions, not outputs of the Inside Airbnb data.</a:t>
            </a:r>
            <a:endParaRPr lang="en-US" sz="1450" dirty="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17</a:t>
            </a:r>
            <a:endParaRPr lang="en-US" sz="900" dirty="0"/>
          </a:p>
        </p:txBody>
      </p:sp>
      <p:sp>
        <p:nvSpPr>
          <p:cNvPr id="9" name="Shape 5"/>
          <p:cNvSpPr/>
          <p:nvPr/>
        </p:nvSpPr>
        <p:spPr>
          <a:xfrm>
            <a:off x="50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0" name="Text 6"/>
          <p:cNvSpPr/>
          <p:nvPr/>
        </p:nvSpPr>
        <p:spPr>
          <a:xfrm>
            <a:off x="740664" y="2551176"/>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Revenue floor</a:t>
            </a:r>
            <a:endParaRPr lang="en-US" sz="1300" dirty="0"/>
          </a:p>
        </p:txBody>
      </p:sp>
      <p:sp>
        <p:nvSpPr>
          <p:cNvPr id="11" name="Text 7"/>
          <p:cNvSpPr/>
          <p:nvPr/>
        </p:nvSpPr>
        <p:spPr>
          <a:xfrm>
            <a:off x="740664" y="2953512"/>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Combined host GBV: underpriced +$8.27M less overpriced −$0.70M → ~$7.6M/yr. Measured −0.92 elasticity for established listings, breakeven below the 142-review panel median. Airbnb's 15.5% = ~$1.17M/yr.</a:t>
            </a:r>
            <a:endParaRPr lang="en-US" sz="1080" dirty="0"/>
          </a:p>
        </p:txBody>
      </p:sp>
      <p:sp>
        <p:nvSpPr>
          <p:cNvPr id="12" name="Shape 8"/>
          <p:cNvSpPr/>
          <p:nvPr/>
        </p:nvSpPr>
        <p:spPr>
          <a:xfrm>
            <a:off x="431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Text 9"/>
          <p:cNvSpPr/>
          <p:nvPr/>
        </p:nvSpPr>
        <p:spPr>
          <a:xfrm>
            <a:off x="4550664" y="2551176"/>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Ceiling (upside)</a:t>
            </a:r>
            <a:endParaRPr lang="en-US" sz="1300" dirty="0"/>
          </a:p>
        </p:txBody>
      </p:sp>
      <p:sp>
        <p:nvSpPr>
          <p:cNvPr id="14" name="Text 10"/>
          <p:cNvSpPr/>
          <p:nvPr/>
        </p:nvSpPr>
        <p:spPr>
          <a:xfrm>
            <a:off x="4550664" y="2953512"/>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β = 0 occupancy-neutral, underpriced only → ~$26.8M GBV / ~$4.15M fee. Shown as upside; it ignores overpriced revenue, so even the ceiling is understated.</a:t>
            </a:r>
            <a:endParaRPr lang="en-US" sz="1080" dirty="0"/>
          </a:p>
        </p:txBody>
      </p:sp>
      <p:sp>
        <p:nvSpPr>
          <p:cNvPr id="15" name="Shape 11"/>
          <p:cNvSpPr/>
          <p:nvPr/>
        </p:nvSpPr>
        <p:spPr>
          <a:xfrm>
            <a:off x="812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6" name="Text 12"/>
          <p:cNvSpPr/>
          <p:nvPr/>
        </p:nvSpPr>
        <p:spPr>
          <a:xfrm>
            <a:off x="8360664" y="2551176"/>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Incremental cost</a:t>
            </a:r>
            <a:endParaRPr lang="en-US" sz="1300" dirty="0"/>
          </a:p>
        </p:txBody>
      </p:sp>
      <p:sp>
        <p:nvSpPr>
          <p:cNvPr id="17" name="Text 13"/>
          <p:cNvSpPr/>
          <p:nvPr/>
        </p:nvSpPr>
        <p:spPr>
          <a:xfrm>
            <a:off x="8360664" y="2953512"/>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~$65K one-time build + ~$30K/yr run (~$215K over 5 yrs), because Airbnb already owns model-serving, pricing and A/B infra. Greenfield (~$190K + $105K/yr) is worst-case-if-standalone only.</a:t>
            </a:r>
            <a:endParaRPr lang="en-US" sz="1080" dirty="0"/>
          </a:p>
        </p:txBody>
      </p:sp>
      <p:sp>
        <p:nvSpPr>
          <p:cNvPr id="18" name="Shape 14"/>
          <p:cNvSpPr/>
          <p:nvPr/>
        </p:nvSpPr>
        <p:spPr>
          <a:xfrm>
            <a:off x="50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9" name="Text 15"/>
          <p:cNvSpPr/>
          <p:nvPr/>
        </p:nvSpPr>
        <p:spPr>
          <a:xfrm>
            <a:off x="740664" y="4507992"/>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ROI &amp; payback</a:t>
            </a:r>
            <a:endParaRPr lang="en-US" sz="1300" dirty="0"/>
          </a:p>
        </p:txBody>
      </p:sp>
      <p:sp>
        <p:nvSpPr>
          <p:cNvPr id="20" name="Text 16"/>
          <p:cNvSpPr/>
          <p:nvPr/>
        </p:nvSpPr>
        <p:spPr>
          <a:xfrm>
            <a:off x="740664" y="4910328"/>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On the $1.17M floor: 25% adoption → ~4 mo payback, 580% 5-yr ROI; 35% → ~3 mo, 852%. Even 15% pays back in ~6 mo and clears 300%.</a:t>
            </a:r>
            <a:endParaRPr lang="en-US" sz="1080" dirty="0"/>
          </a:p>
        </p:txBody>
      </p:sp>
      <p:sp>
        <p:nvSpPr>
          <p:cNvPr id="21" name="Shape 17"/>
          <p:cNvSpPr/>
          <p:nvPr/>
        </p:nvSpPr>
        <p:spPr>
          <a:xfrm>
            <a:off x="431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2" name="Text 18"/>
          <p:cNvSpPr/>
          <p:nvPr/>
        </p:nvSpPr>
        <p:spPr>
          <a:xfrm>
            <a:off x="4550664" y="4507992"/>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NPV-honest</a:t>
            </a:r>
            <a:endParaRPr lang="en-US" sz="1300" dirty="0"/>
          </a:p>
        </p:txBody>
      </p:sp>
      <p:sp>
        <p:nvSpPr>
          <p:cNvPr id="23" name="Text 19"/>
          <p:cNvSpPr/>
          <p:nvPr/>
        </p:nvSpPr>
        <p:spPr>
          <a:xfrm>
            <a:off x="4550664" y="4910328"/>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Discounted at 10% (CFI standard). 5-yr net $5.63M nominal → $4.26M NPV (~24% haircut), still net-positive in Year 1. We show both.</a:t>
            </a:r>
            <a:endParaRPr lang="en-US" sz="1080" dirty="0"/>
          </a:p>
        </p:txBody>
      </p:sp>
      <p:sp>
        <p:nvSpPr>
          <p:cNvPr id="24" name="Shape 20"/>
          <p:cNvSpPr/>
          <p:nvPr/>
        </p:nvSpPr>
        <p:spPr>
          <a:xfrm>
            <a:off x="8122920" y="4288536"/>
            <a:ext cx="3563112" cy="1737360"/>
          </a:xfrm>
          <a:prstGeom prst="roundRect">
            <a:avLst>
              <a:gd name="adj" fmla="val 7368"/>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21"/>
          <p:cNvSpPr/>
          <p:nvPr/>
        </p:nvSpPr>
        <p:spPr>
          <a:xfrm>
            <a:off x="8360664" y="4507992"/>
            <a:ext cx="3105912" cy="365760"/>
          </a:xfrm>
          <a:prstGeom prst="rect">
            <a:avLst/>
          </a:prstGeom>
          <a:noFill/>
          <a:ln/>
        </p:spPr>
        <p:txBody>
          <a:bodyPr wrap="square" lIns="0" tIns="0" rIns="0" bIns="0" rtlCol="0" anchor="ctr"/>
          <a:lstStyle/>
          <a:p>
            <a:pPr marL="0" indent="0">
              <a:buNone/>
            </a:pPr>
            <a:r>
              <a:rPr lang="en-US" sz="1300" b="1" dirty="0">
                <a:solidFill>
                  <a:srgbClr val="007A73"/>
                </a:solidFill>
                <a:latin typeface="Poppins" pitchFamily="34" charset="0"/>
                <a:ea typeface="Poppins" pitchFamily="34" charset="-122"/>
                <a:cs typeface="Poppins" pitchFamily="34" charset="-120"/>
              </a:rPr>
              <a:t>Floor of the floor</a:t>
            </a:r>
            <a:endParaRPr lang="en-US" sz="1300" dirty="0"/>
          </a:p>
        </p:txBody>
      </p:sp>
      <p:sp>
        <p:nvSpPr>
          <p:cNvPr id="26" name="Text 22"/>
          <p:cNvSpPr/>
          <p:nvPr/>
        </p:nvSpPr>
        <p:spPr>
          <a:xfrm>
            <a:off x="8360664" y="4910328"/>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No overpriced upside ,  we book its loss, not its potential gain. No hotel win-back nights, no churn / LTV, no cross-market scaling. Every input rounds against us, so the real return is higher.</a:t>
            </a:r>
            <a:endParaRPr lang="en-US" sz="10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BACKUP B3 · WHY WE SPLIT AT 142 REVIEWS</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900" b="1" dirty="0">
                <a:solidFill>
                  <a:srgbClr val="222222"/>
                </a:solidFill>
                <a:latin typeface="Poppins" pitchFamily="34" charset="0"/>
                <a:ea typeface="Poppins" pitchFamily="34" charset="-122"/>
                <a:cs typeface="Poppins" pitchFamily="34" charset="-120"/>
              </a:rPr>
              <a:t>We apply the coefficient only where we measured it</a:t>
            </a:r>
            <a:endParaRPr lang="en-US" sz="29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β = −0.92 came from established hosts. Most listings are not.</a:t>
            </a:r>
            <a:endParaRPr lang="en-US" sz="1450" dirty="0"/>
          </a:p>
        </p:txBody>
      </p:sp>
      <p:pic>
        <p:nvPicPr>
          <p:cNvPr id="8"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9" name="Shape 6"/>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10"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11" name="Text 7"/>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18</a:t>
            </a:r>
            <a:endParaRPr lang="en-US" sz="900" dirty="0"/>
          </a:p>
        </p:txBody>
      </p:sp>
      <p:sp>
        <p:nvSpPr>
          <p:cNvPr id="37" name="Shape 33"/>
          <p:cNvSpPr/>
          <p:nvPr/>
        </p:nvSpPr>
        <p:spPr>
          <a:xfrm>
            <a:off x="8001000" y="2286000"/>
            <a:ext cx="3685032" cy="3657600"/>
          </a:xfrm>
          <a:prstGeom prst="roundRect">
            <a:avLst>
              <a:gd name="adj" fmla="val 3500"/>
            </a:avLst>
          </a:prstGeom>
          <a:solidFill>
            <a:srgbClr val="FFEEF2"/>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8" name="Shape 34"/>
          <p:cNvSpPr/>
          <p:nvPr/>
        </p:nvSpPr>
        <p:spPr>
          <a:xfrm>
            <a:off x="8275320" y="2560320"/>
            <a:ext cx="603504" cy="603504"/>
          </a:xfrm>
          <a:prstGeom prst="ellipse">
            <a:avLst/>
          </a:prstGeom>
          <a:solidFill>
            <a:srgbClr val="FFFFFF"/>
          </a:solidFill>
          <a:ln/>
        </p:spPr>
        <p:txBody>
          <a:bodyPr/>
          <a:lstStyle/>
          <a:p>
            <a:endParaRPr lang="en-US"/>
          </a:p>
        </p:txBody>
      </p:sp>
      <p:pic>
        <p:nvPicPr>
          <p:cNvPr id="39" name="Image 2" descr="/sessions/dreamy-trusting-noether/mnt/outputs/build/assets/bulb_coral.png"/>
          <p:cNvPicPr>
            <a:picLocks noChangeAspect="1"/>
          </p:cNvPicPr>
          <p:nvPr/>
        </p:nvPicPr>
        <p:blipFill>
          <a:blip r:embed="rId5"/>
          <a:stretch>
            <a:fillRect/>
          </a:stretch>
        </p:blipFill>
        <p:spPr>
          <a:xfrm>
            <a:off x="8420161" y="2705161"/>
            <a:ext cx="313822" cy="313822"/>
          </a:xfrm>
          <a:prstGeom prst="rect">
            <a:avLst/>
          </a:prstGeom>
        </p:spPr>
      </p:pic>
      <p:sp>
        <p:nvSpPr>
          <p:cNvPr id="40" name="Text 35"/>
          <p:cNvSpPr/>
          <p:nvPr/>
        </p:nvSpPr>
        <p:spPr>
          <a:xfrm>
            <a:off x="9006840" y="2578608"/>
            <a:ext cx="2560320" cy="365760"/>
          </a:xfrm>
          <a:prstGeom prst="rect">
            <a:avLst/>
          </a:prstGeom>
          <a:noFill/>
          <a:ln/>
        </p:spPr>
        <p:txBody>
          <a:bodyPr wrap="square" lIns="0" tIns="0" rIns="0" bIns="0" rtlCol="0" anchor="ctr"/>
          <a:lstStyle/>
          <a:p>
            <a:pPr marL="0" indent="0">
              <a:buNone/>
            </a:pPr>
            <a:r>
              <a:rPr lang="en-US" sz="1500" b="1" dirty="0">
                <a:solidFill>
                  <a:srgbClr val="222222"/>
                </a:solidFill>
                <a:latin typeface="Poppins" pitchFamily="34" charset="0"/>
                <a:ea typeface="Poppins" pitchFamily="34" charset="-122"/>
                <a:cs typeface="Poppins" pitchFamily="34" charset="-120"/>
              </a:rPr>
              <a:t>Why we refuse to extrapolate</a:t>
            </a:r>
            <a:endParaRPr lang="en-US" sz="1500" dirty="0"/>
          </a:p>
        </p:txBody>
      </p:sp>
      <p:sp>
        <p:nvSpPr>
          <p:cNvPr id="41" name="Text 36"/>
          <p:cNvSpPr/>
          <p:nvPr/>
        </p:nvSpPr>
        <p:spPr>
          <a:xfrm>
            <a:off x="8275320" y="3383280"/>
            <a:ext cx="3200400" cy="914400"/>
          </a:xfrm>
          <a:prstGeom prst="rect">
            <a:avLst/>
          </a:prstGeom>
          <a:noFill/>
          <a:ln/>
        </p:spPr>
        <p:txBody>
          <a:bodyPr wrap="square" lIns="0" tIns="0" rIns="0" bIns="0" rtlCol="0" anchor="t"/>
          <a:lstStyle/>
          <a:p>
            <a:pPr marL="0" indent="0">
              <a:lnSpc>
                <a:spcPct val="106000"/>
              </a:lnSpc>
              <a:buNone/>
            </a:pPr>
            <a:r>
              <a:rPr lang="en-US" sz="1250" dirty="0">
                <a:solidFill>
                  <a:srgbClr val="4A4A4A"/>
                </a:solidFill>
                <a:latin typeface="Poppins" pitchFamily="34" charset="0"/>
                <a:ea typeface="Poppins" pitchFamily="34" charset="-122"/>
                <a:cs typeface="Poppins" pitchFamily="34" charset="-120"/>
              </a:rPr>
              <a:t>The panel behind −0.92 had a median of 142 reviews and 14 years hosting. 99% of underpriced short-stay listings fall short of that profile on reviews, tenure, or both.</a:t>
            </a:r>
            <a:endParaRPr lang="en-US" sz="1250" dirty="0"/>
          </a:p>
        </p:txBody>
      </p:sp>
      <p:sp>
        <p:nvSpPr>
          <p:cNvPr id="42" name="Text 37"/>
          <p:cNvSpPr/>
          <p:nvPr/>
        </p:nvSpPr>
        <p:spPr>
          <a:xfrm>
            <a:off x="8275320" y="4434840"/>
            <a:ext cx="3200400" cy="1371600"/>
          </a:xfrm>
          <a:prstGeom prst="rect">
            <a:avLst/>
          </a:prstGeom>
          <a:noFill/>
          <a:ln/>
        </p:spPr>
        <p:txBody>
          <a:bodyPr wrap="square" lIns="0" tIns="0" rIns="0" bIns="0" rtlCol="0" anchor="t"/>
          <a:lstStyle/>
          <a:p>
            <a:pPr marL="0" indent="0">
              <a:lnSpc>
                <a:spcPct val="106000"/>
              </a:lnSpc>
              <a:buNone/>
            </a:pPr>
            <a:r>
              <a:rPr lang="en-US" sz="1250" b="1" dirty="0">
                <a:solidFill>
                  <a:srgbClr val="222222"/>
                </a:solidFill>
                <a:latin typeface="Poppins" pitchFamily="34" charset="0"/>
                <a:ea typeface="Poppins" pitchFamily="34" charset="-122"/>
                <a:cs typeface="Poppins" pitchFamily="34" charset="-120"/>
              </a:rPr>
              <a:t>At −1.0 the answer is zero by algebra. </a:t>
            </a:r>
            <a:r>
              <a:rPr lang="en-US" sz="1250" dirty="0">
                <a:solidFill>
                  <a:srgbClr val="4A4A4A"/>
                </a:solidFill>
                <a:latin typeface="Poppins" pitchFamily="34" charset="0"/>
                <a:ea typeface="Poppins" pitchFamily="34" charset="-122"/>
                <a:cs typeface="Poppins" pitchFamily="34" charset="-120"/>
              </a:rPr>
              <a:t>Revenue elasticity is (1+β), so the price gain and the occupancy loss cancel exactly. We assume nothing ,  we claim nothing.</a:t>
            </a:r>
            <a:endParaRPr lang="en-US" sz="1250" dirty="0"/>
          </a:p>
        </p:txBody>
      </p:sp>
      <p:sp>
        <p:nvSpPr>
          <p:cNvPr id="43" name="Rounded Rectangle 42"/>
          <p:cNvSpPr/>
          <p:nvPr/>
        </p:nvSpPr>
        <p:spPr>
          <a:xfrm>
            <a:off x="640080" y="2240280"/>
            <a:ext cx="3337560" cy="3246120"/>
          </a:xfrm>
          <a:prstGeom prst="roundRect">
            <a:avLst>
              <a:gd name="adj" fmla="val 5000"/>
            </a:avLst>
          </a:prstGeom>
          <a:solidFill>
            <a:srgbClr val="FF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32688" y="2542032"/>
            <a:ext cx="2743200" cy="320040"/>
          </a:xfrm>
          <a:prstGeom prst="rect">
            <a:avLst/>
          </a:prstGeom>
          <a:noFill/>
        </p:spPr>
        <p:txBody>
          <a:bodyPr wrap="square" lIns="0" tIns="0" rIns="0" bIns="0">
            <a:spAutoFit/>
          </a:bodyPr>
          <a:lstStyle/>
          <a:p>
            <a:pPr algn="l"/>
            <a:r>
              <a:rPr sz="1500" b="1">
                <a:solidFill>
                  <a:srgbClr val="FF385C"/>
                </a:solidFill>
                <a:latin typeface="Poppins"/>
              </a:rPr>
              <a:t>≥142 REVIEWS</a:t>
            </a:r>
          </a:p>
        </p:txBody>
      </p:sp>
      <p:sp>
        <p:nvSpPr>
          <p:cNvPr id="45" name="TextBox 44"/>
          <p:cNvSpPr txBox="1"/>
          <p:nvPr/>
        </p:nvSpPr>
        <p:spPr>
          <a:xfrm>
            <a:off x="932688" y="3035808"/>
            <a:ext cx="2743200" cy="438912"/>
          </a:xfrm>
          <a:prstGeom prst="rect">
            <a:avLst/>
          </a:prstGeom>
          <a:noFill/>
        </p:spPr>
        <p:txBody>
          <a:bodyPr wrap="square" lIns="0" tIns="0" rIns="0" bIns="0">
            <a:spAutoFit/>
          </a:bodyPr>
          <a:lstStyle/>
          <a:p>
            <a:pPr algn="l"/>
            <a:r>
              <a:rPr sz="2500" b="1">
                <a:solidFill>
                  <a:srgbClr val="222222"/>
                </a:solidFill>
                <a:latin typeface="Poppins"/>
              </a:rPr>
              <a:t>488</a:t>
            </a:r>
          </a:p>
        </p:txBody>
      </p:sp>
      <p:sp>
        <p:nvSpPr>
          <p:cNvPr id="46" name="TextBox 45"/>
          <p:cNvSpPr txBox="1"/>
          <p:nvPr/>
        </p:nvSpPr>
        <p:spPr>
          <a:xfrm>
            <a:off x="932688" y="3456432"/>
            <a:ext cx="2743200" cy="256032"/>
          </a:xfrm>
          <a:prstGeom prst="rect">
            <a:avLst/>
          </a:prstGeom>
          <a:noFill/>
        </p:spPr>
        <p:txBody>
          <a:bodyPr wrap="square" lIns="0" tIns="0" rIns="0" bIns="0">
            <a:spAutoFit/>
          </a:bodyPr>
          <a:lstStyle/>
          <a:p>
            <a:pPr algn="l"/>
            <a:r>
              <a:rPr sz="1100" b="0">
                <a:solidFill>
                  <a:srgbClr val="717171"/>
                </a:solidFill>
                <a:latin typeface="Poppins"/>
              </a:rPr>
              <a:t>underpriced short-stay listings</a:t>
            </a:r>
          </a:p>
        </p:txBody>
      </p:sp>
      <p:sp>
        <p:nvSpPr>
          <p:cNvPr id="47" name="TextBox 46"/>
          <p:cNvSpPr txBox="1"/>
          <p:nvPr/>
        </p:nvSpPr>
        <p:spPr>
          <a:xfrm>
            <a:off x="932688" y="3822191"/>
            <a:ext cx="2743200" cy="438912"/>
          </a:xfrm>
          <a:prstGeom prst="rect">
            <a:avLst/>
          </a:prstGeom>
          <a:noFill/>
        </p:spPr>
        <p:txBody>
          <a:bodyPr wrap="square" lIns="0" tIns="0" rIns="0" bIns="0">
            <a:spAutoFit/>
          </a:bodyPr>
          <a:lstStyle/>
          <a:p>
            <a:pPr algn="l"/>
            <a:r>
              <a:rPr sz="2500" b="1">
                <a:solidFill>
                  <a:srgbClr val="222222"/>
                </a:solidFill>
                <a:latin typeface="Poppins"/>
              </a:rPr>
              <a:t>−0.92</a:t>
            </a:r>
          </a:p>
        </p:txBody>
      </p:sp>
      <p:sp>
        <p:nvSpPr>
          <p:cNvPr id="48" name="TextBox 47"/>
          <p:cNvSpPr txBox="1"/>
          <p:nvPr/>
        </p:nvSpPr>
        <p:spPr>
          <a:xfrm>
            <a:off x="932688" y="4242816"/>
            <a:ext cx="2743200" cy="169277"/>
          </a:xfrm>
          <a:prstGeom prst="rect">
            <a:avLst/>
          </a:prstGeom>
          <a:noFill/>
        </p:spPr>
        <p:txBody>
          <a:bodyPr wrap="square" lIns="0" tIns="0" rIns="0" bIns="0">
            <a:spAutoFit/>
          </a:bodyPr>
          <a:lstStyle/>
          <a:p>
            <a:pPr algn="l"/>
            <a:r>
              <a:rPr sz="1100" b="0" dirty="0">
                <a:solidFill>
                  <a:srgbClr val="717171"/>
                </a:solidFill>
                <a:latin typeface="Poppins"/>
              </a:rPr>
              <a:t>measured elasticity </a:t>
            </a:r>
            <a:r>
              <a:rPr lang="en-US" sz="1100" b="0" dirty="0">
                <a:solidFill>
                  <a:srgbClr val="717171"/>
                </a:solidFill>
                <a:latin typeface="Poppins"/>
              </a:rPr>
              <a:t>, </a:t>
            </a:r>
            <a:r>
              <a:rPr sz="1100" b="0" dirty="0">
                <a:solidFill>
                  <a:srgbClr val="717171"/>
                </a:solidFill>
                <a:latin typeface="Poppins"/>
              </a:rPr>
              <a:t> applied</a:t>
            </a:r>
          </a:p>
        </p:txBody>
      </p:sp>
      <p:sp>
        <p:nvSpPr>
          <p:cNvPr id="49" name="TextBox 48"/>
          <p:cNvSpPr txBox="1"/>
          <p:nvPr/>
        </p:nvSpPr>
        <p:spPr>
          <a:xfrm>
            <a:off x="932688" y="4608576"/>
            <a:ext cx="2743200" cy="438912"/>
          </a:xfrm>
          <a:prstGeom prst="rect">
            <a:avLst/>
          </a:prstGeom>
          <a:noFill/>
        </p:spPr>
        <p:txBody>
          <a:bodyPr wrap="square" lIns="0" tIns="0" rIns="0" bIns="0">
            <a:spAutoFit/>
          </a:bodyPr>
          <a:lstStyle/>
          <a:p>
            <a:pPr algn="l"/>
            <a:r>
              <a:rPr sz="2500" b="1">
                <a:solidFill>
                  <a:srgbClr val="222222"/>
                </a:solidFill>
                <a:latin typeface="Poppins"/>
              </a:rPr>
              <a:t>+$0.35M</a:t>
            </a:r>
          </a:p>
        </p:txBody>
      </p:sp>
      <p:sp>
        <p:nvSpPr>
          <p:cNvPr id="50" name="TextBox 49"/>
          <p:cNvSpPr txBox="1"/>
          <p:nvPr/>
        </p:nvSpPr>
        <p:spPr>
          <a:xfrm>
            <a:off x="932688" y="5029200"/>
            <a:ext cx="2743200" cy="256032"/>
          </a:xfrm>
          <a:prstGeom prst="rect">
            <a:avLst/>
          </a:prstGeom>
          <a:noFill/>
        </p:spPr>
        <p:txBody>
          <a:bodyPr wrap="square" lIns="0" tIns="0" rIns="0" bIns="0">
            <a:spAutoFit/>
          </a:bodyPr>
          <a:lstStyle/>
          <a:p>
            <a:pPr algn="l"/>
            <a:r>
              <a:rPr sz="1100" b="0">
                <a:solidFill>
                  <a:srgbClr val="717171"/>
                </a:solidFill>
                <a:latin typeface="Poppins"/>
              </a:rPr>
              <a:t>revenue contribution</a:t>
            </a:r>
          </a:p>
        </p:txBody>
      </p:sp>
      <p:sp>
        <p:nvSpPr>
          <p:cNvPr id="51" name="Rounded Rectangle 50"/>
          <p:cNvSpPr/>
          <p:nvPr/>
        </p:nvSpPr>
        <p:spPr>
          <a:xfrm>
            <a:off x="4251960" y="2240280"/>
            <a:ext cx="3337560" cy="3246120"/>
          </a:xfrm>
          <a:prstGeom prst="roundRect">
            <a:avLst>
              <a:gd name="adj" fmla="val 5000"/>
            </a:avLst>
          </a:prstGeom>
          <a:solidFill>
            <a:srgbClr val="E8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544568" y="2542032"/>
            <a:ext cx="2743200" cy="320040"/>
          </a:xfrm>
          <a:prstGeom prst="rect">
            <a:avLst/>
          </a:prstGeom>
          <a:noFill/>
        </p:spPr>
        <p:txBody>
          <a:bodyPr wrap="square" lIns="0" tIns="0" rIns="0" bIns="0">
            <a:spAutoFit/>
          </a:bodyPr>
          <a:lstStyle/>
          <a:p>
            <a:pPr algn="l"/>
            <a:r>
              <a:rPr sz="1500" b="1">
                <a:solidFill>
                  <a:srgbClr val="00A699"/>
                </a:solidFill>
                <a:latin typeface="Poppins"/>
              </a:rPr>
              <a:t>UNDER 142 REVIEWS</a:t>
            </a:r>
          </a:p>
        </p:txBody>
      </p:sp>
      <p:sp>
        <p:nvSpPr>
          <p:cNvPr id="53" name="TextBox 52"/>
          <p:cNvSpPr txBox="1"/>
          <p:nvPr/>
        </p:nvSpPr>
        <p:spPr>
          <a:xfrm>
            <a:off x="4544568" y="3035808"/>
            <a:ext cx="2743200" cy="438912"/>
          </a:xfrm>
          <a:prstGeom prst="rect">
            <a:avLst/>
          </a:prstGeom>
          <a:noFill/>
        </p:spPr>
        <p:txBody>
          <a:bodyPr wrap="square" lIns="0" tIns="0" rIns="0" bIns="0">
            <a:spAutoFit/>
          </a:bodyPr>
          <a:lstStyle/>
          <a:p>
            <a:pPr algn="l"/>
            <a:r>
              <a:rPr sz="2500" b="1">
                <a:solidFill>
                  <a:srgbClr val="222222"/>
                </a:solidFill>
                <a:latin typeface="Poppins"/>
              </a:rPr>
              <a:t>1,511</a:t>
            </a:r>
          </a:p>
        </p:txBody>
      </p:sp>
      <p:sp>
        <p:nvSpPr>
          <p:cNvPr id="54" name="TextBox 53"/>
          <p:cNvSpPr txBox="1"/>
          <p:nvPr/>
        </p:nvSpPr>
        <p:spPr>
          <a:xfrm>
            <a:off x="4544568" y="3456432"/>
            <a:ext cx="2743200" cy="169277"/>
          </a:xfrm>
          <a:prstGeom prst="rect">
            <a:avLst/>
          </a:prstGeom>
          <a:noFill/>
        </p:spPr>
        <p:txBody>
          <a:bodyPr wrap="square" lIns="0" tIns="0" rIns="0" bIns="0">
            <a:spAutoFit/>
          </a:bodyPr>
          <a:lstStyle/>
          <a:p>
            <a:pPr algn="l"/>
            <a:r>
              <a:rPr sz="1100" b="0" dirty="0">
                <a:solidFill>
                  <a:srgbClr val="717171"/>
                </a:solidFill>
                <a:latin typeface="Poppins"/>
              </a:rPr>
              <a:t>underpriced short-stay listings </a:t>
            </a:r>
            <a:r>
              <a:rPr lang="en-US" sz="1100" b="0" dirty="0">
                <a:solidFill>
                  <a:srgbClr val="717171"/>
                </a:solidFill>
                <a:latin typeface="Poppins"/>
              </a:rPr>
              <a:t>, </a:t>
            </a:r>
            <a:r>
              <a:rPr sz="1100" b="0" dirty="0">
                <a:solidFill>
                  <a:srgbClr val="717171"/>
                </a:solidFill>
                <a:latin typeface="Poppins"/>
              </a:rPr>
              <a:t> 76%</a:t>
            </a:r>
          </a:p>
        </p:txBody>
      </p:sp>
      <p:sp>
        <p:nvSpPr>
          <p:cNvPr id="55" name="TextBox 54"/>
          <p:cNvSpPr txBox="1"/>
          <p:nvPr/>
        </p:nvSpPr>
        <p:spPr>
          <a:xfrm>
            <a:off x="4544568" y="3822191"/>
            <a:ext cx="2743200" cy="438912"/>
          </a:xfrm>
          <a:prstGeom prst="rect">
            <a:avLst/>
          </a:prstGeom>
          <a:noFill/>
        </p:spPr>
        <p:txBody>
          <a:bodyPr wrap="square" lIns="0" tIns="0" rIns="0" bIns="0">
            <a:spAutoFit/>
          </a:bodyPr>
          <a:lstStyle/>
          <a:p>
            <a:pPr algn="l"/>
            <a:r>
              <a:rPr sz="2500" b="1">
                <a:solidFill>
                  <a:srgbClr val="222222"/>
                </a:solidFill>
                <a:latin typeface="Poppins"/>
              </a:rPr>
              <a:t>−1.0</a:t>
            </a:r>
          </a:p>
        </p:txBody>
      </p:sp>
      <p:sp>
        <p:nvSpPr>
          <p:cNvPr id="56" name="TextBox 55"/>
          <p:cNvSpPr txBox="1"/>
          <p:nvPr/>
        </p:nvSpPr>
        <p:spPr>
          <a:xfrm>
            <a:off x="4544568" y="4242816"/>
            <a:ext cx="2743200" cy="169277"/>
          </a:xfrm>
          <a:prstGeom prst="rect">
            <a:avLst/>
          </a:prstGeom>
          <a:noFill/>
        </p:spPr>
        <p:txBody>
          <a:bodyPr wrap="square" lIns="0" tIns="0" rIns="0" bIns="0">
            <a:spAutoFit/>
          </a:bodyPr>
          <a:lstStyle/>
          <a:p>
            <a:pPr algn="l"/>
            <a:r>
              <a:rPr sz="1100" b="0" dirty="0">
                <a:solidFill>
                  <a:srgbClr val="717171"/>
                </a:solidFill>
                <a:latin typeface="Poppins"/>
              </a:rPr>
              <a:t>breakeven assumed </a:t>
            </a:r>
            <a:r>
              <a:rPr lang="en-US" sz="1100" b="0" dirty="0">
                <a:solidFill>
                  <a:srgbClr val="717171"/>
                </a:solidFill>
                <a:latin typeface="Poppins"/>
              </a:rPr>
              <a:t>, </a:t>
            </a:r>
            <a:r>
              <a:rPr sz="1100" b="0" dirty="0">
                <a:solidFill>
                  <a:srgbClr val="717171"/>
                </a:solidFill>
                <a:latin typeface="Poppins"/>
              </a:rPr>
              <a:t> not measured</a:t>
            </a:r>
          </a:p>
        </p:txBody>
      </p:sp>
      <p:sp>
        <p:nvSpPr>
          <p:cNvPr id="57" name="TextBox 56"/>
          <p:cNvSpPr txBox="1"/>
          <p:nvPr/>
        </p:nvSpPr>
        <p:spPr>
          <a:xfrm>
            <a:off x="4544568" y="4608576"/>
            <a:ext cx="2743200" cy="438912"/>
          </a:xfrm>
          <a:prstGeom prst="rect">
            <a:avLst/>
          </a:prstGeom>
          <a:noFill/>
        </p:spPr>
        <p:txBody>
          <a:bodyPr wrap="square" lIns="0" tIns="0" rIns="0" bIns="0">
            <a:spAutoFit/>
          </a:bodyPr>
          <a:lstStyle/>
          <a:p>
            <a:pPr algn="l"/>
            <a:r>
              <a:rPr sz="2500" b="1">
                <a:solidFill>
                  <a:srgbClr val="222222"/>
                </a:solidFill>
                <a:latin typeface="Poppins"/>
              </a:rPr>
              <a:t>$0</a:t>
            </a:r>
          </a:p>
        </p:txBody>
      </p:sp>
      <p:sp>
        <p:nvSpPr>
          <p:cNvPr id="58" name="TextBox 57"/>
          <p:cNvSpPr txBox="1"/>
          <p:nvPr/>
        </p:nvSpPr>
        <p:spPr>
          <a:xfrm>
            <a:off x="4544568" y="5029200"/>
            <a:ext cx="2743200" cy="169277"/>
          </a:xfrm>
          <a:prstGeom prst="rect">
            <a:avLst/>
          </a:prstGeom>
          <a:noFill/>
        </p:spPr>
        <p:txBody>
          <a:bodyPr wrap="square" lIns="0" tIns="0" rIns="0" bIns="0">
            <a:spAutoFit/>
          </a:bodyPr>
          <a:lstStyle/>
          <a:p>
            <a:pPr algn="l"/>
            <a:r>
              <a:rPr sz="1100" b="0" dirty="0">
                <a:solidFill>
                  <a:srgbClr val="717171"/>
                </a:solidFill>
                <a:latin typeface="Poppins"/>
              </a:rPr>
              <a:t>revenue contribution </a:t>
            </a:r>
            <a:r>
              <a:rPr lang="en-US" sz="1100" b="0" dirty="0">
                <a:solidFill>
                  <a:srgbClr val="717171"/>
                </a:solidFill>
                <a:latin typeface="Poppins"/>
              </a:rPr>
              <a:t>, </a:t>
            </a:r>
            <a:r>
              <a:rPr sz="1100" b="0" dirty="0">
                <a:solidFill>
                  <a:srgbClr val="717171"/>
                </a:solidFill>
                <a:latin typeface="Poppins"/>
              </a:rPr>
              <a:t> claimed nothing</a:t>
            </a:r>
          </a:p>
        </p:txBody>
      </p:sp>
    </p:spTree>
    <p:extLst>
      <p:ext uri="{BB962C8B-B14F-4D97-AF65-F5344CB8AC3E}">
        <p14:creationId xmlns:p14="http://schemas.microsoft.com/office/powerpoint/2010/main" val="3735488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BACKUP B4 · REVENUE BY MODEL CONFIDENCE</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How much rests on a confident call</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The model gives a directional call on about one listing in five. Here is what each bucket is worth.</a:t>
            </a:r>
            <a:endParaRPr lang="en-US" sz="1450" dirty="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19</a:t>
            </a:r>
            <a:endParaRPr lang="en-US" sz="900" dirty="0"/>
          </a:p>
        </p:txBody>
      </p:sp>
      <p:sp>
        <p:nvSpPr>
          <p:cNvPr id="9" name="Shape 5"/>
          <p:cNvSpPr/>
          <p:nvPr/>
        </p:nvSpPr>
        <p:spPr>
          <a:xfrm>
            <a:off x="50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0" name="Text 6"/>
          <p:cNvSpPr/>
          <p:nvPr/>
        </p:nvSpPr>
        <p:spPr>
          <a:xfrm>
            <a:off x="740664" y="2551176"/>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Confident: raise price</a:t>
            </a:r>
            <a:endParaRPr lang="en-US" sz="1300" dirty="0"/>
          </a:p>
        </p:txBody>
      </p:sp>
      <p:sp>
        <p:nvSpPr>
          <p:cNvPr id="11" name="Text 7"/>
          <p:cNvSpPr/>
          <p:nvPr/>
        </p:nvSpPr>
        <p:spPr>
          <a:xfrm>
            <a:off x="740664" y="2953512"/>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449 listings ,  the model puts their price entirely below its calibrated band. Worth +$2.79M in host GBV.</a:t>
            </a:r>
            <a:endParaRPr lang="en-US" sz="1080" dirty="0"/>
          </a:p>
        </p:txBody>
      </p:sp>
      <p:sp>
        <p:nvSpPr>
          <p:cNvPr id="12" name="Shape 8"/>
          <p:cNvSpPr/>
          <p:nvPr/>
        </p:nvSpPr>
        <p:spPr>
          <a:xfrm>
            <a:off x="431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3" name="Text 9"/>
          <p:cNvSpPr/>
          <p:nvPr/>
        </p:nvSpPr>
        <p:spPr>
          <a:xfrm>
            <a:off x="4550664" y="2551176"/>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Confident: lower price</a:t>
            </a:r>
            <a:endParaRPr lang="en-US" sz="1300" dirty="0"/>
          </a:p>
        </p:txBody>
      </p:sp>
      <p:sp>
        <p:nvSpPr>
          <p:cNvPr id="14" name="Text 10"/>
          <p:cNvSpPr/>
          <p:nvPr/>
        </p:nvSpPr>
        <p:spPr>
          <a:xfrm>
            <a:off x="4550664" y="2953512"/>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94 listings priced entirely above the band. Worth −$0.45M in host GBV, and the nights they recover.</a:t>
            </a:r>
            <a:endParaRPr lang="en-US" sz="1080" dirty="0"/>
          </a:p>
        </p:txBody>
      </p:sp>
      <p:sp>
        <p:nvSpPr>
          <p:cNvPr id="15" name="Shape 11"/>
          <p:cNvSpPr/>
          <p:nvPr/>
        </p:nvSpPr>
        <p:spPr>
          <a:xfrm>
            <a:off x="812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6" name="Text 12"/>
          <p:cNvSpPr/>
          <p:nvPr/>
        </p:nvSpPr>
        <p:spPr>
          <a:xfrm>
            <a:off x="8360664" y="2551176"/>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Uncertain</a:t>
            </a:r>
            <a:endParaRPr lang="en-US" sz="1300" dirty="0"/>
          </a:p>
        </p:txBody>
      </p:sp>
      <p:sp>
        <p:nvSpPr>
          <p:cNvPr id="17" name="Text 13"/>
          <p:cNvSpPr/>
          <p:nvPr/>
        </p:nvSpPr>
        <p:spPr>
          <a:xfrm>
            <a:off x="8360664" y="2953512"/>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3,192 listings whose current price sits inside the band. Worth +$5.21M ,  69% of the total.</a:t>
            </a:r>
            <a:endParaRPr lang="en-US" sz="1080" dirty="0"/>
          </a:p>
        </p:txBody>
      </p:sp>
      <p:sp>
        <p:nvSpPr>
          <p:cNvPr id="18" name="Shape 14"/>
          <p:cNvSpPr/>
          <p:nvPr/>
        </p:nvSpPr>
        <p:spPr>
          <a:xfrm>
            <a:off x="50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9" name="Text 15"/>
          <p:cNvSpPr/>
          <p:nvPr/>
        </p:nvSpPr>
        <p:spPr>
          <a:xfrm>
            <a:off x="740664" y="4507992"/>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The confident subset alone</a:t>
            </a:r>
            <a:endParaRPr lang="en-US" sz="1300" dirty="0"/>
          </a:p>
        </p:txBody>
      </p:sp>
      <p:sp>
        <p:nvSpPr>
          <p:cNvPr id="20" name="Text 16"/>
          <p:cNvSpPr/>
          <p:nvPr/>
        </p:nvSpPr>
        <p:spPr>
          <a:xfrm>
            <a:off x="740664" y="4910328"/>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$2.34M host GBV → $363K/yr in Airbnb fees at full adoption. A second, harder floor beneath the headline.</a:t>
            </a:r>
            <a:endParaRPr lang="en-US" sz="1080" dirty="0"/>
          </a:p>
        </p:txBody>
      </p:sp>
      <p:sp>
        <p:nvSpPr>
          <p:cNvPr id="21" name="Shape 17"/>
          <p:cNvSpPr/>
          <p:nvPr/>
        </p:nvSpPr>
        <p:spPr>
          <a:xfrm>
            <a:off x="431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2" name="Text 18"/>
          <p:cNvSpPr/>
          <p:nvPr/>
        </p:nvSpPr>
        <p:spPr>
          <a:xfrm>
            <a:off x="4550664" y="4507992"/>
            <a:ext cx="3105912" cy="365760"/>
          </a:xfrm>
          <a:prstGeom prst="rect">
            <a:avLst/>
          </a:prstGeom>
          <a:noFill/>
          <a:ln/>
        </p:spPr>
        <p:txBody>
          <a:bodyPr wrap="square" lIns="0" tIns="0" rIns="0" bIns="0" rtlCol="0" anchor="ctr"/>
          <a:lstStyle/>
          <a:p>
            <a:pPr marL="0" indent="0">
              <a:buNone/>
            </a:pPr>
            <a:r>
              <a:rPr lang="en-US" sz="1300" b="1" dirty="0">
                <a:solidFill>
                  <a:srgbClr val="FF385C"/>
                </a:solidFill>
                <a:latin typeface="Poppins" pitchFamily="34" charset="0"/>
                <a:ea typeface="Poppins" pitchFamily="34" charset="-122"/>
                <a:cs typeface="Poppins" pitchFamily="34" charset="-120"/>
              </a:rPr>
              <a:t>It still funds itself</a:t>
            </a:r>
            <a:endParaRPr lang="en-US" sz="1300" dirty="0"/>
          </a:p>
        </p:txBody>
      </p:sp>
      <p:sp>
        <p:nvSpPr>
          <p:cNvPr id="23" name="Text 19"/>
          <p:cNvSpPr/>
          <p:nvPr/>
        </p:nvSpPr>
        <p:spPr>
          <a:xfrm>
            <a:off x="4550664" y="4910328"/>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$363K/yr against a $65K build and $30K/yr run. Net-positive in Year 1 even at 35% adoption.</a:t>
            </a:r>
            <a:endParaRPr lang="en-US" sz="1080" dirty="0"/>
          </a:p>
        </p:txBody>
      </p:sp>
      <p:sp>
        <p:nvSpPr>
          <p:cNvPr id="24" name="Shape 20"/>
          <p:cNvSpPr/>
          <p:nvPr/>
        </p:nvSpPr>
        <p:spPr>
          <a:xfrm>
            <a:off x="8122920" y="4288536"/>
            <a:ext cx="3563112" cy="1737360"/>
          </a:xfrm>
          <a:prstGeom prst="roundRect">
            <a:avLst>
              <a:gd name="adj" fmla="val 7368"/>
            </a:avLst>
          </a:prstGeom>
          <a:solidFill>
            <a:srgbClr val="E6F6F4"/>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Text 21"/>
          <p:cNvSpPr/>
          <p:nvPr/>
        </p:nvSpPr>
        <p:spPr>
          <a:xfrm>
            <a:off x="8360664" y="4507992"/>
            <a:ext cx="3105912" cy="365760"/>
          </a:xfrm>
          <a:prstGeom prst="rect">
            <a:avLst/>
          </a:prstGeom>
          <a:noFill/>
          <a:ln/>
        </p:spPr>
        <p:txBody>
          <a:bodyPr wrap="square" lIns="0" tIns="0" rIns="0" bIns="0" rtlCol="0" anchor="ctr"/>
          <a:lstStyle/>
          <a:p>
            <a:pPr marL="0" indent="0">
              <a:buNone/>
            </a:pPr>
            <a:r>
              <a:rPr lang="en-US" sz="1300" b="1" dirty="0">
                <a:solidFill>
                  <a:srgbClr val="007A73"/>
                </a:solidFill>
                <a:latin typeface="Poppins" pitchFamily="34" charset="0"/>
                <a:ea typeface="Poppins" pitchFamily="34" charset="-122"/>
                <a:cs typeface="Poppins" pitchFamily="34" charset="-120"/>
              </a:rPr>
              <a:t>What “Uncertain” means</a:t>
            </a:r>
            <a:endParaRPr lang="en-US" sz="1300" dirty="0"/>
          </a:p>
        </p:txBody>
      </p:sp>
      <p:sp>
        <p:nvSpPr>
          <p:cNvPr id="26" name="Text 22"/>
          <p:cNvSpPr/>
          <p:nvPr/>
        </p:nvSpPr>
        <p:spPr>
          <a:xfrm>
            <a:off x="8360664" y="4910328"/>
            <a:ext cx="3105912" cy="1005840"/>
          </a:xfrm>
          <a:prstGeom prst="rect">
            <a:avLst/>
          </a:prstGeom>
          <a:noFill/>
          <a:ln/>
        </p:spPr>
        <p:txBody>
          <a:bodyPr wrap="square" lIns="0" tIns="0" rIns="0" bIns="0" rtlCol="0" anchor="t"/>
          <a:lstStyle/>
          <a:p>
            <a:pPr marL="0" indent="0">
              <a:lnSpc>
                <a:spcPct val="105000"/>
              </a:lnSpc>
              <a:buNone/>
            </a:pPr>
            <a:r>
              <a:rPr lang="en-US" sz="1080" dirty="0">
                <a:solidFill>
                  <a:srgbClr val="4A4A4A"/>
                </a:solidFill>
                <a:latin typeface="Poppins" pitchFamily="34" charset="0"/>
                <a:ea typeface="Poppins" pitchFamily="34" charset="-122"/>
                <a:cs typeface="Poppins" pitchFamily="34" charset="-120"/>
              </a:rPr>
              <a:t>Not absence of signal. The price is inside the interval, but q50 remains the best point estimate ,  and the model-noise discount already haircuts it.</a:t>
            </a:r>
            <a:endParaRPr lang="en-US" sz="1080" dirty="0"/>
          </a:p>
        </p:txBody>
      </p:sp>
    </p:spTree>
    <p:extLst>
      <p:ext uri="{BB962C8B-B14F-4D97-AF65-F5344CB8AC3E}">
        <p14:creationId xmlns:p14="http://schemas.microsoft.com/office/powerpoint/2010/main" val="1814778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21208" y="475488"/>
            <a:ext cx="8686800" cy="274320"/>
          </a:xfrm>
          <a:prstGeom prst="rect">
            <a:avLst/>
          </a:prstGeom>
          <a:noFill/>
          <a:ln/>
        </p:spPr>
        <p:txBody>
          <a:bodyPr wrap="square" lIns="0" tIns="0" rIns="0" bIns="0" rtlCol="0" anchor="ctr"/>
          <a:lstStyle/>
          <a:p>
            <a:pPr marL="0" indent="0">
              <a:buNone/>
            </a:pPr>
            <a:r>
              <a:rPr lang="en-US" sz="1200" b="1" kern="0" spc="200" dirty="0">
                <a:solidFill>
                  <a:srgbClr val="FF385C"/>
                </a:solidFill>
                <a:latin typeface="Poppins" pitchFamily="34" charset="0"/>
                <a:ea typeface="Poppins" pitchFamily="34" charset="-122"/>
                <a:cs typeface="Poppins" pitchFamily="34" charset="-120"/>
              </a:rPr>
              <a:t>BACKUP B5 · VALIDATION &amp; METHODOLOGY</a:t>
            </a:r>
            <a:endParaRPr lang="en-US" sz="1200" dirty="0"/>
          </a:p>
        </p:txBody>
      </p:sp>
      <p:sp>
        <p:nvSpPr>
          <p:cNvPr id="3" name="Text 1"/>
          <p:cNvSpPr/>
          <p:nvPr/>
        </p:nvSpPr>
        <p:spPr>
          <a:xfrm>
            <a:off x="493776" y="768096"/>
            <a:ext cx="10881360" cy="868680"/>
          </a:xfrm>
          <a:prstGeom prst="rect">
            <a:avLst/>
          </a:prstGeom>
          <a:noFill/>
          <a:ln/>
        </p:spPr>
        <p:txBody>
          <a:bodyPr wrap="square" lIns="0" tIns="0" rIns="0" bIns="0" rtlCol="0" anchor="ctr"/>
          <a:lstStyle/>
          <a:p>
            <a:pPr marL="0" indent="0">
              <a:lnSpc>
                <a:spcPct val="102000"/>
              </a:lnSpc>
              <a:buNone/>
            </a:pPr>
            <a:r>
              <a:rPr lang="en-US" sz="2800" b="1" dirty="0">
                <a:solidFill>
                  <a:srgbClr val="222222"/>
                </a:solidFill>
                <a:latin typeface="Poppins" pitchFamily="34" charset="0"/>
                <a:ea typeface="Poppins" pitchFamily="34" charset="-122"/>
                <a:cs typeface="Poppins" pitchFamily="34" charset="-120"/>
              </a:rPr>
              <a:t>Why we trust the number</a:t>
            </a:r>
            <a:endParaRPr lang="en-US" sz="2800" dirty="0"/>
          </a:p>
        </p:txBody>
      </p:sp>
      <p:sp>
        <p:nvSpPr>
          <p:cNvPr id="4" name="Text 2"/>
          <p:cNvSpPr/>
          <p:nvPr/>
        </p:nvSpPr>
        <p:spPr>
          <a:xfrm>
            <a:off x="521208" y="1591056"/>
            <a:ext cx="10424160" cy="457200"/>
          </a:xfrm>
          <a:prstGeom prst="rect">
            <a:avLst/>
          </a:prstGeom>
          <a:noFill/>
          <a:ln/>
        </p:spPr>
        <p:txBody>
          <a:bodyPr wrap="square" lIns="0" tIns="0" rIns="0" bIns="0" rtlCol="0" anchor="ctr"/>
          <a:lstStyle/>
          <a:p>
            <a:pPr marL="0" indent="0">
              <a:lnSpc>
                <a:spcPct val="105000"/>
              </a:lnSpc>
              <a:buNone/>
            </a:pPr>
            <a:r>
              <a:rPr lang="en-US" sz="1450" dirty="0">
                <a:solidFill>
                  <a:srgbClr val="717171"/>
                </a:solidFill>
                <a:latin typeface="Poppins" pitchFamily="34" charset="0"/>
                <a:ea typeface="Poppins" pitchFamily="34" charset="-122"/>
                <a:cs typeface="Poppins" pitchFamily="34" charset="-120"/>
              </a:rPr>
              <a:t>The statistical guardrails behind the recommendation.</a:t>
            </a:r>
            <a:endParaRPr lang="en-US" sz="1450" dirty="0"/>
          </a:p>
        </p:txBody>
      </p:sp>
      <p:pic>
        <p:nvPicPr>
          <p:cNvPr id="5" name="Image 0" descr="/sessions/dreamy-trusting-noether/mnt/outputs/build/assets/cornell_dark.png"/>
          <p:cNvPicPr>
            <a:picLocks noChangeAspect="1"/>
          </p:cNvPicPr>
          <p:nvPr/>
        </p:nvPicPr>
        <p:blipFill>
          <a:blip r:embed="rId3"/>
          <a:stretch>
            <a:fillRect/>
          </a:stretch>
        </p:blipFill>
        <p:spPr>
          <a:xfrm>
            <a:off x="502920" y="6451092"/>
            <a:ext cx="1491064" cy="173736"/>
          </a:xfrm>
          <a:prstGeom prst="rect">
            <a:avLst/>
          </a:prstGeom>
        </p:spPr>
      </p:pic>
      <p:sp>
        <p:nvSpPr>
          <p:cNvPr id="6" name="Shape 3"/>
          <p:cNvSpPr/>
          <p:nvPr/>
        </p:nvSpPr>
        <p:spPr>
          <a:xfrm>
            <a:off x="2041761" y="6430244"/>
            <a:ext cx="0" cy="215433"/>
          </a:xfrm>
          <a:prstGeom prst="line">
            <a:avLst/>
          </a:prstGeom>
          <a:noFill/>
          <a:ln w="12700">
            <a:solidFill>
              <a:srgbClr val="D8D8D8"/>
            </a:solidFill>
            <a:prstDash val="solid"/>
          </a:ln>
        </p:spPr>
        <p:txBody>
          <a:bodyPr/>
          <a:lstStyle/>
          <a:p>
            <a:endParaRPr lang="en-US"/>
          </a:p>
        </p:txBody>
      </p:sp>
      <p:pic>
        <p:nvPicPr>
          <p:cNvPr id="7" name="Image 1" descr="/sessions/dreamy-trusting-noether/mnt/outputs/build/assets/airbnb_logo.png"/>
          <p:cNvPicPr>
            <a:picLocks noChangeAspect="1"/>
          </p:cNvPicPr>
          <p:nvPr/>
        </p:nvPicPr>
        <p:blipFill>
          <a:blip r:embed="rId4"/>
          <a:stretch>
            <a:fillRect/>
          </a:stretch>
        </p:blipFill>
        <p:spPr>
          <a:xfrm>
            <a:off x="2089538" y="6425032"/>
            <a:ext cx="225857" cy="225857"/>
          </a:xfrm>
          <a:prstGeom prst="rect">
            <a:avLst/>
          </a:prstGeom>
        </p:spPr>
      </p:pic>
      <p:sp>
        <p:nvSpPr>
          <p:cNvPr id="8" name="Text 4"/>
          <p:cNvSpPr/>
          <p:nvPr/>
        </p:nvSpPr>
        <p:spPr>
          <a:xfrm>
            <a:off x="11338560" y="6428232"/>
            <a:ext cx="365760" cy="219456"/>
          </a:xfrm>
          <a:prstGeom prst="rect">
            <a:avLst/>
          </a:prstGeom>
          <a:noFill/>
          <a:ln/>
        </p:spPr>
        <p:txBody>
          <a:bodyPr wrap="square" lIns="0" tIns="0" rIns="0" bIns="0" rtlCol="0" anchor="ctr"/>
          <a:lstStyle/>
          <a:p>
            <a:pPr marL="0" indent="0" algn="r">
              <a:buNone/>
            </a:pPr>
            <a:r>
              <a:rPr lang="en-US" sz="900" b="1" dirty="0">
                <a:solidFill>
                  <a:srgbClr val="9AA0A6"/>
                </a:solidFill>
                <a:latin typeface="Poppins" pitchFamily="34" charset="0"/>
                <a:ea typeface="Poppins" pitchFamily="34" charset="-122"/>
                <a:cs typeface="Poppins" pitchFamily="34" charset="-120"/>
              </a:rPr>
              <a:t>20</a:t>
            </a:r>
            <a:endParaRPr lang="en-US" sz="900" dirty="0"/>
          </a:p>
        </p:txBody>
      </p:sp>
      <p:sp>
        <p:nvSpPr>
          <p:cNvPr id="9" name="Shape 5"/>
          <p:cNvSpPr/>
          <p:nvPr/>
        </p:nvSpPr>
        <p:spPr>
          <a:xfrm>
            <a:off x="50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0" name="Shape 6"/>
          <p:cNvSpPr/>
          <p:nvPr/>
        </p:nvSpPr>
        <p:spPr>
          <a:xfrm>
            <a:off x="722376" y="2569464"/>
            <a:ext cx="548640" cy="548640"/>
          </a:xfrm>
          <a:prstGeom prst="ellipse">
            <a:avLst/>
          </a:prstGeom>
          <a:solidFill>
            <a:srgbClr val="E6F6F4"/>
          </a:solidFill>
          <a:ln/>
        </p:spPr>
        <p:txBody>
          <a:bodyPr/>
          <a:lstStyle/>
          <a:p>
            <a:endParaRPr lang="en-US"/>
          </a:p>
        </p:txBody>
      </p:sp>
      <p:pic>
        <p:nvPicPr>
          <p:cNvPr id="11" name="Image 2" descr="/sessions/dreamy-trusting-noether/mnt/outputs/build/assets/layers_teal.png"/>
          <p:cNvPicPr>
            <a:picLocks noChangeAspect="1"/>
          </p:cNvPicPr>
          <p:nvPr/>
        </p:nvPicPr>
        <p:blipFill>
          <a:blip r:embed="rId5"/>
          <a:stretch>
            <a:fillRect/>
          </a:stretch>
        </p:blipFill>
        <p:spPr>
          <a:xfrm>
            <a:off x="854050" y="2701138"/>
            <a:ext cx="285293" cy="285293"/>
          </a:xfrm>
          <a:prstGeom prst="rect">
            <a:avLst/>
          </a:prstGeom>
        </p:spPr>
      </p:pic>
      <p:sp>
        <p:nvSpPr>
          <p:cNvPr id="12" name="Text 7"/>
          <p:cNvSpPr/>
          <p:nvPr/>
        </p:nvSpPr>
        <p:spPr>
          <a:xfrm>
            <a:off x="1399032" y="2606040"/>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80/20 + 5-fold out-of-fold</a:t>
            </a:r>
            <a:endParaRPr lang="en-US" sz="1250" dirty="0"/>
          </a:p>
        </p:txBody>
      </p:sp>
      <p:sp>
        <p:nvSpPr>
          <p:cNvPr id="13" name="Text 8"/>
          <p:cNvSpPr/>
          <p:nvPr/>
        </p:nvSpPr>
        <p:spPr>
          <a:xfrm>
            <a:off x="758952" y="3227832"/>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Every listing scored by a model that never trained on it ,  genuinely out-of-sample.</a:t>
            </a:r>
            <a:endParaRPr lang="en-US" sz="1050" dirty="0"/>
          </a:p>
        </p:txBody>
      </p:sp>
      <p:sp>
        <p:nvSpPr>
          <p:cNvPr id="14" name="Shape 9"/>
          <p:cNvSpPr/>
          <p:nvPr/>
        </p:nvSpPr>
        <p:spPr>
          <a:xfrm>
            <a:off x="431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15" name="Shape 10"/>
          <p:cNvSpPr/>
          <p:nvPr/>
        </p:nvSpPr>
        <p:spPr>
          <a:xfrm>
            <a:off x="4532376" y="2569464"/>
            <a:ext cx="548640" cy="548640"/>
          </a:xfrm>
          <a:prstGeom prst="ellipse">
            <a:avLst/>
          </a:prstGeom>
          <a:solidFill>
            <a:srgbClr val="E6F6F4"/>
          </a:solidFill>
          <a:ln/>
        </p:spPr>
        <p:txBody>
          <a:bodyPr/>
          <a:lstStyle/>
          <a:p>
            <a:endParaRPr lang="en-US"/>
          </a:p>
        </p:txBody>
      </p:sp>
      <p:pic>
        <p:nvPicPr>
          <p:cNvPr id="16" name="Image 3" descr="/sessions/dreamy-trusting-noether/mnt/outputs/build/assets/scale_teal.png"/>
          <p:cNvPicPr>
            <a:picLocks noChangeAspect="1"/>
          </p:cNvPicPr>
          <p:nvPr/>
        </p:nvPicPr>
        <p:blipFill>
          <a:blip r:embed="rId6"/>
          <a:stretch>
            <a:fillRect/>
          </a:stretch>
        </p:blipFill>
        <p:spPr>
          <a:xfrm>
            <a:off x="4664050" y="2701138"/>
            <a:ext cx="285293" cy="285293"/>
          </a:xfrm>
          <a:prstGeom prst="rect">
            <a:avLst/>
          </a:prstGeom>
        </p:spPr>
      </p:pic>
      <p:sp>
        <p:nvSpPr>
          <p:cNvPr id="17" name="Text 11"/>
          <p:cNvSpPr/>
          <p:nvPr/>
        </p:nvSpPr>
        <p:spPr>
          <a:xfrm>
            <a:off x="5209032" y="2606040"/>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Duan smearing correction</a:t>
            </a:r>
            <a:endParaRPr lang="en-US" sz="1250" dirty="0"/>
          </a:p>
        </p:txBody>
      </p:sp>
      <p:sp>
        <p:nvSpPr>
          <p:cNvPr id="18" name="Text 12"/>
          <p:cNvSpPr/>
          <p:nvPr/>
        </p:nvSpPr>
        <p:spPr>
          <a:xfrm>
            <a:off x="4568952" y="3227832"/>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Log predictions retransformed to unbiased dollars (factor ≈1.16).</a:t>
            </a:r>
            <a:endParaRPr lang="en-US" sz="1050" dirty="0"/>
          </a:p>
        </p:txBody>
      </p:sp>
      <p:sp>
        <p:nvSpPr>
          <p:cNvPr id="19" name="Shape 13"/>
          <p:cNvSpPr/>
          <p:nvPr/>
        </p:nvSpPr>
        <p:spPr>
          <a:xfrm>
            <a:off x="8122920" y="2331720"/>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0" name="Shape 14"/>
          <p:cNvSpPr/>
          <p:nvPr/>
        </p:nvSpPr>
        <p:spPr>
          <a:xfrm>
            <a:off x="8342376" y="2569464"/>
            <a:ext cx="548640" cy="548640"/>
          </a:xfrm>
          <a:prstGeom prst="ellipse">
            <a:avLst/>
          </a:prstGeom>
          <a:solidFill>
            <a:srgbClr val="E6F6F4"/>
          </a:solidFill>
          <a:ln/>
        </p:spPr>
        <p:txBody>
          <a:bodyPr/>
          <a:lstStyle/>
          <a:p>
            <a:endParaRPr lang="en-US"/>
          </a:p>
        </p:txBody>
      </p:sp>
      <p:pic>
        <p:nvPicPr>
          <p:cNvPr id="21" name="Image 4" descr="/sessions/dreamy-trusting-noether/mnt/outputs/build/assets/check_teal.png"/>
          <p:cNvPicPr>
            <a:picLocks noChangeAspect="1"/>
          </p:cNvPicPr>
          <p:nvPr/>
        </p:nvPicPr>
        <p:blipFill>
          <a:blip r:embed="rId7"/>
          <a:stretch>
            <a:fillRect/>
          </a:stretch>
        </p:blipFill>
        <p:spPr>
          <a:xfrm>
            <a:off x="8474050" y="2701138"/>
            <a:ext cx="285293" cy="285293"/>
          </a:xfrm>
          <a:prstGeom prst="rect">
            <a:avLst/>
          </a:prstGeom>
        </p:spPr>
      </p:pic>
      <p:sp>
        <p:nvSpPr>
          <p:cNvPr id="22" name="Text 15"/>
          <p:cNvSpPr/>
          <p:nvPr/>
        </p:nvSpPr>
        <p:spPr>
          <a:xfrm>
            <a:off x="9019032" y="2606040"/>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HC3 robust standard errors</a:t>
            </a:r>
            <a:endParaRPr lang="en-US" sz="1250" dirty="0"/>
          </a:p>
        </p:txBody>
      </p:sp>
      <p:sp>
        <p:nvSpPr>
          <p:cNvPr id="23" name="Text 16"/>
          <p:cNvSpPr/>
          <p:nvPr/>
        </p:nvSpPr>
        <p:spPr>
          <a:xfrm>
            <a:off x="8378952" y="3227832"/>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Heteroskedasticity-consistent errors on every coefficient.</a:t>
            </a:r>
            <a:endParaRPr lang="en-US" sz="1050" dirty="0"/>
          </a:p>
        </p:txBody>
      </p:sp>
      <p:sp>
        <p:nvSpPr>
          <p:cNvPr id="24" name="Shape 17"/>
          <p:cNvSpPr/>
          <p:nvPr/>
        </p:nvSpPr>
        <p:spPr>
          <a:xfrm>
            <a:off x="50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25" name="Shape 18"/>
          <p:cNvSpPr/>
          <p:nvPr/>
        </p:nvSpPr>
        <p:spPr>
          <a:xfrm>
            <a:off x="722376" y="4526280"/>
            <a:ext cx="548640" cy="548640"/>
          </a:xfrm>
          <a:prstGeom prst="ellipse">
            <a:avLst/>
          </a:prstGeom>
          <a:solidFill>
            <a:srgbClr val="E6F6F4"/>
          </a:solidFill>
          <a:ln/>
        </p:spPr>
        <p:txBody>
          <a:bodyPr/>
          <a:lstStyle/>
          <a:p>
            <a:endParaRPr lang="en-US"/>
          </a:p>
        </p:txBody>
      </p:sp>
      <p:pic>
        <p:nvPicPr>
          <p:cNvPr id="26" name="Image 5" descr="/sessions/dreamy-trusting-noether/mnt/outputs/build/assets/filter_teal.png"/>
          <p:cNvPicPr>
            <a:picLocks noChangeAspect="1"/>
          </p:cNvPicPr>
          <p:nvPr/>
        </p:nvPicPr>
        <p:blipFill>
          <a:blip r:embed="rId8"/>
          <a:stretch>
            <a:fillRect/>
          </a:stretch>
        </p:blipFill>
        <p:spPr>
          <a:xfrm>
            <a:off x="854050" y="4657954"/>
            <a:ext cx="285293" cy="285293"/>
          </a:xfrm>
          <a:prstGeom prst="rect">
            <a:avLst/>
          </a:prstGeom>
        </p:spPr>
      </p:pic>
      <p:sp>
        <p:nvSpPr>
          <p:cNvPr id="27" name="Text 19"/>
          <p:cNvSpPr/>
          <p:nvPr/>
        </p:nvSpPr>
        <p:spPr>
          <a:xfrm>
            <a:off x="1399032" y="4562856"/>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Ridge multicollinearity check</a:t>
            </a:r>
            <a:endParaRPr lang="en-US" sz="1250" dirty="0"/>
          </a:p>
        </p:txBody>
      </p:sp>
      <p:sp>
        <p:nvSpPr>
          <p:cNvPr id="28" name="Text 20"/>
          <p:cNvSpPr/>
          <p:nvPr/>
        </p:nvSpPr>
        <p:spPr>
          <a:xfrm>
            <a:off x="758952" y="5184648"/>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Correlated review scores tested with a CV Ridge penalty; the fit stays stable.</a:t>
            </a:r>
            <a:endParaRPr lang="en-US" sz="1050" dirty="0"/>
          </a:p>
        </p:txBody>
      </p:sp>
      <p:sp>
        <p:nvSpPr>
          <p:cNvPr id="29" name="Shape 21"/>
          <p:cNvSpPr/>
          <p:nvPr/>
        </p:nvSpPr>
        <p:spPr>
          <a:xfrm>
            <a:off x="431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0" name="Shape 22"/>
          <p:cNvSpPr/>
          <p:nvPr/>
        </p:nvSpPr>
        <p:spPr>
          <a:xfrm>
            <a:off x="4532376" y="4526280"/>
            <a:ext cx="548640" cy="548640"/>
          </a:xfrm>
          <a:prstGeom prst="ellipse">
            <a:avLst/>
          </a:prstGeom>
          <a:solidFill>
            <a:srgbClr val="E6F6F4"/>
          </a:solidFill>
          <a:ln/>
        </p:spPr>
        <p:txBody>
          <a:bodyPr/>
          <a:lstStyle/>
          <a:p>
            <a:endParaRPr lang="en-US"/>
          </a:p>
        </p:txBody>
      </p:sp>
      <p:pic>
        <p:nvPicPr>
          <p:cNvPr id="31" name="Image 6" descr="/sessions/dreamy-trusting-noether/mnt/outputs/build/assets/calendar_teal.png"/>
          <p:cNvPicPr>
            <a:picLocks noChangeAspect="1"/>
          </p:cNvPicPr>
          <p:nvPr/>
        </p:nvPicPr>
        <p:blipFill>
          <a:blip r:embed="rId9"/>
          <a:stretch>
            <a:fillRect/>
          </a:stretch>
        </p:blipFill>
        <p:spPr>
          <a:xfrm>
            <a:off x="4664050" y="4657954"/>
            <a:ext cx="285293" cy="285293"/>
          </a:xfrm>
          <a:prstGeom prst="rect">
            <a:avLst/>
          </a:prstGeom>
        </p:spPr>
      </p:pic>
      <p:sp>
        <p:nvSpPr>
          <p:cNvPr id="32" name="Text 23"/>
          <p:cNvSpPr/>
          <p:nvPr/>
        </p:nvSpPr>
        <p:spPr>
          <a:xfrm>
            <a:off x="5209032" y="4562856"/>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Segment split</a:t>
            </a:r>
            <a:endParaRPr lang="en-US" sz="1250" dirty="0"/>
          </a:p>
        </p:txBody>
      </p:sp>
      <p:sp>
        <p:nvSpPr>
          <p:cNvPr id="33" name="Text 24"/>
          <p:cNvSpPr/>
          <p:nvPr/>
        </p:nvSpPr>
        <p:spPr>
          <a:xfrm>
            <a:off x="4568952" y="5184648"/>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Short-stay ($376.82 mean) vs monthly ($162.73) modeled separately.</a:t>
            </a:r>
            <a:endParaRPr lang="en-US" sz="1050" dirty="0"/>
          </a:p>
        </p:txBody>
      </p:sp>
      <p:sp>
        <p:nvSpPr>
          <p:cNvPr id="34" name="Shape 25"/>
          <p:cNvSpPr/>
          <p:nvPr/>
        </p:nvSpPr>
        <p:spPr>
          <a:xfrm>
            <a:off x="8122920" y="4288536"/>
            <a:ext cx="3563112" cy="1737360"/>
          </a:xfrm>
          <a:prstGeom prst="roundRect">
            <a:avLst>
              <a:gd name="adj" fmla="val 7368"/>
            </a:avLst>
          </a:prstGeom>
          <a:solidFill>
            <a:srgbClr val="FFFFFF"/>
          </a:solidFill>
          <a:ln w="12700">
            <a:solidFill>
              <a:srgbClr val="EBEBEB"/>
            </a:solidFill>
            <a:prstDash val="solid"/>
          </a:ln>
          <a:effectLst>
            <a:outerShdw blurRad="101600" dist="25400" dir="5400000" algn="bl" rotWithShape="0">
              <a:srgbClr val="9AA0A6">
                <a:alpha val="16000"/>
              </a:srgbClr>
            </a:outerShdw>
          </a:effectLst>
        </p:spPr>
        <p:txBody>
          <a:bodyPr/>
          <a:lstStyle/>
          <a:p>
            <a:endParaRPr lang="en-US"/>
          </a:p>
        </p:txBody>
      </p:sp>
      <p:sp>
        <p:nvSpPr>
          <p:cNvPr id="35" name="Shape 26"/>
          <p:cNvSpPr/>
          <p:nvPr/>
        </p:nvSpPr>
        <p:spPr>
          <a:xfrm>
            <a:off x="8342376" y="4526280"/>
            <a:ext cx="548640" cy="548640"/>
          </a:xfrm>
          <a:prstGeom prst="ellipse">
            <a:avLst/>
          </a:prstGeom>
          <a:solidFill>
            <a:srgbClr val="FFF1E9"/>
          </a:solidFill>
          <a:ln/>
        </p:spPr>
        <p:txBody>
          <a:bodyPr/>
          <a:lstStyle/>
          <a:p>
            <a:endParaRPr lang="en-US"/>
          </a:p>
        </p:txBody>
      </p:sp>
      <p:pic>
        <p:nvPicPr>
          <p:cNvPr id="36" name="Image 7" descr="/sessions/dreamy-trusting-noether/mnt/outputs/build/assets/alert_orange.png"/>
          <p:cNvPicPr>
            <a:picLocks noChangeAspect="1"/>
          </p:cNvPicPr>
          <p:nvPr/>
        </p:nvPicPr>
        <p:blipFill>
          <a:blip r:embed="rId10"/>
          <a:stretch>
            <a:fillRect/>
          </a:stretch>
        </p:blipFill>
        <p:spPr>
          <a:xfrm>
            <a:off x="8474050" y="4657954"/>
            <a:ext cx="285293" cy="285293"/>
          </a:xfrm>
          <a:prstGeom prst="rect">
            <a:avLst/>
          </a:prstGeom>
        </p:spPr>
      </p:pic>
      <p:sp>
        <p:nvSpPr>
          <p:cNvPr id="37" name="Text 27"/>
          <p:cNvSpPr/>
          <p:nvPr/>
        </p:nvSpPr>
        <p:spPr>
          <a:xfrm>
            <a:off x="9019032" y="4562856"/>
            <a:ext cx="2511552" cy="502920"/>
          </a:xfrm>
          <a:prstGeom prst="rect">
            <a:avLst/>
          </a:prstGeom>
          <a:noFill/>
          <a:ln/>
        </p:spPr>
        <p:txBody>
          <a:bodyPr wrap="square" lIns="0" tIns="0" rIns="0" bIns="0" rtlCol="0" anchor="ctr"/>
          <a:lstStyle/>
          <a:p>
            <a:pPr marL="0" indent="0">
              <a:lnSpc>
                <a:spcPct val="95000"/>
              </a:lnSpc>
              <a:buNone/>
            </a:pPr>
            <a:r>
              <a:rPr lang="en-US" sz="1250" b="1" dirty="0">
                <a:solidFill>
                  <a:srgbClr val="222222"/>
                </a:solidFill>
                <a:latin typeface="Poppins" pitchFamily="34" charset="0"/>
                <a:ea typeface="Poppins" pitchFamily="34" charset="-122"/>
                <a:cs typeface="Poppins" pitchFamily="34" charset="-120"/>
              </a:rPr>
              <a:t>Known limit</a:t>
            </a:r>
            <a:endParaRPr lang="en-US" sz="1250" dirty="0"/>
          </a:p>
        </p:txBody>
      </p:sp>
      <p:sp>
        <p:nvSpPr>
          <p:cNvPr id="38" name="Text 28"/>
          <p:cNvSpPr/>
          <p:nvPr/>
        </p:nvSpPr>
        <p:spPr>
          <a:xfrm>
            <a:off x="8378952" y="5184648"/>
            <a:ext cx="3051048" cy="731520"/>
          </a:xfrm>
          <a:prstGeom prst="rect">
            <a:avLst/>
          </a:prstGeom>
          <a:noFill/>
          <a:ln/>
        </p:spPr>
        <p:txBody>
          <a:bodyPr wrap="square" lIns="0" tIns="0" rIns="0" bIns="0" rtlCol="0" anchor="t"/>
          <a:lstStyle/>
          <a:p>
            <a:pPr marL="0" indent="0">
              <a:lnSpc>
                <a:spcPct val="103000"/>
              </a:lnSpc>
              <a:buNone/>
            </a:pPr>
            <a:r>
              <a:rPr lang="en-US" sz="1050" dirty="0">
                <a:solidFill>
                  <a:srgbClr val="717171"/>
                </a:solidFill>
                <a:latin typeface="Poppins" pitchFamily="34" charset="0"/>
                <a:ea typeface="Poppins" pitchFamily="34" charset="-122"/>
                <a:cs typeface="Poppins" pitchFamily="34" charset="-120"/>
              </a:rPr>
              <a:t>Occupancy is a proxy; the residual is a conditional pricing gap, not proof of causal mispricing.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c5e6a18-9152-422f-a654-912ac496416a}" enabled="1" method="Standard" siteId="{af1bbf3d-7aa3-4e3f-8173-c8889d944e6a}" contentBits="2" removed="0"/>
</clbl:labelList>
</file>

<file path=docProps/app.xml><?xml version="1.0" encoding="utf-8"?>
<Properties xmlns="http://schemas.openxmlformats.org/officeDocument/2006/extended-properties" xmlns:vt="http://schemas.openxmlformats.org/officeDocument/2006/docPropsVTypes">
  <TotalTime>30</TotalTime>
  <Words>5924</Words>
  <Application>Microsoft Office PowerPoint</Application>
  <PresentationFormat>Widescreen</PresentationFormat>
  <Paragraphs>422</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Airbnb Pricing Intelligence</dc:title>
  <dc:subject>PptxGenJS Presentation</dc:subject>
  <dc:creator>Team 6 — BANA 5160</dc:creator>
  <cp:lastModifiedBy>Francois Miaule</cp:lastModifiedBy>
  <cp:revision>4</cp:revision>
  <dcterms:created xsi:type="dcterms:W3CDTF">2026-07-29T22:50:08Z</dcterms:created>
  <dcterms:modified xsi:type="dcterms:W3CDTF">2026-08-01T14:09:39Z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C2 - Confidential Business Data</vt:lpwstr>
  </property>
</Properties>
</file>